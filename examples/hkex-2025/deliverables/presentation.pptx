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仅公开年报选定重大事项分析，不声称逐页全文或所有合同与控制已验证。
首次公告日未单独核验；批准报出日为2026-02-26。
未取得服务级规则簿、PFMI定量披露、日内付款数据、总部购置合同及CGU完整估值模型。
已取得FCA最终文书及独立可持续报告，并定向核读风险、治理及有限保证范围；未执行网络、气候模型或整改运行测试。
来源 annual, sr 的正式公布日期未核验；不得据此证明在信息截止日前已公开。当前披露内容可以继续分析，历史时点结论须补充公告时间证据。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f_business
盈利改善是否只来自利率和投资收益？
牌照及互联互通网络将活跃交易转化为交易、清算和存管收入；量增同时扩大清算资源和IT容量需求。不能把所有收入机械乘股票ADT。
市场整体行情与互联互通参与增加可能比公司特有定价更重要。
清算及交易费率、市场份额、交易产品组合未单独隔离。
Evidence: e_profit, e_business
Counterevidence: e_estimateAll source records: e_profit, e_business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f_cash
CFO与会员资金能否直接解释为可分配现金？
附注披露的会员配对资金通过经营现金桥但不可用于其他活动；清算与公司不同用途资源不能混用。其他负债增加与应收增加只能解释原合计行，未分解前不能称供应商占款。
高CFO部分来自外部资产赎回，而不是重复性收费现金。
期末资金池受市场保证金需求影响，不能用总额判断公司债务偿还能力。
Evidence: e_cf, e_cash, e_margin
Counterevidence: e_parentAll source records: e_cf, e_profit, e_cash, e_margin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f_fmi
资源总额能否证明清算风险已覆盖？
资产用途、期限与服务级法律顺序决定可用性；非现金会员抵押并未上表，跨CCP及币种资金不能简单互抵；年度账面闭合不回答日内支付和极端平仓损失。
高质量投资和隔离账户是积极缓释，但仍有期限和时点错配。
Evidence: e_margin, e_cash
Counterevidence: All source records: e_cash, e_margin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f_equity
股东分配能否只读现金流表？
非控股分配59.00 HKD × 1000000现金流出同时降低看跌期权负债，并在权益内把NCI转至归母储备，集团权益该行净零。宣告分配与实付股息另列，避免把权益增减全部理解成现金。
权益转拨形式无集团净额但改变归属和少数股东权益。
Evidence: e_equity, e_bs
Counterevidence: All source records: e_cf, e_equity, e_profit, e_bs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f_estimate
资产估计是否与业务战略一致？
深圳技术中心定位改变降低BayConnect协同；LME等商品CGU仍承载主要商誉和商标，管理层提高利润率假设是增长解释，也是应挑战的估计输入。软件资本化与收入系统依赖连接未来摊销及运营韧性。
商品市场盈利提升可以支持更高预测利润率。
未取得预测、资本开支和税/折现匹配，不能独立证明无减值或计算应调整额。
Evidence: e_estimate, e_business, e_governance
Counterevidence: All source records: e_estimate, e_business, e_governance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f_capital
当年高经营现金是否足够说明资本配置无约束？
该观察未扣联营投资、奖励股份、租赁和其他资金变动；总部ROU/固定资产确认与付款及未来承诺不同步，不能把会计新增当现金支出。母公司现金2,870.00 HKD × 1000000也不同于集团资金。
现金余额和资本投资可支持未来容量与持续经营，不能仅凭本期付款增加评为负面。
Evidence: e_capital, e_cf, e_parent
Counterevidence: All source records: e_cf, e_capital, e_parent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f_tax
税后增速与税前增长为何不同？
最低税有明确本期税额；英国当期税抵扣与递延税相抵，不能只引用当期税利好。税费和实付税不同，未付税还影响未来现金。
地区盈利结构、永久差异与递延项目也影响总税率，不能把差额全部归因最低税。
Evidence: e_tax, e_profit
Counterevidence: All source records: e_profit, e_tax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f_governance
无保留意见是否足以关闭收入与运营风险？
同一交易系统同时影响收费完整性、日内清算和业务连续性；委员会审阅是治理动作，不是独立运行证据。HKFRS18公司投资收益、会员利息回拨重分类将影响营业口径，不能误读为经济利润变化。
原审计意见与委员会监督提供积极公开证据。
官方FCA最终文书已取得；其同时记录历史控制不足与后续缓释，不支持将处罚结束解释为所有运营风险消失。
Evidence: e_governance, e_business, e_fca
Counterevidence: e_srAll source records: e_governance, e_business, e_fca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f_resilience
治理叙述是否已经连接业务和会计后果？
可持续报告已把场景连接站点、收入与费用，不能重复请求整份公开报告。其模型的企业表现和技术不变假设需要挑战；有限保证不替代本次关键系统运行和模型复算。
已有防洪、业务连续性、保险及恶劣天气交易安排可以降低损失。
管理层无重大财务影响判断仍受预测和范围限制。
Evidence: e_sr, e_fca
Counterevidence: e_governanceAll source records: e_sr, e_fca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q_fmi: 确定压力损失后的资源顺序和日内现金，不得由账面闭合推安全
Close when: 逐服务核实重复计算、法律用途和可用时点，并重做至少一个压力路径q_estimate: 检验利润率改善、资本开支、折现与开发可回收性
Close when: 匹配模型口径后可独立重做关键敏感性及临界条件q_capital: 确定确认与现金差异及承诺付款流动性
Close when: 确认每笔口径与时点并完成逐期资本现金桥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q_control: FCA最终文书及独立可持续报告已经取得，剩余是运行与模型证据；不再请求公开报告本身。
Close when: 用具体运行样本、整改结果与模型数据更新判断；保留第三方有限保证的范围边界。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港交所2025：经营增长、会计质量与资本现金连接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1CC"/>
                </a:solidFill>
              </a:rPr>
              <a:t>香港交易及结算所有限公司  |  2025-12-31  |  hkex-2025-example-v1  | 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独立会计分析实际前向使用；年报专业生产辅助，不是审计意见或完整监管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压力验证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会计基础 HKFRS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范围 consolidated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信息截止 2026-10-02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48920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来源 annual, sr 公布日期未核验。不得将当前内容分析称为历史时点可用性验证。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分析范围与限制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仅公开年报选定重大事项分析，不声称逐页全文或所有合同与控制已验证。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首次公告日未单独核验；批准报出日为2026-02-26。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未取得服务级规则簿、PFMI定量披露、日内付款数据、总部购置合同及CGU完整估值模型。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已取得FCA最终文书及独立可持续报告，并定向核读风险、治理及有限保证范围；未执行网络、气候模型或整改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运行测试。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来源 annual, sr 的正式公布日期未核验；不得据此证明在信息截止日前已公开。当前披露内容可以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继续分析，历史时点结论须补充公告时间证据。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经营增长与收益来源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增长主要来自收费业务，现金市场贡献集中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营业收入同比36.89%，集团净利润同比35.59%。营业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收入增量6,399.00 HKD × 1000000占收入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及其他收益增量的94.28%；现金分部占公司定义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EBITDA增量80.26%。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同口径份额或净费率下降、交易量回落或系统瓶颈，将削弱持续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增长判断。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rev同比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36.89%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收入对总增量比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94.28%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55280" y="3666744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现金分部占EBITDA增量比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411480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80.26%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e_profit / e_business；全部来源及位置见报告、底稿与备注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公司现金与投资赎回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利润有现金支持，但投资赎回不可当新增经营盈利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F2933"/>
                </a:solidFill>
              </a:rPr>
              <a:t>逐行桥得到主要经营现金19,855.00 HKD ×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F2933"/>
                </a:solidFill>
              </a:rPr>
              <a:t>1000000、HKAS7 CFO25,627.00 HKD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F2933"/>
                </a:solidFill>
              </a:rPr>
              <a:t>× 1000000；其中外部基金赎回为5,772.00 HKD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F2933"/>
                </a:solidFill>
              </a:rPr>
              <a:t> × 1000000。现金流量表现金19,353.00 HKD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F2933"/>
                </a:solidFill>
              </a:rPr>
              <a:t> × 1000000与资产负债表现金182,724.00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F2933"/>
                </a:solidFill>
              </a:rPr>
              <a:t>HKD × 1000000是不同范围。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F2933"/>
                </a:solidFill>
              </a:rPr>
              <a:t>判断改变条件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F2933"/>
                </a:solidFill>
              </a:rPr>
              <a:t>取得日内、分法人及币种的实际可调度资金和支付义务后可进一步判断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F2933"/>
                </a:solidFill>
              </a:rPr>
              <a:t>压力现金。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主要经营现金复算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19,855.00 HKD ×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1000000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CFO复算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25,627.00 HKD ×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1000000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55280" y="3666744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公司非清算专用现金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411480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19,353.00 HKD ×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1000000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e_cf / e_profit / e_cash 等；全部来源及位置见报告、底稿与备注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会员资源及清算边界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保证金资产与义务对齐，但不是压力安全证明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保证金资产重建269,243.00 HKD ×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1000000对应义务269,243.00 HKD ×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1000000；清算基金净资产35,796.00 HKD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× 1000000与披露一致。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服务级同日损失、违约瀑布、成员份额和支付窗口证据才能支持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覆盖结论。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保证金资产义务桥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269,243.00 HKD ×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1000000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清算基金净资产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35,796.00 HKD ×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1000000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e_cash / e_margin；全部来源及位置见报告、底稿与备注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权益、债务与分配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非控股看跌期权连接权益与债务现金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全权益滚动58,729.00 HKD × 1000000、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资产负债差58,729.00 HKD × 1000000与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集团权益58,729.00 HKD × 1000000一致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；看跌期权债务重建398.00 HKD × 1000000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期权条款变化、分红对应的负债调整或范围差异会改变解释。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全权益滚动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58,729.00 HKD ×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1000000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看跌期权负债滚动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37F72"/>
                </a:solidFill>
              </a:rPr>
              <a:t>398.00 HKD × 1000000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e_cf / e_equity / e_profit 等；全部来源及位置见报告、底稿与备注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战略与资产估计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技术战略改变已传导至商誉减值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商誉重建13,274.00 HKD × 1000000，本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年减值55.00 HKD × 1000000；软件净值重建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4,341.00 HKD × 1000000。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BayConnect协同预期下调已有会计后果，不能将减值全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当无关紧要的非现金项目。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实际利润/现金低于预测，开发项目不可用或关键假设恶化将触发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重新估值。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商誉滚动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13,274.00 HKD ×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1000000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软件净值滚动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4,341.00 HKD × 1000000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e_estimate / e_business / e_governance；全部来源及位置见报告、底稿与备注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资本配置及母公司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总部投资和高分配率需要按现金时点管理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主要经营现金减总部和其他长期经营资产付款为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14,974.00 HKD × 1000000，再减归母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股息实付剩1,252.00 HKD × 1000000；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尚有总部已签承诺3,424.00 HKD ×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1000000及其他资本安排。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逐期投入收益、法人可分配与上划能力以及承诺付款时间表会改变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分配余量判断。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主要经营现金减长期经营资产现金付款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14,974.00 HKD ×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1000000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上述现金指标减归母股息实付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7F72"/>
                </a:solidFill>
              </a:rPr>
              <a:t>1,252.00 HKD × 1000000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e_cf / e_capital / e_parent；全部来源及位置见报告、底稿与备注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税负与现金时点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699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税负上升部分抵消税前增长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6995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税前利润同比42.45%，净利润同比35.59%；本年有效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税率15.70%。最低补足税701.00 HKD ×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1000000占所得税费用增量43.19%。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按法域纳税及GloBE计算、支付时点和下一期暂时性差异变化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会改变持续税负预测。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本年有效税率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95681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15.70%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955280" y="2587752"/>
            <a:ext cx="3657600" cy="950976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3B45"/>
                </a:solidFill>
              </a:rPr>
              <a:t>补足税占税增量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358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7F72"/>
                </a:solidFill>
              </a:rPr>
              <a:t>43.19%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e_profit / e_tax；全部来源及位置见报告、底稿与备注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治理及会计列报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控制证据、治理陈述与未来列报变更要分清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10972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收入系统是原审计师关键审计事项；本次仅读取其程序与结论，没有执行系统控制测试。报告期仍按现行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HKFRS列报，未来列报变更需要可比桥。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进一步取得系统运行样本、日内升级日志及事件整改关闭测试后，更新对运行韧性与剩余风险的判断。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e_governance / e_business / e_fca；全部来源及位置见报告、底稿与备注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技术与气候风险的经济连接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技术与气候风险有执行和有限保证证据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10972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补充公开报告已取得。风灾中交易结算正常、网络演练和第三方隐私复核为积极证据；极端天气和网络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中断仍通过交易收入、清算付款及资产/运营成本传导。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未来停机、支付延迟、站点损害或模型假设变化，需同时更新收入、支出、资产估计和清算压力。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e_sr / e_fca；全部来源及位置见报告、底稿与备注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下一步核查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7F72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各CCP同日PFMI定量表、现行服务规则、压力损失、成员基金份额与币种时点支付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数据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3042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874"/>
                </a:solidFill>
              </a:rPr>
              <a:t>风险与清算负责人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7F72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45920" y="28803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商品及BayConnect CGU完整估值模型、预算兑现及软件资本化/验收依据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45920" y="36758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874"/>
                </a:solidFill>
              </a:rPr>
              <a:t>财务与技术负责人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" y="4251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7F72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645920" y="42519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总部合同付款与资产确认明细、集团法人资金上划及未来分配计划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645920" y="50474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874"/>
                </a:solidFill>
              </a:rPr>
              <a:t>财务与资金负责人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下一步核查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香港交易及结算所有限公司  |  2025-12-31  |  hkex-2025-example-v1  | 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7F72"/>
                </a:solidFill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关键收费/清算系统控制运行样本、事故升级日志和整改关闭测试；已披露气候模型的站点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假设及原始结果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3042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874"/>
                </a:solidFill>
              </a:rPr>
              <a:t>技术风险与合规负责人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港交所2025：经营增长、会计质量与资本现金连接</dc:title>
  <dc:subject>公开年报会计分析示例；供专业研究复核，不是审计意见或完整监管压力验证</dc:subject>
  <dc:creator>annual-report-analysis</dc:creator>
  <cp:lastModifiedBy>annual-report-analysis</cp:lastModifiedBy>
  <cp:revision>1</cp:revision>
  <dcterms:created xsi:type="dcterms:W3CDTF">2026-10-03T01:45:07Z</dcterms:created>
  <dcterms:modified xsi:type="dcterms:W3CDTF">2026-10-03T01:45:07Z</dcterms:modified>
</cp:coreProperties>
</file>