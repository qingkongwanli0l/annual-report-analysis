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仅公开年报选定重大事项分析，不声称逐页全文或所有合同与控制已验证。
首次公告日未单独核验；批准报出日为2026-02-26。
未取得服务级规则簿、PFMI定量披露、日内付款数据、总部购置合同及CGU完整估值模型。
已取得FCA最终文书及独立可持续报告，并接读保证声明并入的附录A；HKQAA有限保证不评价ESG政策执行有效性或全面模型适当性。本次未执行网络、气候模型或整改运行测试。
来源 annual, sr 的正式公布日期未核验；不得据此证明在信息截止日前已公开。当前披露内容可以继续分析，历史时点结论须补充公告时间证据。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f_business
Status: supported
盈利改善是否只来自利率和投资收益？
牌照及互联互通网络将活跃交易转化为交易、清算和存管收入；量增同时扩大清算资源和IT容量需求。不能把所有收入机械乘股票ADT。
市场整体行情与互联互通参与增加可能比公司特有定价更重要。
清算及交易费率、市场份额、交易产品组合未单独隔离。
Evidence: e_profit, e_business
Counterevidence: e_estimate[e_profit] HKEX Annual Report 2025 | PDF物理页143、153-154
https://www.hkexnews.hk/listedco/listconews/sehk/2026/0316/2026031600319.pdf
[e_business] HKEX Annual Report 2025 | PDF物理页23、46-48、65、68、131、155-156
https://www.hkexnews.hk/listedco/listconews/sehk/2026/0316/2026031600319.pdf
[e_estimate] HKEX Annual Report 2025 | PDF物理页185-187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f_business
Status: supported
盈利改善是否只来自利率和投资收益？
牌照及互联互通网络将活跃交易转化为交易、清算和存管收入；量增同时扩大清算资源和IT容量需求。不能把所有收入机械乘股票ADT。
市场整体行情与互联互通参与增加可能比公司特有定价更重要。
清算及交易费率、市场份额、交易产品组合未单独隔离。
Evidence: e_profit, e_business
Counterevidence: e_estimate[e_profit] HKEX Annual Report 2025 | PDF物理页143、153-154
https://www.hkexnews.hk/listedco/listconews/sehk/2026/0316/2026031600319.pdf
[e_business] HKEX Annual Report 2025 | PDF物理页23、46-48、65、68、131、155-156
https://www.hkexnews.hk/listedco/listconews/sehk/2026/0316/2026031600319.pdf
[e_estimate] HKEX Annual Report 2025 | PDF物理页185-187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f_business
Status: supported
盈利改善是否只来自利率和投资收益？
牌照及互联互通网络将活跃交易转化为交易、清算和存管收入；量增同时扩大清算资源和IT容量需求。不能把所有收入机械乘股票ADT。
市场整体行情与互联互通参与增加可能比公司特有定价更重要。
清算及交易费率、市场份额、交易产品组合未单独隔离。
Evidence: e_profit, e_business
Counterevidence: e_estimate[e_profit] HKEX Annual Report 2025 | PDF物理页143、153-154
https://www.hkexnews.hk/listedco/listconews/sehk/2026/0316/2026031600319.pdf
[e_business] HKEX Annual Report 2025 | PDF物理页23、46-48、65、68、131、155-156
https://www.hkexnews.hk/listedco/listconews/sehk/2026/0316/2026031600319.pdf
[e_estimate] HKEX Annual Report 2025 | PDF物理页185-187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f_business
Status: supported
盈利改善是否只来自利率和投资收益？
牌照及互联互通网络将活跃交易转化为交易、清算和存管收入；量增同时扩大清算资源和IT容量需求。不能把所有收入机械乘股票ADT。
市场整体行情与互联互通参与增加可能比公司特有定价更重要。
清算及交易费率、市场份额、交易产品组合未单独隔离。
Evidence: e_profit, e_business
Counterevidence: e_estimate[e_profit] HKEX Annual Report 2025 | PDF物理页143、153-154
https://www.hkexnews.hk/listedco/listconews/sehk/2026/0316/2026031600319.pdf
[e_business] HKEX Annual Report 2025 | PDF物理页23、46-48、65、68、131、155-156
https://www.hkexnews.hk/listedco/listconews/sehk/2026/0316/2026031600319.pdf
[e_estimate] HKEX Annual Report 2025 | PDF物理页185-187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f_cash
Status: supported
CFO与会员资金能否直接解释为可分配现金？
附注披露的会员配对资金通过经营现金桥但不可用于其他活动；清算与公司不同用途资源不能混用。其他负债增加与应收增加只能解释原合计行，未分解前不能称供应商占款。
高CFO部分来自外部资产赎回，而不是重复性收费现金。
期末资金池受市场保证金需求影响，不能用总额判断公司债务偿还能力。
Evidence: e_cf, e_cash, e_margin
Counterevidence: e_parent[e_cf] HKEX Annual Report 2025 | PDF物理页147、205
https://www.hkexnews.hk/listedco/listconews/sehk/2026/0316/2026031600319.pdf
[e_profit] HKEX Annual Report 2025 | PDF物理页143、153-154
https://www.hkexnews.hk/listedco/listconews/sehk/2026/0316/2026031600319.pdf
[e_cash] HKEX Annual Report 2025 | PDF物理页145、167-168
https://www.hkexnews.hk/listedco/listconews/sehk/2026/0316/2026031600319.pdf
[e_margin] HKEX Annual Report 2025 | PDF物理页78、190、193
https://www.hkexnews.hk/listedco/listconews/sehk/2026/0316/2026031600319.pdf
[e_parent] HKEX Annual Report 2025 | PDF物理页230-231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f_cash
Status: supported
CFO与会员资金能否直接解释为可分配现金？
附注披露的会员配对资金通过经营现金桥但不可用于其他活动；清算与公司不同用途资源不能混用。其他负债增加与应收增加只能解释原合计行，未分解前不能称供应商占款。
高CFO部分来自外部资产赎回，而不是重复性收费现金。
期末资金池受市场保证金需求影响，不能用总额判断公司债务偿还能力。
Evidence: e_cf, e_cash, e_margin
Counterevidence: e_parent[e_cf] HKEX Annual Report 2025 | PDF物理页147、205
https://www.hkexnews.hk/listedco/listconews/sehk/2026/0316/2026031600319.pdf
[e_cash] HKEX Annual Report 2025 | PDF物理页145、167-168
https://www.hkexnews.hk/listedco/listconews/sehk/2026/0316/2026031600319.pdf
[e_margin] HKEX Annual Report 2025 | PDF物理页78、190、193
https://www.hkexnews.hk/listedco/listconews/sehk/2026/0316/2026031600319.pdf
[e_parent] HKEX Annual Report 2025 | PDF物理页230-231
https://www.hkexnews.hk/listedco/listconews/sehk/2026/0316/2026031600319.pdf
[e_profit] HKEX Annual Report 2025 | PDF物理页143、153-154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f_cash
Status: supported
CFO与会员资金能否直接解释为可分配现金？
附注披露的会员配对资金通过经营现金桥但不可用于其他活动；清算与公司不同用途资源不能混用。其他负债增加与应收增加只能解释原合计行，未分解前不能称供应商占款。
高CFO部分来自外部资产赎回，而不是重复性收费现金。
期末资金池受市场保证金需求影响，不能用总额判断公司债务偿还能力。
Evidence: e_cf, e_cash, e_margin
Counterevidence: e_parent[e_cf] HKEX Annual Report 2025 | PDF物理页147、205
https://www.hkexnews.hk/listedco/listconews/sehk/2026/0316/2026031600319.pdf
[e_cash] HKEX Annual Report 2025 | PDF物理页145、167-168
https://www.hkexnews.hk/listedco/listconews/sehk/2026/0316/2026031600319.pdf
[e_margin] HKEX Annual Report 2025 | PDF物理页78、190、193
https://www.hkexnews.hk/listedco/listconews/sehk/2026/0316/2026031600319.pdf
[e_parent] HKEX Annual Report 2025 | PDF物理页230-231
https://www.hkexnews.hk/listedco/listconews/sehk/2026/0316/2026031600319.pdf
[e_profit] HKEX Annual Report 2025 | PDF物理页143、153-154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f_fmi
Status: conditional
资源总额能否证明清算风险已覆盖？
资产用途、期限与服务级法律顺序决定可用性；非现金会员抵押并未上表，跨CCP及币种资金不能简单互抵；年度账面闭合不回答日内支付和极端平仓损失。
高质量投资和隔离账户是积极缓释，但仍有期限和时点错配。
Evidence: e_margin, e_cash
Counterevidence: [e_cash] HKEX Annual Report 2025 | PDF物理页145、167-168
https://www.hkexnews.hk/listedco/listconews/sehk/2026/0316/2026031600319.pdf
[e_margin] HKEX Annual Report 2025 | PDF物理页78、190、193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f_fmi
Status: conditional
资源总额能否证明清算风险已覆盖？
资产用途、期限与服务级法律顺序决定可用性；非现金会员抵押并未上表，跨CCP及币种资金不能简单互抵；年度账面闭合不回答日内支付和极端平仓损失。
高质量投资和隔离账户是积极缓释，但仍有期限和时点错配。
Evidence: e_margin, e_cash
Counterevidence: [e_margin] HKEX Annual Report 2025 | PDF物理页78、190、193
https://www.hkexnews.hk/listedco/listconews/sehk/2026/0316/2026031600319.pdf
[e_cash] HKEX Annual Report 2025 | PDF物理页145、167-168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f_equity
Status: supported
股东分配能否只读现金流表？
非控股分配59.00 百万HKD现金流出同时降低看跌期权负债，并在权益内把NCI转至归母储备，集团权益该行净零。宣告分配与实付股息另列，避免把权益增减全部理解成现金。
权益转拨形式无集团净额但改变归属和少数股东权益。
Evidence: e_equity, e_bs
Counterevidence: [e_cf] HKEX Annual Report 2025 | PDF物理页147、205
https://www.hkexnews.hk/listedco/listconews/sehk/2026/0316/2026031600319.pdf
[e_equity] HKEX Annual Report 2025 | PDF物理页145-146、194-195、206
https://www.hkexnews.hk/listedco/listconews/sehk/2026/0316/2026031600319.pdf
[e_profit] HKEX Annual Report 2025 | PDF物理页143、153-154
https://www.hkexnews.hk/listedco/listconews/sehk/2026/0316/2026031600319.pdf
[e_bs] HKEX Annual Report 2025 | PDF物理页145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f_equity
Status: supported
股东分配能否只读现金流表？
非控股分配59.00 百万HKD现金流出同时降低看跌期权负债，并在权益内把NCI转至归母储备，集团权益该行净零。宣告分配与实付股息另列，避免把权益增减全部理解成现金。
权益转拨形式无集团净额但改变归属和少数股东权益。
Evidence: e_equity, e_bs
Counterevidence: [e_equity] HKEX Annual Report 2025 | PDF物理页145-146、194-195、206
https://www.hkexnews.hk/listedco/listconews/sehk/2026/0316/2026031600319.pdf
[e_bs] HKEX Annual Report 2025 | PDF物理页145
https://www.hkexnews.hk/listedco/listconews/sehk/2026/0316/2026031600319.pdf
[e_cf] HKEX Annual Report 2025 | PDF物理页147、205
https://www.hkexnews.hk/listedco/listconews/sehk/2026/0316/2026031600319.pdf
[e_profit] HKEX Annual Report 2025 | PDF物理页143、153-154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f_estimate
Status: conditional
资产估计是否与业务战略一致？
深圳技术中心定位改变降低BayConnect协同；LME等商品CGU仍承载主要商誉和商标，管理层提高利润率假设是增长解释，也是应挑战的估计输入。软件资本化与收入系统依赖连接未来摊销及运营韧性。
商品市场盈利提升可以支持更高预测利润率。
未取得预测、资本开支和税/折现匹配，不能独立证明无减值或计算应调整额。
Evidence: e_estimate, e_business, e_governance
Counterevidence: [e_estimate] HKEX Annual Report 2025 | PDF物理页185-187
https://www.hkexnews.hk/listedco/listconews/sehk/2026/0316/2026031600319.pdf
[e_business] HKEX Annual Report 2025 | PDF物理页23、46-48、65、68、131、155-156
https://www.hkexnews.hk/listedco/listconews/sehk/2026/0316/2026031600319.pdf
[e_governance] HKEX Annual Report 2025 | PDF物理页111-115、139-140、148-150、208-210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f_estimate
Status: conditional
资产估计是否与业务战略一致？
深圳技术中心定位改变降低BayConnect协同；LME等商品CGU仍承载主要商誉和商标，管理层提高利润率假设是增长解释，也是应挑战的估计输入。软件资本化与收入系统依赖连接未来摊销及运营韧性。
商品市场盈利提升可以支持更高预测利润率。
未取得预测、资本开支和税/折现匹配，不能独立证明无减值或计算应调整额。
Evidence: e_estimate, e_business, e_governance
Counterevidence: [e_estimate] HKEX Annual Report 2025 | PDF物理页185-187
https://www.hkexnews.hk/listedco/listconews/sehk/2026/0316/2026031600319.pdf
[e_business] HKEX Annual Report 2025 | PDF物理页23、46-48、65、68、131、155-156
https://www.hkexnews.hk/listedco/listconews/sehk/2026/0316/2026031600319.pdf
[e_governance] HKEX Annual Report 2025 | PDF物理页111-115、139-140、148-150、208-210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f_capital
Status: conditional
当年高经营现金是否足够说明资本配置无约束？
该观察未扣联营投资、奖励股份、租赁和其他资金变动；总部ROU/固定资产确认与付款及未来承诺不同步，不能把会计新增当现金支出。母公司现金2,870.00 百万HKD也不同于集团资金。
现金余额和资本投资可支持未来容量与持续经营，不能仅凭本期付款增加评为负面。
Evidence: e_capital, e_cf, e_parent
Counterevidence: [e_cf] HKEX Annual Report 2025 | PDF物理页147、205
https://www.hkexnews.hk/listedco/listconews/sehk/2026/0316/2026031600319.pdf
[e_capital] HKEX Annual Report 2025 | PDF物理页79、147、189、206
https://www.hkexnews.hk/listedco/listconews/sehk/2026/0316/2026031600319.pdf
[e_parent] HKEX Annual Report 2025 | PDF物理页230-231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f_capital
Status: conditional
当年高经营现金是否足够说明资本配置无约束？
该观察未扣联营投资、奖励股份、租赁和其他资金变动；总部ROU/固定资产确认与付款及未来承诺不同步，不能把会计新增当现金支出。母公司现金2,870.00 百万HKD也不同于集团资金。
现金余额和资本投资可支持未来容量与持续经营，不能仅凭本期付款增加评为负面。
Evidence: e_capital, e_cf, e_parent
Counterevidence: [e_capital] HKEX Annual Report 2025 | PDF物理页79、147、189、206
https://www.hkexnews.hk/listedco/listconews/sehk/2026/0316/2026031600319.pdf
[e_cf] HKEX Annual Report 2025 | PDF物理页147、205
https://www.hkexnews.hk/listedco/listconews/sehk/2026/0316/2026031600319.pdf
[e_parent] HKEX Annual Report 2025 | PDF物理页230-231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f_tax
Status: supported
税后增速与税前增长为何不同？
最低税有明确本期税额；英国当期税抵扣与递延税相抵，不能只引用当期税利好。税费和实付税不同，未付税还影响未来现金。
地区盈利结构、永久差异与递延项目也影响总税率，不能把差额全部归因最低税。
Evidence: e_tax, e_profit
Counterevidence: [e_profit] HKEX Annual Report 2025 | PDF物理页143、153-154
https://www.hkexnews.hk/listedco/listconews/sehk/2026/0316/2026031600319.pdf
[e_tax] HKEX Annual Report 2025 | PDF物理页164-165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f_tax
Status: supported
税后增速与税前增长为何不同？
最低税有明确本期税额；英国当期税抵扣与递延税相抵，不能只引用当期税利好。税费和实付税不同，未付税还影响未来现金。
地区盈利结构、永久差异与递延项目也影响总税率，不能把差额全部归因最低税。
Evidence: e_tax, e_profit
Counterevidence: [e_tax] HKEX Annual Report 2025 | PDF物理页164-165
https://www.hkexnews.hk/listedco/listconews/sehk/2026/0316/2026031600319.pdf
[e_profit] HKEX Annual Report 2025 | PDF物理页143、153-154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f_governance
Status: conditional
无保留意见是否足以关闭收入与运营风险？
同一交易系统同时影响收费完整性、日内清算和业务连续性；委员会审阅是治理动作，不是独立运行证据。HKFRS18公司投资收益、会员利息回拨重分类将影响营业口径，不能误读为经济利润变化。
原审计意见与委员会监督提供积极公开证据。
官方FCA最终文书已取得；其同时记录历史控制不足与后续缓释，不支持将处罚结束解释为所有运营风险消失。
Evidence: e_governance, e_business, e_fca
Counterevidence: e_sr[e_governance] HKEX Annual Report 2025 | PDF物理页111-115、139-140、148-150、208-210
https://www.hkexnews.hk/listedco/listconews/sehk/2026/0316/2026031600319.pdf
[e_business] HKEX Annual Report 2025 | PDF物理页23、46-48、65、68、131、155-156
https://www.hkexnews.hk/listedco/listconews/sehk/2026/0316/2026031600319.pdf
[e_fca] FCA Final Notice: London Metal Exchange | PDF1-3、6-8页；段2.4-2.10、2.25-2.32
https://www.fca.org.uk/publication/final-notices/london-metal-exchange-2025.pdf
[e_sr] HKEX Sustainability Report 2025 | PDF42-43、56-58、71-74；印刷40-41、54-56、69-72；保证声明及附录A
https://www.hkexgroup.com/-/media/HKEX-Group-Site/ssd/Investor-Relations/Regulatory-Reports/documents/2026/260316sr_e.pdf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f_governance
Status: conditional
无保留意见是否足以关闭收入与运营风险？
同一交易系统同时影响收费完整性、日内清算和业务连续性；委员会审阅是治理动作，不是独立运行证据。HKFRS18公司投资收益、会员利息回拨重分类将影响营业口径，不能误读为经济利润变化。
原审计意见与委员会监督提供积极公开证据。
官方FCA最终文书已取得；其同时记录历史控制不足与后续缓释，不支持将处罚结束解释为所有运营风险消失。
Evidence: e_governance, e_business, e_fca
Counterevidence: e_sr[e_governance] HKEX Annual Report 2025 | PDF物理页111-115、139-140、148-150、208-210
https://www.hkexnews.hk/listedco/listconews/sehk/2026/0316/2026031600319.pdf
[e_business] HKEX Annual Report 2025 | PDF物理页23、46-48、65、68、131、155-156
https://www.hkexnews.hk/listedco/listconews/sehk/2026/0316/2026031600319.pdf
[e_fca] FCA Final Notice: London Metal Exchange | PDF1-3、6-8页；段2.4-2.10、2.25-2.32
https://www.fca.org.uk/publication/final-notices/london-metal-exchange-2025.pdf
[e_sr] HKEX Sustainability Report 2025 | PDF42-43、56-58、71-74；印刷40-41、54-56、69-72；保证声明及附录A
https://www.hkexgroup.com/-/media/HKEX-Group-Site/ssd/Investor-Relations/Regulatory-Reports/documents/2026/260316sr_e.pdf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f_governance
Status: conditional
无保留意见是否足以关闭收入与运营风险？
同一交易系统同时影响收费完整性、日内清算和业务连续性；委员会审阅是治理动作，不是独立运行证据。HKFRS18公司投资收益、会员利息回拨重分类将影响营业口径，不能误读为经济利润变化。
原审计意见与委员会监督提供积极公开证据。
官方FCA最终文书已取得；其同时记录历史控制不足与后续缓释，不支持将处罚结束解释为所有运营风险消失。
Evidence: e_governance, e_business, e_fca
Counterevidence: e_sr[e_governance] HKEX Annual Report 2025 | PDF物理页111-115、139-140、148-150、208-210
https://www.hkexnews.hk/listedco/listconews/sehk/2026/0316/2026031600319.pdf
[e_business] HKEX Annual Report 2025 | PDF物理页23、46-48、65、68、131、155-156
https://www.hkexnews.hk/listedco/listconews/sehk/2026/0316/2026031600319.pdf
[e_fca] FCA Final Notice: London Metal Exchange | PDF1-3、6-8页；段2.4-2.10、2.25-2.32
https://www.fca.org.uk/publication/final-notices/london-metal-exchange-2025.pdf
[e_sr] HKEX Sustainability Report 2025 | PDF42-43、56-58、71-74；印刷40-41、54-56、69-72；保证声明及附录A
https://www.hkexgroup.com/-/media/HKEX-Group-Site/ssd/Investor-Relations/Regulatory-Reports/documents/2026/260316sr_e.pdf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f_governance
Status: conditional
无保留意见是否足以关闭收入与运营风险？
同一交易系统同时影响收费完整性、日内清算和业务连续性；委员会审阅是治理动作，不是独立运行证据。HKFRS18公司投资收益、会员利息回拨重分类将影响营业口径，不能误读为经济利润变化。
原审计意见与委员会监督提供积极公开证据。
官方FCA最终文书已取得；其同时记录历史控制不足与后续缓释，不支持将处罚结束解释为所有运营风险消失。
Evidence: e_governance, e_business, e_fca
Counterevidence: e_sr[e_governance] HKEX Annual Report 2025 | PDF物理页111-115、139-140、148-150、208-210
https://www.hkexnews.hk/listedco/listconews/sehk/2026/0316/2026031600319.pdf
[e_business] HKEX Annual Report 2025 | PDF物理页23、46-48、65、68、131、155-156
https://www.hkexnews.hk/listedco/listconews/sehk/2026/0316/2026031600319.pdf
[e_fca] FCA Final Notice: London Metal Exchange | PDF1-3、6-8页；段2.4-2.10、2.25-2.32
https://www.fca.org.uk/publication/final-notices/london-metal-exchange-2025.pdf
[e_sr] HKEX Sustainability Report 2025 | PDF42-43、56-58、71-74；印刷40-41、54-56、69-72；保证声明及附录A
https://www.hkexgroup.com/-/media/HKEX-Group-Site/ssd/Investor-Relations/Regulatory-Reports/documents/2026/260316sr_e.pdf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f_resilience
Status: conditional
治理叙述是否已经连接业务和会计后果？
可持续报告已把场景连接站点、收入与费用，不能重复请求整份公开报告。附录A将保证限制为披露数据的转录或转换，排除ESG执行效果且不全面评价判断、假设及估计技术，不能凭该保证关闭运行或模型风险。本次也未测试关键系统或复算气候模型；企业表现和技术不变假设仍需挑战。
已有防洪、业务连续性、保险及恶劣天气交易安排可以降低损失。
管理层无重大财务影响判断仍受预测和范围限制。
Evidence: e_sr, e_fca
Counterevidence: e_governance[e_sr] HKEX Sustainability Report 2025 | PDF42-43、56-58、71-74；印刷40-41、54-56、69-72；保证声明及附录A
https://www.hkexgroup.com/-/media/HKEX-Group-Site/ssd/Investor-Relations/Regulatory-Reports/documents/2026/260316sr_e.pdf
[e_fca] FCA Final Notice: London Metal Exchange | PDF1-3、6-8页；段2.4-2.10、2.25-2.32
https://www.fca.org.uk/publication/final-notices/london-metal-exchange-2025.pdf
[e_governance] HKEX Annual Report 2025 | PDF物理页111-115、139-140、148-150、208-210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f_resilience
Status: conditional
治理叙述是否已经连接业务和会计后果？
可持续报告已把场景连接站点、收入与费用，不能重复请求整份公开报告。附录A将保证限制为披露数据的转录或转换，排除ESG执行效果且不全面评价判断、假设及估计技术，不能凭该保证关闭运行或模型风险。本次也未测试关键系统或复算气候模型；企业表现和技术不变假设仍需挑战。
已有防洪、业务连续性、保险及恶劣天气交易安排可以降低损失。
管理层无重大财务影响判断仍受预测和范围限制。
Evidence: e_sr, e_fca
Counterevidence: e_governance[e_sr] HKEX Sustainability Report 2025 | PDF42-43、56-58、71-74；印刷40-41、54-56、69-72；保证声明及附录A
https://www.hkexgroup.com/-/media/HKEX-Group-Site/ssd/Investor-Relations/Regulatory-Reports/documents/2026/260316sr_e.pdf
[e_fca] FCA Final Notice: London Metal Exchange | PDF1-3、6-8页；段2.4-2.10、2.25-2.32
https://www.fca.org.uk/publication/final-notices/london-metal-exchange-2025.pdf
[e_governance] HKEX Annual Report 2025 | PDF物理页111-115、139-140、148-150、208-210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f_resilience
Status: conditional
治理叙述是否已经连接业务和会计后果？
可持续报告已把场景连接站点、收入与费用，不能重复请求整份公开报告。附录A将保证限制为披露数据的转录或转换，排除ESG执行效果且不全面评价判断、假设及估计技术，不能凭该保证关闭运行或模型风险。本次也未测试关键系统或复算气候模型；企业表现和技术不变假设仍需挑战。
已有防洪、业务连续性、保险及恶劣天气交易安排可以降低损失。
管理层无重大财务影响判断仍受预测和范围限制。
Evidence: e_sr, e_fca
Counterevidence: e_governance[e_sr] HKEX Sustainability Report 2025 | PDF42-43、56-58、71-74；印刷40-41、54-56、69-72；保证声明及附录A
https://www.hkexgroup.com/-/media/HKEX-Group-Site/ssd/Investor-Relations/Regulatory-Reports/documents/2026/260316sr_e.pdf
[e_fca] FCA Final Notice: London Metal Exchange | PDF1-3、6-8页；段2.4-2.10、2.25-2.32
https://www.fca.org.uk/publication/final-notices/london-metal-exchange-2025.pdf
[e_governance] HKEX Annual Report 2025 | PDF物理页111-115、139-140、148-150、208-210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q_fmi: 确定压力损失后的资源顺序和日内现金，不得由账面闭合推安全
Close when: 逐服务核实重复计算、法律用途和可用时点，并重做至少一个压力路径q_estimate: 检验利润率改善、资本开支、折现与开发可回收性
Close when: 匹配模型口径后可独立重做关键敏感性及临界条件q_capital: 确定确认与现金差异及承诺付款流动性
Close when: 确认每笔口径与时点并完成逐期资本现金桥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q_control: FCA最终文书及独立可持续报告含保证附录已经取得；原保证不覆盖执行效果或全面模型适当性，剩余是具体运行与模型证据，不再请求公开报告本身。
Close when: 用具体运行样本、整改结果与模型数据更新判断；保留第三方有限保证的范围边界。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[e_profit] HKEX Annual Report 2025 | PDF物理页143、153-154
https://www.hkexnews.hk/listedco/listconews/sehk/2026/0316/2026031600319.pdf
[e_business] HKEX Annual Report 2025 | PDF物理页23、46-48、65、68、131、155-156
https://www.hkexnews.hk/listedco/listconews/sehk/2026/0316/2026031600319.pdf
[e_cf] HKEX Annual Report 2025 | PDF物理页147、205
https://www.hkexnews.hk/listedco/listconews/sehk/2026/0316/2026031600319.pdf
[e_cash] HKEX Annual Report 2025 | PDF物理页145、167-168
https://www.hkexnews.hk/listedco/listconews/sehk/2026/0316/2026031600319.pdf
[e_margin] HKEX Annual Report 2025 | PDF物理页78、190、193
https://www.hkexnews.hk/listedco/listconews/sehk/2026/0316/2026031600319.pdf
[e_equity] HKEX Annual Report 2025 | PDF物理页145-146、194-195、206
https://www.hkexnews.hk/listedco/listconews/sehk/2026/0316/2026031600319.pdf
[e_bs] HKEX Annual Report 2025 | PDF物理页145
https://www.hkexnews.hk/listedco/listconews/sehk/2026/0316/2026031600319.pdf
[e_estimate] HKEX Annual Report 2025 | PDF物理页185-187
https://www.hkexnews.hk/listedco/listconews/sehk/2026/0316/2026031600319.pdf
[e_capital] HKEX Annual Report 2025 | PDF物理页79、147、189、206
https://www.hkexnews.hk/listedco/listconews/sehk/2026/0316/2026031600319.pdf
[e_tax] HKEX Annual Report 2025 | PDF物理页164-165
https://www.hkexnews.hk/listedco/listconews/sehk/2026/0316/2026031600319.pdf
[e_governance] HKEX Annual Report 2025 | PDF物理页111-115、139-140、148-150、208-210
https://www.hkexnews.hk/listedco/listconews/sehk/2026/0316/2026031600319.pdf
[e_parent] HKEX Annual Report 2025 | PDF物理页230-231
https://www.hkexnews.hk/listedco/listconews/sehk/2026/0316/2026031600319.pdf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[e_fca] FCA Final Notice: London Metal Exchange | PDF1-3、6-8页；段2.4-2.10、2.25-2.32
https://www.fca.org.uk/publication/final-notices/london-metal-exchange-2025.pdf
[e_sr] HKEX Sustainability Report 2025 | PDF42-43、56-58、71-74；印刷40-41、54-56、69-72；保证声明及附录A
https://www.hkexgroup.com/-/media/HKEX-Group-Site/ssd/Investor-Relations/Regulatory-Reports/documents/2026/260316sr_e.pdf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港交所2025：经营增长、会计质量与资本现金连接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香港交易及结算所有限公司  |  2025-12-31  |  hkex-2025-example-v1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公开年报会计分析示例；供专业研究复核，不是审计意见或完整监管压力验证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HKFRS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consolidated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2026-10-02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48920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来源 annual, sr 公布日期未核验。不得将当前内容分析称为历史时点可用性验证。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采用方法与适用范围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SKILL、analysis-program、accounting-and-audit、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financial-institutions、workpaper契约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分析范围与限制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仅公开年报选定重大事项分析，不声称逐页全文或所有合同与控制已验证。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首次公告日未单独核验；批准报出日为2026-02-26。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未取得服务级规则簿、PFMI定量披露、日内付款数据、总部购置合同及CGU完整估值模型。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已取得FCA最终文书及独立可持续报告，并接读保证声明并入的附录A；HKQAA有限保证不评价ESG政策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执行有效性或全面模型适当性。本次未执行网络、气候模型或整改运行测试。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来源 annual, sr 的正式公布日期未核验；不得据此证明在信息截止日前已公开。当前披露内容可以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继续分析，历史时点结论须补充公告时间证据。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经营增长与收益来源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增长主要来自收费业务，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现金市场贡献集中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营业收入同比36.89%，集团净利润同比35.59%。营业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收入增量6,399.00 百万HKD占收入及其他收益增量的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94.28%；现金分部占公司定义EBITDA增量80.26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%。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牌照及互联互通网络将活跃交易转化为交易、清算和存管收入；量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增同时扩大清算资源和IT容量需求。不能把所有收入机械乘股票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ADT。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rev同比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36.89%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收入对总增量比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94.28%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现金分部占EBITDA增量比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80.26%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e_profit / e_business / e_estimate；完整原文与位置见本演示文稿来源附页及备注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经营增长与收益来源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增长主要来自收费业务，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现金市场贡献集中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市场整体行情与互联互通参与增加可能比公司特有定价更重要。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清算及交易费率、市场份额、交易产品组合未单独隔离。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e_profit / e_business / e_estimate；完整原文与位置见本演示文稿来源附页及备注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经营增长与收益来源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增长主要来自收费业务，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现金市场贡献集中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PDF185完整列名Goodwill/Tradenames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/Customer relationships/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Software systems/Total已视觉核。商誉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13297+汇兑32-减值55=13274；软件净额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3860，成本增加1285、成本汇兑20、累计摊销汇兑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13、摊销810、处置成本60及累计摊销59，期末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4341。Data and Connectivity商誉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55；减值来自BayConnect预期协同下降、深圳自有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技术中心定位变化。Commodities商誉13219、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e_profit / e_business / e_estimate；完整原文与位置见本演示文稿来源附页及备注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经营增长与收益来源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增长主要来自收费业务，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现金市场贡献集中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商标894；未来五年EBITDA margin61%，折现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8%、终值增长3%，管理层称合理可能变化不改变无减值判断，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未给本次可独立验证完整模型。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同口径份额或净费率下降、交易量回落或系统瓶颈，将削弱持续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增长判断。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e_profit / e_business / e_estimate；完整原文与位置见本演示文稿来源附页及备注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公司现金与投资赎回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利润有现金支持，但投资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赎回不可当新增经营盈利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逐行桥得到主要经营现金19,855.00 百万HKD、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HKAS7 CFO25,627.00 百万HKD；其中外部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基金赎回为5,772.00 百万HKD。现金流量表现金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19,353.00 百万HKD与资产负债表现金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182,724.00 百万HKD是不同范围。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附注披露的会员配对资金通过经营现金桥但不可用于其他活动；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清算与公司不同用途资源不能混用。其他负债增加与应收增加只能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解释原合计行，未分解前不能称供应商占款。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主要经营现金复算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19,855.00 百万HKD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CFO复算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25,627.00 百万HKD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公司非清算专用现金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19,353.00 百万HKD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e_profit / e_cash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公司现金与投资赎回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利润有现金支持，但投资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赎回不可当新增经营盈利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高CFO部分来自外部资产赎回，而不是重复性收费现金。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期末资金池受市场保证金需求影响，不能用总额判断公司债务偿还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能力。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母公司现金2870（2024为1615）、应收子公司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11338（5441）、净流动资产8992（12092）、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留存15303（13929）；未从集团现金推母公司现金上划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自由，未从应收变化推真实现金流。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e_cash / e_margin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公司现金与投资赎回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利润有现金支持，但投资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赎回不可当新增经营盈利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取得日内、分法人及币种的实际可调度资金和支付义务后可进一步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判断压力现金。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e_cash / e_margin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会员资源及清算边界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保证金资产与义务对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齐，但不是压力安全证明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保证金资产重建269,243.00 百万HKD对应义务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269,243.00 百万HKD；清算基金净资产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35,796.00 百万HKD与披露一致。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资产用途、期限与服务级法律顺序决定可用性；非现金会员抵押并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未上表，跨CCP及币种资金不能简单互抵；年度账面闭合不回答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日内支付和极端平仓损失。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保证金资产义务桥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37F72"/>
                </a:solidFill>
              </a:rPr>
              <a:t>269,243.00 百万HKD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清算基金净资产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35,796.00 百万HKD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e_cash / e_margin；完整原文与位置见本演示文稿来源附页及备注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会员资源及清算边界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保证金资产与义务对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齐，但不是压力安全证明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高质量投资和隔离账户是积极缓释，但仍有期限和时点错配。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服务级同日损失、违约瀑布、成员份额和支付窗口证据才能支持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覆盖结论。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e_margin / e_cash；完整原文与位置见本演示文稿来源附页及备注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权益、债务与分配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非控股看跌期权连接权益与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债务现金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全权益滚动58,729.00 百万HKD、资产负债差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58,729.00 百万HKD与集团权益58,729.00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百万HKD一致；看跌期权债务重建398.00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HKD。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非控股分配59.00 百万HKD现金流出同时降低看跌期权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负债，并在权益内把NCI转至归母储备，集团权益该行净零。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宣告分配与实付股息另列，避免把权益增减全部理解成现金。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全权益滚动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58,729.00 百万HKD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看跌期权负债滚动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398.00 百万HKD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e_equity / e_profit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权益、债务与分配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非控股看跌期权连接权益与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债务现金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权益转拨形式无集团净额但改变归属和少数股东权益。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期权条款变化、分红对应的负债调整或范围差异会改变解释。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e_equity / e_bs / e_cf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战略与资产估计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技术战略改变已传导至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商誉减值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商誉重建13,274.00 百万HKD，本年减值55.00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百万HKD；软件净值重建4,341.00 百万HKD。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BayConnect协同预期下调已有会计后果，不能将减值全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当无关紧要的非现金项目。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深圳技术中心定位改变降低BayConnect协同；LME等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商品CGU仍承载主要商誉和商标，管理层提高利润率假设是增长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解释，也是应挑战的估计输入。软件资本化与收入系统依赖连接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未来摊销及运营韧性。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商誉滚动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13,274.00 百万HKD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软件净值滚动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4,341.00 百万HKD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e_estimate / e_business / e_governance；完整原文与位置见本演示文稿来源附页及备注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战略与资产估计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技术战略改变已传导至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商誉减值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商品市场盈利提升可以支持更高预测利润率。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未取得预测、资本开支和税/折现匹配，不能独立证明无减值或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计算应调整额。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实际利润/现金低于预测，开发项目不可用或关键假设恶化将触发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重新估值。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e_estimate / e_business / e_governance；完整原文与位置见本演示文稿来源附页及备注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资本配置及母公司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总部投资和高分配率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需要按现金时点管理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主要经营现金减总部和其他长期经营资产付款为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14,974.00 百万HKD，再减归母股息实付剩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1,252.00 百万HKD；尚有总部已签承诺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3,424.00 百万HKD及其他资本安排。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该观察未扣联营投资、奖励股份、租赁和其他资金变动；总部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ROU/固定资产确认与付款及未来承诺不同步，不能把会计新增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当现金支出。母公司现金2,870.00 百万HKD也不同于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集团资金。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主要经营现金减长期经营资产现金付款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14,974.00 百万HKD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上述现金指标减归母股息实付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1,252.00 百万HKD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e_capital / e_parent；完整原文与位置见本演示文稿来源附页及备注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资本配置及母公司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总部投资和高分配率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需要按现金时点管理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现金余额和资本投资可支持未来容量与持续经营，不能仅凭本期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付款增加评为负面。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逐期投入收益、法人可分配与上划能力以及承诺付款时间表会改变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分配余量判断。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e_capital / e_cf / e_parent；完整原文与位置见本演示文稿来源附页及备注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税负与现金时点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19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税负上升部分抵消税前增长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税前利润同比42.45%，净利润同比35.59%；本年有效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税率15.70%。最低补足税701.00 百万HKD占所得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税费用增量43.19%。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最低税有明确本期税额；英国当期税抵扣与递延税相抵，不能只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引用当期税利好。税费和实付税不同，未付税还影响未来现金。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本年有效税率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15.70%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补足税占税增量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43.19%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e_profit / e_tax；完整原文与位置见本演示文稿来源附页及备注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税负与现金时点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税负上升部分抵消税前增长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地区盈利结构、永久差异与递延项目也影响总税率，不能把差额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全部归因最低税。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按法域纳税及GloBE计算、支付时点和下一期暂时性差异变化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会改变持续税负预测。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e_tax / e_profit；完整原文与位置见本演示文稿来源附页及备注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治理及会计列报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控制证据、治理陈述与未来列报变更要分清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收入系统是原审计师关键审计事项；本次仅读取其程序与结论，没有执行系统控制测试。报告期仍按现行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HKFRS列报，未来列报变更需要可比桥。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同一交易系统同时影响收费完整性、日内清算和业务连续性；委员会审阅是治理动作，不是独立运行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证据。HKFRS18公司投资收益、会员利息回拨重分类将影响营业口径，不能误读为经济利润变化。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e_governance / e_business / e_fca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治理及会计列报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控制证据、治理陈述与未来列报变更要分清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原审计意见与委员会监督提供积极公开证据。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官方FCA最终文书已取得；其同时记录历史控制不足与后续缓释，不支持将处罚结束解释为所有运营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风险消失。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e_governance / e_business / e_fca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治理及会计列报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控制证据、治理陈述与未来列报变更要分清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披露网络独立专家验证、数据中心ISO27001、定期演练、2025第三方隐私复核；风灾期间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交易结算正常是正面执行实例。气候评估覆盖17个自有及租用站点，比较NGFS路径并连接交易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收入、资产损害/能源成本；存在公司表现不变及技术不变等假设。HKQAA声明称程序参照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ISAE3000，以有限保证评价2025年度披露是否按ESG Reporting Code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编制，并参考GRI。正文明确并入附录A：范围限于数据向披露的转录或转换，不评价ESG政策及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实践的执行或有效性，不全面评价管理层判断、假设或估计技术；报告期外信息排除。该保证不是本次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网络运行或气候模型验证。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e_governance / e_business / e_fca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治理及会计列报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控制证据、治理陈述与未来列报变更要分清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进一步取得系统运行样本、日内升级日志及事件整改关闭测试后，更新对运行韧性与剩余风险的判断。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e_governance / e_business / e_fca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技术与气候风险的经济连接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技术与气候披露：执行实例与保证范围分列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补充公开报告已取得。风灾中交易结算正常、网络演练和第三方隐私复核为积极披露证据；极端天气和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网络中断仍通过交易收入、清算付款及资产/运营成本传导。HKQAA有限保证不覆盖ESG执行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有效性或全面模型适当性。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可持续报告已把场景连接站点、收入与费用，不能重复请求整份公开报告。附录A将保证限制为披露数据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的转录或转换，排除ESG执行效果且不全面评价判断、假设及估计技术，不能凭该保证关闭运行或模型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风险。本次也未测试关键系统或复算气候模型；企业表现和技术不变假设仍需挑战。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e_sr / e_fca / e_governance；完整原文与位置见本演示文稿来源附页及备注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技术与气候风险的经济连接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技术与气候披露：执行实例与保证范围分列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已有防洪、业务连续性、保险及恶劣天气交易安排可以降低损失。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管理层无重大财务影响判断仍受预测和范围限制。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HKFRS无保留意见；KAM是收入IT系统及控制依赖，原审计师测试不等于本次已执行。集团称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监管实体全年符合资本要求，不等于已验证压力充足。HKFRS18未提前采用，预计2027重分类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公司投资收入与会员利息回拨，不改变归母利润；跨期营业利润要重建可比。关联方标准收费是公司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声明，未验证单笔公允性。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e_sr / e_fca / e_governance；完整原文与位置见本演示文稿来源附页及备注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技术与气候风险的经济连接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技术与气候披露：执行实例与保证范围分列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未来停机、支付延迟、站点损害或模型假设变化，需同时更新收入、支出、资产估计和清算压力。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e_sr / e_fca / e_governance；完整原文与位置见本演示文稿来源附页及备注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各CCP同日PFMI定量表、现行服务规则、压力损失、成员基金份额与币种时点支付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数据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风险与清算负责人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商品及BayConnect CGU完整估值模型、预算兑现及软件资本化/验收依据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财务与技术负责人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4251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03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1645920" y="42519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总部合同付款与资产确认明细、集团法人资金上划及未来分配计划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45920" y="50474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财务与资金负责人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29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关键收费/清算系统控制运行样本、事故升级日志和整改关闭测试；已披露气候模型的站点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假设及原始结果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技术风险与合规负责人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30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[annual] HKEX Annual Report 2025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https://www.hkexnews.hk/listedco/listconews/sehk/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2026/0316/2026031600319.pdf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[e_profit] PDF物理页143、153-154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[e_business] PDF物理页23、46-48、65、68、131、155-156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[e_cf] PDF物理页147、205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[e_cash] PDF物理页145、167-168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[e_margin] PDF物理页78、190、193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[e_equity] PDF物理页145-146、194-195、206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[e_bs] PDF物理页145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[e_estimate] PDF物理页185-187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[e_capital] PDF物理页79、147、189、206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[e_tax] PDF物理页164-165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[e_governance] PDF物理页111-115、139-140、148-150、208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-210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[e_parent] PDF物理页230-231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香港交易及结算所有限公司  |  2025-12-31  |  hkex-2025-example-v1  |  31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[fca] FCA Final Notice: London Metal Exchange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https://www.fca.org.uk/publication/final-notices/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london-metal-exchange-2025.pdf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[e_fca] PDF1-3、6-8页；段2.4-2.10、2.25-2.32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[sr] HKEX Sustainability Report 2025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https://www.hkexgroup.com/-/media/HKEX-Group-Site/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ssd/Investor-Relations/Regulatory-Reports/documents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/2026/260316sr_e.pdf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[e_sr] PDF42-43、56-58、71-74；印刷40-41、54-56、69-72；保证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声明及附录A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港交所2025：经营增长、会计质量与资本现金连接</dc:title>
  <dc:subject>公开年报会计分析示例；供专业研究复核，不是审计意见或完整监管压力验证</dc:subject>
  <dc:creator>annual-report-analysis</dc:creator>
  <cp:lastModifiedBy>annual-report-analysis</cp:lastModifiedBy>
  <cp:revision>1</cp:revision>
  <dcterms:created xsi:type="dcterms:W3CDTF">2026-10-06T00:02:30Z</dcterms:created>
  <dcterms:modified xsi:type="dcterms:W3CDTF">2026-10-06T00:02:30Z</dcterms:modified>
</cp:coreProperties>
</file>