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CNY 亿元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营业收入</c:v>
                </c:pt>
              </c:strCache>
            </c:strRef>
          </c:tx>
          <c:spPr>
            <a:solidFill>
              <a:srgbClr val="1466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2023-12-31</c:v>
                  </c:pt>
                  <c:pt idx="1">
                    <c:v>2024-12-31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1476.9360499414001</c:v>
                </c:pt>
                <c:pt idx="1">
                  <c:v>1708.9915227633999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0E6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[ar2024] revenue_2024 PDF p. 63 / 印刷页 63，合并报表，2024年列，营业收入
[ar2024] revenue_2023 PDF p. 63 / 印刷页 63，合并报表，2023年列，营业收入
[ar2024] parent_net_income_2024 PDF p. 64 / 印刷页 64，合并报表，2024年列，归属于母公司股东的净利润
[ar2024] parent_net_income_2023 PDF p. 64 / 印刷页 64，合并报表，2023年列，归属于母公司股东的净利润
[business] 贵州茅台2024年年度报告：业务与经营变动 PDF p. 7-9 / 印刷页 7-9，管理层讨论与分析 https://static.cninfo.com.cn/finalpage/2025-04-03/1222993920.PDF
[ar2024] cfo_2024 PDF p. 67 / 印刷页 67，合并报表，2024年列，经营活动产生的现金流量净额
[ar2024] net_income_2024 PDF p. 64 / 印刷页 64，合并报表，2024年列，合并净利润
[cashnote] 贵州茅台2024年年度报告：现金流量补充资料与现金构成 PDF p. 116-117 / 印刷页 116-117，附注七57 https://static.cninfo.com.cn/finalpage/2025-04-03/1222993920.PDF
[related] 贵州茅台2024年年度报告：财务公司关联金融业务 PDF p. 131-132 / 印刷页 131-132，附注十四4(8) https://static.cninfo.com.cn/finalpage/2025-04-03/1222993920.PDF
[audit] 贵州茅台2024年年度报告：审计报告 PDF p. 55-58 / 印刷页 55-58，天健审〔2025〕8-171号，2025-04-01 https://static.cninfo.com.cn/finalpage/2025-04-03/1222993920.PDF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[ar2024] revenue_2023 PDF p. 63 / 印刷页 63，合并报表，2023年列，营业收入
[ar2024] revenue_2024 PDF p. 63 / 印刷页 63，合并报表，2024年列，营业收入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[ar2024] net_income_2024 PDF p. 64 / 印刷页 64，合并报表，2024年列，合并净利润
[ar2024] cfo_2024 PDF p. 67 / 印刷页 67，合并报表，2024年列，经营活动产生的现金流量净额
net_margin: {net_income_2024}/{revenue_2024}
[ar2024] revenue_2024 PDF p. 63 / 印刷页 63，合并报表，2024年列，营业收入
cash_profit_ratio: {cfo_2024}/{net_income_2024}
free_cash_flow: {cfo_2024}-{capex_2024}
[ar2024] capex_2024 PDF p. 67 / 印刷页 67，合并报表，2024年列，购建固定资产、无形资产和其他长期资产支付的现金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[ar2024] assets_2024 PDF p. 59 / 印刷页 59，合并报表，2024年列，资产总计
[ar2024] liabilities_2024 PDF p. 60 / 印刷页 60，合并报表，2024年列，负债合计
[ar2024] equity_2024 PDF p. 61 / 印刷页 61，合并报表，2024年列，所有者权益合计
[ar2024] cash_equivalents_2024 PDF p. 68 / 印刷页 68，合并报表，2024年列，现金及现金等价物期末余额
liabilities_assets: {liabilities_2024}/{assets_2024}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[audit] 贵州茅台2024年年度报告：审计报告 PDF p. 55-58 / 印刷页 55-58，天健审〔2025〕8-171号，2025-04-01 https://static.cninfo.com.cn/finalpage/2025-04-03/1222993920.PDF
[policy] 贵州茅台2024年年度报告：编制基础与会计政策变更 PDF p. 74-75、85 / 印刷页 74-75、85 https://static.cninfo.com.cn/finalpage/2025-04-03/1222993920.PDF
[equitynote] 贵州茅台2024年年度报告：合并所有者权益变动表 PDF p. 70-72 / 印刷页 70-72 https://static.cninfo.com.cn/finalpage/2025-04-03/1222993920.PDF
[nonrecurring] 贵州茅台2024年年度报告：主要指标及非经常性损益 PDF p. 5-7 / 印刷页 5-7 https://static.cninfo.com.cn/finalpage/2025-04-03/1222993920.PDF
balance_sheet: {assets_2024}-{liabilities_2024}-{equity_2024}
[ar2024] assets_2024 PDF p. 59 / 印刷页 59，合并报表，2024年列，资产总计
[ar2024] liabilities_2024 PDF p. 60 / 印刷页 60，合并报表，2024年列，负债合计
[ar2024] equity_2024 PDF p. 61 / 印刷页 61，合并报表，2024年列，所有者权益合计
profit_attribution: {net_income_2024}-{parent_net_income_2024}-{minority_net_income_2024}
[ar2024] net_income_2024 PDF p. 64 / 印刷页 64，合并报表，2024年列，合并净利润
[ar2024] parent_net_income_2024 PDF p. 64 / 印刷页 64，合并报表，2024年列，归属于母公司股东的净利润
[ar2024] minority_net_income_2024 PDF p. 64 / 印刷页 64，合并报表，2024年列，少数股东损益
cash_rollforward: {cash_equivalents_2024}-{cash_equivalents_2023}-{cfo_2024}-{cfi_2024}-{cff_2024}-{fx_effect_2024}
[ar2024] cash_equivalents_2024 PDF p. 68 / 印刷页 68，合并报表，2024年列，现金及现金等价物期末余额
[ar2024] cash_equivalents_2023 PDF p. 68 / 印刷页 68，合并报表，2023年列，现金及现金等价物期末余额
[ar2024] cfo_2024 PDF p. 67 / 印刷页 67，合并报表，2024年列，经营活动产生的现金流量净额
[ar2024] cfi_2024 PDF p. 67 / 印刷页 67，合并报表，2024年列，投资活动产生的现金流量净额
[ar2024] cff_2024 PDF p. 67 / 印刷页 67，合并报表，2024年列，筹资活动产生的现金流量净额
[ar2024] fx_effect_2024 PDF p. 68 / 印刷页 68，合并报表，2024年列，汇率变动对现金及现金等价物的影响
equity_rollforward: {equity_2024}-{equity_2023}-{comprehensive_income_2024}-{owner_transactions_2024}
[ar2024] equity_2023 PDF p. 61 / 印刷页 61，合并报表，2023年列，所有者权益合计
[ar2024] comprehensive_income_2024 PDF p. 65 / 印刷页 65，合并报表，2024年列，综合收益总额
[ar2024] owner_transactions_2024 PDF p. 70-71 / 印刷页 70-71，2024年合并权益变动表：对所有者（或股东）的分配，所有者权益合计列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[business] 贵州茅台2024年年度报告：业务与经营变动 PDF p. 7-9 / 印刷页 7-9，管理层讨论与分析 https://static.cninfo.com.cn/finalpage/2025-04-03/1222993920.PDF
[related] 贵州茅台2024年年度报告：财务公司关联金融业务 PDF p. 131-132 / 印刷页 131-132，附注十四4(8) https://static.cninfo.com.cn/finalpage/2025-04-03/1222993920.PDF
[cashnote] 贵州茅台2024年年度报告：现金流量补充资料与现金构成 PDF p. 116-117 / 印刷页 116-117，附注七57 https://static.cninfo.com.cn/finalpage/2025-04-03/1222993920.PDF
[ar2024] revenue_2024 PDF p. 63 / 印刷页 63，合并报表，2024年列，营业收入
[balance] 贵州茅台2024年年度报告：合并资产负债表 PDF p. 58-61 / 印刷页 58-61；合同负债见第60页 https://static.cninfo.com.cn/finalpage/2025-04-03/1222993920.PDF
[commitments] 贵州茅台2024年年度报告：资本承诺与期后事项 PDF p. 135-136 / 印刷页 135-136，附注十五至十七 https://static.cninfo.com.cn/finalpage/2025-04-03/1222993920.PDF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[ar2024] 贵州茅台2024年年度报告  https://static.cninfo.com.cn/finalpage/2025-04-03/1222993920.PDF
[business] 贵州茅台2024年年度报告：业务与经营变动 PDF p. 7-9 / 印刷页 7-9，管理层讨论与分析 https://static.cninfo.com.cn/finalpage/2025-04-03/1222993920.PDF
[outlook] 贵州茅台2024年年度报告：管理层未来发展与目标 PDF p. 20-21 / 印刷页 20-21 https://static.cninfo.com.cn/finalpage/2025-04-03/1222993920.PDF
[audit] 贵州茅台2024年年度报告：审计报告 PDF p. 55-58 / 印刷页 55-58，天健审〔2025〕8-171号，2025-04-01 https://static.cninfo.com.cn/finalpage/2025-04-03/1222993920.PDF
[governance] 贵州茅台2024年年度报告：审计委员会与董事履职 PDF p. 31-32 / 印刷页 31-32 https://static.cninfo.com.cn/finalpage/2025-04-03/1222993920.PDF
[policy] 贵州茅台2024年年度报告：编制基础与会计政策变更 PDF p. 74-75、85 / 印刷页 74-75、85 https://static.cninfo.com.cn/finalpage/2025-04-03/1222993920.PDF
[nonrecurring] 贵州茅台2024年年度报告：主要指标及非经常性损益 PDF p. 5-7 / 印刷页 5-7 https://static.cninfo.com.cn/finalpage/2025-04-03/1222993920.PDF
[cashnote] 贵州茅台2024年年度报告：现金流量补充资料与现金构成 PDF p. 116-117 / 印刷页 116-117，附注七57 https://static.cninfo.com.cn/finalpage/2025-04-03/1222993920.PDF
[restricted] 贵州茅台2024年年度报告：货币资金与拆出资金附注 PDF p. 86 / 印刷页 86，附注七1-2 https://static.cninfo.com.cn/finalpage/2025-04-03/1222993920.PDF
[related] 贵州茅台2024年年度报告：财务公司关联金融业务 PDF p. 131-132 / 印刷页 131-132，附注十四4(8) https://static.cninfo.com.cn/finalpage/2025-04-03/1222993920.PDF
[commitments] 贵州茅台2024年年度报告：资本承诺与期后事项 PDF p. 135-136 / 印刷页 135-136，附注十五至十七 https://static.cninfo.com.cn/finalpage/2025-04-03/1222993920.PDF
[equitynote] 贵州茅台2024年年度报告：合并所有者权益变动表 PDF p. 70-72 / 印刷页 70-72 https://static.cninfo.com.cn/finalpage/2025-04-03/1222993920.PDF
[balance] 贵州茅台2024年年度报告：合并资产负债表 PDF p. 58-61 / 印刷页 58-61；合同负债见第60页 https://static.cninfo.com.cn/finalpage/2025-04-03/1222993920.PDF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[ar2024] 贵州茅台2024年年度报告  https://static.cninfo.com.cn/finalpage/2025-04-03/1222993920.PDF
[business] 贵州茅台2024年年度报告：业务与经营变动 PDF p. 7-9 / 印刷页 7-9，管理层讨论与分析 https://static.cninfo.com.cn/finalpage/2025-04-03/1222993920.PDF
[outlook] 贵州茅台2024年年度报告：管理层未来发展与目标 PDF p. 20-21 / 印刷页 20-21 https://static.cninfo.com.cn/finalpage/2025-04-03/1222993920.PDF
[audit] 贵州茅台2024年年度报告：审计报告 PDF p. 55-58 / 印刷页 55-58，天健审〔2025〕8-171号，2025-04-01 https://static.cninfo.com.cn/finalpage/2025-04-03/1222993920.PDF
[governance] 贵州茅台2024年年度报告：审计委员会与董事履职 PDF p. 31-32 / 印刷页 31-32 https://static.cninfo.com.cn/finalpage/2025-04-03/1222993920.PDF
[policy] 贵州茅台2024年年度报告：编制基础与会计政策变更 PDF p. 74-75、85 / 印刷页 74-75、85 https://static.cninfo.com.cn/finalpage/2025-04-03/1222993920.PDF
[nonrecurring] 贵州茅台2024年年度报告：主要指标及非经常性损益 PDF p. 5-7 / 印刷页 5-7 https://static.cninfo.com.cn/finalpage/2025-04-03/1222993920.PDF
[cashnote] 贵州茅台2024年年度报告：现金流量补充资料与现金构成 PDF p. 116-117 / 印刷页 116-117，附注七57 https://static.cninfo.com.cn/finalpage/2025-04-03/1222993920.PDF
[restricted] 贵州茅台2024年年度报告：货币资金与拆出资金附注 PDF p. 86 / 印刷页 86，附注七1-2 https://static.cninfo.com.cn/finalpage/2025-04-03/1222993920.PDF
[related] 贵州茅台2024年年度报告：财务公司关联金融业务 PDF p. 131-132 / 印刷页 131-132，附注十四4(8) https://static.cninfo.com.cn/finalpage/2025-04-03/1222993920.PDF
[commitments] 贵州茅台2024年年度报告：资本承诺与期后事项 PDF p. 135-136 / 印刷页 135-136，附注十五至十七 https://static.cninfo.com.cn/finalpage/2025-04-03/1222993920.PDF
[equitynote] 贵州茅台2024年年度报告：合并所有者权益变动表 PDF p. 70-72 / 印刷页 70-72 https://static.cninfo.com.cn/finalpage/2025-04-03/1222993920.PDF
[balance] 贵州茅台2024年年度报告：合并资产负债表 PDF p. 58-61 / 印刷页 58-61；合同负债见第60页 https://static.cninfo.com.cn/finalpage/2025-04-03/1222993920.PDF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9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企业年报分析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6419088"/>
            <a:ext cx="10515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8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600519.SH | 2024-12-31 | 完整底稿见 Word / Excel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D8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贵州茅台酒股份有限公司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ED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A-share | CAS | consolidated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BED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CNY 亿元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研究摘要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完整事实、计算、引用与阅读记录见 Word / Excel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6419088"/>
            <a:ext cx="10515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600519.SH | 2024-12-31 | 完整底稿见 Word / Excel | [ar2024] [business] [cashnote] 等，详见备注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94360" y="1417320"/>
            <a:ext cx="10991088" cy="4617720"/>
          </a:xfrm>
          <a:prstGeom prst="rect">
            <a:avLst/>
          </a:prstGeom>
          <a:solidFill>
            <a:srgbClr val="F4F6F3"/>
          </a:solidFill>
          <a:ln w="12700">
            <a:solidFill>
              <a:srgbClr val="F4F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609344"/>
            <a:ext cx="10515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披露事实: 2024年营业收入1708.99亿元、归母净利润862.28亿元，均高于2023年。营业收入与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包含利息收入的营业总收入1741.44亿元是不同口径。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分析判断: 经营现金流超过合并净利润，但现金增长包含财务公司归集成员单位资金的影响，不能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据此独立认定酒业利润全部实现了现金回收。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披露事实: 无保留审计意见；收入确认、关联方及交易为关键审计事项。关键审计事项表示审计关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注，并非造假结论。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经营与收入趋势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6419088"/>
            <a:ext cx="10515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600519.SH | 2024-12-31 | 完整底稿见 Word / Excel | [ar2024]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508760"/>
          <a:ext cx="75438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8641080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收入同比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641080" y="2651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66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15.71%</a:t>
            </a:r>
            <a:endParaRPr lang="en-US" sz="2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利润与现金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6419088"/>
            <a:ext cx="10515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600519.SH | 2024-12-31 | 完整底稿见 Word / Excel | [ar2024]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94360" y="1188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CNY 亿元 | consolidated | CAS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1000232" cy="914400"/>
        </p:xfrm>
        <a:graphic>
          <a:graphicData uri="http://schemas.openxmlformats.org/drawingml/2006/table">
            <a:tbl>
              <a:tblPr/>
              <a:tblGrid>
                <a:gridCol w="3794760"/>
                <a:gridCol w="2011680"/>
                <a:gridCol w="51937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6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6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口径或原因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6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净利润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893.35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2024-12-31 / reported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经营现金流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924.64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2024-12-31 / reported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净利率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52.27%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2024-12-31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经营现金流与净利润比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1.04×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2024-12-31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自由现金流 CFO减资本开支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877.85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2024-12-31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资产负债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6419088"/>
            <a:ext cx="10515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600519.SH | 2024-12-31 | 完整底稿见 Word / Excel | [ar2024]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94360" y="1188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CNY 亿元 | consolidated | CAS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1000232" cy="914400"/>
        </p:xfrm>
        <a:graphic>
          <a:graphicData uri="http://schemas.openxmlformats.org/drawingml/2006/table">
            <a:tbl>
              <a:tblPr/>
              <a:tblGrid>
                <a:gridCol w="3794760"/>
                <a:gridCol w="2011680"/>
                <a:gridCol w="51937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6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6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口径或原因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6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资产总额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2,989.45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2024-12-31 / reported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负债总额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569.33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2024-12-31 / reported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权益总额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2,420.11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2024-12-31 / reported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现金及等价物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1,699.70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2024-12-31 / reported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资产负债率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19.04%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92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2024-12-31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2296" marR="82296" marT="82296" marB="82296" anchor="t">
                    <a:lnL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会计与审计关注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6419088"/>
            <a:ext cx="10515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600519.SH | 2024-12-31 | 完整底稿见 Word / Excel | [audit] [policy] [equitynote] 等，详见备注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94360" y="1417320"/>
            <a:ext cx="10991088" cy="4617720"/>
          </a:xfrm>
          <a:prstGeom prst="rect">
            <a:avLst/>
          </a:prstGeom>
          <a:solidFill>
            <a:srgbClr val="F4F6F3"/>
          </a:solidFill>
          <a:ln w="12700">
            <a:solidFill>
              <a:srgbClr val="F4F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609344"/>
            <a:ext cx="10515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披露事实: 天健审〔2025〕8-171号审计报告日期为2025年4月1日；财务报表采用中国企业会计准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则和持续经营基础。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披露事实: 年报披露2024年重要会计政策、会计估计变更及首次执行准则涉及年初调整均不适用。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本底稿使用本报告的2023年比较数；2023年权益变动表内仍列示更早的期初会计政策调整，不能据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此称历史上从无调整。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披露事实: 2024年归母扣非净利润862.41亿元，非经常性损益合计为负1275.96万元，已包含所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得税及少数股东影响。保留公司扣非口径，不自行把全部投资收益删除。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资产减负债减权益: 勾稽相符; 净利润归属勾稽: 勾稽相符; 现金及等价物变动勾稽 含汇率影响: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勾稽相符; 权益变动勾稽: 勾稽相符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勾稽检查仅反映已提供数据的算术关系，不构成审计意见。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待核问题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6419088"/>
            <a:ext cx="10515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600519.SH | 2024-12-31 | 完整底稿见 Word / Excel | [business] [related] [cashnote] 等，详见备注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94360" y="1417320"/>
            <a:ext cx="10991088" cy="4617720"/>
          </a:xfrm>
          <a:prstGeom prst="rect">
            <a:avLst/>
          </a:prstGeom>
          <a:solidFill>
            <a:srgbClr val="F4F6F3"/>
          </a:solidFill>
          <a:ln w="12700">
            <a:solidFill>
              <a:srgbClr val="F4F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609344"/>
            <a:ext cx="10515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剔除财务公司存贷款及同业业务现金流后，酒业自身现金转化的可比变化是多少？本次未构造未披露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的剔除后CFO。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直销与批发渠道增速差异及合同负债下降，在后续季度是否持续？需要新增披露，不能由单一年报定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论。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两只产业基金剩余认缴及后续回购、分红安排将如何影响可用资金？需结合后续公告逐项跟踪。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范围与来源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6419088"/>
            <a:ext cx="10515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600519.SH | 2024-12-31 | 完整底稿见 Word / Excel | [ar2024] [business] [outlook] 等，详见备注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94360" y="1417320"/>
            <a:ext cx="10991088" cy="4617720"/>
          </a:xfrm>
          <a:prstGeom prst="rect">
            <a:avLst/>
          </a:prstGeom>
          <a:solidFill>
            <a:srgbClr val="F4F6F3"/>
          </a:solidFill>
          <a:ln w="12700">
            <a:solidFill>
              <a:srgbClr val="F4F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609344"/>
            <a:ext cx="10515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实际阅读覆盖: 合并资产负债表: 已核读; 合并利润表: 已核读; 合并现金流量表: 已核读; 合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并权益变动表: 部分核读; 审计报告: 已核读; 管理层讨论与分析: 部分核读; 会计政策与编制基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础: 部分核读; 现金与受限资金附注: 已核读; 关联方附注: 部分核读; 治理: 部分核读; 承诺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及期后事项: 已核读; 2025年及后续披露: 资料不足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仅对底稿coverage注明的报表和指定章节核验，未声称通读全部143页；未取得审计工作底稿、经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营合同或独立函证。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样例固定于2024年年报及其中比较信息，不是截至2026年10月2日的最新投资分析；未核验2025年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目标完成情况和后来公告。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主体主营非金融业务但合并财务公司，通用利润率、CFO/利润、流动比率及营运资金指标存在混合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业务口径限制，不用于跨行业机械排序。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范围与来源 续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6419088"/>
            <a:ext cx="10515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600519.SH | 2024-12-31 | 完整底稿见 Word / Excel | [ar2024] [business] [outlook] 等，详见备注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94360" y="1417320"/>
            <a:ext cx="10991088" cy="4617720"/>
          </a:xfrm>
          <a:prstGeom prst="rect">
            <a:avLst/>
          </a:prstGeom>
          <a:solidFill>
            <a:srgbClr val="F4F6F3"/>
          </a:solidFill>
          <a:ln w="12700">
            <a:solidFill>
              <a:srgbClr val="F4F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609344"/>
            <a:ext cx="10515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本例ROE使用期初期末平均归母权益的分析口径时，不等于年报披露的加权平均净资产收益率36.02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%。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2023年所有者交易净额未录入，未用期末权益倒算；缺少2022年完整资产、存货、应收账款等期初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数的指标应显示不可得。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资本支出采用披露的固定资产、无形资产和其他长期资产购建现金支出，不区分维持性及扩张性支出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；未包括产业基金投资。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本简报仅选取主要结论及关键指标；全部来源定位、其他指标和分析详见 Word / Excel。每页的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详细引文见演讲者备注。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贵州茅台酒股份有限公司 企业年报分析摘要</dc:title>
  <dc:subject>企业年报分析摘要</dc:subject>
  <dc:creator/>
  <cp:lastModifiedBy/>
  <cp:revision>1</cp:revision>
  <dcterms:created xsi:type="dcterms:W3CDTF">2026-10-02T16:15:40Z</dcterms:created>
  <dcterms:modified xsi:type="dcterms:W3CDTF">2026-10-02T16:15:40Z</dcterms:modified>
</cp:coreProperties>
</file>