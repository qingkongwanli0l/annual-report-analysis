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本例为选定公开资料的专业研究示范，不是整本年报全部披露的完整审计。
未取得银行/授信合同、按法人可调度现金、逐月预算、保修明细及资产组原始预测，不出具正式信用等级或审计鉴证。
事实以2026年3月10日已公开的2025年报为界；假设与实际披露分列。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F_GROWTH
Status: conditional
增长从何而来
销量增长高于合并收入，但收入含非电池业务，销量单位与产品结构也不同，不能将两者之比直接称为电池降价。产能扩张与存货增加要求核对投产及订单兑现。
产品结构和地区组合变化可能影响收入增速。
并表变化也可能影响同比；未取得同范围量价明细。
Evidence: E_BIZ, revenue_growth, volume_growth
Counterevidence: [E_PL] 宁德时代新能源科技股份有限公司2025年年度报告 | PDF及印刷页116—119 利润表
https://static.cninfo.com.cn/finalpage/2026-03-10/1225002214.PDF
[E_BIZ] 宁德时代新能源科技股份有限公司2025年年度报告 | PDF及印刷页24—27 收入成本与产销表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F_GROWTH
Status: conditional
增长从何而来
销量增长高于合并收入，但收入含非电池业务，销量单位与产品结构也不同，不能将两者之比直接称为电池降价。产能扩张与存货增加要求核对投产及订单兑现。
产品结构和地区组合变化可能影响收入增速。
并表变化也可能影响同比；未取得同范围量价明细。
Evidence: E_BIZ, revenue_growth, volume_growth
Counterevidence: [E_BIZ] 宁德时代新能源科技股份有限公司2025年年度报告 | PDF及印刷页24—27 收入成本与产销表
https://static.cninfo.com.cn/finalpage/2026-03-10/1225002214.PDF
[E_PL] 宁德时代新能源科技股份有限公司2025年年度报告 | PDF及印刷页116—119 利润表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[E_PL] 宁德时代新能源科技股份有限公司2025年年度报告 | PDF及印刷页116—119 利润表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F_CASH
Status: conditional
利润为何低于CFO
存货和经营应收占用被经营应付增加超过，需区分业务规模、客户预收、付款期和融资安排。CFO减现金资本支出为908.75 亿元人民币，尚不是自由可分配资金。
采购规模和合同负债变化可能使经营应付增加，并不必然是延迟付款。
期末余额差额受合并、非现金和重分类影响，不能替代现金流附注项目。
Evidence: E_BRIDGE, cfo_bridge, working_capital_effect, fcf_simple
Counterevidence: E_SUPPLY[E_CF] 宁德时代新能源科技股份有限公司2025年年度报告 | PDF及印刷页120—121 合并现金流量表
https://static.cninfo.com.cn/finalpage/2026-03-10/1225002214.PDF
[E_BRIDGE] 宁德时代新能源科技股份有限公司2025年年度报告 | PDF及印刷页200—201 附注67 现金流补充资料
https://static.cninfo.com.cn/finalpage/2026-03-10/1225002214.PDF
[E_SUPPLY] 宁德时代新能源科技股份有限公司2025年年度报告 | PDF及印刷页202—203 附注67 供应商融资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F_CASH
Status: conditional
利润为何低于CFO
存货和经营应收占用被经营应付增加超过，需区分业务规模、客户预收、付款期和融资安排。CFO减现金资本支出为908.75 亿元人民币，尚不是自由可分配资金。
采购规模和合同负债变化可能使经营应付增加，并不必然是延迟付款。
期末余额差额受合并、非现金和重分类影响，不能替代现金流附注项目。
Evidence: E_BRIDGE, cfo_bridge, working_capital_effect, fcf_simple
Counterevidence: E_SUPPLY[E_BRIDGE] 宁德时代新能源科技股份有限公司2025年年度报告 | PDF及印刷页200—201 附注67 现金流补充资料
https://static.cninfo.com.cn/finalpage/2026-03-10/1225002214.PDF
[E_CF] 宁德时代新能源科技股份有限公司2025年年度报告 | PDF及印刷页120—121 合并现金流量表
https://static.cninfo.com.cn/finalpage/2026-03-10/1225002214.PDF
[E_SUPPLY] 宁德时代新能源科技股份有限公司2025年年度报告 | PDF及印刷页202—203 附注67 供应商融资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F_CASH
Status: conditional
利润为何低于CFO
存货和经营应收占用被经营应付增加超过，需区分业务规模、客户预收、付款期和融资安排。CFO减现金资本支出为908.75 亿元人民币，尚不是自由可分配资金。
采购规模和合同负债变化可能使经营应付增加，并不必然是延迟付款。
期末余额差额受合并、非现金和重分类影响，不能替代现金流附注项目。
Evidence: E_BRIDGE, cfo_bridge, working_capital_effect, fcf_simple
Counterevidence: E_SUPPLY[E_BRIDGE] 宁德时代新能源科技股份有限公司2025年年度报告 | PDF及印刷页200—201 附注67 现金流补充资料
https://static.cninfo.com.cn/finalpage/2026-03-10/1225002214.PDF
[E_CF] 宁德时代新能源科技股份有限公司2025年年度报告 | PDF及印刷页120—121 合并现金流量表
https://static.cninfo.com.cn/finalpage/2026-03-10/1225002214.PDF
[E_SUPPLY] 宁德时代新能源科技股份有限公司2025年年度报告 | PDF及印刷页202—203 附注67 供应商融资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F_SUPPLY
Status: conditional
是否把CFO改善全部归因于融资扩张
余额是存量，不能凭其下降判断新增融资或CFO同比贡献。需按两期新增、现金结算、非现金变动及现金流分类建立桥接。全额计债仅作敏感性分析：1,568.24 亿元人民币。
余额下降仍可能同时伴随普通贸易应付款上升。
供应商融资可替换其他资金，风险还取决于期限、集中度和终止条款。
Evidence: E_SUPPLY, supply_components, supply_change
Counterevidence: E_BRIDGE[E_SUPPLY] 宁德时代新能源科技股份有限公司2025年年度报告 | PDF及印刷页202—203 附注67 供应商融资
https://static.cninfo.com.cn/finalpage/2026-03-10/1225002214.PDF
[E_DEBT] 宁德时代新能源科技股份有限公司2025年年度报告 | PDF及印刷页200 筹资负债变动表
https://static.cninfo.com.cn/finalpage/2026-03-10/1225002214.PDF
[E_BRIDGE] 宁德时代新能源科技股份有限公司2025年年度报告 | PDF及印刷页200—201 附注67 现金流补充资料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F_SUPPLY
Status: conditional
是否把CFO改善全部归因于融资扩张
余额是存量，不能凭其下降判断新增融资或CFO同比贡献。需按两期新增、现金结算、非现金变动及现金流分类建立桥接。全额计债仅作敏感性分析：1,568.24 亿元人民币。
余额下降仍可能同时伴随普通贸易应付款上升。
供应商融资可替换其他资金，风险还取决于期限、集中度和终止条款。
Evidence: E_SUPPLY, supply_components, supply_change
Counterevidence: E_BRIDGE[E_SUPPLY] 宁德时代新能源科技股份有限公司2025年年度报告 | PDF及印刷页202—203 附注67 供应商融资
https://static.cninfo.com.cn/finalpage/2026-03-10/1225002214.PDF
[E_BRIDGE] 宁德时代新能源科技股份有限公司2025年年度报告 | PDF及印刷页200—201 附注67 现金流补充资料
https://static.cninfo.com.cn/finalpage/2026-03-10/1225002214.PDF
[E_DEBT] 宁德时代新能源科技股份有限公司2025年年度报告 | PDF及印刷页200 筹资负债变动表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F_SUPPLY
Status: conditional
是否把CFO改善全部归因于融资扩张
余额是存量，不能凭其下降判断新增融资或CFO同比贡献。需按两期新增、现金结算、非现金变动及现金流分类建立桥接。全额计债仅作敏感性分析：1,568.24 亿元人民币。
余额下降仍可能同时伴随普通贸易应付款上升。
供应商融资可替换其他资金，风险还取决于期限、集中度和终止条款。
Evidence: E_SUPPLY, supply_components, supply_change
Counterevidence: E_BRIDGE[E_SUPPLY] 宁德时代新能源科技股份有限公司2025年年度报告 | PDF及印刷页202—203 附注67 供应商融资
https://static.cninfo.com.cn/finalpage/2026-03-10/1225002214.PDF
[E_BRIDGE] 宁德时代新能源科技股份有限公司2025年年度报告 | PDF及印刷页200—201 附注67 现金流补充资料
https://static.cninfo.com.cn/finalpage/2026-03-10/1225002214.PDF
[E_DEBT] 宁德时代新能源科技股份有限公司2025年年度报告 | PDF及印刷页200 筹资负债变动表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[E_DEBT] 宁德时代新能源科技股份有限公司2025年年度报告 | PDF及印刷页200 筹资负债变动表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F_LIQUIDITY
Status: conditional
集团大额现金意味着怎样的流动性
排除项目包含受限保证金、质押定存和不可随时支取定存及利息，各类限制不同。集团现金尚需法人、币种、地区、季节性及经营最低现金判断，不能直接抵销全部集团债务。
部分定存到期后可用，但时间须匹配债务到期。
境外现金可能受转移或税费限制；年报汇总不足以确认可调度数。
Evidence: E_CASH, E_CF, cash_composition, debt
Counterevidence: [E_BS] 宁德时代新能源科技股份有限公司2025年年度报告 | PDF及印刷页111—113 合并资产负债表
https://static.cninfo.com.cn/finalpage/2026-03-10/1225002214.PDF
[E_CASH] 宁德时代新能源科技股份有限公司2025年年度报告 | PDF及印刷页202—203 现金构成与排除项目
https://static.cninfo.com.cn/finalpage/2026-03-10/1225002214.PDF
[E_CF] 宁德时代新能源科技股份有限公司2025年年度报告 | PDF及印刷页120—121 合并现金流量表
https://static.cninfo.com.cn/finalpage/2026-03-10/1225002214.PDF
[E_DEBT] 宁德时代新能源科技股份有限公司2025年年度报告 | PDF及印刷页200 筹资负债变动表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F_LIQUIDITY
Status: conditional
集团大额现金意味着怎样的流动性
排除项目包含受限保证金、质押定存和不可随时支取定存及利息，各类限制不同。集团现金尚需法人、币种、地区、季节性及经营最低现金判断，不能直接抵销全部集团债务。
部分定存到期后可用，但时间须匹配债务到期。
境外现金可能受转移或税费限制；年报汇总不足以确认可调度数。
Evidence: E_CASH, E_CF, cash_composition, debt
Counterevidence: [E_CASH] 宁德时代新能源科技股份有限公司2025年年度报告 | PDF及印刷页202—203 现金构成与排除项目
https://static.cninfo.com.cn/finalpage/2026-03-10/1225002214.PDF
[E_CF] 宁德时代新能源科技股份有限公司2025年年度报告 | PDF及印刷页120—121 合并现金流量表
https://static.cninfo.com.cn/finalpage/2026-03-10/1225002214.PDF
[E_DEBT] 宁德时代新能源科技股份有限公司2025年年度报告 | PDF及印刷页200 筹资负债变动表
https://static.cninfo.com.cn/finalpage/2026-03-10/1225002214.PDF
[E_BS] 宁德时代新能源科技股份有限公司2025年年度报告 | PDF及印刷页111—113 合并资产负债表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F_ESTIMATES
Status: conditional
高增长是否证明资产和准备估计充足
总体产能利用率不能推翻个别旧产线减值。转固606.16 亿元人民币与当期购建现金423.45 亿元人民币反映不同边界。售后预计负债依赖质保内销量、维修率与单位成本，余额增加不能替代费用与实际使用桥。
技术迭代或客户迁移可使局部产线减值，即使集团需求增长。
准备余额增加可能来自销量、维修率、成本或实际支出节奏，公开表无法分清。
Evidence: E_PPE, E_WARRANTY, E_POLICY, ppe_imp_recalc
Counterevidence: E_BIZ[E_PPE] 宁德时代新能源科技股份有限公司2025年年度报告 | PDF及印刷页177—180 固定资产与减值
https://static.cninfo.com.cn/finalpage/2026-03-10/1225002214.PDF
[E_WARRANTY] 宁德时代新能源科技股份有限公司2025年年度报告 | PDF及印刷页192 预计负债
https://static.cninfo.com.cn/finalpage/2026-03-10/1225002214.PDF
[E_POLICY] 宁德时代新能源科技股份有限公司2025年年度报告 | PDF及印刷页134、153 会计基础及收入政策
https://static.cninfo.com.cn/finalpage/2026-03-10/1225002214.PDF
[E_BIZ] 宁德时代新能源科技股份有限公司2025年年度报告 | PDF及印刷页24—27 收入成本与产销表
https://static.cninfo.com.cn/finalpage/2026-03-10/1225002214.PDF
[E_CF] 宁德时代新能源科技股份有限公司2025年年度报告 | PDF及印刷页120—121 合并现金流量表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F_ESTIMATES
Status: conditional
高增长是否证明资产和准备估计充足
总体产能利用率不能推翻个别旧产线减值。转固606.16 亿元人民币与当期购建现金423.45 亿元人民币反映不同边界。售后预计负债依赖质保内销量、维修率与单位成本，余额增加不能替代费用与实际使用桥。
技术迭代或客户迁移可使局部产线减值，即使集团需求增长。
准备余额增加可能来自销量、维修率、成本或实际支出节奏，公开表无法分清。
Evidence: E_PPE, E_WARRANTY, E_POLICY, ppe_imp_recalc
Counterevidence: E_BIZ[E_PPE] 宁德时代新能源科技股份有限公司2025年年度报告 | PDF及印刷页177—180 固定资产与减值
https://static.cninfo.com.cn/finalpage/2026-03-10/1225002214.PDF
[E_WARRANTY] 宁德时代新能源科技股份有限公司2025年年度报告 | PDF及印刷页192 预计负债
https://static.cninfo.com.cn/finalpage/2026-03-10/1225002214.PDF
[E_POLICY] 宁德时代新能源科技股份有限公司2025年年度报告 | PDF及印刷页134、153 会计基础及收入政策
https://static.cninfo.com.cn/finalpage/2026-03-10/1225002214.PDF
[E_BIZ] 宁德时代新能源科技股份有限公司2025年年度报告 | PDF及印刷页24—27 收入成本与产销表
https://static.cninfo.com.cn/finalpage/2026-03-10/1225002214.PDF
[E_CF] 宁德时代新能源科技股份有限公司2025年年度报告 | PDF及印刷页120—121 合并现金流量表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F_ESTIMATES
Status: conditional
高增长是否证明资产和准备估计充足
总体产能利用率不能推翻个别旧产线减值。转固606.16 亿元人民币与当期购建现金423.45 亿元人民币反映不同边界。售后预计负债依赖质保内销量、维修率与单位成本，余额增加不能替代费用与实际使用桥。
技术迭代或客户迁移可使局部产线减值，即使集团需求增长。
准备余额增加可能来自销量、维修率、成本或实际支出节奏，公开表无法分清。
Evidence: E_PPE, E_WARRANTY, E_POLICY, ppe_imp_recalc
Counterevidence: E_BIZ[E_PPE] 宁德时代新能源科技股份有限公司2025年年度报告 | PDF及印刷页177—180 固定资产与减值
https://static.cninfo.com.cn/finalpage/2026-03-10/1225002214.PDF
[E_WARRANTY] 宁德时代新能源科技股份有限公司2025年年度报告 | PDF及印刷页192 预计负债
https://static.cninfo.com.cn/finalpage/2026-03-10/1225002214.PDF
[E_POLICY] 宁德时代新能源科技股份有限公司2025年年度报告 | PDF及印刷页134、153 会计基础及收入政策
https://static.cninfo.com.cn/finalpage/2026-03-10/1225002214.PDF
[E_BIZ] 宁德时代新能源科技股份有限公司2025年年度报告 | PDF及印刷页24—27 收入成本与产销表
https://static.cninfo.com.cn/finalpage/2026-03-10/1225002214.PDF
[E_CF] 宁德时代新能源科技股份有限公司2025年年度报告 | PDF及印刷页120—121 合并现金流量表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[E_PPE] 宁德时代新能源科技股份有限公司2025年年度报告 | PDF及印刷页177—180 固定资产与减值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F_EQUITY
Status: conditional
股东回报怎样复算
集团权益增长由综合收益、股东投入与分配共同形成；集团盈利不能直接代表母公司可分红现金。简单平均ROE不是公司披露的加权ROE，香港发行新股也影响分母与资金。
资本交易和其他综合收益会改变权益而不增加经营利润。
母公司投资收益和子公司分红存在时间及可分配限制。
Evidence: E_EQ, E_PL, equity_rollforward, roe_simple
Counterevidence: [E_PL] 宁德时代新能源科技股份有限公司2025年年度报告 | PDF及印刷页116—119 利润表
https://static.cninfo.com.cn/finalpage/2026-03-10/1225002214.PDF
[E_BS] 宁德时代新能源科技股份有限公司2025年年度报告 | PDF及印刷页111—113 合并资产负债表
https://static.cninfo.com.cn/finalpage/2026-03-10/1225002214.PDF
[E_EQ] 宁德时代新能源科技股份有限公司2025年年度报告 | PDF及印刷页123—125 合并权益变动表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F_EQUITY
Status: conditional
股东回报怎样复算
集团权益增长由综合收益、股东投入与分配共同形成；集团盈利不能直接代表母公司可分红现金。简单平均ROE不是公司披露的加权ROE，香港发行新股也影响分母与资金。
资本交易和其他综合收益会改变权益而不增加经营利润。
母公司投资收益和子公司分红存在时间及可分配限制。
Evidence: E_EQ, E_PL, equity_rollforward, roe_simple
Counterevidence: [E_EQ] 宁德时代新能源科技股份有限公司2025年年度报告 | PDF及印刷页123—125 合并权益变动表
https://static.cninfo.com.cn/finalpage/2026-03-10/1225002214.PDF
[E_PL] 宁德时代新能源科技股份有限公司2025年年度报告 | PDF及印刷页116—119 利润表
https://static.cninfo.com.cn/finalpage/2026-03-10/1225002214.PDF
[E_BS] 宁德时代新能源科技股份有限公司2025年年度报告 | PDF及印刷页111—113 合并资产负债表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[E_BS] 宁德时代新能源科技股份有限公司2025年年度报告 | PDF及印刷页111—113 合并资产负债表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F_AUDIT
Status: supported
关键审计事项能说明什么
关键审计事项说明原审计中的重要关注，不等于确认错报。本次需将收入截止、可变对价及资产组估计落实到合同与数据，不能复制原审计师程序为已完成。
存在重要估计不等于估计错误。
无保留意见也不意味着每项经营假设均经独立证实。
Evidence: E_AUDIT, E_POLICY, E_PPE
Counterevidence: [E_AUDIT] 宁德时代新能源科技股份有限公司2025年年度报告 | PDF及印刷页107—110 审计报告
https://static.cninfo.com.cn/finalpage/2026-03-10/1225002214.PDF
[E_POLICY] 宁德时代新能源科技股份有限公司2025年年度报告 | PDF及印刷页134、153 会计基础及收入政策
https://static.cninfo.com.cn/finalpage/2026-03-10/1225002214.PDF
[E_PPE] 宁德时代新能源科技股份有限公司2025年年度报告 | PDF及印刷页177—180 固定资产与减值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F_AUDIT
Status: supported
关键审计事项能说明什么
关键审计事项说明原审计中的重要关注，不等于确认错报。本次需将收入截止、可变对价及资产组估计落实到合同与数据，不能复制原审计师程序为已完成。
存在重要估计不等于估计错误。
无保留意见也不意味着每项经营假设均经独立证实。
Evidence: E_AUDIT, E_POLICY, E_PPE
Counterevidence: [E_AUDIT] 宁德时代新能源科技股份有限公司2025年年度报告 | PDF及印刷页107—110 审计报告
https://static.cninfo.com.cn/finalpage/2026-03-10/1225002214.PDF
[E_POLICY] 宁德时代新能源科技股份有限公司2025年年度报告 | PDF及印刷页134、153 会计基础及收入政策
https://static.cninfo.com.cn/finalpage/2026-03-10/1225002214.PDF
[E_PPE] 宁德时代新能源科技股份有限公司2025年年度报告 | PDF及印刷页177—180 固定资产与减值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REQ_CASH: 集团现金汇总不能证明每个到期点的可用资金。
Close when: 来源用途与期初现金逐月闭合，融资条件有证据，压力下最小现金和契约时点可重算。REQ_ESTIMATE: 仅年报余额不能验证全部减值及保修估计。
Close when: 账面范围与模型一致，关键参数有证据，独立敏感性可复算，重大差异处理完成。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[E_BIZ] 宁德时代新能源科技股份有限公司2025年年度报告 | PDF及印刷页24—27 收入成本与产销表
https://static.cninfo.com.cn/finalpage/2026-03-10/1225002214.PDF
[E_BS] 宁德时代新能源科技股份有限公司2025年年度报告 | PDF及印刷页111—113 合并资产负债表
https://static.cninfo.com.cn/finalpage/2026-03-10/1225002214.PDF
[E_PL] 宁德时代新能源科技股份有限公司2025年年度报告 | PDF及印刷页116—119 利润表
https://static.cninfo.com.cn/finalpage/2026-03-10/1225002214.PDF
[E_CF] 宁德时代新能源科技股份有限公司2025年年度报告 | PDF及印刷页120—121 合并现金流量表
https://static.cninfo.com.cn/finalpage/2026-03-10/1225002214.PDF
[E_EQ] 宁德时代新能源科技股份有限公司2025年年度报告 | PDF及印刷页123—125 合并权益变动表
https://static.cninfo.com.cn/finalpage/2026-03-10/1225002214.PDF
[E_POLICY] 宁德时代新能源科技股份有限公司2025年年度报告 | PDF及印刷页134、153 会计基础及收入政策
https://static.cninfo.com.cn/finalpage/2026-03-10/1225002214.PDF
[E_BRIDGE] 宁德时代新能源科技股份有限公司2025年年度报告 | PDF及印刷页200—201 附注67 现金流补充资料
https://static.cninfo.com.cn/finalpage/2026-03-10/1225002214.PDF
[E_DEBT] 宁德时代新能源科技股份有限公司2025年年度报告 | PDF及印刷页200 筹资负债变动表
https://static.cninfo.com.cn/finalpage/2026-03-10/1225002214.PDF
[E_SUPPLY] 宁德时代新能源科技股份有限公司2025年年度报告 | PDF及印刷页202—203 附注67 供应商融资
https://static.cninfo.com.cn/finalpage/2026-03-10/1225002214.PDF
[E_CASH] 宁德时代新能源科技股份有限公司2025年年度报告 | PDF及印刷页202—203 现金构成与排除项目
https://static.cninfo.com.cn/finalpage/2026-03-10/1225002214.PDF
[E_PPE] 宁德时代新能源科技股份有限公司2025年年度报告 | PDF及印刷页177—180 固定资产与减值
https://static.cninfo.com.cn/finalpage/2026-03-10/1225002214.PDF
[E_WARRANTY] 宁德时代新能源科技股份有限公司2025年年度报告 | PDF及印刷页192 预计负债
https://static.cninfo.com.cn/finalpage/2026-03-10/1225002214.PDF
[E_AUDIT] 宁德时代新能源科技股份有限公司2025年年度报告 | PDF及印刷页107—110 审计报告
https://static.cninfo.com.cn/finalpage/2026-03-10/1225002214.PDF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</a:rPr>
              <a:t>宁德时代2025年经营现金与信用分析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1CC"/>
                </a:solidFill>
              </a:rPr>
              <a:t>宁德时代集团  |  2025-12-31  |  catl-2025-example-v1  | 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解释业务增长如何转为现金，识别资本扩张、供应商融资与资产估计需要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进一步核查的事项，供研究员复核。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EDA"/>
                </a:solidFill>
              </a:rPr>
              <a:t>会计基础 CAS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6DEDA"/>
                </a:solidFill>
              </a:rPr>
              <a:t>范围 consolidated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6DEDA"/>
                </a:solidFill>
              </a:rPr>
              <a:t>信息截止 2026-03-10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采用方法与适用范围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年报四表及附注复算；分析者明确口径的供应商融资敏感性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分析范围与限制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本例为选定公开资料的专业研究示范，不是整本年报全部披露的完整审计。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未取得银行/授信合同、按法人可调度现金、逐月预算、保修明细及资产组原始预测，不出具正式信用等级或审计鉴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证。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事实以2026年3月10日已公开的2025年报为界；假设与实际披露分列。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业务增长与量价结构 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增长集中于动力电池且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需要解释量价结构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收入增长17.04%，动力系统增长25.08%，储能增长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8.99%，材料回收同比-23.83%。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解释与依据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销量增长高于合并收入，但收入含非电池业务，销量单位与产品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结构也不同，不能将两者之比直接称为电池降价。产能扩张与存货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增加要求核对投产及订单兑现。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收入同比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95681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17.04%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955280" y="2587752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动力系统收入同比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0358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25.08%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955280" y="3666744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销售量同比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38160" y="4114800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39.16%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E_PL / E_BIZ；完整原文与位置见本演示文稿来源附页及备注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业务增长与量价结构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增长集中于动力电池且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需要解释量价结构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其他解释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产品结构和地区组合变化可能影响收入增速。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并表变化也可能影响同比；未取得同范围量价明细。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取得同产品同范围的数量、单价、并购及汇率桥后，重新判断有机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增长与单位经济性。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E_BIZ / E_PL；完整原文与位置见本演示文稿来源附页及备注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业务增长与量价结构：章节指标 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39496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营业收入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56816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4,237.02 亿元人民币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E_PL；完整原文与位置见本演示文稿来源附页及备注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利润与经营现金质量 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现金表现强但依赖经营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负债提供资金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CFO为1,332.20 亿元人民币，与总净利润之比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173.49%；营运资本三项合计贡献332.16 亿元人民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币。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解释与依据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存货和经营应收占用被经营应付增加超过，需区分业务规模、客户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预收、付款期和融资安排。CFO减现金资本支出为908.75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 亿元人民币，尚不是自由可分配资金。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经营活动现金净额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95681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37F72"/>
                </a:solidFill>
              </a:rPr>
              <a:t>1,332.20 亿元人民币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955280" y="2587752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CFO与合并净利润之比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0358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173.49%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955280" y="3666744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经营营运资本现金净贡献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38160" y="4114800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332.16 亿元人民币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955280" y="4745736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8160" y="4828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CFO减购建长期资产现金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38160" y="5193792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908.75 亿元人民币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E_CF / E_BRIDGE / E_SUPPLY；完整原文与位置见本演示文稿来源附页及备注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利润与经营现金质量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现金表现强但依赖经营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负债提供资金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其他解释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采购规模和合同负债变化可能使经营应付增加，并不必然是延迟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付款。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期末余额差额受合并、非现金和重分类影响，不能替代现金流附注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项目。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反证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[E_SUPPLY] 跨页包含融单与反向保理；供应商已收款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是合计的子集，不能再加一次。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E_BRIDGE / E_CF / E_SUPPLY；完整原文与位置见本演示文稿来源附页及备注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利润与经营现金质量 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现金表现强但依赖经营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负债提供资金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逐月回款付款、客户预收和供应商账期桥显示资金贡献不可持续时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，下调可持续现金假设。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E_BRIDGE / E_CF / E_SUPPLY；完整原文与位置见本演示文稿来源附页及备注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供应商融资与债务口径 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供应商融资总额下降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仍有撤回与集中风险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跨页融资安排合计372.23 亿元人民币，较期初变动-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71.40 亿元人民币；供应商已收款307.28 亿元人民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币是其中一部分。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解释与依据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余额是存量，不能凭其下降判断新增融资或CFO同比贡献。需按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两期新增、现金结算、非现金变动及现金流分类建立桥接。全额计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债仅作敏感性分析：1,568.24 亿元人民币。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供应商融资安排合计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95681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372.23 亿元人民币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955280" y="2587752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供应商融资余额变化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0358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-71.40 亿元人民币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955280" y="3666744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含供应商融资的债务敏感性口径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38160" y="4114800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37F72"/>
                </a:solidFill>
              </a:rPr>
              <a:t>1,568.24 亿元人民币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E_SUPPLY / E_DEBT / E_BRIDGE；完整原文与位置见本演示文稿来源附页及备注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供应商融资与债务口径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供应商融资总额下降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仍有撤回与集中风险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其他解释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余额下降仍可能同时伴随普通贸易应付款上升。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供应商融资可替换其他资金，风险还取决于期限、集中度和终止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条款。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反证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[E_BRIDGE] 净利润至CFO的非现金调整与经营性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存货、应收、应付分别列示。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E_SUPPLY / E_BRIDGE / E_DEBT；完整原文与位置见本演示文稿来源附页及备注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供应商融资与债务口径 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供应商融资总额下降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仍有撤回与集中风险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核实合同分类、融资机构、到期梯度及撤回条款，重算现金缺口和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债务口径；不能把存量总额直接当本期CFO调整额。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E_SUPPLY / E_BRIDGE / E_DEBT；完整原文与位置见本演示文稿来源附页及备注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供应商融资与债务口径：章节指标 4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39496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筹资负债表借款债券及租赁合计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56816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1,196.01 亿元人民币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E_DEBT；完整原文与位置见本演示文稿来源附页及备注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资金可用性与流动性 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账面资金不能直接当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法人偿债现金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货币资金3,335.13 亿元人民币中，现金及现金等价物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2,999.30 亿元人民币，排除项目335.83 亿元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人民币；现金桥保留千元级舍入差。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解释与依据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排除项目包含受限保证金、质押定存和不可随时支取定存及利息，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各类限制不同。集团现金尚需法人、币种、地区、季节性及经营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最低现金判断，不能直接抵销全部集团债务。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货币资金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95681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37F72"/>
                </a:solidFill>
              </a:rPr>
              <a:t>3,335.13 亿元人民币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955280" y="2587752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现金及现金等价物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0358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37F72"/>
                </a:solidFill>
              </a:rPr>
              <a:t>2,999.30 亿元人民币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955280" y="3666744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排除于现金等价物的货币资金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38160" y="4114800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335.83 亿元人民币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E_BS / E_CASH / E_CF 等；完整原文与位置见本演示文稿来源附页及备注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资金可用性与流动性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账面资金不能直接当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法人偿债现金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其他解释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部分定存到期后可用，但时间须匹配债务到期。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境外现金可能受转移或税费限制；年报汇总不足以确认可调度数。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按法人取得账户限制、债务期限和承诺授信条件，才能完成分期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流动性覆盖。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E_CASH / E_CF / E_DEBT 等；完整原文与位置见本演示文稿来源附页及备注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资产估计与售后义务 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扩张中的减值与售后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成本需要单独验证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被测试固定资产组减值前账面28.66 亿元人民币、可收回额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2.06 亿元人民币；售后预计负债512.33 亿元人民币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解释与依据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总体产能利用率不能推翻个别旧产线减值。转固606.16 亿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元人民币与当期购建现金423.45 亿元人民币反映不同边界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。售后预计负债依赖质保内销量、维修率与单位成本，余额增加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不能替代费用与实际使用桥。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被测试相关资产减值前账面额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95681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28.66 亿元人民币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955280" y="2587752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该组可收回金额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0358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2.06 亿元人民币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955280" y="3666744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售后综合服务预计负债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38160" y="4114800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512.33 亿元人民币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E_PPE / E_WARRANTY / E_POLICY 等；完整原文与位置见本演示文稿来源附页及备注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资产估计与售后义务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扩张中的减值与售后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成本需要单独验证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其他解释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技术迭代或客户迁移可使局部产线减值，即使集团需求增长。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准备余额增加可能来自销量、维修率、成本或实际支出节奏，公开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表无法分清。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反证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[E_BIZ] 主营电池收入与销量不同范围；产品、地区与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合并范围变动分别披露。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E_PPE / E_WARRANTY / E_POLICY 等；完整原文与位置见本演示文稿来源附页及备注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资产估计与售后义务 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扩张中的减值与售后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成本需要单独验证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取得资产组预算/折现参数与历史兑现，及售后准备新增、使用、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冲回和批次维修数据后，形成可收回额和准备敏感性。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E_PPE / E_WARRANTY / E_POLICY 等；完整原文与位置见本演示文稿来源附页及备注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资产估计与售后义务：章节指标 4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39496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固定资产本期计提减值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56816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26.60 亿元人民币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E_PPE；完整原文与位置见本演示文稿来源附页及备注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权益变动与股东回报 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权益增长同时包含利润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与资本交易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归母净利润722.01 亿元人民币与母公司净利润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704.14 亿元人民币分开；简单平均权益ROE为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24.72%。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解释与依据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集团权益增长由综合收益、股东投入与分配共同形成；集团盈利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不能直接代表母公司可分红现金。简单平均ROE不是公司披露的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加权ROE，香港发行新股也影响分母与资金。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归母净利润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95681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722.01 亿元人民币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955280" y="2587752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母公司净利润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0358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704.14 亿元人民币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955280" y="3666744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简单平均权益ROE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38160" y="4114800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24.72%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E_PL / E_BS / E_EQ；完整原文与位置见本演示文稿来源附页及备注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权益变动与股东回报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[conditional] 权益增长同时包含利润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与资本交易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其他解释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资本交易和其他综合收益会改变权益而不增加经营利润。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母公司投资收益和子公司分红存在时间及可分配限制。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分红能力判断需要母公司可分配利润、法定限制和实际资金，而非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只看集团ROE。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E_EQ / E_PL / E_BS；完整原文与位置见本演示文稿来源附页及备注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权益变动与股东回报：章节指标 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39496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期初期末平均归母权益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56816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2,920.19 亿元人民币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E_BS；完整原文与位置见本演示文稿来源附页及备注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审计事项与未完成程序 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[supported] 审计重点是追加程序的起点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10972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原报告为无保留意见，固定资产减值和收入确认为关键审计事项；本次只执行披露取证与复算。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解释与依据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关键审计事项说明原审计中的重要关注，不等于确认错报。本次需将收入截止、可变对价及资产组估计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落实到合同与数据，不能复制原审计师程序为已完成。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其他解释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存在重要估计不等于估计错误。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无保留意见也不意味着每项经营假设均经独立证实。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E_AUDIT / E_POLICY / E_PPE；完整原文与位置见本演示文稿来源附页及备注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审计事项与未完成程序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[supported] 审计重点是追加程序的起点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10972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实际合同、验收、返利及资产组证据支持或反驳原判断后更新风险状态。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E_AUDIT / E_POLICY / E_PPE；完整原文与位置见本演示文稿来源附页及备注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下一步核查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7F72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508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取得逐法人、币种、月份的债务本金利息、受限现金、承诺额度到期与提款条件，以及未来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经营/投资/分红预算。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3042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874"/>
                </a:solidFill>
              </a:rPr>
              <a:t>资金负责人及信用分析师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7F72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45920" y="28803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取得资产组范围与完整减值预测、折现率依据、历史预算兑现，以及售后准备新增/使用/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冲回和质保批次数据。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45920" y="36758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874"/>
                </a:solidFill>
              </a:rPr>
              <a:t>资产/售后财务负责人及审计估计负责人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原文来源与定位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宁德时代集团  |  2025-12-31  |  catl-2025-example-v1  | 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[AR] 宁德时代新能源科技股份有限公司2025年年度报告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https://static.cninfo.com.cn/finalpage/2026-03-10/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1225002214.PDF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[E_BIZ] PDF及印刷页24—27 收入成本与产销表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[E_BS] PDF及印刷页111—113 合并资产负债表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[E_PL] PDF及印刷页116—119 利润表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[E_CF] PDF及印刷页120—121 合并现金流量表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[E_EQ] PDF及印刷页123—125 合并权益变动表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[E_POLICY] PDF及印刷页134、153 会计基础及收入政策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[E_BRIDGE] PDF及印刷页200—201 附注67 现金流补充资料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[E_DEBT] PDF及印刷页200 筹资负债变动表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[E_SUPPLY] PDF及印刷页202—203 附注67 供应商融资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[E_CASH] PDF及印刷页202—203 现金构成与排除项目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[E_PPE] PDF及印刷页177—180 固定资产与减值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[E_WARRANTY] PDF及印刷页192 预计负债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[E_AUDIT] PDF及印刷页107—110 审计报告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宁德时代2025年经营现金与信用分析</dc:title>
  <dc:subject>解释业务增长如何转为现金，识别资本扩张、供应商融资与资产估计需要进一步核查的事项，供研究员复核。</dc:subject>
  <dc:creator>annual-report-analysis</dc:creator>
  <cp:lastModifiedBy>annual-report-analysis</cp:lastModifiedBy>
  <cp:revision>1</cp:revision>
  <dcterms:created xsi:type="dcterms:W3CDTF">2026-10-03T20:11:58Z</dcterms:created>
  <dcterms:modified xsi:type="dcterms:W3CDTF">2026-10-03T20:11:58Z</dcterms:modified>
</cp:coreProperties>
</file>