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本例为选定公开资料的专业研究示范，不是整本年报全部披露的完整审计。
未取得银行/授信合同、按法人可调度现金、逐月预算、保修明细及资产组原始预测，不出具正式信用等级或审计鉴证。
事实以2026年3月10日已公开的2025年报为界；假设与实际披露分列。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F_GROWTH
增长从何而来
销量增长高于合并收入，但收入含非电池业务，销量单位与产品结构也不同，不能将两者之比直接称为电池降价。产能扩张与存货增加要求核对投产及订单兑现。
产品结构和地区组合变化可能影响收入增速。
并表变化也可能影响同比；未取得同范围量价明细。
Evidence: E_BIZ, revenue_growth, volume_growth
Counterevidence: All source records: E_PL, E_BIZ, revenue_growth, volume_growth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F_CASH
利润为何低于CFO
存货和经营应收占用被经营应付增加超过，需区分业务规模、客户预收、付款期和融资安排。CFO减现金资本支出为908.75 亿元人民币，尚不是自由可分配资金。
采购规模和合同负债变化可能使经营应付增加，并不必然是延迟付款。
期末余额差额受合并、非现金和重分类影响，不能替代现金流附注项目。
Evidence: E_BRIDGE, cfo_bridge, working_capital_effect, fcf_simple
Counterevidence: E_SUPPLYAll source records: E_CF, E_BRIDGE, cfo_bridge, working_capital_effect, fcf_simple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F_SUPPLY
是否把CFO改善全部归因于融资扩张
余额下降反驳“全部现金改善来自供应链融资新增”的解释。把全部安排一次性纳入债务的敏感性口径为1,568.24 亿元人民币；需合同条款决定信用分类。
余额下降仍可能同时伴随普通贸易应付款上升。
供应商融资可替换其他资金，风险还取决于期限、集中度和终止条款。
Evidence: E_SUPPLY, supply_components, supply_change
Counterevidence: E_BRIDGEAll source records: E_SUPPLY, E_DEBT, supply_components, supply_change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F_LIQUIDITY
集团大额现金意味着怎样的流动性
排除项目包含受限保证金、质押定存和不可随时支取定存及利息，各类限制不同。集团现金尚需法人、币种、地区、季节性及经营最低现金判断，不能直接抵销全部集团债务。
部分定存到期后可用，但时间须匹配债务到期。
境外现金可能受转移或税费限制；年报汇总不足以确认可调度数。
Evidence: E_CASH, E_CF, cash_composition, debt
Counterevidence: All source records: E_BS, E_CASH, E_CF, cash_composition, debt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F_ESTIMATES
高增长是否证明资产和准备估计充足
总体产能利用率不能推翻个别旧产线减值。转固606.16 亿元人民币与当期购建现金423.45 亿元人民币反映不同边界。售后预计负债依赖质保内销量、维修率与单位成本，余额增加不能替代费用与实际使用桥。
技术迭代或客户迁移可使局部产线减值，即使集团需求增长。
准备余额增加可能来自销量、维修率、成本或实际支出节奏，公开表无法分清。
Evidence: E_PPE, E_WARRANTY, E_POLICY, ppe_imp_recalc
Counterevidence: E_BIZAll source records: E_PPE, E_WARRANTY, E_POLICY, ppe_imp_recalc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F_EQUITY
股东回报怎样复算
集团权益增长由综合收益、股东投入与分配共同形成；集团盈利不能直接代表母公司可分红现金。简单平均ROE不是公司披露的加权ROE，香港发行新股也影响分母与资金。
资本交易和其他综合收益会改变权益而不增加经营利润。
母公司投资收益和子公司分红存在时间及可分配限制。
Evidence: E_EQ, E_PL, equity_rollforward, roe_simple
Counterevidence: All source records: E_PL, E_BS, E_EQ, equity_rollforward, roe_simple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F_AUDIT
关键审计事项能说明什么
关键审计事项说明原审计中的重要关注，不等于确认错报。本次需将收入截止、可变对价及资产组估计落实到合同与数据，不能复制原审计师程序为已完成。
存在重要估计不等于估计错误。
无保留意见也不意味着每项经营假设均经独立证实。
Evidence: E_AUDIT, E_POLICY, E_PPE
Counterevidence: All source records: E_AUDIT, E_POLICY, E_PPE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REQ_CASH: 集团现金汇总不能证明每个到期点的可用资金。
Close when: 来源用途与期初现金逐月闭合，融资条件有证据，压力下最小现金和契约时点可重算。REQ_ESTIMATE: 仅年报余额不能验证全部减值及保修估计。
Close when: 账面范围与模型一致，关键参数有证据，独立敏感性可复算，重大差异处理完成。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3B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FFFFFF"/>
                </a:solidFill>
              </a:rPr>
              <a:t>宁德时代2025年经营现金与信用分析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9D1CC"/>
                </a:solidFill>
              </a:rPr>
              <a:t>宁德时代集团  |  2025-12-31  |  catl-2025-example-v1  |  1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40080" y="1645920"/>
            <a:ext cx="10789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400" dirty="0">
                <a:solidFill>
                  <a:srgbClr val="FFFFFF"/>
                </a:solidFill>
              </a:rPr>
              <a:t>解释业务增长如何转为现金，识别资本扩张、供应商融资与资产估计需要</a:t>
            </a:r>
            <a:endParaRPr lang="en-US" sz="24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400" dirty="0">
                <a:solidFill>
                  <a:srgbClr val="FFFFFF"/>
                </a:solidFill>
              </a:rPr>
              <a:t>进一步核查的事项，供研究员复核。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40080" y="3200400"/>
            <a:ext cx="10789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6DEDA"/>
                </a:solidFill>
              </a:rPr>
              <a:t>会计基础 CAS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C6DEDA"/>
                </a:solidFill>
              </a:rPr>
              <a:t>范围 consolidated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C6DEDA"/>
                </a:solidFill>
              </a:rPr>
              <a:t>信息截止 2026-03-10</a:t>
            </a:r>
            <a:endParaRPr lang="en-US" sz="1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分析范围与限制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宁德时代集团  |  2025-12-31  |  catl-2025-example-v1  |  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63040"/>
            <a:ext cx="1097280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本例为选定公开资料的专业研究示范，不是整本年报全部披露的完整审计。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未取得银行/授信合同、按法人可调度现金、逐月预算、保修明细及资产组原始预测，不出具正式信用等级或审计鉴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证。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事实以2026年3月10日已公开的2025年报为界；假设与实际披露分列。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业务增长与量价结构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宁德时代集团  |  2025-12-31  |  catl-2025-example-v1  |  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44752"/>
            <a:ext cx="6995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增长集中于动力电池且需要解释量价结构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4360" y="2624328"/>
            <a:ext cx="699516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收入增长17.04%，动力系统增长25.08%，储能增长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8.99%，材料回收同比-23.83%。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判断改变条件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取得同产品同范围的数量、单价、并购及汇率桥后，重新判断有机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增长与单位经济性。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7955280" y="1508760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138160" y="159105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13B45"/>
                </a:solidFill>
              </a:rPr>
              <a:t>营业收入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8138160" y="1956816"/>
            <a:ext cx="3291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37F72"/>
                </a:solidFill>
              </a:rPr>
              <a:t>4,237.02 亿元人民币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7955280" y="2587752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138160" y="267004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13B45"/>
                </a:solidFill>
              </a:rPr>
              <a:t>收入同比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8138160" y="3035808"/>
            <a:ext cx="3291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237F72"/>
                </a:solidFill>
              </a:rPr>
              <a:t>17.04%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7955280" y="3666744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138160" y="37490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13B45"/>
                </a:solidFill>
              </a:rPr>
              <a:t>动力系统收入同比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138160" y="4114800"/>
            <a:ext cx="3291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237F72"/>
                </a:solidFill>
              </a:rPr>
              <a:t>25.08%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7955280" y="4745736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138160" y="482803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13B45"/>
                </a:solidFill>
              </a:rPr>
              <a:t>销售量同比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8138160" y="5193792"/>
            <a:ext cx="3291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237F72"/>
                </a:solidFill>
              </a:rPr>
              <a:t>39.16%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594360" y="600760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86874"/>
                </a:solidFill>
              </a:rPr>
              <a:t>来源记录 E_PL / E_BIZ / revenue_growth 等；全部来源及位置见报告、底稿与备注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利润与经营现金质量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宁德时代集团  |  2025-12-31  |  catl-2025-example-v1  |  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44752"/>
            <a:ext cx="6995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现金表现强但依赖经营负债提供资金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4360" y="2624328"/>
            <a:ext cx="699516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CFO为1,332.20 亿元人民币，与总净利润之比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173.49%；营运资本三项合计贡献332.16 亿元人民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币。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判断改变条件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逐月回款付款、客户预收和供应商账期桥显示资金贡献不可持续时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，下调可持续现金假设。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7955280" y="1508760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138160" y="159105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13B45"/>
                </a:solidFill>
              </a:rPr>
              <a:t>经营活动现金净额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8138160" y="1956816"/>
            <a:ext cx="3291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37F72"/>
                </a:solidFill>
              </a:rPr>
              <a:t>1,332.20 亿元人民币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7955280" y="2587752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138160" y="267004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13B45"/>
                </a:solidFill>
              </a:rPr>
              <a:t>CFO与合并净利润之比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8138160" y="3035808"/>
            <a:ext cx="3291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237F72"/>
                </a:solidFill>
              </a:rPr>
              <a:t>173.49%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7955280" y="3666744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138160" y="37490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13B45"/>
                </a:solidFill>
              </a:rPr>
              <a:t>经营营运资本现金净贡献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138160" y="4114800"/>
            <a:ext cx="3291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237F72"/>
                </a:solidFill>
              </a:rPr>
              <a:t>332.16 亿元人民币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7955280" y="4745736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138160" y="482803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13B45"/>
                </a:solidFill>
              </a:rPr>
              <a:t>CFO减购建长期资产现金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8138160" y="5193792"/>
            <a:ext cx="3291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237F72"/>
                </a:solidFill>
              </a:rPr>
              <a:t>908.75 亿元人民币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594360" y="600760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86874"/>
                </a:solidFill>
              </a:rPr>
              <a:t>来源记录 E_CF / E_BRIDGE / cfo_bridge 等；全部来源及位置见报告、底稿与备注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供应商融资与债务口径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宁德时代集团  |  2025-12-31  |  catl-2025-example-v1  |  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44752"/>
            <a:ext cx="6995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供应商融资总额下降仍有撤回与集中风险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4360" y="2624328"/>
            <a:ext cx="699516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跨页融资安排合计372.23 亿元人民币，较期初变动-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71.40 亿元人民币；供应商已收款307.28 亿元人民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币是其中一部分。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判断改变条件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取得融资机构、到期梯度及撤回条款，重算现金缺口和债务口径；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不能把存量总额直接当本期CFO调整额。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7955280" y="1508760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138160" y="159105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13B45"/>
                </a:solidFill>
              </a:rPr>
              <a:t>供应商融资安排合计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8138160" y="1956816"/>
            <a:ext cx="3291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237F72"/>
                </a:solidFill>
              </a:rPr>
              <a:t>372.23 亿元人民币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7955280" y="2587752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138160" y="267004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13B45"/>
                </a:solidFill>
              </a:rPr>
              <a:t>供应商融资余额变化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8138160" y="3035808"/>
            <a:ext cx="3291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237F72"/>
                </a:solidFill>
              </a:rPr>
              <a:t>-71.40 亿元人民币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7955280" y="3666744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138160" y="37490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13B45"/>
                </a:solidFill>
              </a:rPr>
              <a:t>筹资负债表借款债券及租赁合计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138160" y="4114800"/>
            <a:ext cx="3291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37F72"/>
                </a:solidFill>
              </a:rPr>
              <a:t>1,196.01 亿元人民币</a:t>
            </a:r>
            <a:endParaRPr lang="en-US" sz="1700" dirty="0"/>
          </a:p>
        </p:txBody>
      </p:sp>
      <p:sp>
        <p:nvSpPr>
          <p:cNvPr id="17" name="Shape 14"/>
          <p:cNvSpPr/>
          <p:nvPr/>
        </p:nvSpPr>
        <p:spPr>
          <a:xfrm>
            <a:off x="7955280" y="4745736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138160" y="482803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13B45"/>
                </a:solidFill>
              </a:rPr>
              <a:t>含供应商融资的债务敏感性口径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8138160" y="5193792"/>
            <a:ext cx="3291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37F72"/>
                </a:solidFill>
              </a:rPr>
              <a:t>1,568.24 亿元人民币</a:t>
            </a:r>
            <a:endParaRPr lang="en-US" sz="1700" dirty="0"/>
          </a:p>
        </p:txBody>
      </p:sp>
      <p:sp>
        <p:nvSpPr>
          <p:cNvPr id="20" name="Text 17"/>
          <p:cNvSpPr/>
          <p:nvPr/>
        </p:nvSpPr>
        <p:spPr>
          <a:xfrm>
            <a:off x="594360" y="600760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86874"/>
                </a:solidFill>
              </a:rPr>
              <a:t>来源记录 E_SUPPLY / E_DEBT / supply_components 等；全部来源及位置见报告、底稿与备注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资金可用性与流动性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宁德时代集团  |  2025-12-31  |  catl-2025-example-v1  |  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44752"/>
            <a:ext cx="6995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账面资金不能直接当法人偿债现金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4360" y="2624328"/>
            <a:ext cx="699516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货币资金3,335.13 亿元人民币中，现金及现金等价物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2,999.30 亿元人民币，排除项目335.83 亿元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人民币；现金桥保留千元级舍入差。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判断改变条件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按法人取得账户限制、债务期限和承诺授信条件，才能完成分期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流动性覆盖。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7955280" y="1508760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138160" y="159105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13B45"/>
                </a:solidFill>
              </a:rPr>
              <a:t>货币资金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8138160" y="1956816"/>
            <a:ext cx="3291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37F72"/>
                </a:solidFill>
              </a:rPr>
              <a:t>3,335.13 亿元人民币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7955280" y="2587752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138160" y="267004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13B45"/>
                </a:solidFill>
              </a:rPr>
              <a:t>现金及现金等价物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8138160" y="3035808"/>
            <a:ext cx="3291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37F72"/>
                </a:solidFill>
              </a:rPr>
              <a:t>2,999.30 亿元人民币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7955280" y="3666744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138160" y="37490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13B45"/>
                </a:solidFill>
              </a:rPr>
              <a:t>排除于现金等价物的货币资金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138160" y="4114800"/>
            <a:ext cx="3291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237F72"/>
                </a:solidFill>
              </a:rPr>
              <a:t>335.83 亿元人民币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594360" y="600760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86874"/>
                </a:solidFill>
              </a:rPr>
              <a:t>来源记录 E_BS / E_CASH / E_CF 等；全部来源及位置见报告、底稿与备注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资产估计与售后义务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宁德时代集团  |  2025-12-31  |  catl-2025-example-v1  |  7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44752"/>
            <a:ext cx="6995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扩张中的减值与售后成本需要单独验证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4360" y="2624328"/>
            <a:ext cx="699516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被测试固定资产组减值前账面28.66 亿元人民币、可收回额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2.06 亿元人民币；售后预计负债512.33 亿元人民币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。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判断改变条件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取得资产组预算/折现参数与历史兑现，及售后准备新增、使用、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冲回和批次维修数据后，形成可收回额和准备敏感性。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7955280" y="1508760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138160" y="159105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13B45"/>
                </a:solidFill>
              </a:rPr>
              <a:t>被测试相关资产减值前账面额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8138160" y="1956816"/>
            <a:ext cx="3291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237F72"/>
                </a:solidFill>
              </a:rPr>
              <a:t>28.66 亿元人民币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7955280" y="2587752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138160" y="267004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13B45"/>
                </a:solidFill>
              </a:rPr>
              <a:t>该组可收回金额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8138160" y="3035808"/>
            <a:ext cx="3291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237F72"/>
                </a:solidFill>
              </a:rPr>
              <a:t>2.06 亿元人民币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7955280" y="3666744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138160" y="37490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13B45"/>
                </a:solidFill>
              </a:rPr>
              <a:t>固定资产本期计提减值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138160" y="4114800"/>
            <a:ext cx="3291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237F72"/>
                </a:solidFill>
              </a:rPr>
              <a:t>26.60 亿元人民币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7955280" y="4745736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138160" y="482803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13B45"/>
                </a:solidFill>
              </a:rPr>
              <a:t>售后综合服务预计负债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8138160" y="5193792"/>
            <a:ext cx="3291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237F72"/>
                </a:solidFill>
              </a:rPr>
              <a:t>512.33 亿元人民币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594360" y="600760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86874"/>
                </a:solidFill>
              </a:rPr>
              <a:t>来源记录 E_PPE / E_WARRANTY / E_POLICY 等；全部来源及位置见报告、底稿与备注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权益变动与股东回报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宁德时代集团  |  2025-12-31  |  catl-2025-example-v1  |  8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44752"/>
            <a:ext cx="6995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权益增长同时包含利润与资本交易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4360" y="2624328"/>
            <a:ext cx="699516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归母净利润722.01 亿元人民币与母公司净利润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704.14 亿元人民币分开；简单平均权益ROE为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24.72%。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判断改变条件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分红能力判断需要母公司可分配利润、法定限制和实际资金，而非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只看集团ROE。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7955280" y="1508760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138160" y="159105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13B45"/>
                </a:solidFill>
              </a:rPr>
              <a:t>归母净利润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8138160" y="1956816"/>
            <a:ext cx="3291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237F72"/>
                </a:solidFill>
              </a:rPr>
              <a:t>722.01 亿元人民币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7955280" y="2587752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138160" y="267004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13B45"/>
                </a:solidFill>
              </a:rPr>
              <a:t>母公司净利润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8138160" y="3035808"/>
            <a:ext cx="3291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237F72"/>
                </a:solidFill>
              </a:rPr>
              <a:t>704.14 亿元人民币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7955280" y="3666744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138160" y="37490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13B45"/>
                </a:solidFill>
              </a:rPr>
              <a:t>期初期末平均归母权益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138160" y="4114800"/>
            <a:ext cx="3291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37F72"/>
                </a:solidFill>
              </a:rPr>
              <a:t>2,920.19 亿元人民币</a:t>
            </a:r>
            <a:endParaRPr lang="en-US" sz="1700" dirty="0"/>
          </a:p>
        </p:txBody>
      </p:sp>
      <p:sp>
        <p:nvSpPr>
          <p:cNvPr id="17" name="Shape 14"/>
          <p:cNvSpPr/>
          <p:nvPr/>
        </p:nvSpPr>
        <p:spPr>
          <a:xfrm>
            <a:off x="7955280" y="4745736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138160" y="482803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13B45"/>
                </a:solidFill>
              </a:rPr>
              <a:t>简单平均权益ROE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8138160" y="5193792"/>
            <a:ext cx="3291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237F72"/>
                </a:solidFill>
              </a:rPr>
              <a:t>24.72%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594360" y="600760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86874"/>
                </a:solidFill>
              </a:rPr>
              <a:t>来源记录 E_PL / E_BS / E_EQ 等；全部来源及位置见报告、底稿与备注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审计事项与未完成程序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宁德时代集团  |  2025-12-31  |  catl-2025-example-v1  |  9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44752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审计重点是追加程序的起点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4360" y="2624328"/>
            <a:ext cx="1097280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原报告为无保留意见，固定资产减值和收入确认为关键审计事项；本次只执行披露取证与复算。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判断改变条件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实际合同、验收、返利及资产组证据支持或反驳原判断后更新风险状态。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594360" y="600760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86874"/>
                </a:solidFill>
              </a:rPr>
              <a:t>来源记录 E_AUDIT / E_POLICY / E_PPE；全部来源及位置见报告、底稿与备注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下一步核查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宁德时代集团  |  2025-12-31  |  catl-2025-example-v1  |  10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50876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37F72"/>
                </a:solidFill>
              </a:rPr>
              <a:t>01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645920" y="150876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取得逐法人、币种、月份的债务本金利息、受限现金、承诺额度到期与提款条件，以及未来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经营/投资/分红预算。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645920" y="2304288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86874"/>
                </a:solidFill>
              </a:rPr>
              <a:t>资金负责人及信用分析师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94360" y="288036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37F72"/>
                </a:solidFill>
              </a:rPr>
              <a:t>02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1645920" y="288036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取得资产组范围与完整减值预测、折现率依据、历史预算兑现，以及售后准备新增/使用/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冲回和质保批次数据。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1645920" y="3675888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86874"/>
                </a:solidFill>
              </a:rPr>
              <a:t>资产/售后财务负责人及审计估计负责人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宁德时代2025年经营现金与信用分析</dc:title>
  <dc:subject>解释业务增长如何转为现金，识别资本扩张、供应商融资与资产估计需要进一步核查的事项，供研究员复核。</dc:subject>
  <dc:creator>annual-report-analysis</dc:creator>
  <cp:lastModifiedBy>annual-report-analysis</cp:lastModifiedBy>
  <cp:revision>1</cp:revision>
  <dcterms:created xsi:type="dcterms:W3CDTF">2026-10-02T21:24:28Z</dcterms:created>
  <dcterms:modified xsi:type="dcterms:W3CDTF">2026-10-02T21:24:28Z</dcterms:modified>
</cp:coreProperties>
</file>