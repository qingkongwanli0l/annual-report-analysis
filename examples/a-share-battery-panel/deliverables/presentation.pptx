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留出MAE 百分点</c:v>
                </c:pt>
              </c:strCache>
            </c:strRef>
          </c:tx>
          <c:spPr>
            <a:solidFill>
              <a:srgbClr val="237F7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单变量OLS</c:v>
                  </c:pt>
                  <c:pt idx="1">
                    <c:v>Last-value基准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1.8024776601665058</c:v>
                </c:pt>
                <c:pt idx="1">
                  <c:v>1.533067671878526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D9E2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仅四家事先选定企业，产品结构和合并范围不同；不是全市场样本或完全同质同业。
公告日期来自官方列表，次日零点仅为日级证据的保守边界；没有证明历史精确字节从未替换。
亿纬2022当前官方PDF的生成时间晚于原公告，历史可用时间为空，不纳入时点模型。
2024年保证类质量保证成本重分类造成列报断点；原报告毛利率不等于跨年同口径经营质量。
研究在2026年事后完成，研究者已知部分后期披露；这是固定方法流程演示，不是前瞻注册实验。
留出误差只描述本次样本，不证明预测优势、统计显著性、因果、收益、违约概率或评级。
来源 s_300014_2022 的正式公布日期未核验；不得据此证明在信息截止日前已公开。当前披露内容可以继续分析，历史时点结论须补充公告时间证据。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vintage
历史文件与公告日能否对应？
后生成文件若沿用早期公告日，会引入未来信息。
列报政策、样本选择及业务结构差异不能由一个比率模型消除。
Evidence: e_300014_2022
Counterevidence: All source records: e_300014_2022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classification
毛利变化是否全部来自经营？
销售费用转入营业成本可以改变毛利率，而不因此改变利润总额；不能将全部毛利变化解释为经营改善或恶化。
列报政策、样本选择及业务结构差异不能由一个比率模型消除。
Evidence: p_300750_2024, p_300207_2024, p_002074_2024, p_300014_2024
Counterevidence: All source records: p_300750_2024, p_300207_2024, p_002074_2024, p_300014_2024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holdout
固定OLS是否优于沿用上期值？
三个训练配对只支持代数拟合；产品结构、政策断点及共同周期限制外推。
列报政策、样本选择及业务结构差异不能由一个比率模型消除。
Evidence: e_300750_2022, e_300207_2022, e_002074_2022
Counterevidence: All source records: e_300750_2022, e_300207_2022, e_002074_2022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peers
同业位置能否直接转成质量评级？
电池品类、资产投入阶段、外协比例和合并范围都会影响该指标。
列报政策、样本选择及业务结构差异不能由一个比率模型消除。
Evidence: 002074_2025_gpa, 300014_2025_gpa, 300207_2025_gpa, 300750_2025_gpa
Counterevidence: All source records: 002074_2025_gpa, 300014_2025_gpa, 300207_2025_gpa, 300750_2025_gpa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panel
Supplied universe: 事先选定宁德时代、亿纬锂能、国轩高科、欣旺达2022至2025官方合并披露；只取available_at已核对的记录。不是市场总体。
Current peers use the latest version available at as_of, with period-end assets as denominator.
Historical x and y use first-publication gross margins; future restatements never replace them.
One frozen pooled OLS: next-year gross margin = intercept + slope × current gross margin.
Training pairs must have both releases available by 2024-10-02T00:00:00+08:00.
Industrial annual statements only; gross profitability is not comparable for banks and insurers.
Ranks describe the supplied universe, not the whole market; no missing or delisted companies are invented.
Missing or non-positive revenue is not zero margin; negative gross profits remain valid observations.
Three observations only establish algebraic identifiability, not empirical reliability or cycle coverage.
Holdout MAE is descriptive; no independence assumption, significance, causality, PD or investment return is claimed.
Model is frozen at one cutoff, not tuned on holdout; observed firms may recur in the holdout.
Unconstrained OLS predictions are not clipped to an economically plausible interval; inspect extrapolation.
仅四家事先选定企业，产品结构和合并范围不同；不是全市场样本或完全同质同业。
公告日期来自官方列表，次日零点仅为日级证据的保守边界；没有证明历史精确字节从未替换。
亿纬2022当前官方PDF的生成时间晚于原公告，历史可用时间为空，不纳入时点模型。
2024年保证类质量保证成本重分类造成列报断点；原报告毛利率不等于跨年同口径经营质量。
研究在2026年事后完成，研究者已知部分后期披露；这是固定方法流程演示，不是前瞻注册实验。
留出误差只描述本次样本，不证明预测优势、统计显著性、因果、收益、违约概率或评级。
[{"entity":"宁德时代新能源科技股份有限公司","origin_id":"300750_2022","target_id":"300750_2023","origin_available_at":"2023-03-11T00:00:00+08:00","target_available_at":"2024-03-17T00:00:00+08:00","x":0.20251246471757187,"actual":0.2290913097069972,"source":"https://static.cninfo.com.cn/finalpage/2023-03-10/1216084559.PDF","target_source":"https://static.cninfo.com.cn/finalpage/2024-03-16/1219313047.PDF"},{"entity":"欣旺达电子股份有限公司","origin_id":"300207_2022","target_id":"300207_2023","origin_available_at":"2023-04-28T00:00:00+08:00","target_available_at":"2024-04-12T00:00:00+08:00","x":0.138401187534945,"actual":0.1459590467447476,"source":"https://static.cninfo.com.cn/finalpage/2023-04-27/1216623719.PDF","target_source":"https://static.cninfo.com.cn/finalpage/2024-04-11/1219567241.PDF"},{"entity":"国轩高科股份有限公司","origin_id":"002074_2022","target_id":"002074_2023","origin_available_at":"2023-04-29T00:00:00+08:00","target_available_at":"2024-04-21T00:00:00+08:00","x":0.1779480499797552,"actual":0.16921990831882222,"source":"https://static.cninfo.com.cn/finalpage/2023-04-28/1216662624.PDF","target_source":"https://static.cninfo.com.cn/finalpage/2024-04-20/1219700973.PDF"}]
Evidence: e_002074_2022, e_002074_2023, e_002074_2024, p_002074_2024, e_002074_2025, e_300014_2022, e_300014_2023, e_300014_2024, p_300014_2024, e_300014_2025, e_300207_2022, e_300207_2023, e_300207_2024, p_300207_2024, e_300207_2025, e_300750_2022, e_300750_2023, e_300750_2024, p_300750_2024, e_300750_2025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3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</a:rPr>
              <a:t>A股电池企业：原始披露与历史时点验证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1CC"/>
                </a:solidFill>
              </a:rPr>
              <a:t>四家预选A股电池企业  |  2025-12-31  |  real-disclosure-example-v1  | 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演示原文取证、原始版本保留、列报变化识别、固定小样本毛利率模型及可复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算交接；不作投资或评级结论。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6DEDA"/>
                </a:solidFill>
              </a:rPr>
              <a:t>会计基础 CAS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6DEDA"/>
                </a:solidFill>
              </a:rPr>
              <a:t>范围 各报告当期合并范围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6DEDA"/>
                </a:solidFill>
              </a:rPr>
              <a:t>信息截止 2026-10-02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0080" y="489204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来源 s_300014_2022 公布日期未核验。不得将当前内容分析称为历史时点可用性验证。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分析范围与限制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四家预选A股电池企业  |  2025-12-31  |  real-disclosure-example-v1  | 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10972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仅四家事先选定企业，产品结构和合并范围不同；不是全市场样本或完全同质同业。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公告日期来自官方列表，次日零点仅为日级证据的保守边界；没有证明历史精确字节从未替换。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亿纬2022当前官方PDF的生成时间晚于原公告，历史可用时间为空，不纳入时点模型。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2024年保证类质量保证成本重分类造成列报断点；原报告毛利率不等于跨年同口径经营质量。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研究在2026年事后完成，研究者已知部分后期披露；这是固定方法流程演示，不是前瞻注册实验。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留出误差只描述本次样本，不证明预测优势、统计显著性、因果、收益、违约概率或评级。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来源 s_300014_2022 的正式公布日期未核验；不得据此证明在信息截止日前已公开。当前披露内容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可以继续分析，历史时点结论须补充公告时间证据。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先核实版本，再划分时间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四家预选A股电池企业  |  2025-12-31  |  real-disclosure-example-v1  | 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先核实版本，再划分时间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10972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可用记录按固定截止分割；亿纬2022保留内容但不参与历史模型。日期级官方记录不能证明精确字节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的历史可得。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判断改变条件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取得原始字节版及可验证历史时间后，另立版本重新运行并报告变化。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e_300014_2022；全部来源及位置见报告、底稿与备注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成本重分类改变跨期含义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四家预选A股电池企业  |  2025-12-31  |  real-disclosure-example-v1  | 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成本重分类改变跨期含义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10972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2024报告中的保证类质量保证列报变化使旧期比较成本重列；模型保留原报告值，估计对象是原始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披露毛利率。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判断改变条件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若研究目的改为经济可比趋势，需要另建截至当时可得的调整桥，不能覆盖原版本。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p_300750_2024 / p_300207_2024 / p_002074_2024 等；全部来源及位置见报告、底稿与备注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固定方法与基准一同报告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四家预选A股电池企业  |  2025-12-31  |  real-disclosure-example-v1  | 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固定方法与基准一同报告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10972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训练、留出及未成熟记录均按预先约定划分，逐公司误差及两项MAE见模型表。本案例不据结果选择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模型。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判断改变条件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需要更多历史可用版本、不同周期和预先独立设定的验证任务，才可评价推广表现。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e_300750_2022 / e_300207_2022 / e_002074_2022；全部来源及位置见报告、底稿与备注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样本内位置需要业务解释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237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四家预选A股电池企业  |  2025-12-31  |  real-disclosure-example-v1  | 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44475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13B45"/>
                </a:solidFill>
              </a:rPr>
              <a:t>样本内位置需要业务解释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624328"/>
            <a:ext cx="10972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毛利/期末资产及百分位仅描述四家公司当前所给样本，不映射健康分数、违约概率或投资评级。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判断改变条件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3"/>
                </a:solidFill>
              </a:rPr>
              <a:t>取得可比产品和分部信息后才可形成更细的经营解释。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6007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86874"/>
                </a:solidFill>
              </a:rPr>
              <a:t>来源记录 002074_2025_gpa / 300014_2025_gpa / 300207_2025_gpa 等；全部来源及位置见报告、底稿与备注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13B45"/>
                </a:solidFill>
              </a:rPr>
              <a:t>四家预选企业的固定历史毛利率模型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874"/>
                </a:solidFill>
              </a:rPr>
              <a:t>四家预选A股电池企业  |  2025-12-31  |  real-disclosure-example-v1  |  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13B45"/>
                </a:solidFill>
              </a:rPr>
              <a:t>成熟训练样本 3  |  时间外留出样本 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207568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</a:rPr>
              <a:t>训练截止 2024-10-02T00:00:00+08:00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</a:rPr>
              <a:t>首次公告作为历史预测起点；后续修订只影响当前同业版本。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3090672"/>
          <a:ext cx="61264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132320" y="333756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237F72"/>
                </a:solidFill>
              </a:rPr>
              <a:t>模型MAE 1.8025 个百分点</a:t>
            </a:r>
            <a:endParaRPr lang="en-US" sz="1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237F72"/>
                </a:solidFill>
              </a:rPr>
              <a:t>基准MAE 1.5331 个百分点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132320" y="46634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</a:rPr>
              <a:t>未成熟结果 4 条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</a:rPr>
              <a:t>其他排除 4 条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933"/>
                </a:solidFill>
              </a:rPr>
              <a:t>状态 observed_holdout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" y="58978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6646C"/>
                </a:solidFill>
              </a:rPr>
              <a:t>误差仅描述此样本；不是训练准确率、PD、投资收益或因果证据。真实用途还需行业周期和样本外代表性。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A股电池企业：原始披露与历史时点验证</dc:title>
  <dc:subject>演示原文取证、原始版本保留、列报变化识别、固定小样本毛利率模型及可复算交接；不作投资或评级结论。</dc:subject>
  <dc:creator>annual-report-analysis</dc:creator>
  <cp:lastModifiedBy>annual-report-analysis</cp:lastModifiedBy>
  <cp:revision>1</cp:revision>
  <dcterms:created xsi:type="dcterms:W3CDTF">2026-10-02T22:45:11Z</dcterms:created>
  <dcterms:modified xsi:type="dcterms:W3CDTF">2026-10-02T22:45:11Z</dcterms:modified>
</cp:coreProperties>
</file>