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研究于2026年10月整理更新；信息截止严格为2026-06-30。二季报及七月业绩虽涉及六月期末，因发表日晚于截止日排除。
完整下载不等于逐页阅读。2025 年报已重点阅读审计意见、四表、政策/减值、终止经营、债务、税、现金及期后事项；2024 年报和新协议阅读范围见来源说明。
未取得企业内部总账、估值模型、银行流水、合规证明、资金上划限制清单、最终交割结算及完整出售协议附件；不能形成审计保证或可支用现金/正式评级。
2024 原报收入与 2025 年报重列比较收入差异，以及 2026 Q1 对 2025 Q1 待售准备回述差异尚未解释。
现金流桥使用合并表内持续/终止组成项目，不能将其视为法律母公司单体现金流。
US GAAP 条款编号来自 SEC 公司回复及公司政策，未将公司回复视为 SEC 批准，亦未声称已阅读全文 FASB Codification。
公开备考BS假设2025-12-31完成、利润表假设2025-01-01完成，2026-05-01发表；其金额不属于2025已报实数或2026五月实际现金。出售协议后续修订未找到可识别文本，最初签署机制不能视为全部最终条款。
已形成业务风险、standard财务风险、锚点、逐项修正及指定票据的条件研究链；June实际资金资格、专门M&amp;G分类、当前主权/T&amp;C及回收法域仍分别待核。主体情景和塔DAV足值边界不等于机构发表等级或已核实际回收。
来源 SSEC, SFASB, S_SP_XBRL 未列单一正式公布日期；各报告期间的公开日、快照取得日或尚待核准事项见来源记录。历史时点结论须逐项依据实际公开时间。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FF_R109_ISSUER, F15, FF_R109_NOTE, r109_base_FFO_debt_120, r109_base_debt_EBITDA_120
[FF_R109_ISSUER] conditional / [F15] conditional / [FF_R109_NOTE] conditional
底稿 FF_R109_ISSUER / F15 / FF_R109_NOTE；来源 S25 / SCREDIT / SQ126 / S_SP_Q1 / S_DEV_CORP / S_SP_SECTORS / S_SP_RATIOS / SPROFORMA / S_SP_XBRL / S_DEV_LIQ / S_DEV_REC / S_PROXY26 / S_DEV_COUNTRY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[E_DEV_PROXY] Crown Castle 2026 DEF14A（2026年股东会；完整传输HTML） | 完整HTML提取行1706–1732、1882–1907、2091–2112、4909–5008；印18–27/75–76相应部分
https://investor.crowncastle.com/node/29011/html
[E_DEV_COUNTRY] Country Risk Assessments Update: June 2026 | 内嵌文章元数据June17及Table1表头/美国行
https://spratings.spglobal.com/ratings/en/regulatory/article/-/view/type/HTML/id/3582048
[E_R109_METHOD_LIMIT] Corporate Methodology | PDF49/¶186；未核法域适用性关联另见E_R109_RECOVERY
https://www.maalot.co.il/Publications/MT20250709153825.pdf
下载官方 PDF，以 pypdf 提取；关键表逐页图像复核；原件 SHA-256 留存
仅采用截止日前公开原件；分别保留原报、重列比较期和期后事项，禁止跨期倒填
以共同底稿复算四表及交易调节；金额按原表百万美元记录，勾稽差额以美元列示
已执行程序仅为公开资料阅读、版本对照和计算；内部审计证据列为待核请求
读取出售备考、签署出售协议和新旧信贷定义，将备考假设、实际交割收付及尚未完成的计划分列。
按S&amp;P Ratios and Adjustments 2025-12-17及Sector-Specific Corporate Methodology 2025-09-26数字基础设施章建立历史调整桥和条件路径；方法代理、实际现金和分析估计分列。
从实际Q1持续经营现金接入售后经营与融资；逐年同步滚动账面债、金融本金、租赁、ARO、付息、分配和方法指标。已发生、公司展望及研究假设分别保留。
按Corporate Methodology的业务风险、适用波动表、前瞻核心与补充指标、锚点和逐步修正形成条件主体建议；六月十二个月流动性与管理治理分类分开，不能以年度模型现金替代实际来源。
对CCI 4.000% March2027高级无抵押票据核义务人和顺位；投机级回收与投资级从属路径分别适用。塔设施资格、SPE匹配排除、同级及优先债权和法域未核时，计算足值边界而不填实际回收。
研究于2026年10月整理更新；信息截止严格为2026-06-30。二季报及七月业绩虽涉及六月期末，因发表日晚于截止日排除。
完整下载不等于逐页阅读。2025 年报已重点阅读审计意见、四表、政策/减值、终止经营、债务、税、现金及期后事项；2024 年报和新协议阅读范围见来源说明。
未取得企业内部总账、估值模型、银行流水、合规证明、资金上划限制清单、最终交割结算及完整出售协议附件；不能形成审计保证或可支用现金/正式评级。
2024 原报收入与 2025 年报重列比较收入差异，以及 2026 Q1 对 2025 Q1 待售准备回述差异尚未解释。
现金流桥使用合并表内持续/终止组成项目，不能将其视为法律母公司单体现金流。
US GAAP 条款编号来自 SEC 公司回复及公司政策，未将公司回复视为 SEC 批准，亦未声称已阅读全文 FASB Codification。
公开备考BS假设2025-12-31完成、利润表假设2025-01-01完成，2026-05-01发表；其金额不属于2025已报实数或2026五月实际现金。出售协议后续修订未找到可识别文本，最初签署机制不能视为全部最终条款。
已形成业务风险、standard财务风险、锚点、逐项修正及指定票据的条件研究链；June实际资金资格、专门M&amp;G分类、当前主权/T&amp;C及回收法域仍分别待核。主体情景和塔DAV足值边界不等于机构发表等级或已核实际回收。
来源 SSEC, SFASB, S_SP_XBRL 未列单一正式公布日期；各报告期间的公开日、快照取得日或尚待核准事项见来源记录。历史时点结论须逐项依据实际公开时间。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F01, F02, F03, C_contnimove, saleloss2025
[F01] supported / [F02] supported / [F03] supported
底稿 F01 / F02 / F03；来源 S25 / SSEC / S24 / SFASB / SSPA / SPROFORMA / SQ126
原文定位、URL及完整引用见本页备注；完整方法和明细见同名底稿及 Word/Excel。
[E25PL] Crown Castle 2025 Form 10-K | 印刷及 PDF p59，Consolidated Statement of Operations and Comprehensive Income
https://investor.crowncastle.com/static-files/68fb84e1-1dac-440d-96b4-55b9603e10dd
[ESECSEQ] Crown Castle 2025-06-04 SEC comment-response letter | 公司回复 Staff comment 1；引用 ASC350-20-35-31 和 ASC360-10-35-17
https://www.sec.gov/Archives/edgar/data/1051470/000105147025000154/filename1.htm
[E24IMPAIR] Crown Castle 2024 Form 10-K（原报） | p48–50 Critical Accounting Policies；note 5，印刷/PDF p75 goodwill rollforward
https://investor.crowncastle.com/static-files/baed4489-6578-4e32-81e6-a084eea66a02
[E24WRITE] Crown Castle 2024 Form 10-K（原报） | MD&amp;A p39，Asset write-down charges
https://investor.crowncastle.com/static-files/baed4489-6578-4e32-81e6-a084eea66a02
[EFASB] FASB ASU 2017-04 — Simplifying the Test for Goodwill Impairment | 印刷 p12/PDF p18：350-20-35-31/32；印刷 p8/PDF p14：350-20-35-4/8 修订标记
https://storage.fasb.org/ASU2017-04.pdf
[E25HFS] Crown Castle 2025 Form 10-K | note 3，印刷及 PDF p71–72，尤其 p72 资产负债、损益及脚注 (b)(c)
https://investor.crowncastle.com/static-files/68fb84e1-1dac-440d-96b4-55b9603e10dd
[ESECSALE] Crown Castle 2025-06-04 SEC comment-response letter | 公司回复 comment 2；ASC205-20-45-3A、税项及830损失/819准备/11售出费用
https://www.sec.gov/Archives/edgar/data/1051470/000105147025000154/filename1.htm
[ESPAPRICE] 2025-03-13签署出售协议（2025-03-17提交8-K Exhibit2.1） | §2.2–2.3，PDF p45–48；§1.1定义PDF p16/20/23/34–37/40
https://investor.crowncastle.com/static-files/3b910737-4f3d-4197-a8b4-893f83855c9f
[ESPASETTLE] 2025-03-13签署出售协议（2025-03-17提交8-K Exhibit2.1） | §2.4–2.7，PDF p48–54；§12.9 PDF p160
https://investor.crowncastle.com/static-files/3b910737-4f3d-4197-a8b4-893f83855c9f
[EPROBS] 2026-05-01 出售8-K及Exhibit99.2公开未经审计备考 | Ex99.2 PDF p19资产负债表；p21 Note2(A)–(D)
https://investor.crowncastle.com/static-files/f4ff727f-0f13-4f18-affa-1ff461698ccf
[EQ126INDEX] Crown Castle Q1 2026 Form 10-Q | Item6 Exhibit Index，印刷p38/PDF p39
https://investor.crowncastle.com/static-files/de60fca2-89d5-499d-899b-8e0a23030617
[E25EQ] Crown Castle 2025 Form 10-K | 印刷及 PDF p61，Consolidated Statement of Equity (Deficit)
https://investor.crowncastle.com/static-files/68fb84e1-1dac-440d-96b4-55b9603e10dd
[E25CF] Crown Castle 2025 Form 10-K | 印刷及 PDF p60，Consolidated Statement of Cash Flows
https://investor.crowncastle.com/static-files/68fb84e1-1dac-440d-96b4-55b9603e10dd
[E25BS] Crown Castle 2025 Form 10-K | 印刷及 PDF p58，Consolidated Balance Sheet，2025/2024 两列
https://investor.crowncastle.com/static-files/68fb84e1-1dac-440d-96b4-55b9603e10dd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F08, F09, FF_FORWARD_CASH, C_saleproceeds, debtrepaid, costpaid
[F08] supported / [F09] conditional / [FF_FORWARD_CASH] conditional
底稿 F08 / F09 / FF_FORWARD_CASH；来源 SQ126 / SSALE / S25 / SPROFORMA / SSPA / SCREDIT / SOLDCREDIT / S_SP_XBRL / S_SP_Q1 / S_SP_RATIOS
原文定位、URL及完整引用见本页备注；完整方法和明细见同名底稿及 Word/Excel。
[EQ126SALE] Crown Castle Q1 2026 Form 10-Q | note 14 印刷 p19/PDF p20，Completion of Strategic Fiber Transaction
https://investor.crowncastle.com/static-files/de60fca2-89d5-499d-899b-8e0a23030617
[ESALE] Crown Castle announces completion of fiber and small cell sale | 2026-05-01 官方 completion 公告开头、Use of proceeds
https://investor.crowncastle.com/node/29086
[E25HFS] Crown Castle 2025 Form 10-K | note 3，印刷及 PDF p71–72，尤其 p72 资产负债、损益及脚注 (b)(c)
https://investor.crowncastle.com/static-files/68fb84e1-1dac-440d-96b4-55b9603e10dd
[EQ126HFS] Crown Castle Q1 2026 Form 10-Q | note 3 印刷 p9/PDF p10，2026/2025 比较损益、准备表、脚注 (c)
https://investor.crowncastle.com/static-files/de60fca2-89d5-499d-899b-8e0a23030617
[EPROBASIS] 2026-05-01 出售8-K及Exhibit99.2公开未经审计备考 | Ex99.2 PDF p18编制基础；p21 Note1
https://investor.crowncastle.com/static-files/f4ff727f-0f13-4f18-affa-1ff461698ccf
[EPROBS] 2026-05-01 出售8-K及Exhibit99.2公开未经审计备考 | Ex99.2 PDF p19资产负债表；p21 Note2(A)–(D)
https://investor.crowncastle.com/static-files/f4ff727f-0f13-4f18-affa-1ff461698ccf
[EPROPL] 2026-05-01 出售8-K及Exhibit99.2公开未经审计备考 | Ex99.2 PDF p20损益；p21 Note2(E)
https://investor.crowncastle.com/static-files/f4ff727f-0f13-4f18-affa-1ff461698ccf
[ESALEVERSION] 2026-05-01 出售8-K及Exhibit99.2公开未经审计备考 | 8-K PDF p2 Item2.01、p3 Exhibit Index；Ex99.1 p10 Fiber Business定义
https://investor.crowncastle.com/static-files/f4ff727f-0f13-4f18-affa-1ff461698ccf
[ESPASETTLE] 2025-03-13签署出售协议（2025-03-17提交8-K Exhibit2.1） | §2.4–2.7，PDF p48–54；§12.9 PDF p160
https://investor.crowncastle.com/static-files/3b910737-4f3d-4197-a8b4-893f83855c9f
[EQ126FAC] Crown Castle Q1 2026 Form 10-Q | note 14 印刷 p20/PDF p21；MD&amp;A/p28 May 5 balances
https://investor.crowncastle.com/static-files/de60fca2-89d5-499d-899b-8e0a23030617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[EOLDCREDIT] 2022-07-08 Amendment No.7及附后旧信用协议 | §1.01定义：印刷p13–17/27–28/40/44/50–52；§1.04/1.05 p55–56；§6.09/6.10 p129
https://investor.crowncastle.com/static-files/d735da3e-9136-43ce-ad76-3a96bcb686cf
[EOLDVERSION] Crown Castle 2025 Form 10-K | Exhibit Index p101–102，Ex10.49–10.55，尤其2022 Amendment7
https://investor.crowncastle.com/static-files/68fb84e1-1dac-440d-96b4-55b9603e10dd
[EQ126INDEX] Crown Castle Q1 2026 Form 10-Q | Item6 Exhibit Index，印刷p38/PDF p39
https://investor.crowncastle.com/static-files/de60fca2-89d5-499d-899b-8e0a23030617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[E_FWD_GUIDANCE] 2026-05-01 出售8-K及Exhibit99.2公开未经审计备考 | 完整May1 8-K的Ex99.1 PDF6、11、13、15–16（印刷2、7、9、11–12）
https://investor.crowncastle.com/static-files/f4ff727f-0f13-4f18-affa-1ff461698ccf
[E_FWD_CONTRACT] Crown Castle Q1 2026 Supplemental Information | PDF9/11/13–16/18/28，印刷8/10/12–15/17/27
https://investor.crowncastle.com/static-files/38f6a584-60a8-452d-bfd2-a44103aeec82
[E25BS] Crown Castle 2025 Form 10-K | 印刷及 PDF p58，Consolidated Balance Sheet，2025/2024 两列
https://investor.crowncastle.com/static-files/68fb84e1-1dac-440d-96b4-55b9603e10dd
[EQ126CF] Crown Castle Q1 2026 Form 10-Q | 印刷 p18/PDF p19 现金调节；note 5/p12 债务；MD&amp;A/p28 流动性
https://investor.crowncastle.com/static-files/de60fca2-89d5-499d-899b-8e0a23030617
[E_FWD_CASH_TAX] Crown Castle Q1 2026 Supplemental Information | Q1 supplement PDF12/印刷11完整Consolidated ROIC表及(a)–(f)脚注；PDF23/印刷22 Non-GAAP Measures定义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[E_FWD_RESTRUCT_CLASS] Crown Castle 2025 Form 10-K | 2025 10K PDF89/印刷89；Q1更新已由E_FWD_Q1 note13–14支持
https://investor.crowncastle.com/static-files/68fb84e1-1dac-440d-96b4-55b9603e10dd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FF_FORWARD_CASH, F13, F14, fwd_base_CFO_2026, fwd_base_new_draw_2026, C_sp_q1_cfo_2026
[FF_FORWARD_CASH] conditional / [F13] conditional / [F14] conditional
底稿 FF_FORWARD_CASH / F13 / F14；来源 S25 / SCREDIT / SQ126 / S_SP_Q1 / S_SP_RATIOS / SPROFORMA / S_SP_XBRL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[E25CF] Crown Castle 2025 Form 10-K | 印刷及 PDF p60，Consolidated Statement of Cash Flows
https://investor.crowncastle.com/static-files/68fb84e1-1dac-440d-96b4-55b9603e10dd
[E25DEBT] Crown Castle 2025 Form 10-K | note 8，p75–79 债务表、2018 Tower Revenue Notes、CP Program；MD&amp;A p40/p45
https://investor.crowncastle.com/static-files/68fb84e1-1dac-440d-96b4-55b9603e10dd
[E25PL] Crown Castle 2025 Form 10-K | 印刷及 PDF p59，Consolidated Statement of Operations and Comprehensive Income
https://investor.crowncastle.com/static-files/68fb84e1-1dac-440d-96b4-55b9603e10dd
[E_SP_CASH] Crown Castle 2025 Form 10-K | PDF/印刷p68利息表；p87补充现金流
https://investor.crowncastle.com/static-files/68fb84e1-1dac-440d-96b4-55b9603e10dd
[E_SP_SBC] Crown Castle 2025 Form 10-K | PDF/印刷p59、p65、p83–84
https://investor.crowncastle.com/static-files/68fb84e1-1dac-440d-96b4-55b9603e10dd
[E_SP_XBRL] SEC Companyfacts：Crown Castle 2025年度及2026Q1原申报事实 | facts/us-gaap/InterestPaidNet、InterestCostsCapitalized、AllocatedShareBasedCompensationExpense、ShareBasedCompensation；指定原申报accession
https://data.sec.gov/api/xbrl/companyfacts/CIK0001051470.json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FF_R109_BRP, F16, F_DEV_CICRA, F_DEV_BRP
[FF_R109_BRP] conditional / [F16] supported
底稿 FF_R109_BRP / F16；来源 S_DEV_COUNTRY / S_DEV_CORP / S_SP_SECTORS / S25 / S_SP_Q1 / SQ126
原文定位、URL及完整引用见本页备注；完整方法和明细见同名底稿及 Word/Excel。
[E_DEV_COUNTRY] Country Risk Assessments Update: June 2026 | 内嵌文章元数据June17及Table1表头/美国行
https://spratings.spglobal.com/ratings/en/regulatory/article/-/view/type/HTML/id/3582048
[E_DEV_CORP] Corporate Methodology | PDF4–12、21–22、24–28、30–44、47–50；Tables1/2/3/5/14–19/21–25及¶40–50/91–92/112–125/136–191
https://www.maalot.co.il/Publications/MT20250709153825.pdf
[E_DEV_DI] S&amp;P Sector-Specific Corporate Methodology — Digital Infrastructure | PDF61–63、68–71、73、76–77
https://www.maalot.co.il/Publications/MT20251012123218.pdf
[E_DEV_CP] Crown Castle 2025 Form 10-K | PDF4–8、17–19、36–38；Q1 supplement另见E_DEV_CASH_CONTRACT
https://investor.crowncastle.com/static-files/68fb84e1-1dac-440d-96b4-55b9603e10dd
[E_DEV_CASH_CONTRACT] Crown Castle Q1 2026 Supplemental Information | PDF13–14
https://investor.crowncastle.com/static-files/38f6a584-60a8-452d-bfd2-a44103aeec82
[E_DEV_SERVICE_VOL] Crown Castle 2025 Form 10-K | PDF/印刷7、18–19，另PDF47/67服务期限相关句
https://investor.crowncastle.com/static-files/68fb84e1-1dac-440d-96b4-55b9603e10dd
[E_DEV_TOWER_RIGHTS] Crown Castle 2025 Form 10-K | PDF4、7、17–18及77–79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[E_SP_Q1BILL] Crown Castle Q1 2026 Supplemental Information | PDF10/印刷p9：2026Q1列，Components of changes in site rental revenues
https://investor.crowncastle.com/static-files/38f6a584-60a8-452d-bfd2-a44103aeec82
[EDISH] Crown Castle 2025 Form 10-K | note 18/p89，Subsequent Events—DISH Wireless
https://investor.crowncastle.com/static-files/68fb84e1-1dac-440d-96b4-55b9603e10dd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F17, F_DEV_SERVICES_GM_LOW, F_DEV_SERVICES_GM_HIGH
[F17] conditional
底稿 F17；来源 SPROFORMA / S_SP_SECTORS / S25 / S_SP_Q1 / SCREDIT / SQ126 / S_SP_RATIOS / S_SP_XBRL / S_DEV_CORP
原文定位、URL及完整引用见本页备注；完整方法和明细见同名底稿及 Word/Excel。
[E_DEV_SALE] 2026-05-01 出售8-K及Exhibit99.2公开未经审计备考 | PDF2/5–9；已读相关备考章节
https://investor.crowncastle.com/static-files/f4ff727f-0f13-4f18-affa-1ff461698ccf
[E_DEV_DI] S&amp;P Sector-Specific Corporate Methodology — Digital Infrastructure | PDF61–63、68–71、73、76–77
https://www.maalot.co.il/Publications/MT20251012123218.pdf
[E_DEV_SERVICE_VOL] Crown Castle 2025 Form 10-K | PDF/印刷7、18–19，另PDF47/67服务期限相关句
https://investor.crowncastle.com/static-files/68fb84e1-1dac-440d-96b4-55b9603e10dd
[E_DEV_CASH_CONTRACT] Crown Castle Q1 2026 Supplemental Information | PDF13–14
https://investor.crowncastle.com/static-files/38f6a584-60a8-452d-bfd2-a44103aeec82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[E_DEV_CP] Crown Castle 2025 Form 10-K | PDF4–8、17–19、36–38；Q1 supplement另见E_DEV_CASH_CONTRACT
https://investor.crowncastle.com/static-files/68fb84e1-1dac-440d-96b4-55b9603e10dd
[E_DEV_CORP] Corporate Methodology | PDF4–12、21–22、24–28、30–44、47–50；Tables1/2/3/5/14–19/21–25及¶40–50/91–92/112–125/136–191
https://www.maalot.co.il/Publications/MT20250709153825.pdf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F15, r109_base_FFO_cash_interest_coverage_120, r109_base_FOCF_debt_120, r109_base_DCF_debt_120
[F15] conditional
底稿 F15；来源 S25 / SCREDIT / SQ126 / S_SP_Q1 / S_DEV_CORP / S_SP_SECTORS / S_SP_RATIOS / SPROFORMA / S_SP_XBRL / S_DEV_LIQ / S_DEV_REC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FF_FORWARD_STRESS, FF_FORWARD_FUNDING, F15, fwd_joint_stress_new_draw_2028, fwd_no_new_facility_cash_payment_deficit_2026, fwd_joint_stress_CFO_2028, fwd_joint_stress_debt_EBITDA_2028
[FF_FORWARD_STRESS] conditional / [FF_FORWARD_FUNDING] conditional / [F15] conditional
底稿 FF_FORWARD_STRESS / FF_FORWARD_FUNDING / F15；来源 S25 / SCREDIT / SQ126 / S_SP_Q1 / S_SP_RATIOS / SPROFORMA / S_SP_XBRL / S_SP_Q4 / S_DEV_CORP / S_SP_SECTORS / S_DEV_LIQ / S_DEV_REC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[E_SP_LAND] Crown Castle Q4 2025 Supplemental Information | PDF14/印刷p13：GROUND INTEREST OVERVIEW及脚注(e)–(i)
https://investor.crowncastle.com/static-files/bea23792-6649-4b95-9395-aa837e68396c
[E_SP_RENEW] Crown Castle Q4 2025 Supplemental Information | PDF13/印刷p12；TENANT OVERVIEW及脚注(a)–(f)
https://investor.crowncastle.com/static-files/bea23792-6649-4b95-9395-aa837e68396c
[E_CG_DRAW] Crown Castle May 1 2026 Form 8-K and Exhibit 10.1 credit agreement | 新8-K PDF2；§1.01 Borrower PDF19、Default PDF24、Unrestricted PDF51；§4.02印刷93/PDF103；§6.10印刷108/PDF118；ArticleVII(d)/(e)印刷109/PDF119；(g)印刷110/PDF120
https://investor.crowncastle.com/static-files/dd7712df-51aa-4a29-b6a5-67becf7b2234
[E_CG_RP] Crown Castle May 1 2026 Form 8-K and Exhibit 10.1 credit agreement | 新协议§1.01 Restricted Payment/Restricted Subsidiary PDF45；§6.06印刷105–106/PDF115–116
https://investor.crowncastle.com/static-files/dd7712df-51aa-4a29-b6a5-67becf7b2234
[E_R109_FRP_TABLE] Corporate Methodology | PDF29–36/¶105、108、110、116–125/Tables17–19
https://www.maalot.co.il/Publications/MT20250709153825.pdf
[E_DEV_DI] S&amp;P Sector-Specific Corporate Methodology — Digital Infrastructure | PDF61–63、68–71、73、76–77
https://www.maalot.co.il/Publications/MT20251012123218.pdf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F05, cg_cash_spe, cg_payment_rights, r109_window_B0, r109_window_JV_for_adequate, r109_window_JV_for_positive_stress
[F05] conditional / [cg_cash_spe] conditional / [cg_payment_rights] conditional
底稿 F05 / cg_cash_spe / cg_payment_rights；来源 S25 / SCREDIT / SQ126 / S_SP_Q1 / S_DEV_CORP / S_SP_SECTORS / S_SP_RATIOS / SPROFORMA / S_SP_XBRL / S_DEV_LIQ / S_DEV_REC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[E_DEV_SALE] 2026-05-01 出售8-K及Exhibit99.2公开未经审计备考 | PDF2/5–9；已读相关备考章节
https://investor.crowncastle.com/static-files/f4ff727f-0f13-4f18-affa-1ff461698ccf
[E_CG_RESOURCE] Crown Castle 2025 Form 10-K | note2印刷/PDF63受限现金；note8 p77–78完整Securitized Debt及Senior Notes段；note16 p88
https://investor.crowncastle.com/static-files/68fb84e1-1dac-440d-96b4-55b9603e10dd
[E_CG_TRANSFER] Crown Castle May 1 2026 Form 8-K and Exhibit 10.1 credit agreement | §6.08印刷107–108/PDF117–118完整公开条款
https://investor.crowncastle.com/static-files/dd7712df-51aa-4a29-b6a5-67becf7b2234
[E_CG_DRAW] Crown Castle May 1 2026 Form 8-K and Exhibit 10.1 credit agreement | 新8-K PDF2；§1.01 Borrower PDF19、Default PDF24、Unrestricted PDF51；§4.02印刷93/PDF103；§6.10印刷108/PDF118；ArticleVII(d)/(e)印刷109/PDF119；(g)印刷110/PDF120
https://investor.crowncastle.com/static-files/dd7712df-51aa-4a29-b6a5-67becf7b2234
[E25SPE] Crown Castle 2025 Form 10-K | note 8/p77–78，2018 Tower Revenue Notes 及 2009 Securitized Notes
https://investor.crowncastle.com/static-files/68fb84e1-1dac-440d-96b4-55b9603e10dd
[E25CASH] Crown Castle 2025 Form 10-K | note 16，印刷及 PDF p88，cash reconciliation table
https://investor.crowncastle.com/static-files/68fb84e1-1dac-440d-96b4-55b9603e10dd
[E_CG_RP] Crown Castle May 1 2026 Form 8-K and Exhibit 10.1 credit agreement | 新协议§1.01 Restricted Payment/Restricted Subsidiary PDF45；§6.06印刷105–106/PDF115–116
https://investor.crowncastle.com/static-files/dd7712df-51aa-4a29-b6a5-67becf7b2234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F05, cg_cash_spe, cg_payment_rights, r109_window_B0, r109_window_JV_for_adequate, r109_window_JV_for_positive_stress
[F05] conditional / [cg_cash_spe] conditional / [cg_payment_rights] conditional
底稿 F05 / cg_cash_spe / cg_payment_rights；来源 S25 / SCREDIT / SQ126 / S_SP_Q1 / S_DEV_CORP / S_SP_SECTORS / S_SP_RATIOS / SPROFORMA / S_SP_XBRL / S_DEV_LIQ / S_DEV_REC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[E_DEV_SALE] 2026-05-01 出售8-K及Exhibit99.2公开未经审计备考 | PDF2/5–9；已读相关备考章节
https://investor.crowncastle.com/static-files/f4ff727f-0f13-4f18-affa-1ff461698ccf
[E_CG_RESOURCE] Crown Castle 2025 Form 10-K | note2印刷/PDF63受限现金；note8 p77–78完整Securitized Debt及Senior Notes段；note16 p88
https://investor.crowncastle.com/static-files/68fb84e1-1dac-440d-96b4-55b9603e10dd
[E_CG_TRANSFER] Crown Castle May 1 2026 Form 8-K and Exhibit 10.1 credit agreement | §6.08印刷107–108/PDF117–118完整公开条款
https://investor.crowncastle.com/static-files/dd7712df-51aa-4a29-b6a5-67becf7b2234
[E_CG_DRAW] Crown Castle May 1 2026 Form 8-K and Exhibit 10.1 credit agreement | 新8-K PDF2；§1.01 Borrower PDF19、Default PDF24、Unrestricted PDF51；§4.02印刷93/PDF103；§6.10印刷108/PDF118；ArticleVII(d)/(e)印刷109/PDF119；(g)印刷110/PDF120
https://investor.crowncastle.com/static-files/dd7712df-51aa-4a29-b6a5-67becf7b2234
[E25SPE] Crown Castle 2025 Form 10-K | note 8/p77–78，2018 Tower Revenue Notes 及 2009 Securitized Notes
https://investor.crowncastle.com/static-files/68fb84e1-1dac-440d-96b4-55b9603e10dd
[E25CASH] Crown Castle 2025 Form 10-K | note 16，印刷及 PDF p88，cash reconciliation table
https://investor.crowncastle.com/static-files/68fb84e1-1dac-440d-96b4-55b9603e10dd
[E_CG_RP] Crown Castle May 1 2026 Form 8-K and Exhibit 10.1 credit agreement | 新协议§1.01 Restricted Payment/Restricted Subsidiary PDF45；§6.06印刷105–106/PDF115–116
https://investor.crowncastle.com/static-files/dd7712df-51aa-4a29-b6a5-67becf7b2234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FF_R109_MODIFIERS, FF_R109_ISSUER, cg_governance, cg_sti_difference, cg_sti_ebitda_display_difference
[FF_R109_MODIFIERS] conditional / [FF_R109_ISSUER] conditional / [cg_governance] conditional / [cg_sti_difference] unresolved
底稿 FF_R109_MODIFIERS / FF_R109_ISSUER / cg_governance / cg_sti_difference；来源 S_PROXY26 / S_DEV_CORP / S_SP_Q1 / SCREDIT / SPROFORMA / S25 / SQ126 / S_SP_SECTORS / S_SP_RATIOS / S_SP_XBRL / S_DEV_LIQ / S_DEV_REC / S_DEV_COUNTRY
原文定位、URL及完整引用见本页备注；完整方法和明细见同名底稿及 Word/Excel。
[E_PROXY_STI] Crown Castle 2026 DEF14A（2026年股东会；完整传输HTML） | printed p34 Alignment/AIP；p44–45结构、两张业绩表及404要求；p46 Hillabrant奖金表及脚注(a)
https://investor.crowncastle.com/node/29011/html
[E_R109_MODIFIERS] Corporate Methodology | PDF8/Table5脚注4–7；PDF38–43/Tables21–23；PDF49–50/¶186–191
https://www.maalot.co.il/Publications/MT20250709153825.pdf
[E_DEV_FACE] Crown Castle Q1 2026 Supplemental Information | PDF15/印14，Capitalization Overview，Face Value
https://investor.crowncastle.com/static-files/38f6a584-60a8-452d-bfd2-a44103aeec82
[E_DEV_CREDIT] Crown Castle May 1 2026 Form 8-K and Exhibit 10.1 credit agreement | PDF11、22–24、40–41、49、51、103、118及公开8K摘要
https://investor.crowncastle.com/static-files/dd7712df-51aa-4a29-b6a5-67becf7b2234
[E_DEV_SALE] 2026-05-01 出售8-K及Exhibit99.2公开未经审计备考 | PDF2/5–9；已读相关备考章节
https://investor.crowncastle.com/static-files/f4ff727f-0f13-4f18-affa-1ff461698ccf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[E_DEV_DI] S&amp;P Sector-Specific Corporate Methodology — Digital Infrastructure | PDF61–63、68–71、73、76–77
https://www.maalot.co.il/Publications/MT20251012123218.pdf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[E_DEV_PROXY] Crown Castle 2026 DEF14A（2026年股东会；完整传输HTML） | 完整HTML提取行1706–1732、1882–1907、2091–2112、4909–5008；印18–27/75–76相应部分
https://investor.crowncastle.com/node/29011/html
[E_DEV_COUNTRY] Country Risk Assessments Update: June 2026 | 内嵌文章元数据June17及Table1表头/美国行
https://spratings.spglobal.com/ratings/en/regulatory/article/-/view/type/HTML/id/3582048
[E_R109_METHOD_LIMIT] Corporate Methodology | PDF49/¶186；未核法域适用性关联另见E_R109_RECOVERY
https://www.maalot.co.il/Publications/MT20250709153825.pdf
[E_CG_GOV] Crown Castle 2026 DEF14A（2026年股东会；完整传输HTML） | printed p18–23 Board leadership/Risk oversight/Committees；p29–30 Audit Committee report
https://investor.crowncastle.com/node/29011/html
[E_CG_RPT] Crown Castle 2026 DEF14A（2026年股东会；完整传输HTML） | printed p26–27 Review of transactions with related persons；p28–30 auditor services/report
https://investor.crowncastle.com/node/29011/html
[E_CG_LEADERSHIP] Crown Castle 2026 DEF14A（2026年股东会；完整传输HTML） | printed p33–34 Executive leadership changes；p52–53 recovery/antihedging/antipledging
https://investor.crowncastle.com/node/29011/html
[E_CG_RP] Crown Castle May 1 2026 Form 8-K and Exhibit 10.1 credit agreement | 新协议§1.01 Restricted Payment/Restricted Subsidiary PDF45；§6.06印刷105–106/PDF115–116
https://investor.crowncastle.com/static-files/dd7712df-51aa-4a29-b6a5-67becf7b2234
[E25CF] Crown Castle 2025 Form 10-K | 印刷及 PDF p60，Consolidated Statement of Cash Flows
https://investor.crowncastle.com/static-files/68fb84e1-1dac-440d-96b4-55b9603e10dd
[E_CG_PROXY_B3] Crown Castle 2026 DEF14A（2026年股东会；完整传输HTML） | Appendix B printed B3 Historical Adjusted EBITDA reconciliation完整相关表；B1定义及B2 Fiber定义
https://investor.crowncastle.com/node/29011/html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FF_R109_NOTE, F06, r109_note_same_coupon_claim, r109_note_30pct_distribution, r109_note_10pct_distribution, F_DEV_NOTE_FACE, F_R109_NOTE_BOOK
[FF_R109_NOTE] conditional / [F06] conditional
底稿 FF_R109_NOTE / F06；来源 S25 / SCREDIT / SQ126 / S_SP_Q1 / S_DEV_CORP / S_SP_SECTORS / S_SP_RATIOS / SPROFORMA / S_SP_XBRL / S_DEV_LIQ / S_DEV_REC / SOLDCREDIT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[E_R109_METHOD_LIMIT] Corporate Methodology | PDF49/¶186；未核法域适用性关联另见E_R109_RECOVERY
https://www.maalot.co.il/Publications/MT20250709153825.pdf
[E25DEBT] Crown Castle 2025 Form 10-K | note 8，p75–79 债务表、2018 Tower Revenue Notes、CP Program；MD&amp;A p40/p45
https://investor.crowncastle.com/static-files/68fb84e1-1dac-440d-96b4-55b9603e10dd
[E25SPE] Crown Castle 2025 Form 10-K | note 8/p77–78，2018 Tower Revenue Notes 及 2009 Securitized Notes
https://investor.crowncastle.com/static-files/68fb84e1-1dac-440d-96b4-55b9603e10dd
[EOLDCREDIT] 2022-07-08 Amendment No.7及附后旧信用协议 | §1.01定义：印刷p13–17/27–28/40/44/50–52；§1.04/1.05 p55–56；§6.09/6.10 p129
https://investor.crowncastle.com/static-files/d735da3e-9136-43ce-ad76-3a96bcb686cf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FF_R109_NOTE, F06, r109_note_same_coupon_claim, r109_note_30pct_distribution, r109_note_10pct_distribution, F_DEV_NOTE_FACE, F_R109_NOTE_BOOK
[FF_R109_NOTE] conditional / [F06] conditional
底稿 FF_R109_NOTE / F06；来源 S25 / SCREDIT / SQ126 / S_SP_Q1 / S_DEV_CORP / S_SP_SECTORS / S_SP_RATIOS / SPROFORMA / S_SP_XBRL / S_DEV_LIQ / S_DEV_REC / SOLDCREDIT
原文定位、URL及完整引用见本页备注；完整方法和明细见同名底稿及 Word/Excel。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[E_DEV_CREDIT] Crown Castle May 1 2026 Form 8-K and Exhibit 10.1 credit agreement | PDF11、22–24、40–41、49、51、103、118及公开8K摘要
https://investor.crowncastle.com/static-files/dd7712df-51aa-4a29-b6a5-67becf7b2234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[E_R109_FRP_TABLE] Corporate Methodology | PDF29–36/¶105、108、110、116–125/Tables17–19
https://www.maalot.co.il/Publications/MT20250709153825.pdf
[E_R109_LIQ] Methodology And Assumptions: Liquidity Descriptors For Global Corporate Issuers | PDF4–5/¶22–32；PDF7–14/¶37–50、64、73–90
urn:sha256:76cf8f47d56b21e8fe60597490f873d1af5dd4ff1326b9a4fa2577c022a534d4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[E_R109_METHOD_LIMIT] Corporate Methodology | PDF49/¶186；未核法域适用性关联另见E_R109_RECOVERY
https://www.maalot.co.il/Publications/MT20250709153825.pdf
[E25DEBT] Crown Castle 2025 Form 10-K | note 8，p75–79 债务表、2018 Tower Revenue Notes、CP Program；MD&amp;A p40/p45
https://investor.crowncastle.com/static-files/68fb84e1-1dac-440d-96b4-55b9603e10dd
[E25SPE] Crown Castle 2025 Form 10-K | note 8/p77–78，2018 Tower Revenue Notes 及 2009 Securitized Notes
https://investor.crowncastle.com/static-files/68fb84e1-1dac-440d-96b4-55b9603e10dd
[EOLDCREDIT] 2022-07-08 Amendment No.7及附后旧信用协议 | §1.01定义：印刷p13–17/27–28/40/44/50–52；§1.04/1.05 p55–56；§6.09/6.10 p129
https://investor.crowncastle.com/static-files/d735da3e-9136-43ce-ad76-3a96bcb686cf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F12, cg_rental_audit, cg_sti_difference, cg_governance, cg_sti_weighted_display_gap, cg_sti_hill_display_gap
[F12] supported / [cg_rental_audit] conditional / [cg_sti_difference] unresolved / [cg_governance] conditional
底稿 F12 / cg_rental_audit / cg_sti_difference / cg_governance；来源 S_PROXY26 / S25 / SQ126 / SCREDIT
原文定位、URL及完整引用见本页备注；完整方法和明细见同名底稿及 Word/Excel。
[E_PROXY_STI] Crown Castle 2026 DEF14A（2026年股东会；完整传输HTML） | printed p34 Alignment/AIP；p44–45结构、两张业绩表及404要求；p46 Hillabrant奖金表及脚注(a)
https://investor.crowncastle.com/node/29011/html
[E25AUDIT] Crown Castle 2025 Form 10-K | p56–57，PwC auditor report，2026-02-23
https://investor.crowncastle.com/static-files/68fb84e1-1dac-440d-96b4-55b9603e10dd
[E25BS] Crown Castle 2025 Form 10-K | 印刷及 PDF p58，Consolidated Balance Sheet，2025/2024 两列
https://investor.crowncastle.com/static-files/68fb84e1-1dac-440d-96b4-55b9603e10dd
[E25HFS] Crown Castle 2025 Form 10-K | note 3，印刷及 PDF p71–72，尤其 p72 资产负债、损益及脚注 (b)(c)
https://investor.crowncastle.com/static-files/68fb84e1-1dac-440d-96b4-55b9603e10dd
[E_CG_AUDIT] Crown Castle 2025 Form 10-K | 2025 10-K印刷/PDF p56–57完整PwC报告
https://investor.crowncastle.com/static-files/68fb84e1-1dac-440d-96b4-55b9603e10dd
[E_CG_RENT] Crown Castle 2025 Form 10-K | note2印刷/PDF p63、p66–67；p57收入CAM；note18 p89
https://investor.crowncastle.com/static-files/68fb84e1-1dac-440d-96b4-55b9603e10dd
[E_CG_Q1_CTRL] Crown Castle Q1 2026 Form 10-Q | 2026 Q1 10-Q印刷p10/PDF11 note4；印刷p36/PDF37 Item4
https://investor.crowncastle.com/static-files/de60fca2-89d5-499d-899b-8e0a23030617
[EDISH] Crown Castle 2025 Form 10-K | note 18/p89，Subsequent Events—DISH Wireless
https://investor.crowncastle.com/static-files/68fb84e1-1dac-440d-96b4-55b9603e10dd
[E_CG_PROXY_B3] Crown Castle 2026 DEF14A（2026年股东会；完整传输HTML） | Appendix B printed B3 Historical Adjusted EBITDA reconciliation完整相关表；B1定义及B2 Fiber定义
https://investor.crowncastle.com/node/29011/html
[E_CG_GOV] Crown Castle 2026 DEF14A（2026年股东会；完整传输HTML） | printed p18–23 Board leadership/Risk oversight/Committees；p29–30 Audit Committee report
https://investor.crowncastle.com/node/29011/html
[E_CG_RPT] Crown Castle 2026 DEF14A（2026年股东会；完整传输HTML） | printed p26–27 Review of transactions with related persons；p28–30 auditor services/report
https://investor.crowncastle.com/node/29011/html
[E_CG_LEADERSHIP] Crown Castle 2026 DEF14A（2026年股东会；完整传输HTML） | printed p33–34 Executive leadership changes；p52–53 recovery/antihedging/antipledging
https://investor.crowncastle.com/node/29011/html
[E_CG_RP] Crown Castle May 1 2026 Form 8-K and Exhibit 10.1 credit agreement | 新协议§1.01 Restricted Payment/Restricted Subsidiary PDF45；§6.06印刷105–106/PDF115–116
https://investor.crowncastle.com/static-files/dd7712df-51aa-4a29-b6a5-67becf7b2234
[E25CF] Crown Castle 2025 Form 10-K | 印刷及 PDF p60，Consolidated Statement of Cash Flows
https://investor.crowncastle.com/static-files/68fb84e1-1dac-440d-96b4-55b9603e10dd
[EQ126SALE] Crown Castle Q1 2026 Form 10-Q | note 14 印刷 p19/PDF p20，Completion of Strategic Fiber Transaction
https://investor.crowncastle.com/static-files/de60fca2-89d5-499d-899b-8e0a23030617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底稿 F05, FF_R109_ISSUER, FF_R109_NOTE, F10, FF_FORWARD_STRESS
[F05] conditional / [FF_R109_ISSUER] conditional / [FF_R109_NOTE] conditional / [F10] unresolved / [FF_FORWARD_STRESS] conditional
底稿 F05 / FF_R109_ISSUER / FF_R109_NOTE / F10 / FF_FORWARD_STRESS；来源 S_DEV_LIQ / SCREDIT / SPROFORMA / S25 / SQ126 / S_SP_Q1 / S_SP_RATIOS / S_SP_XBRL / S_DEV_CORP / S_SP_SECTORS / S_DEV_REC / S_PROXY26 / S_DEV_COUNTRY / S24 / SQ125 / SSEC / S_SP_Q4
原文定位、URL及完整引用见本页备注；完整方法和明细见同名底稿及 Word/Excel。
[E_R109_LIQ] Methodology And Assumptions: Liquidity Descriptors For Global Corporate Issuers | PDF4–5/¶22–32；PDF7–14/¶37–50、64、73–90
urn:sha256:76cf8f47d56b21e8fe60597490f873d1af5dd4ff1326b9a4fa2577c022a534d4
[E_DEV_CREDIT] Crown Castle May 1 2026 Form 8-K and Exhibit 10.1 credit agreement | PDF11、22–24、40–41、49、51、103、118及公开8K摘要
https://investor.crowncastle.com/static-files/dd7712df-51aa-4a29-b6a5-67becf7b2234
[E_DEV_SALE] 2026-05-01 出售8-K及Exhibit99.2公开未经审计备考 | PDF2/5–9；已读相关备考章节
https://investor.crowncastle.com/static-files/f4ff727f-0f13-4f18-affa-1ff461698ccf
[E25BS] Crown Castle 2025 Form 10-K | 印刷及 PDF p58，Consolidated Balance Sheet，2025/2024 两列
https://investor.crowncastle.com/static-files/68fb84e1-1dac-440d-96b4-55b9603e10dd
[ECREDIT] Crown Castle May 1 2026 Form 8-K and Exhibit 10.1 credit agreement | 8-K Item 1.01；协议 §1.01、§1.04/p43、§1.05/p44、§4.02/p93、§6.10/p108；Total Indebtedness印刷39/PDF49，§1.04印刷43/PDF53
https://investor.crowncastle.com/static-files/dd7712df-51aa-4a29-b6a5-67becf7b2234
[EQ126CF] Crown Castle Q1 2026 Form 10-Q | 印刷 p18/PDF p19 现金调节；note 5/p12 债务；MD&amp;A/p28 流动性
https://investor.crowncastle.com/static-files/de60fca2-89d5-499d-899b-8e0a23030617
[EQ126FAC] Crown Castle Q1 2026 Form 10-Q | note 14 印刷 p20/PDF p21；MD&amp;A/p28 May 5 balances
https://investor.crowncastle.com/static-files/de60fca2-89d5-499d-899b-8e0a23030617
[EQ126SALE] Crown Castle Q1 2026 Form 10-Q | note 14 印刷 p19/PDF p20，Completion of Strategic Fiber Transaction
https://investor.crowncastle.com/static-files/de60fca2-89d5-499d-899b-8e0a23030617
[E_FWD_CASH_TAX] Crown Castle Q1 2026 Supplemental Information | Q1 supplement PDF12/印刷11完整Consolidated ROIC表及(a)–(f)脚注；PDF23/印刷22 Non-GAAP Measures定义
https://investor.crowncastle.com/static-files/38f6a584-60a8-452d-bfd2-a44103aeec82
[E_FWD_CONTRACT] Crown Castle Q1 2026 Supplemental Information | PDF9/11/13–16/18/28，印刷8/10/12–15/17/27
https://investor.crowncastle.com/static-files/38f6a584-60a8-452d-bfd2-a44103aeec82
[E_FWD_CREDIT_CONDITIONS] Crown Castle May 1 2026 Form 8-K and Exhibit 10.1 credit agreement | 完整协议PDF2、49、51、103、118；协议印刷39、41、93、108；§4.02/§6.10
https://investor.crowncastle.com/static-files/dd7712df-51aa-4a29-b6a5-67becf7b2234
[E_FWD_DEBT_MEASURE] S&amp;P Corporate Methodology: Ratios And Adjustments | PDF27/印刷27，Appendix2 Initial measurement / debt at fair value
https://www.maalot.co.il/Publications/MT20251223092257.pdf
[E_FWD_GUIDANCE] 2026-05-01 出售8-K及Exhibit99.2公开未经审计备考 | 完整May1 8-K的Ex99.1 PDF6、11、13、15–16（印刷2、7、9、11–12）
https://investor.crowncastle.com/static-files/f4ff727f-0f13-4f18-affa-1ff461698ccf
[E_FWD_Q1] Crown Castle Q1 2026 Form 10-Q | PDF4–6/印刷3–5；note5 PDF14/印刷13；note13–14 PDF19–20
https://investor.crowncastle.com/static-files/de60fca2-89d5-499d-899b-8e0a23030617
[E_FWD_Q1_XBRL] SEC Companyfacts：Crown Castle 2025年度及2026Q1原申报事实 | InterestPaidNet / InterestCostsCapitalized；accn0001051470-26-000059，2026Q1，filed2026-05-07
https://data.sec.gov/api/xbrl/companyfacts/CIK0001051470.json
[E_FWD_RESTRUCT_CLASS] Crown Castle 2025 Form 10-K | 2025 10K PDF89/印刷89；Q1更新已由E_FWD_Q1 note13–14支持
https://investor.crowncastle.com/static-files/68fb84e1-1dac-440d-96b4-55b9603e10dd
[E_SP_ARO] Crown Castle 2025 Form 10-K | PDF/印刷p65、p73–74；p80–82税务
https://investor.crowncastle.com/static-files/68fb84e1-1dac-440d-96b4-55b9603e10dd
[E_SP_LEASE] Crown Castle 2025 Form 10-K | PDF/印刷p58、p64、p75、p85、p87；note14
https://investor.crowncastle.com/static-files/68fb84e1-1dac-440d-96b4-55b9603e10dd
[E_SP_Q1CFO] Crown Castle Q1 2026 Form 10-Q | PDF6/印刷p5，2026Q1/2025Q1现金流表；PDF19–20/印刷p18–19，note13重组事项
https://investor.crowncastle.com/static-files/de60fca2-89d5-499d-899b-8e0a23030617
[E_SP_RATIOS] S&amp;P Corporate Methodology: Ratios And Adjustments | 原发2019-04-01，2025-12-17重发，PDF7 ¶31–35；17–25 ¶86–137；44–45 ¶223–225
https://www.maalot.co.il/Publications/MT20251223092257.pdf
[E_SP_SCOPE] Crown Castle 2025 Form 10-K | note1/PDF及印刷p62；p60、p87–88
https://investor.crowncastle.com/static-files/68fb84e1-1dac-440d-96b4-55b9603e10dd
[E_DEV_CASH_CONTRACT] Crown Castle Q1 2026 Supplemental Information | PDF13–14
https://investor.crowncastle.com/static-files/38f6a584-60a8-452d-bfd2-a44103aeec82
[E_DEV_CORP] Corporate Methodology | PDF4–12、21–22、24–28、30–44、47–50；Tables1/2/3/5/14–19/21–25及¶40–50/91–92/112–125/136–191
https://www.maalot.co.il/Publications/MT20250709153825.pdf
[E_DEV_CP] Crown Castle 2025 Form 10-K | PDF4–8、17–19、36–38；Q1 supplement另见E_DEV_CASH_CONTRACT
https://investor.crowncastle.com/static-files/68fb84e1-1dac-440d-96b4-55b9603e10dd
[E_DEV_DI] S&amp;P Sector-Specific Corporate Methodology — Digital Infrastructure | PDF61–63、68–71、73、76–77
https://www.maalot.co.il/Publications/MT20251012123218.pdf
[E_DEV_FACE] Crown Castle Q1 2026 Supplemental Information | PDF15/印14，Capitalization Overview，Face Value
https://investor.crowncastle.com/static-files/38f6a584-60a8-452d-bfd2-a44103aeec82
[E_DEV_NOTE] Crown Castle Q1 2026 Form 10-Q | 2026Q1 10Q PDF13–14，Debt and Other Obligations
https://investor.crowncastle.com/static-files/de60fca2-89d5-499d-899b-8e0a23030617
[E_DEV_NOTE_GUAR] Crown Castle 2025 Form 10-K | PDF75、77–79，Senior Notes/Securitized Debt
https://investor.crowncastle.com/static-files/68fb84e1-1dac-440d-96b4-55b9603e10dd
[E_DEV_TOWER_RIGHTS] Crown Castle 2025 Form 10-K | PDF4、7、17–18及77–79
https://investor.crowncastle.com/static-files/68fb84e1-1dac-440d-96b4-55b9603e10dd
[E_R109_FRP_TABLE] Corporate Methodology | PDF29–36/¶105、108、110、116–125/Tables17–19
https://www.maalot.co.il/Publications/MT20250709153825.pdf
[E_R109_MODIFIERS] Corporate Methodology | PDF8/Table5脚注4–7；PDF38–43/Tables21–23；PDF49–50/¶186–191
https://www.maalot.co.il/Publications/MT20250709153825.pdf
[E_R109_NOTE_ID] Crown Castle Q1 2026 Form 10-Q | PDF13–14；另S25 PDF75/78与S_SP_Q1 PDF15交叉核
https://investor.crowncastle.com/static-files/de60fca2-89d5-499d-899b-8e0a23030617
[E_R109_RECOVERY] Recovery Rating Criteria For Corporate Issuers | PDF1、4、10–14、16–17、23、39、44/¶3、21–28、55–83、90–99/Appendix4/G
https://www.maalot.co.il/Publications/MT20260405084138.pdf
[E_DEV_PROXY] Crown Castle 2026 DEF14A（2026年股东会；完整传输HTML） | 完整HTML提取行1706–1732、1882–1907、2091–2112、4909–5008；印18–27/75–76相应部分
https://investor.crowncastle.com/node/29011/html
[E_DEV_COUNTRY] Country Risk Assessments Update: June 2026 | 内嵌文章元数据June17及Table1表头/美国行
https://spratings.spglobal.com/ratings/en/regulatory/article/-/view/type/HTML/id/3582048
[E_R109_METHOD_LIMIT] Corporate Methodology | PDF49/¶186；未核法域适用性关联另见E_R109_RECOVERY
https://www.maalot.co.il/Publications/MT20250709153825.pdf
[E24ORIG] Crown Castle 2024 Form 10-K（原报） | 原报 p61 合并损益；note 14/p88–89 segment results，分部表p89
https://investor.crowncastle.com/static-files/baed4489-6578-4e32-81e6-a084eea66a02
[E25PL] Crown Castle 2025 Form 10-K | 印刷及 PDF p59，Consolidated Statement of Operations and Comprehensive Income
https://investor.crowncastle.com/static-files/68fb84e1-1dac-440d-96b4-55b9603e10dd
[E25HFS] Crown Castle 2025 Form 10-K | note 3，印刷及 PDF p71–72，尤其 p72 资产负债、损益及脚注 (b)(c)
https://investor.crowncastle.com/static-files/68fb84e1-1dac-440d-96b4-55b9603e10dd
[EQ125] Crown Castle Q1 2025 Form 10-Q 原报 | note 3，2025-03-31 held-for-sale table
https://www.sec.gov/Archives/edgar/data/1051470/000105147025000141/cci-20250331.htm
[ESECSALE] Crown Castle 2025-06-04 SEC comment-response letter | 公司回复 comment 2；ASC205-20-45-3A、税项及830损失/819准备/11售出费用
https://www.sec.gov/Archives/edgar/data/1051470/000105147025000154/filename1.htm
[EQ126HFS] Crown Castle Q1 2026 Form 10-Q | note 3 印刷 p9/PDF p10，2026/2025 比较损益、准备表、脚注 (c)
https://investor.crowncastle.com/static-files/de60fca2-89d5-499d-899b-8e0a23030617
[E_SP_LAND] Crown Castle Q4 2025 Supplemental Information | PDF14/印刷p13：GROUND INTEREST OVERVIEW及脚注(e)–(i)
https://investor.crowncastle.com/static-files/bea23792-6649-4b95-9395-aa837e68396c
[E_SP_RENEW] Crown Castle Q4 2025 Supplemental Information | PDF13/印刷p12；TENANT OVERVIEW及脚注(a)–(f)
https://investor.crowncastle.com/static-files/bea23792-6649-4b95-9395-aa837e68396c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Crown Castle 年报与Fiber出售分析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1CC"/>
                </a:solidFill>
              </a:rPr>
              <a:t>Crown Castle Inc. and subsidiaries  |  2025-12-31  |  crown-castle-2025-public-4  | 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连接实际报告与交易、售后经营现金和债务预测，形成有原文依据、可复算且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明确成立条件的主体与指定票据信用研究。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会计基础 US GAAP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范围 合并报表；明确区分持续经营、终止经营及契约借款人口径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信息截止 2026-06-30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来源 SSEC, SFASB, S_SP_XBRL 未列单一公布日期；各期公开日与可用性说明见来源记录及备注。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出售后的信用取决于持续现金和可及时使用的资金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主研究路径：强业务风险、标准表的高度杠杆财务风险，形成bb锚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点。资本结构、财务政策、治理及CRA均按所列中性情景时，流动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性adequate对应BB、less than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adequate对应BB−。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这是一组有条件的研究建议；六月实际资金资格和专门治理分类仍须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核准。较好的自由经营现金与覆盖指标是相邻改善的反方，不能自动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推翻持续分配及融资依赖。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指定无抵押票据另按法律顺位、回收范围与法域分流，不直接继承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主体结论。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paragraph120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indicative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FFO_debt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9.71%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paragraph120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indicative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debt_EBITDA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7.03 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[FF_R109_ISSUER] conditional / [F15] conditional / [FF_R109_NOTE]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FF_R109_ISSUER / F15 / FF_R109_NOTE；来源 S25 / SCREDIT / SQ126 / S_SP_Q1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S_DEV_CORP / S_SP_SECTORS / S_SP_RATIOS / SPROFORMA / S_SP_XBRL / S_DEV_LIQ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S_DEV_REC / S_PROXY26 / S_DEV_COUNTRY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利润反弹没有等额变成保留业务的盈利改善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合并利润变化须拆成持续和终止经营；持续净利润变化-59.00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 百万USD，终止经营的减值和出售计量主导合并反弹。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Fiber长期资产未折现测试通过，与商誉全额减值可以同时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成立；计量基础、测试单元和顺序不同。披露顺序不足以认证估值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输入。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处置损失1,575.00 百万USD含准备及已发生出售费用。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费用、税影响和实际支付分别进入利润、权益及现金桥，不能把全部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损失当当期现金流出。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持续净利润变化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-59.00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2025 终止经营处置损失（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费用正数）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1,575.00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[F01] supported / [F02] supported / [F03] supported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F01 / F02 / F03；来源 S25 / SSEC / S24 / SFASB / SSPA / SPROFORMA / SQ126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交割实绩、公开备考与后续计划分别计量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五月实际价款复算为8,376.00 百万USD，另付约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74.00 百万USD已计提费用，已还债约3,300.00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百万USD。其后的CP、偿债与回购仍是计划。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公开备考假设2025年末已交割，包含另一组费用及偿债条件；其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现金结果不能拼成五月真实余额。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已知动作之外的四月现金归属、最终结算和六月计划执行保持缺失。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信息截止后披露另作验证，不能倒填截止日可用信息。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交割初步实际价款桥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8,376.00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五月一日实际还债（约）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3,300.00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[F08] supported / [F09] conditional / [FF_FORWARD_CASH]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F08 / F09 / FF_FORWARD_CASH；来源 SQ126 / SSALE / S25 / SPROFORMA / SSPA / SCREDIT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/ SOLDCREDIT / S_SP_XBRL / S_SP_Q1 / S_SP_RATIOS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售后现金预算同步反映分配、偿债和融资利息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实际Q1持续经营CFO296.00 百万USD接入剩余期间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预算。Q1净付退税采用原表披露精度参照，全年现金税仍是独立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假设；经营应计利息、实付和资本化现金分别转换。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基准2026CFO1,799.98 百万USD，仍需新增融资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97.79 百万USD；新提款产生当期及后续利息，债务不能只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减已公布偿债计划。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年度期末现金是模型储备条件，方法租赁加回仅改变分析分类，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都不能当作六月真实可提款来源。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2026 CFO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1,799.98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2026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new_draw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97.79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[FF_FORWARD_CASH] conditional / [F13] conditional / [F14]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FF_FORWARD_CASH / F13 / F14；来源 S25 / SCREDIT / SQ126 / S_SP_Q1 / S_SP_RATIOS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SPROFORMA / S_SP_XBRL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经营优势与集中风险共同形成业务风险判断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全美站点覆盖、稀缺性、切换成本、租户利用率和较低维护支出支持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竞争因素的研究选择；三大运营商集中、DISH/Sprint及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地权和客户余期构成反证。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五档因素按塔行业权重先形成初步竞争地位，再接盈利综合，最后与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行业及国家风险形成BRP；不能将单项strong/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adequate直接称最终strong。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盈利综合的行业代理仍须保持条件。美国经营国家风险也不能代替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当前主权、转移可兑换或债项回收法域。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CICRA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2.00 CICRA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category 1..6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Business risk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profile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2.00 business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risk category 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..6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[FF_R109_BRP] conditional / [F16] supported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FF_R109_BRP / F16；来源 S_DEV_COUNTRY / S_DEV_CORP / S_SP_SECTORS / S25 / S_SP_Q1 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 SQ126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保留服务的波动性决定主表选择的理由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售后仍有独立议价、非经常性且历史需求波动显著的服务业务。本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研究将其视为other activities，主选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standard；这项业务适用解释本身保留反方。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先检验low全部资格，未通过才检验medial。可预测经营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现金、合同或支持性框架与其他活动条件分别核，不按较有利阈值倒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选。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租金收入占比、公司租赁现金归属代理和土地控制比例都不等于合格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可预测CFO；框架与合同是可替代路径，不由客户余期一项自动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否定。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2026 services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and other gross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margin outlook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low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90.00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2026 services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and other gross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margin outlook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high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120.00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[F17]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F17；来源 SPROFORMA / S_SP_SECTORS / S25 / S_SP_Q1 / SCREDIT / SQ126 / S_SP_RATIOS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/ S_SP_XBRL / S_DEV_CORP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核心财务风险与有利补充指标保留竞争解释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转型主路径按当前及次年逐年比率等权，两个核心均落入高度杠杆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档。先平均比率，不能先平均分子分母再求比率。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现金利息覆盖和FOCF支持改善一类的反方；分配后现金、更慢的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债务下降和再融资依赖更能解释未来杠杆，主研究保留FRP6。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负分配后现金只有在可能使信用指标恶化时才接前瞻加权例外。服务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选表也不自动触发全公司波动扣档；不能跨两类直接形成bbb。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indicative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FFO_cash_intere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st_coverage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3.19 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indicative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FOCF_debt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8.84%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base indicative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DCF_debt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-1.41%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[F15]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F15；来源 S25 / SCREDIT / SQ126 / S_SP_Q1 / S_DEV_CORP / S_SP_SECTORS / S_SP_RATIOS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 / SPROFORMA / S_SP_XBRL / S_DEV_LIQ / S_DEV_REC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客户、再融资和现金执行压力沿同一条债务路径传播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2028客户压力按真实年度化续约暴露、明确损失份额与半年作用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期施加；再融资加点按到期后暴露和上年新增借款续息。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联合压力2028CFO1,801.00 百万USD，债务/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EBITDA7.55 倍。新增融资既缓解付款缺口，也增加后续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利息，不能免费补足现金。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逆向现金与EBITDA改善分别求单项边界；达到一个FFO/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债务边界仍须复查杠杆及其余节点。没有额度的分支出现缺口后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停止，不形成负现金资产或后年比率。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joint_stress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2028 new_draw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385.25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no_new_facility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2026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cash_payment_de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ficit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45.77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[FF_FORWARD_STRESS] conditional / [FF_FORWARD_FUNDING] conditional / [F15]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FF_FORWARD_STRESS / FF_FORWARD_FUNDING / F15；来源 S25 / SCREDIT / SQ126 / S_SP_Q1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/ S_SP_RATIOS / SPROFORMA / S_SP_XBRL / S_SP_Q4 / S_DEV_CORP / S_SP_SECTORS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S_DEV_LIQ / S_DEV_REC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六月十二个月流动性已经形成可核对的资金条件 1/2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窗口为July2026至June2027，按相同现金分类连接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经营现金、资本支出、分配及未提前偿还的本金。J为六月实际普通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现金，V为合格未提资金，U为净额外用途，W为已从CFO扣除的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负营运资金。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A=J+CFO+W+V；B=B0+U+W。达到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adequate的数量条件仍随U/W和额外付息改变，且另须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定性特征、具体付款时点与契约余量。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CP到期与备用额度只计一次，名义授信须扣实际占用并核提款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条件；未承销市场融资和年度现金阈值不能补成实际来源。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Jul2026-Jun2027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displayed uses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 subtotal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4,437.42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Necessary June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cash plus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qualified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facilities for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A/B test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3,287.19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[F05] conditional / [cg_cash_spe] conditional / [cg_payment_rights]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F05 / cg_cash_spe / cg_payment_rights；来源 S25 / SCREDIT / SQ126 / S_SP_Q1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S_DEV_CORP / S_SP_SECTORS / S_SP_RATIOS / SPROFORMA / S_SP_XBRL / S_DEV_LIQ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S_DEV_REC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六月十二个月流动性已经形成可核对的资金条件 2/2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Necessary June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cash plus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qualified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facilities for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positive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stressed A-B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2,887.49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[F05] conditional / [cg_cash_spe] conditional / [cg_payment_rights]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F05 / cg_cash_spe / cg_payment_rights；来源 S25 / SCREDIT / SQ126 / S_SP_Q1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S_DEV_CORP / S_SP_SECTORS / S_SP_RATIOS / SPROFORMA / S_SP_XBRL / S_DEV_LIQ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S_DEV_REC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资本结构、治理和CRA在更新后的等级上逐步处理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主中性资本结构情景仍需实际期限、浮息及对冲证据；同一出售、偿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债和分配若已进入预测，不再机械加档或扣档。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流动性后用新的等级范围查治理影响，再评CRA同档位置和未充分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捕获因素。较强业务与较弱杠杆的标签本身不足以支持CRA，正向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调整也不能越过流动性上限。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委员会、独立性、领导交接和激励差异是实际治理证据，不能直接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宣布专门M&amp;G中性已经核准。条件主体建议须保留这一未决节点。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AIP文字与实际表显示差额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40.00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[FF_R109_MODIFIERS] conditional / [FF_R109_ISSUER] conditional / [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cg_governance] conditional / [cg_sti_difference] unresolved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FF_R109_MODIFIERS / FF_R109_ISSUER / cg_governance / cg_sti_difference；来源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S_PROXY26 / S_DEV_CORP / S_SP_Q1 / SCREDIT / SPROFORMA / S25 / SQ126 / S_SP_SECTORS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 / S_SP_RATIOS / S_SP_XBRL / S_DEV_LIQ / S_DEV_REC / S_DEV_COUNTRY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指定高级无抵押票据按实际义务人和回收范围判断 1/2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对象为CCI母公司4.000% March2027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Senior Notes，面值500.00 百万USD、Q1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账面499.00 百万USD；无子公司保证，结构从属不自动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等于固定降档。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适用回收法域时，合格非SPE塔用DAV，同时排除SPE资产及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对应债权；行政成本、优先P和同级U按同范围处理。BB主路径跨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30%或10%改变本券级差，上限阻止高回收直接上调；主体降至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B+及以下另按Group A/B查回收上限和上调资格。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本券含半年欠息参照及分配边界可复算。设施控制权不等于土地所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有权，合格塔、债权及法域未核，实际回收保持未计算。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Specific note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same-coupon six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-month claim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scenario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510.00 百万USD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Specific note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distribution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needed for30%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recovery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153.00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[FF_R109_NOTE] conditional / [F06]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FF_R109_NOTE / F06；来源 S25 / SCREDIT / SQ126 / S_SP_Q1 / S_DEV_CORP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S_SP_SECTORS / S_SP_RATIOS / SPROFORMA / S_SP_XBRL / S_DEV_LIQ / S_DEV_REC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SOLDCREDIT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指定高级无抵押票据按实际义务人和回收范围判断 2/2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Specific note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distribution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needed for10%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recovery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51.00 百万USD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[FF_R109_NOTE] conditional / [F06]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FF_R109_NOTE / F06；来源 S25 / SCREDIT / SQ126 / S_SP_Q1 / S_DEV_CORP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S_SP_SECTORS / S_SP_RATIOS / SPROFORMA / S_SP_XBRL / S_DEV_LIQ / S_DEV_REC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SOLDCREDIT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公开分析已执行的程序与实际审计证据分别记录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PwC财报及ICFR意见、收入与出售CAM已有原件。此次分析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执行的是公开政策、原文版本和算术核对；银行函证、控制运行与逐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项合同检查不能冒记完成。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AIP正文与表中EBITDA差、B3范围、显示加权与完整精度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分别保留。小额显示差不自动认定错报；未证完整计算规则也不能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自行插值。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后续围绕真实支付、治理执行、收入认定和已识别差异取证；不以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制度存在、勾稽通过或审计师程序替代本次实际结果。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0" y="1325880"/>
            <a:ext cx="3566160" cy="4069080"/>
          </a:xfrm>
          <a:prstGeom prst="rect">
            <a:avLst/>
          </a:prstGeom>
          <a:solidFill>
            <a:srgbClr val="E6EFEC"/>
          </a:solidFill>
          <a:ln w="12700">
            <a:solidFill>
              <a:srgbClr val="E6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141732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AIP组件显示和与披露总的差额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0.04 个百分点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Hillabrant披露奖金减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显示数乘积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7F72"/>
                </a:solidFill>
              </a:rPr>
              <a:t>0.95 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[F12] supported / [cg_rental_audit] conditional / [cg_sti_difference]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unresolved / [cg_governance] conditional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 F12 / cg_rental_audit / cg_sti_difference / cg_governance；来源 S_PROXY26 / S25 /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SQ126 / SCREDIT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原文定位、URL及完整引用见本页备注；完整方法和明细见同名底稿及 Word/Excel。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新增证据会明确改变哪些判断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Crown Castle Inc. and subsidiaries  |  2025-12-31  |  crown-castle-2025-public-4  | 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实际六月现金、CP、额度占用及逐券支付将替换J/V/U，决定流动性描述符和主体建议分支；合规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证书须按新协议真实分子分母和提款日条件核验。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可执行续约、客户实收和交易最终结算会改变现金转换、可选分配及前瞻杠杆；先更新原输入，再重跑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同一预测和形成接口。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专门治理方法与本公司执行证据决定治理修正；合格非SPE设施、同级/优先债权及法域决定本券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回收。两处公开版本差异继续保留，正式桥未取得前不强行平账。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[F05] conditional / [FF_R109_ISSUER] conditional / [FF_R109_NOTE]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13B45"/>
                </a:solidFill>
              </a:rPr>
              <a:t>conditional / [F10] unresolved / [FF_FORWARD_STRESS] conditional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底稿判断 5 项；来源 17 份。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86874"/>
                </a:solidFill>
              </a:rPr>
              <a:t>完整底稿ID、原文定位、URL见本页备注；完整方法和明细见同名 Word/Excel。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Crown Castle 年报与Fiber出售分析</dc:title>
  <dc:subject>连接实际报告与交易、售后经营现金和债务预测，形成有原文依据、可复算且明确成立条件的主体与指定票据信用研究。</dc:subject>
  <dc:creator>annual-report-analysis</dc:creator>
  <cp:lastModifiedBy>annual-report-analysis</cp:lastModifiedBy>
  <cp:revision>1</cp:revision>
  <dcterms:created xsi:type="dcterms:W3CDTF">2026-10-06T04:37:56Z</dcterms:created>
  <dcterms:modified xsi:type="dcterms:W3CDTF">2026-10-06T04:37:56Z</dcterms:modified>
</cp:coreProperties>
</file>