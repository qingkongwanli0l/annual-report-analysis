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研究执行于 2026-10-03；信息截止严格为 2026-06-30。2026 年二季报及七月业绩公告虽涉及六月期末，因发表日晚于截止日排除。
完整下载不等于逐页阅读。2025 年报已重点阅读审计意见、四表、政策/减值、终止经营、债务、税、现金及期后事项；2024 年报和新协议阅读范围见来源说明。
未取得企业内部总账、估值模型、银行流水、合规证明、资金上划限制清单、最终交割结算及完整出售协议附件；不能形成审计保证或可支用现金/正式评级。
2024 原报收入与 2025 年报重列比较收入差异，以及 2026 Q1 对 2025 Q1 待售准备回述差异尚未解释。
现金流桥使用合并表内持续/终止组成项目，不能将其视为法律母公司单体现金流。
US GAAP 条款编号来自 SEC 公司回复及公司政策，未将公司回复视为 SEC 批准，亦未声称已阅读全文 FASB Codification。
公开备考BS假设2025-12-31完成、利润表假设2025-01-01完成，2026-05-01发表；其金额不属于2025已报实数或2026五月实际现金。出售协议后续修订未找到可识别文本，最初签署机制不能视为全部最终条款。
S&amp;P桥包含披露支持的最佳估计及局部敏感性；未完成主权/行业、竞争地位、前瞻财务、支持与债项全形成链，不宣告机构级别。
来源 SSEC, SFASB 的正式公布日期未核验；不得据此证明在信息截止日前已公开。当前披露内容可以继续分析，历史时点结论须补充公告时间证据。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F12
Status: supported
本 workpaper 证据能证明什么？
PwC 已将 Fiber 出售作为关键审计事项并列明其工作；本研究可引用其报告存在，不能将审计师工作复制成自己已执行程序。来源可证实公司披露，内部测算与最终评级决定链仍需实证补足。
算术一致与披露齐备仍不能替代存在性、计价和完整性审计证据。
Evidence: E25AUDIT, E25BS, E25HFS
Counterevidence: [E25AUDIT] Crown Castle 2025 Form 10-K | p56–57，PwC auditor report，2026-02-23
https://investor.crowncastle.com/static-files/68fb84e1-1dac-440d-96b4-55b9603e10dd
[E25BS] Crown Castle 2025 Form 10-K | 印刷及 PDF p58，Consolidated Balance Sheet，2025/2024 两列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F12
Status: supported
本 workpaper 证据能证明什么？
PwC 已将 Fiber 出售作为关键审计事项并列明其工作；本研究可引用其报告存在，不能将审计师工作复制成自己已执行程序。来源可证实公司披露，内部测算与最终评级决定链仍需实证补足。
算术一致与披露齐备仍不能替代存在性、计价和完整性审计证据。
Evidence: E25AUDIT, E25BS, E25HFS
Counterevidence: [E25AUDIT] Crown Castle 2025 Form 10-K | p56–57，PwC auditor report，2026-02-23
https://investor.crowncastle.com/static-files/68fb84e1-1dac-440d-96b4-55b9603e10dd
[E25BS] Crown Castle 2025 Form 10-K | 印刷及 PDF p58，Consolidated Balance Sheet，2025/2024 两列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F01
Status: supported
US GAAP 顺序、计量基础与测试单元是否被混为一谈？
资产组及报告单元均为 Fiber segment；未折现现金流门槛与报告单元公允价值测试不是同一计量。取消节点另有 106.00 百万USD 核销，故‘未触发资产组减值’不能表述为无核销。估值数值重做仍缺预测、资产组账面调整、折现/退出假设与敏感性。
估值顺序披露一致，并不证明管理层预测可实现；未折现余量大小尚不明。
Evidence: ESECSEQ, E24IMPAIR, E24WRITE, EFASB, C_gw2024, C_fibergw
Counterevidence: missing_discount, missing_recoverability[E24IMPAIR] Crown Castle 2024 Form 10-K（原报） | p48–50 Critical Accounting Policies；note 5，印刷/PDF p75 goodwill rollforward
https://investor.crowncastle.com/static-files/baed4489-6578-4e32-81e6-a084eea66a02
[E25HFS] Crown Castle 2025 Form 10-K | note 3，印刷及 PDF p71–72，尤其 p72 资产负债、损益及脚注 (b)(c)
https://investor.crowncastle.com/static-files/68fb84e1-1dac-440d-96b4-55b9603e10dd
[ESECSEQ] Crown Castle 2025-06-04 SEC comment-response letter | 公司回复 Staff comment 1；引用 ASC350-20-35-31 和 ASC360-10-35-17
https://www.sec.gov/Archives/edgar/data/1051470/000105147025000154/filename1.htm
[E24WRITE] Crown Castle 2024 Form 10-K（原报） | MD&amp;A p39，Asset write-down charges
https://investor.crowncastle.com/static-files/baed4489-6578-4e32-81e6-a084eea66a02
[EFASB] FASB ASU 2017-04 — Simplifying the Test for Goodwill Impairment | 印刷 p12/PDF p18：350-20-35-31/32；印刷 p8/PDF p14：350-20-35-4/8 修订标记
https://storage.fasb.org/ASU2017-04.pdf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F01
Status: supported
US GAAP 顺序、计量基础与测试单元是否被混为一谈？
资产组及报告单元均为 Fiber segment；未折现现金流门槛与报告单元公允价值测试不是同一计量。取消节点另有 106.00 百万USD 核销，故‘未触发资产组减值’不能表述为无核销。估值数值重做仍缺预测、资产组账面调整、折现/退出假设与敏感性。
估值顺序披露一致，并不证明管理层预测可实现；未折现余量大小尚不明。
Evidence: ESECSEQ, E24IMPAIR, E24WRITE, EFASB, C_gw2024, C_fibergw
Counterevidence: missing_discount, missing_recoverability[E24IMPAIR] Crown Castle 2024 Form 10-K（原报） | p48–50 Critical Accounting Policies；note 5，印刷/PDF p75 goodwill rollforward
https://investor.crowncastle.com/static-files/baed4489-6578-4e32-81e6-a084eea66a02
[ESECSEQ] Crown Castle 2025-06-04 SEC comment-response letter | 公司回复 Staff comment 1；引用 ASC350-20-35-31 和 ASC360-10-35-17
https://www.sec.gov/Archives/edgar/data/1051470/000105147025000154/filename1.htm
[E24WRITE] Crown Castle 2024 Form 10-K（原报） | MD&amp;A p39，Asset write-down charges
https://investor.crowncastle.com/static-files/baed4489-6578-4e32-81e6-a084eea66a02
[EFASB] FASB ASU 2017-04 — Simplifying the Test for Goodwill Impairment | 印刷 p12/PDF p18：350-20-35-31/32；印刷 p8/PDF p14：350-20-35-4/8 修订标记
https://storage.fasb.org/ASU2017-04.pdf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F01
Status: supported
US GAAP 顺序、计量基础与测试单元是否被混为一谈？
资产组及报告单元均为 Fiber segment；未折现现金流门槛与报告单元公允价值测试不是同一计量。取消节点另有 106.00 百万USD 核销，故‘未触发资产组减值’不能表述为无核销。估值数值重做仍缺预测、资产组账面调整、折现/退出假设与敏感性。
估值顺序披露一致，并不证明管理层预测可实现；未折现余量大小尚不明。
Evidence: ESECSEQ, E24IMPAIR, E24WRITE, EFASB, C_gw2024, C_fibergw
Counterevidence: missing_discount, missing_recoverability[ESECSEQ] Crown Castle 2025-06-04 SEC comment-response letter | 公司回复 Staff comment 1；引用 ASC350-20-35-31 和 ASC360-10-35-17
https://www.sec.gov/Archives/edgar/data/1051470/000105147025000154/filename1.htm
[E24IMPAIR] Crown Castle 2024 Form 10-K（原报） | p48–50 Critical Accounting Policies；note 5，印刷/PDF p75 goodwill rollforward
https://investor.crowncastle.com/static-files/baed4489-6578-4e32-81e6-a084eea66a02
[E24WRITE] Crown Castle 2024 Form 10-K（原报） | MD&amp;A p39，Asset write-down charges
https://investor.crowncastle.com/static-files/baed4489-6578-4e32-81e6-a084eea66a02
[EFASB] FASB ASU 2017-04 — Simplifying the Test for Goodwill Impairment | 印刷 p12/PDF p18：350-20-35-31/32；印刷 p8/PDF p14：350-20-35-4/8 修订标记
https://storage.fasb.org/ASU2017-04.pdf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F02
Status: supported
出售分类与损失是否按时点区分？
已发生费用不同于支付现金；持有待售后停止折旧摊销，使终止业务跨年营业表现不可直接解读为经营改善。净资产准备前 9,918.00 百万USD、准备后 8,411.00 百万USD 均可复算，但总价与净资产差额缺估计售出成本/价调逐项表，不能臆认其性质。
已取得最初签署协议§2.2–2.7价格调整及结算机制（两业务基价合计8,500.00 百万USD），也取得2026五月发表的公开备考；它们未解释2025年末上述89差额，不以五月初步124或备考127倒填年末计量。
总价和净资产的剩余差可能涉及预计售出成本或交易调整；未取得明细前不定性。
Evidence: E25HFS, E24IMPAIR, ESECSALE, C_sale2025, C_preallow_netassets, C_postallow_netassets, ESPAPRICE, ESPASETTLE, EPROBS, EQ126INDEX
Counterevidence: [E25HFS] Crown Castle 2025 Form 10-K | note 3，印刷及 PDF p71–72，尤其 p72 资产负债、损益及脚注 (b)(c)
https://investor.crowncastle.com/static-files/68fb84e1-1dac-440d-96b4-55b9603e10dd
[E24IMPAIR] Crown Castle 2024 Form 10-K（原报） | p48–50 Critical Accounting Policies；note 5，印刷/PDF p75 goodwill rollforward
https://investor.crowncastle.com/static-files/baed4489-6578-4e32-81e6-a084eea66a02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[E25PL] Crown Castle 2025 Form 10-K | 印刷及 PDF p59，Consolidated Statement of Operations and Comprehensive Income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F02
Status: supported
出售分类与损失是否按时点区分？
已发生费用不同于支付现金；持有待售后停止折旧摊销，使终止业务跨年营业表现不可直接解读为经营改善。净资产准备前 9,918.00 百万USD、准备后 8,411.00 百万USD 均可复算，但总价与净资产差额缺估计售出成本/价调逐项表，不能臆认其性质。
已取得最初签署协议§2.2–2.7价格调整及结算机制（两业务基价合计8,500.00 百万USD），也取得2026五月发表的公开备考；它们未解释2025年末上述89差额，不以五月初步124或备考127倒填年末计量。
总价和净资产的剩余差可能涉及预计售出成本或交易调整；未取得明细前不定性。
Evidence: E25HFS, E24IMPAIR, ESECSALE, C_sale2025, C_preallow_netassets, C_postallow_netassets, ESPAPRICE, ESPASETTLE, EPROBS, EQ126INDEX
Counterevidence: [E25HFS] Crown Castle 2025 Form 10-K | note 3，印刷及 PDF p71–72，尤其 p72 资产负债、损益及脚注 (b)(c)
https://investor.crowncastle.com/static-files/68fb84e1-1dac-440d-96b4-55b9603e10dd
[E24IMPAIR] Crown Castle 2024 Form 10-K（原报） | p48–50 Critical Accounting Policies；note 5，印刷/PDF p75 goodwill rollforward
https://investor.crowncastle.com/static-files/baed4489-6578-4e32-81e6-a084eea66a02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[E25PL] Crown Castle 2025 Form 10-K | 印刷及 PDF p59，Consolidated Statement of Operations and Comprehensive Income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F02
Status: supported
出售分类与损失是否按时点区分？
已发生费用不同于支付现金；持有待售后停止折旧摊销，使终止业务跨年营业表现不可直接解读为经营改善。净资产准备前 9,918.00 百万USD、准备后 8,411.00 百万USD 均可复算，但总价与净资产差额缺估计售出成本/价调逐项表，不能臆认其性质。
已取得最初签署协议§2.2–2.7价格调整及结算机制（两业务基价合计8,500.00 百万USD），也取得2026五月发表的公开备考；它们未解释2025年末上述89差额，不以五月初步124或备考127倒填年末计量。
总价和净资产的剩余差可能涉及预计售出成本或交易调整；未取得明细前不定性。
Evidence: E25HFS, E24IMPAIR, ESECSALE, C_sale2025, C_preallow_netassets, C_postallow_netassets, ESPAPRICE, ESPASETTLE, EPROBS, EQ126INDEX
Counterevidence: [E25HFS] Crown Castle 2025 Form 10-K | note 3，印刷及 PDF p71–72，尤其 p72 资产负债、损益及脚注 (b)(c)
https://investor.crowncastle.com/static-files/68fb84e1-1dac-440d-96b4-55b9603e10dd
[E24IMPAIR] Crown Castle 2024 Form 10-K（原报） | p48–50 Critical Accounting Policies；note 5，印刷/PDF p75 goodwill rollforward
https://investor.crowncastle.com/static-files/baed4489-6578-4e32-81e6-a084eea66a02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[E25PL] Crown Castle 2025 Form 10-K | 印刷及 PDF p59，Consolidated Statement of Operations and Comprehensive Income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F02
Status: supported
出售分类与损失是否按时点区分？
已发生费用不同于支付现金；持有待售后停止折旧摊销，使终止业务跨年营业表现不可直接解读为经营改善。净资产准备前 9,918.00 百万USD、准备后 8,411.00 百万USD 均可复算，但总价与净资产差额缺估计售出成本/价调逐项表，不能臆认其性质。
已取得最初签署协议§2.2–2.7价格调整及结算机制（两业务基价合计8,500.00 百万USD），也取得2026五月发表的公开备考；它们未解释2025年末上述89差额，不以五月初步124或备考127倒填年末计量。
总价和净资产的剩余差可能涉及预计售出成本或交易调整；未取得明细前不定性。
Evidence: E25HFS, E24IMPAIR, ESECSALE, C_sale2025, C_preallow_netassets, C_postallow_netassets, ESPAPRICE, ESPASETTLE, EPROBS, EQ126INDEX
Counterevidence: [E25HFS] Crown Castle 2025 Form 10-K | note 3，印刷及 PDF p71–72，尤其 p72 资产负债、损益及脚注 (b)(c)
https://investor.crowncastle.com/static-files/68fb84e1-1dac-440d-96b4-55b9603e10dd
[E24IMPAIR] Crown Castle 2024 Form 10-K（原报） | p48–50 Critical Accounting Policies；note 5，印刷/PDF p75 goodwill rollforward
https://investor.crowncastle.com/static-files/baed4489-6578-4e32-81e6-a084eea66a02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[E25PL] Crown Castle 2025 Form 10-K | 印刷及 PDF p59，Consolidated Statement of Operations and Comprehensive Income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F03
Status: supported
扭亏是否代表持续经营现金创造改善？
商誉减值、处置减值和停折旧影响利润，现金流表另作去除及调整。权益亏绌由累计结果和分配共同形成；不能从负权益直接宣布无偿债能力，也不能用非现金损失解释掉实际股利与资本支出。
持续净利润仍受融资成本及非现金会计项目影响；需正常化业务现金与未来债务服务才形成信用判断。
Evidence: C_nimove, C_contnimove, C_discnimove, C_eqroll_2025, C_eqroll_2024, E25CF
Counterevidence: [E25EQ] Crown Castle 2025 Form 10-K | 印刷及 PDF p61，Consolidated Statement of Equity (Deficit)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F03
Status: supported
扭亏是否代表持续经营现金创造改善？
商誉减值、处置减值和停折旧影响利润，现金流表另作去除及调整。权益亏绌由累计结果和分配共同形成；不能从负权益直接宣布无偿债能力，也不能用非现金损失解释掉实际股利与资本支出。
持续净利润仍受融资成本及非现金会计项目影响；需正常化业务现金与未来债务服务才形成信用判断。
Evidence: C_nimove, C_contnimove, C_discnimove, C_eqroll_2025, C_eqroll_2024, E25CF
Counterevidence: [E25PL] Crown Castle 2025 Form 10-K | 印刷及 PDF p59，Consolidated Statement of Operations and Comprehensive Income
https://investor.crowncastle.com/static-files/68fb84e1-1dac-440d-96b4-55b9603e10dd
[E25EQ] Crown Castle 2025 Form 10-K | 印刷及 PDF p61，Consolidated Statement of Equity (Deficit)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F03
Status: supported
扭亏是否代表持续经营现金创造改善？
商誉减值、处置减值和停折旧影响利润，现金流表另作去除及调整。权益亏绌由累计结果和分配共同形成；不能从负权益直接宣布无偿债能力，也不能用非现金损失解释掉实际股利与资本支出。
持续净利润仍受融资成本及非现金会计项目影响；需正常化业务现金与未来债务服务才形成信用判断。
Evidence: C_nimove, C_contnimove, C_discnimove, C_eqroll_2025, C_eqroll_2024, E25CF
Counterevidence: [E25PL] Crown Castle 2025 Form 10-K | 印刷及 PDF p59，Consolidated Statement of Operations and Comprehensive Income
https://investor.crowncastle.com/static-files/68fb84e1-1dac-440d-96b4-55b9603e10dd
[E25EQ] Crown Castle 2025 Form 10-K | 印刷及 PDF p61，Consolidated Statement of Equity (Deficit)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F04
Status: supported
合并净利、综合收益、权益、现金及资产负债表是否串接？
四表主要加总、净利润接现金流、净利润/OCI接权益、资产=负债+权益均已复算。股份支付权益净额与持续经营股份支付现金流调整属于不同口径；上年宣告分配和实付差额不能擅自认作应付股利增减。
算术通过只证明所列公开数字一致，不能验证交易发生、计价或完整性。
Evidence: E25BS, E25PL, E25CF, E25EQ, E25TAX, C_cfo_2025, C_tax_2025, C_bs_2025
Counterevidence: 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[E25EQ] Crown Castle 2025 Form 10-K | 印刷及 PDF p61，Consolidated Statement of Equity (Deficit)
https://investor.crowncastle.com/static-files/68fb84e1-1dac-440d-96b4-55b9603e10dd
[E25CASH] Crown Castle 2025 Form 10-K | note 16，印刷及 PDF p88，cash reconciliation table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F04
Status: supported
合并净利、综合收益、权益、现金及资产负债表是否串接？
四表主要加总、净利润接现金流、净利润/OCI接权益、资产=负债+权益均已复算。股份支付权益净额与持续经营股份支付现金流调整属于不同口径；上年宣告分配和实付差额不能擅自认作应付股利增减。
算术通过只证明所列公开数字一致，不能验证交易发生、计价或完整性。
Evidence: E25BS, E25PL, E25CF, E25EQ, E25TAX, C_cfo_2025, C_tax_2025, C_bs_2025
Counterevidence: 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[E25EQ] Crown Castle 2025 Form 10-K | 印刷及 PDF p61，Consolidated Statement of Equity (Deficit)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[E25CASH] Crown Castle 2025 Form 10-K | note 16，印刷及 PDF p88，cash reconciliation table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F04
Status: supported
合并净利、综合收益、权益、现金及资产负债表是否串接？
四表主要加总、净利润接现金流、净利润/OCI接权益、资产=负债+权益均已复算。股份支付权益净额与持续经营股份支付现金流调整属于不同口径；上年宣告分配和实付差额不能擅自认作应付股利增减。
算术通过只证明所列公开数字一致，不能验证交易发生、计价或完整性。
Evidence: E25BS, E25PL, E25CF, E25EQ, E25TAX, C_cfo_2025, C_tax_2025, C_bs_2025
Counterevidence: 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[E25EQ] Crown Castle 2025 Form 10-K | 印刷及 PDF p61，Consolidated Statement of Equity (Deficit)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[E25CASH] Crown Castle 2025 Form 10-K | note 16，印刷及 PDF p88，cash reconciliation table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F10
Status: unresolved
比较期间是否真的同口径？
原 Tower segment 不应无解释地当作重列持续业务；收入差异可能源于范围/抵销重分类。上年准备回述也可能是标签或文字错误，但没有原件证明前不选定原因。两项在计算结果中保留未解释差异。
收入范围与抵销重分类
比较脚注笔误或未解释口径变化
Evidence: E24ORIG, E25PL, E25HFS, EQ125, ESECSALE, EQ126HFS, C_recastrev2024, C_priorallow
Counterevidence: [E25HFS] Crown Castle 2025 Form 10-K | note 3，印刷及 PDF p71–72，尤其 p72 资产负债、损益及脚注 (b)(c)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[E24ORIG] Crown Castle 2024 Form 10-K（原报） | 原报 p61 合并损益；note 14/p88–89 segment results，分部表p89
https://investor.crowncastle.com/static-files/baed4489-6578-4e32-81e6-a084eea66a02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F10
Status: unresolved
比较期间是否真的同口径？
原 Tower segment 不应无解释地当作重列持续业务；收入差异可能源于范围/抵销重分类。上年准备回述也可能是标签或文字错误，但没有原件证明前不选定原因。两项在计算结果中保留未解释差异。
收入范围与抵销重分类
比较脚注笔误或未解释口径变化
Evidence: E24ORIG, E25PL, E25HFS, EQ125, ESECSALE, EQ126HFS, C_recastrev2024, C_priorallow
Counterevidence: [E24ORIG] Crown Castle 2024 Form 10-K（原报） | 原报 p61 合并损益；note 14/p88–89 segment results，分部表p89
https://investor.crowncastle.com/static-files/baed4489-6578-4e32-81e6-a084eea66a02
[E25PL] Crown Castle 2025 Form 10-K | 印刷及 PDF p59，Consolidated Statement of Operations and Comprehensive Income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F10
Status: unresolved
比较期间是否真的同口径？
原 Tower segment 不应无解释地当作重列持续业务；收入差异可能源于范围/抵销重分类。上年准备回述也可能是标签或文字错误，但没有原件证明前不选定原因。两项在计算结果中保留未解释差异。
收入范围与抵销重分类
比较脚注笔误或未解释口径变化
Evidence: E24ORIG, E25PL, E25HFS, EQ125, ESECSALE, EQ126HFS, C_recastrev2024, C_priorallow
Counterevidence: [E24ORIG] Crown Castle 2024 Form 10-K（原报） | 原报 p61 合并损益；note 14/p88–89 segment results，分部表p89
https://investor.crowncastle.com/static-files/baed4489-6578-4e32-81e6-a084eea66a02
[E25PL] Crown Castle 2025 Form 10-K | 印刷及 PDF p59，Consolidated Statement of Operations and Comprehensive Income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F05
Status: supported
哪些金额可纳入现金、额度和债务资源？
把合并受限/终止现金、旧额度及 CP 发行能力全部相加会重复或夸大资源。持续业务覆盖缺口只是一项压力观察，非母公司现金缺口精确证明；还需要费用、租约、资本承诺、到期时间及上划限制。
资产出售确已提供期后资金，但不得倒填为年末已持有现金。
Evidence: E25CASH, E25DEBT, C_cashall_2025, C_contcfo_2025, C_cashdiv_2025, C_oldnetavailability
Counterevidence: C_disccashflow_2025, missing_parent_cash[E25BS]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F05
Status: supported
哪些金额可纳入现金、额度和债务资源？
把合并受限/终止现金、旧额度及 CP 发行能力全部相加会重复或夸大资源。持续业务覆盖缺口只是一项压力观察，非母公司现金缺口精确证明；还需要费用、租约、资本承诺、到期时间及上划限制。
资产出售确已提供期后资金，但不得倒填为年末已持有现金。
Evidence: E25CASH, E25DEBT, C_cashall_2025, C_contcfo_2025, C_cashdiv_2025, C_oldnetavailability
Counterevidence: C_disccashflow_2025, missing_parent_cash[E25DEBT] Crown Castle 2025 Form 10-K | note 8，p75–79 债务表、2018 Tower Revenue Notes、CP Program；MD&amp;A p40/p45
https://investor.crowncastle.com/static-files/68fb84e1-1dac-440d-96b4-55b9603e10dd
[E25CASH] Crown Castle 2025 Form 10-K | note 16，印刷及 PDF p88，cash reconciliation table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F05
Status: supported
哪些金额可纳入现金、额度和债务资源？
把合并受限/终止现金、旧额度及 CP 发行能力全部相加会重复或夸大资源。持续业务覆盖缺口只是一项压力观察，非母公司现金缺口精确证明；还需要费用、租约、资本承诺、到期时间及上划限制。
资产出售确已提供期后资金，但不得倒填为年末已持有现金。
Evidence: E25CASH, E25DEBT, C_cashall_2025, C_contcfo_2025, C_cashdiv_2025, C_oldnetavailability
Counterevidence: C_disccashflow_2025, missing_parent_cash[E25CASH]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F06
Status: conditional
主体风险能否直接转成每一债项评级？
CP 实际短期限与长期报表分类须分开；塔票据预期还款日后的现金清扫/加息条款早于最终到期日。SPE 债务偿还来源、担保物与可贡献分配的非义务主体并非一组。主体能力→法律义务人→担保/优先顺位→现金隔离与契约→回收及债项调整，链条仍缺法律/估值证据，故不输出债项字母。 已取得新旧主信贷原文；旧Total Indebtedness/§1.04与新强制全额本金文字不同，不能追溯套用。票据/SPE原始契约全量核查尚未完成，后续应先取官方公开原件，仅把无法公开取得的补充条款/证书/估值列为内部请求。
即使发行人经营风险相同，母公司无担保票据与隔离塔资产票据仍可能面临不同损失路径。
Evidence: E25DEBT, E25SPE, C_debt2025, C_debtsec2025, EOLDCREDIT, ECREDIT
Counterevidence: 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[E25BS] Crown Castle 2025 Form 10-K | 印刷及 PDF p58，Consolidated Balance Sheet，2025/2024 两列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F06
Status: conditional
主体风险能否直接转成每一债项评级？
CP 实际短期限与长期报表分类须分开；塔票据预期还款日后的现金清扫/加息条款早于最终到期日。SPE 债务偿还来源、担保物与可贡献分配的非义务主体并非一组。主体能力→法律义务人→担保/优先顺位→现金隔离与契约→回收及债项调整，链条仍缺法律/估值证据，故不输出债项字母。 已取得新旧主信贷原文；旧Total Indebtedness/§1.04与新强制全额本金文字不同，不能追溯套用。票据/SPE原始契约全量核查尚未完成，后续应先取官方公开原件，仅把无法公开取得的补充条款/证书/估值列为内部请求。
即使发行人经营风险相同，母公司无担保票据与隔离塔资产票据仍可能面临不同损失路径。
Evidence: E25DEBT, E25SPE, C_debt2025, C_debtsec2025, EOLDCREDIT, ECREDIT
Counterevidence: 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[E25BS] Crown Castle 2025 Form 10-K | 印刷及 PDF p58，Consolidated Balance Sheet，2025/2024 两列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F06
Status: conditional
主体风险能否直接转成每一债项评级？
CP 实际短期限与长期报表分类须分开；塔票据预期还款日后的现金清扫/加息条款早于最终到期日。SPE 债务偿还来源、担保物与可贡献分配的非义务主体并非一组。主体能力→法律义务人→担保/优先顺位→现金隔离与契约→回收及债项调整，链条仍缺法律/估值证据，故不输出债项字母。 已取得新旧主信贷原文；旧Total Indebtedness/§1.04与新强制全额本金文字不同，不能追溯套用。票据/SPE原始契约全量核查尚未完成，后续应先取官方公开原件，仅把无法公开取得的补充条款/证书/估值列为内部请求。
即使发行人经营风险相同，母公司无担保票据与隔离塔资产票据仍可能面临不同损失路径。
Evidence: E25DEBT, E25SPE, C_debt2025, C_debtsec2025, EOLDCREDIT, ECREDIT
Counterevidence: 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[E25BS] Crown Castle 2025 Form 10-K | 印刷及 PDF p58，Consolidated Balance Sheet，2025/2024 两列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F07
Status: supported
报告比率、限制和可借美元金额的界线在哪里？
旧§1.01/1.04/1.05/6.09/6.10及EBITDA、净利、债务和现金定义已实际补读。净利定义保留待售但尚未处置组成部分，因此GAAP终止经营并不证明交割前Fiber已经剔除。历史租赁冻结、指定评级触发的保障要求、重大出售及偿债备考均有原文；缺的是定义调整的逐项数值和已签合规证书，0.6倍不能直接变成借款美元。
本案只复核公开报告及原条款，不独立确认公司所有遵约指标。
Evidence: E25COV, C_headroom2025, EOLDCREDIT, EOLDVERSION, EQ126INDEX
Counterevidence: missing_covenant_ebitda[E25COV] Crown Castle 2025 Form 10-K | MD&amp;A p45 covenant table 及脚注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F07
Status: supported
报告比率、限制和可借美元金额的界线在哪里？
旧§1.01/1.04/1.05/6.09/6.10及EBITDA、净利、债务和现金定义已实际补读。净利定义保留待售但尚未处置组成部分，因此GAAP终止经营并不证明交割前Fiber已经剔除。历史租赁冻结、指定评级触发的保障要求、重大出售及偿债备考均有原文；缺的是定义调整的逐项数值和已签合规证书，0.6倍不能直接变成借款美元。
本案只复核公开报告及原条款，不独立确认公司所有遵约指标。
Evidence: E25COV, C_headroom2025, EOLDCREDIT, EOLDVERSION, EQ126INDEX
Counterevidence: missing_covenant_ebitda[E25COV] Crown Castle 2025 Form 10-K | MD&amp;A p45 covenant table 及脚注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F07
Status: supported
报告比率、限制和可借美元金额的界线在哪里？
旧§1.01/1.04/1.05/6.09/6.10及EBITDA、净利、债务和现金定义已实际补读。净利定义保留待售但尚未处置组成部分，因此GAAP终止经营并不证明交割前Fiber已经剔除。历史租赁冻结、指定评级触发的保障要求、重大出售及偿债备考均有原文；缺的是定义调整的逐项数值和已签合规证书，0.6倍不能直接变成借款美元。
本案只复核公开报告及原条款，不独立确认公司所有遵约指标。
Evidence: E25COV, C_headroom2025, EOLDCREDIT, EOLDVERSION, EQ126INDEX
Counterevidence: missing_covenant_ebitda[E25COV] Crown Castle 2025 Form 10-K | MD&amp;A p45 covenant table 及脚注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F11
Status: conditional
已有应收是否可以无条件当作未来现金？
管理层认为可收回是一项判断；争议中的未来合同请求不是已到手现金。已签租约、直线确认的应收与现金收取节奏不同，是现金质量及预测的风险入口。
最终法律回收、和解及抵销金额可能不同于公司当前主张。
Evidence: EDISH
Counterevidence: 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F11
Status: conditional
已有应收是否可以无条件当作未来现金？
管理层认为可收回是一项判断；争议中的未来合同请求不是已到手现金。已签租约、直线确认的应收与现金收取节奏不同，是现金质量及预测的风险入口。
最终法律回收、和解及抵销金额可能不同于公司当前主张。
Evidence: EDISH
Counterevidence: 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missing_final_sale[EQ126SALE] Crown Castle Q1 2026 Form 10-Q | note 14 印刷 p19/PDF p20，Completion of Strategic Fiber Transaction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F09
Status: conditional
出售后资源改善能否直接得出杠杆/评级改善？
新协议按全额本金定义债务、约定历史租赁会计基础，并要求出售备考调整；既要减还债，也要剔除出售业务 EBITDA。提款仍需真实性陈述、无违约和申请。额度价格挂钩外部高级无担保评级，未替代本研究的独立主体/债项论证。 两版Net Income均保留尚未处置的待售组成部分例外；新协议生效后须按实际处置和偿债重建备考。公开Article11利润1,188及85节息不是契约EBITDA或独立遵约结果。有限公开版本检查未发现后续旧信贷定义修订，五月一日明确由新协议替代。
放宽契约可能增加财务灵活性，但不自动代表经济杠杆较低或评级改善。
Evidence: ECREDIT, EQ126FAC, C_newnetLC, EOLDCREDIT, EOLDVERSION, EQ126INDEX, EPROPL
Counterevidence: missing_covenant_ebitda[ECREDIT] Crown Castle May 1 2026 Form 8-K and Exhibit 10.1 credit agreement | 8-K Item 1.01；协议 §1.01、§1.04/p43、§1.05/p44、§4.02/p93、§6.10/p108
https://investor.crowncastle.com/static-files/dd7712df-51aa-4a29-b6a5-67becf7b2234
[EQ126FAC] Crown Castle Q1 2026 Form 10-Q | note 14 印刷 p20/PDF p21；MD&amp;A/p28 May 5 balances
https://investor.crowncastle.com/static-files/de60fca2-89d5-499d-899b-8e0a23030617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F09
Status: conditional
出售后资源改善能否直接得出杠杆/评级改善？
新协议按全额本金定义债务、约定历史租赁会计基础，并要求出售备考调整；既要减还债，也要剔除出售业务 EBITDA。提款仍需真实性陈述、无违约和申请。额度价格挂钩外部高级无担保评级，未替代本研究的独立主体/债项论证。 两版Net Income均保留尚未处置的待售组成部分例外；新协议生效后须按实际处置和偿债重建备考。公开Article11利润1,188及85节息不是契约EBITDA或独立遵约结果。有限公开版本检查未发现后续旧信贷定义修订，五月一日明确由新协议替代。
放宽契约可能增加财务灵活性，但不自动代表经济杠杆较低或评级改善。
Evidence: ECREDIT, EQ126FAC, C_newnetLC, EOLDCREDIT, EOLDVERSION, EQ126INDEX, EPROPL
Counterevidence: missing_covenant_ebitda[ECREDIT] Crown Castle May 1 2026 Form 8-K and Exhibit 10.1 credit agreement | 8-K Item 1.01；协议 §1.01、§1.04/p43、§1.05/p44、§4.02/p93、§6.10/p108
https://investor.crowncastle.com/static-files/dd7712df-51aa-4a29-b6a5-67becf7b2234
[EQ126FAC] Crown Castle Q1 2026 Form 10-Q | note 14 印刷 p20/PDF p21；MD&amp;A/p28 May 5 balances
https://investor.crowncastle.com/static-files/de60fca2-89d5-499d-899b-8e0a23030617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F09
Status: conditional
出售后资源改善能否直接得出杠杆/评级改善？
新协议按全额本金定义债务、约定历史租赁会计基础，并要求出售备考调整；既要减还债，也要剔除出售业务 EBITDA。提款仍需真实性陈述、无违约和申请。额度价格挂钩外部高级无担保评级，未替代本研究的独立主体/债项论证。 两版Net Income均保留尚未处置的待售组成部分例外；新协议生效后须按实际处置和偿债重建备考。公开Article11利润1,188及85节息不是契约EBITDA或独立遵约结果。有限公开版本检查未发现后续旧信贷定义修订，五月一日明确由新协议替代。
放宽契约可能增加财务灵活性，但不自动代表经济杠杆较低或评级改善。
Evidence: ECREDIT, EQ126FAC, C_newnetLC, EOLDCREDIT, EOLDVERSION, EQ126INDEX, EPROPL
Counterevidence: missing_covenant_ebitda[ECREDIT] Crown Castle May 1 2026 Form 8-K and Exhibit 10.1 credit agreement | 8-K Item 1.01；协议 §1.01、§1.04/p43、§1.05/p44、§4.02/p93、§6.10/p108
https://investor.crowncastle.com/static-files/dd7712df-51aa-4a29-b6a5-67becf7b2234
[EQ126FAC] Crown Castle Q1 2026 Form 10-Q | note 14 印刷 p20/PDF p21；MD&amp;A/p28 May 5 balances
https://investor.crowncastle.com/static-files/de60fca2-89d5-499d-899b-8e0a23030617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[EPROBASIS] 2026-05-01 出售8-K及Exhibit99.2公开未经审计备考 | Ex99.2 PDF p18编制基础；p21 Note1
https://investor.crowncastle.com/static-files/f4ff727f-0f13-4f18-affa-1ff461698ccf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F13
Status: conditional
ROU成本、实际支付和方法代理是否被混用？
ROU成本599.00 百万USD与可变费用147.00 百万USD分开；可变费用没有进入对应租赁负债，继续留经营成本。融资租赁折旧已在DDA内、融资租赁负债已在金融债内；预付租赁PPA和直线租赁成本不能再叠加到ROU成本。Crown为塔资产提供方，不直接套移动运营商MSA付塔费分支。
期末披露贴现率是方法要求的年度利息代理；实际租赁现金仍可能因预付、确认节奏和新增合同不同于该代理。
Evidence: E_SP_RATIOS, E_SP_SCOPE, E_SP_LEASE, sp_lease_interest, sp_lease_principal_proxy
Counterevidence: 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[E_SP_ARO] Crown Castle 2025 Form 10-K | PDF/印刷p65、p73–74；p80–82税务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[E_SP_RATIOS] S&amp;P Corporate Methodology: Ratios And Adjustments | 原发2019-04-01，2025-12-17重发，PDF7 ¶31–35；17–25 ¶86–137；44–45 ¶223–225
https://www.maalot.co.il/Publications/MT20251223092257.pdf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F13
Status: conditional
ROU成本、实际支付和方法代理是否被混用？
ROU成本599.00 百万USD与可变费用147.00 百万USD分开；可变费用没有进入对应租赁负债，继续留经营成本。融资租赁折旧已在DDA内、融资租赁负债已在金融债内；预付租赁PPA和直线租赁成本不能再叠加到ROU成本。Crown为塔资产提供方，不直接套移动运营商MSA付塔费分支。
期末披露贴现率是方法要求的年度利息代理；实际租赁现金仍可能因预付、确认节奏和新增合同不同于该代理。
Evidence: E_SP_RATIOS, E_SP_SCOPE, E_SP_LEASE, sp_lease_interest, sp_lease_principal_proxy
Counterevidence: 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[E_SP_LEASE] Crown Castle 2025 Form 10-K | PDF/印刷p58、p64、p75、p85、p87；note14
https://investor.crowncastle.com/static-files/68fb84e1-1dac-440d-96b4-55b9603e10dd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[E_SP_ARO] Crown Castle 2025 Form 10-K | PDF/印刷p65、p73–74；p80–82税务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F13
Status: conditional
ROU成本、实际支付和方法代理是否被混用？
ROU成本599.00 百万USD与可变费用147.00 百万USD分开；可变费用没有进入对应租赁负债，继续留经营成本。融资租赁折旧已在DDA内、融资租赁负债已在金融债内；预付租赁PPA和直线租赁成本不能再叠加到ROU成本。Crown为塔资产提供方，不直接套移动运营商MSA付塔费分支。
期末披露贴现率是方法要求的年度利息代理；实际租赁现金仍可能因预付、确认节奏和新增合同不同于该代理。
Evidence: E_SP_RATIOS, E_SP_SCOPE, E_SP_LEASE, sp_lease_interest, sp_lease_principal_proxy
Counterevidence: 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[E_SP_LEASE] Crown Castle 2025 Form 10-K | PDF/印刷p58、p64、p75、p85、p87；note14
https://investor.crowncastle.com/static-files/68fb84e1-1dac-440d-96b4-55b9603e10dd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[E_SP_ARO] Crown Castle 2025 Form 10-K | PDF/印刷p65、p73–74；p80–82税务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F14
Status: conditional
哪些金额已证实，哪些只需有限敏感性？
现金税采用15.00 百万USD而非费用16；ARO非现金增值只接应计利息，不再当现金。股份支付73.00 百万USD中RSU61.00 百万USD已直接证实，差额12.00 百万USD另作敏感性：只加回RSU时EBITDA3,436.00 百万USD、FFO2,166.57 百万USD。净减记行与PP&amp;E核销差1.00 百万USD未解释，采用总额敏感性EBITDA3,449.00 百万USD。现有业务没有外售软件触发，适用内部使用软件不反转分支；不把未披露IT投入全额费用化。资本化现金估计每增加一单位，FFO/CFO各下降一单位，capex也下降一单位，FOCF不变。
非RSU差额可能仍符合权益结算条件，不能把仅加回RSU的敏感性当已证实主值；净减记与PP&amp;E总额差异也不能未经证据命名为转回。
Evidence: E_SP_RATIOS, E_SP_CASH, E_SP_SBC, E_SP_ARO, E_SP_XBRL, sp_ebitda, sp_ffo, sp_focf
Counterevidence: C_sp_sbc_residual, C_sp_writeoff_difference[E25BS]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[E_SP_ARO] Crown Castle 2025 Form 10-K | PDF/印刷p65、p73–74；p80–82税务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[E_SP_RATIOS] S&amp;P Corporate Methodology: Ratios And Adjustments | 原发2019-04-01，2025-12-17重发，PDF7 ¶31–35；17–25 ¶86–137；44–45 ¶223–225
https://www.maalot.co.il/Publications/MT20251223092257.pdf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F14
Status: conditional
哪些金额已证实，哪些只需有限敏感性？
现金税采用15.00 百万USD而非费用16；ARO非现金增值只接应计利息，不再当现金。股份支付73.00 百万USD中RSU61.00 百万USD已直接证实，差额12.00 百万USD另作敏感性：只加回RSU时EBITDA3,436.00 百万USD、FFO2,166.57 百万USD。净减记行与PP&amp;E核销差1.00 百万USD未解释，采用总额敏感性EBITDA3,449.00 百万USD。现有业务没有外售软件触发，适用内部使用软件不反转分支；不把未披露IT投入全额费用化。资本化现金估计每增加一单位，FFO/CFO各下降一单位，capex也下降一单位，FOCF不变。
非RSU差额可能仍符合权益结算条件，不能把仅加回RSU的敏感性当已证实主值；净减记与PP&amp;E总额差异也不能未经证据命名为转回。
Evidence: E_SP_RATIOS, E_SP_CASH, E_SP_SBC, E_SP_ARO, E_SP_XBRL, sp_ebitda, sp_ffo, sp_focf
Counterevidence: C_sp_sbc_residual, C_sp_writeoff_difference[E_SP_RATIOS] S&amp;P Corporate Methodology: Ratios And Adjustments | 原发2019-04-01，2025-12-17重发，PDF7 ¶31–35；17–25 ¶86–137；44–45 ¶223–225
https://www.maalot.co.il/Publications/MT20251223092257.pdf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[E_SP_LEASE] Crown Castle 2025 Form 10-K | PDF/印刷p58、p64、p75、p85、p87；note14
https://investor.crowncastle.com/static-files/68fb84e1-1dac-440d-96b4-55b9603e10dd
[E_SP_SCOPE] Crown Castle 2025 Form 10-K | note1/PDF及印刷p62；p60、p87–88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F14
Status: conditional
哪些金额已证实，哪些只需有限敏感性？
现金税采用15.00 百万USD而非费用16；ARO非现金增值只接应计利息，不再当现金。股份支付73.00 百万USD中RSU61.00 百万USD已直接证实，差额12.00 百万USD另作敏感性：只加回RSU时EBITDA3,436.00 百万USD、FFO2,166.57 百万USD。净减记行与PP&amp;E核销差1.00 百万USD未解释，采用总额敏感性EBITDA3,449.00 百万USD。现有业务没有外售软件触发，适用内部使用软件不反转分支；不把未披露IT投入全额费用化。资本化现金估计每增加一单位，FFO/CFO各下降一单位，capex也下降一单位，FOCF不变。
非RSU差额可能仍符合权益结算条件，不能把仅加回RSU的敏感性当已证实主值；净减记与PP&amp;E总额差异也不能未经证据命名为转回。
Evidence: E_SP_RATIOS, E_SP_CASH, E_SP_SBC, E_SP_ARO, E_SP_XBRL, sp_ebitda, sp_ffo, sp_focf
Counterevidence: C_sp_sbc_residual, C_sp_writeoff_difference[E_SP_RATIOS] S&amp;P Corporate Methodology: Ratios And Adjustments | 原发2019-04-01，2025-12-17重发，PDF7 ¶31–35；17–25 ¶86–137；44–45 ¶223–225
https://www.maalot.co.il/Publications/MT20251223092257.pdf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[E_SP_LEASE] Crown Castle 2025 Form 10-K | PDF/印刷p58、p64、p75、p85、p87；note14
https://investor.crowncastle.com/static-files/68fb84e1-1dac-440d-96b4-55b9603e10dd
[E_SP_SCOPE] Crown Castle 2025 Form 10-K | note1/PDF及印刷p62；p60、p87–88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F14
Status: conditional
哪些金额已证实，哪些只需有限敏感性？
现金税采用15.00 百万USD而非费用16；ARO非现金增值只接应计利息，不再当现金。股份支付73.00 百万USD中RSU61.00 百万USD已直接证实，差额12.00 百万USD另作敏感性：只加回RSU时EBITDA3,436.00 百万USD、FFO2,166.57 百万USD。净减记行与PP&amp;E核销差1.00 百万USD未解释，采用总额敏感性EBITDA3,449.00 百万USD。现有业务没有外售软件触发，适用内部使用软件不反转分支；不把未披露IT投入全额费用化。资本化现金估计每增加一单位，FFO/CFO各下降一单位，capex也下降一单位，FOCF不变。
非RSU差额可能仍符合权益结算条件，不能把仅加回RSU的敏感性当已证实主值；净减记与PP&amp;E总额差异也不能未经证据命名为转回。
Evidence: E_SP_RATIOS, E_SP_CASH, E_SP_SBC, E_SP_ARO, E_SP_XBRL, sp_ebitda, sp_ffo, sp_focf
Counterevidence: C_sp_sbc_residual, C_sp_writeoff_difference[E_SP_RATIOS] S&amp;P Corporate Methodology: Ratios And Adjustments | 原发2019-04-01，2025-12-17重发，PDF7 ¶31–35；17–25 ¶86–137；44–45 ¶223–225
https://www.maalot.co.il/Publications/MT20251223092257.pdf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[E_SP_LEASE] Crown Castle 2025 Form 10-K | PDF/印刷p58、p64、p75、p85、p87；note14
https://investor.crowncastle.com/static-files/68fb84e1-1dac-440d-96b4-55b9603e10dd
[E_SP_SCOPE] Crown Castle 2025 Form 10-K | note1/PDF及印刷p62；p60、p87–88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F15
Status: conditional
2025方法债务能否直接扣除2026出售总价？
ARO滚动可勾稽，但具体税益、专用基金及残值需继续核；不能对REIT机械套21%或认定税益必为零。受限现金须按用途判断，不能全扣或永久全排除；最低运营现金需求属于实际预算，不能擅加为S&amp;P抵债的普遍条件。2025备考按2,002.00 百万USD偿债、利息改善85.00 百万USD；五月实际已偿约3,300.00 百万USD，后续偿债与回购仍为计划。出售现金释放与保留租赁义务、资本分配需同时接入预测，不能以出售总价直接冲历史债务。
已完成出售和偿债降低融资负担，但租赁义务仍保留，回购与资本投入会消耗释放现金；历史杠杆不能单独说明售后状态。
Evidence: E_SP_RATIOS, E_SP_ARO, E25CASH, EPROBASIS, EPROBS, EPROPL, EQ126SALE, sp_net_debt, sp_leverage
Counterevidence: missing_parent_cash[E25BS]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[E_SP_ARO] Crown Castle 2025 Form 10-K | PDF/印刷p65、p73–74；p80–82税务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[E_SP_RATIOS] S&amp;P Corporate Methodology: Ratios And Adjustments | 原发2019-04-01，2025-12-17重发，PDF7 ¶31–35；17–25 ¶86–137；44–45 ¶223–225
https://www.maalot.co.il/Publications/MT20251223092257.pdf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[E25CASH] Crown Castle 2025 Form 10-K | note 16，印刷及 PDF p88，cash reconciliation table
https://investor.crowncastle.com/static-files/68fb84e1-1dac-440d-96b4-55b9603e10dd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[EQ126SALE] Crown Castle Q1 2026 Form 10-Q | note 14 印刷 p19/PDF p20，Completion of Strategic Fiber Transaction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F15
Status: conditional
2025方法债务能否直接扣除2026出售总价？
ARO滚动可勾稽，但具体税益、专用基金及残值需继续核；不能对REIT机械套21%或认定税益必为零。受限现金须按用途判断，不能全扣或永久全排除；最低运营现金需求属于实际预算，不能擅加为S&amp;P抵债的普遍条件。2025备考按2,002.00 百万USD偿债、利息改善85.00 百万USD；五月实际已偿约3,300.00 百万USD，后续偿债与回购仍为计划。出售现金释放与保留租赁义务、资本分配需同时接入预测，不能以出售总价直接冲历史债务。
已完成出售和偿债降低融资负担，但租赁义务仍保留，回购与资本投入会消耗释放现金；历史杠杆不能单独说明售后状态。
Evidence: E_SP_RATIOS, E_SP_ARO, E25CASH, EPROBASIS, EPROBS, EPROPL, EQ126SALE, sp_net_debt, sp_leverage
Counterevidence: missing_parent_cash[E_SP_RATIOS] S&amp;P Corporate Methodology: Ratios And Adjustments | 原发2019-04-01，2025-12-17重发，PDF7 ¶31–35；17–25 ¶86–137；44–45 ¶223–225
https://www.maalot.co.il/Publications/MT20251223092257.pdf
[E_SP_ARO] Crown Castle 2025 Form 10-K | PDF/印刷p65、p73–74；p80–82税务
https://investor.crowncastle.com/static-files/68fb84e1-1dac-440d-96b4-55b9603e10dd
[E25CASH] Crown Castle 2025 Form 10-K | note 16，印刷及 PDF p88，cash reconciliation table
https://investor.crowncastle.com/static-files/68fb84e1-1dac-440d-96b4-55b9603e10dd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[EQ126SALE] Crown Castle Q1 2026 Form 10-Q | note 14 印刷 p19/PDF p20，Completion of Strategic Fiber Transaction
https://investor.crowncastle.com/static-files/de60fca2-89d5-499d-899b-8e0a23030617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F15
Status: conditional
2025方法债务能否直接扣除2026出售总价？
ARO滚动可勾稽，但具体税益、专用基金及残值需继续核；不能对REIT机械套21%或认定税益必为零。受限现金须按用途判断，不能全扣或永久全排除；最低运营现金需求属于实际预算，不能擅加为S&amp;P抵债的普遍条件。2025备考按2,002.00 百万USD偿债、利息改善85.00 百万USD；五月实际已偿约3,300.00 百万USD，后续偿债与回购仍为计划。出售现金释放与保留租赁义务、资本分配需同时接入预测，不能以出售总价直接冲历史债务。
已完成出售和偿债降低融资负担，但租赁义务仍保留，回购与资本投入会消耗释放现金；历史杠杆不能单独说明售后状态。
Evidence: E_SP_RATIOS, E_SP_ARO, E25CASH, EPROBASIS, EPROBS, EPROPL, EQ126SALE, sp_net_debt, sp_leverage
Counterevidence: missing_parent_cash[E_SP_RATIOS] S&amp;P Corporate Methodology: Ratios And Adjustments | 原发2019-04-01，2025-12-17重发，PDF7 ¶31–35；17–25 ¶86–137；44–45 ¶223–225
https://www.maalot.co.il/Publications/MT20251223092257.pdf
[E_SP_ARO] Crown Castle 2025 Form 10-K | PDF/印刷p65、p73–74；p80–82税务
https://investor.crowncastle.com/static-files/68fb84e1-1dac-440d-96b4-55b9603e10dd
[E25CASH] Crown Castle 2025 Form 10-K | note 16，印刷及 PDF p88，cash reconciliation table
https://investor.crowncastle.com/static-files/68fb84e1-1dac-440d-96b4-55b9603e10dd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[EQ126SALE] Crown Castle Q1 2026 Form 10-Q | note 14 印刷 p19/PDF p20，Completion of Strategic Fiber Transaction
https://investor.crowncastle.com/static-files/de60fca2-89d5-499d-899b-8e0a23030617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F16
Status: supported
持续租赁业务的可预测性是否经得起实际变化？
公司Q1的2026重组计划费用14.00 百万USD、支付12.00 百万USD和余额2.00 百万USD；2023/2024计划另有本期支付4.00 百万USD、余额12.00 百万USD。经营性重组不能跟随公司非GAAP任意全部加回。DISH索赔不是现金，管理层应收可回收判断也不是确定回款。当前实际证据支持压力已经发生，同时说明剔除两个事件的业务仍有增长，不能只给单方向故事。
应付结算、计息支付及重组付款可令季度CFO变化大于经常盈利变化；DISH实际损失不排除其他客户仍有新增租赁及合同提价。
Evidence: E_SP_Q1CFO, E_SP_Q1BILL, EDISH, C_sp_q1_cfo_change, C_sp_bill_change
Counterevidence: [E_SP_Q1CFO] Crown Castle Q1 2026 Form 10-Q | PDF6/印刷p5，2026Q1/2025Q1现金流表；PDF19–20/印刷p18–19，note13重组事项
https://investor.crowncastle.com/static-files/de60fca2-89d5-499d-899b-8e0a23030617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F16
Status: supported
持续租赁业务的可预测性是否经得起实际变化？
公司Q1的2026重组计划费用14.00 百万USD、支付12.00 百万USD和余额2.00 百万USD；2023/2024计划另有本期支付4.00 百万USD、余额12.00 百万USD。经营性重组不能跟随公司非GAAP任意全部加回。DISH索赔不是现金，管理层应收可回收判断也不是确定回款。当前实际证据支持压力已经发生，同时说明剔除两个事件的业务仍有增长，不能只给单方向故事。
应付结算、计息支付及重组付款可令季度CFO变化大于经常盈利变化；DISH实际损失不排除其他客户仍有新增租赁及合同提价。
Evidence: E_SP_Q1CFO, E_SP_Q1BILL, EDISH, C_sp_q1_cfo_change, C_sp_bill_change
Counterevidence: [E_SP_Q1CFO] Crown Castle Q1 2026 Form 10-Q | PDF6/印刷p5，2026Q1/2025Q1现金流表；PDF19–20/印刷p18–19，note13重组事项
https://investor.crowncastle.com/static-files/de60fca2-89d5-499d-899b-8e0a23030617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F16
Status: supported
持续租赁业务的可预测性是否经得起实际变化？
公司Q1的2026重组计划费用14.00 百万USD、支付12.00 百万USD和余额2.00 百万USD；2023/2024计划另有本期支付4.00 百万USD、余额12.00 百万USD。经营性重组不能跟随公司非GAAP任意全部加回。DISH索赔不是现金，管理层应收可回收判断也不是确定回款。当前实际证据支持压力已经发生，同时说明剔除两个事件的业务仍有增长，不能只给单方向故事。
应付结算、计息支付及重组付款可令季度CFO变化大于经常盈利变化；DISH实际损失不排除其他客户仍有新增租赁及合同提价。
Evidence: E_SP_Q1CFO, E_SP_Q1BILL, EDISH, C_sp_q1_cfo_change, C_sp_bill_change
Counterevidence: [E_SP_Q1CFO] Crown Castle Q1 2026 Form 10-Q | PDF6/印刷p5，2026Q1/2025Q1现金流表；PDF19–20/印刷p18–19，note13重组事项
https://investor.crowncastle.com/static-files/de60fca2-89d5-499d-899b-8e0a23030617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F17
Status: conditional
经营优势能否支持较低现金流波动档？
租地35年含公司续约权、账内租赁15年、客户当前合同6年/AT&amp;T3年各有不同定义。土地控制和核心市场规模是正面证据，客户集中及DISH违约为反证。S&amp;P数字基础设施章低/中波动要求业务风险、竞争地位及至少90%/2/3可预测CFO等共同条件；收入占比不能替代CFO归属，客户短剩余期也不单独否定支持性框架路径。本案尚未独立完成CICRA、竞争地位、预测CFO及支持债项形成链，保留明确分支，不将保守标签视作已证实分类。
网络迁移成本、核心站点及可执行土地续约权可能缓释集中风险；DISH违约和AT&amp;T续约集中则要求验证客户质量和费率假设，不能由平均合同期直接定档。
Evidence: E_SP_LAND, E_SP_RENEW, E_SP_SECTORS, E_SP_Q1BILL, C_sp_renew_share
Counterevidence: EDISH[E_SP_RENEW] Crown Castle Q4 2025 Supplemental Information | PDF13/印刷p12；TENANT OVERVIEW及脚注(a)–(f)
https://investor.crowncastle.com/static-files/bea23792-6649-4b95-9395-aa837e68396c
[E_SP_LAND] Crown Castle Q4 2025 Supplemental Information | PDF14/印刷p13：GROUND INTEREST OVERVIEW及脚注(e)–(i)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F17
Status: conditional
经营优势能否支持较低现金流波动档？
租地35年含公司续约权、账内租赁15年、客户当前合同6年/AT&amp;T3年各有不同定义。土地控制和核心市场规模是正面证据，客户集中及DISH违约为反证。S&amp;P数字基础设施章低/中波动要求业务风险、竞争地位及至少90%/2/3可预测CFO等共同条件；收入占比不能替代CFO归属，客户短剩余期也不单独否定支持性框架路径。本案尚未独立完成CICRA、竞争地位、预测CFO及支持债项形成链，保留明确分支，不将保守标签视作已证实分类。
网络迁移成本、核心站点及可执行土地续约权可能缓释集中风险；DISH违约和AT&amp;T续约集中则要求验证客户质量和费率假设，不能由平均合同期直接定档。
Evidence: E_SP_LAND, E_SP_RENEW, E_SP_SECTORS, E_SP_Q1BILL, C_sp_renew_share
Counterevidence: EDISH[E_SP_LAND]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F17
Status: conditional
经营优势能否支持较低现金流波动档？
租地35年含公司续约权、账内租赁15年、客户当前合同6年/AT&amp;T3年各有不同定义。土地控制和核心市场规模是正面证据，客户集中及DISH违约为反证。S&amp;P数字基础设施章低/中波动要求业务风险、竞争地位及至少90%/2/3可预测CFO等共同条件；收入占比不能替代CFO归属，客户短剩余期也不单独否定支持性框架路径。本案尚未独立完成CICRA、竞争地位、预测CFO及支持债项形成链，保留明确分支，不将保守标签视作已证实分类。
网络迁移成本、核心站点及可执行土地续约权可能缓释集中风险；DISH违约和AT&amp;T续约集中则要求验证客户质量和费率假设，不能由平均合同期直接定档。
Evidence: E_SP_LAND, E_SP_RENEW, E_SP_SECTORS, E_SP_Q1BILL, C_sp_renew_share
Counterevidence: EDISH[E_SP_LAND]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F17
Status: conditional
经营优势能否支持较低现金流波动档？
租地35年含公司续约权、账内租赁15年、客户当前合同6年/AT&amp;T3年各有不同定义。土地控制和核心市场规模是正面证据，客户集中及DISH违约为反证。S&amp;P数字基础设施章低/中波动要求业务风险、竞争地位及至少90%/2/3可预测CFO等共同条件；收入占比不能替代CFO归属，客户短剩余期也不单独否定支持性框架路径。本案尚未独立完成CICRA、竞争地位、预测CFO及支持债项形成链，保留明确分支，不将保守标签视作已证实分类。
网络迁移成本、核心站点及可执行土地续约权可能缓释集中风险；DISH违约和AT&amp;T续约集中则要求验证客户质量和费率假设，不能由平均合同期直接定档。
Evidence: E_SP_LAND, E_SP_RENEW, E_SP_SECTORS, E_SP_Q1BILL, C_sp_renew_share
Counterevidence: EDISH[E_SP_LAND]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Q_sp_crown
S&amp;P Ratios and Adjustments 2025-12-17；案例专用Decimal复算
截至 2026-06-30
输入 C_sp_lease_average, sp_lease_rate, sp_rou_cost, opincome2025, daa2025, sbc2025, writedown2025, interest2025, sp_capitalized_interest, sp_aro_accretion, sp_capitalized_cash_estimate, sp_interest_paid_net, sp_cash_tax, C_contcfo_2025, capex2025, C_sp_sbc_residual, C_sp_writeoff_difference, debt2025, C_sp_lease_end, sp_aro_end, cash2025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[E_SP_LEASE] Crown Castle 2025 Form 10-K | PDF/印刷p58、p64、p75、p85、p87；note14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指标 sp_lease_interest, sp_lease_principal_proxy, sp_ebitda, sp_accrual_interest, sp_cash_interest, sp_ffo, sp_cfo, sp_capex, sp_focf, sp_ebitda_rsu, sp_ffo_rsu, sp_ebitda_writeoff, sp_gross_debt, sp_net_debt, sp_leverage, sp_ffo_debt, sp_sbc_effect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Q_sp_crown
S&amp;P Ratios and Adjustments 2025-12-17；案例专用Decimal复算
截至 2026-06-30
输入 C_sp_lease_average, sp_lease_rate, sp_rou_cost, opincome2025, daa2025, sbc2025, writedown2025, interest2025, sp_capitalized_interest, sp_aro_accretion, sp_capitalized_cash_estimate, sp_interest_paid_net, sp_cash_tax, C_contcfo_2025, capex2025, C_sp_sbc_residual, C_sp_writeoff_difference, debt2025, C_sp_lease_end, sp_aro_end, cash2025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[E_SP_LEASE] Crown Castle 2025 Form 10-K | PDF/印刷p58、p64、p75、p85、p87；note14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指标 sp_lease_interest, sp_lease_principal_proxy, sp_ebitda, sp_accrual_interest, sp_cash_interest, sp_ffo, sp_cfo, sp_capex, sp_focf, sp_ebitda_rsu, sp_ffo_rsu, sp_ebitda_writeoff, sp_gross_debt, sp_net_debt, sp_leverage, sp_ffo_debt, sp_sbc_effect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Q_sp_crown
S&amp;P Ratios and Adjustments 2025-12-17；案例专用Decimal复算
截至 2026-06-30
输入 C_sp_lease_average, sp_lease_rate, sp_rou_cost, opincome2025, daa2025, sbc2025, writedown2025, interest2025, sp_capitalized_interest, sp_aro_accretion, sp_capitalized_cash_estimate, sp_interest_paid_net, sp_cash_tax, C_contcfo_2025, capex2025, C_sp_sbc_residual, C_sp_writeoff_difference, debt2025, C_sp_lease_end, sp_aro_end, cash2025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[E_SP_LEASE] Crown Castle 2025 Form 10-K | PDF/印刷p58、p64、p75、p85、p87；note14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指标 sp_lease_interest, sp_lease_principal_proxy, sp_ebitda, sp_accrual_interest, sp_cash_interest, sp_ffo, sp_cfo, sp_capex, sp_focf, sp_ebitda_rsu, sp_ffo_rsu, sp_ebitda_writeoff, sp_gross_debt, sp_net_debt, sp_leverage, sp_ffo_debt, sp_sbc_effect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Q_sp_crown
S&amp;P Ratios and Adjustments 2025-12-17；案例专用Decimal复算
截至 2026-06-30
输入 C_sp_lease_average, sp_lease_rate, sp_rou_cost, opincome2025, daa2025, sbc2025, writedown2025, interest2025, sp_capitalized_interest, sp_aro_accretion, sp_capitalized_cash_estimate, sp_interest_paid_net, sp_cash_tax, C_contcfo_2025, capex2025, C_sp_sbc_residual, C_sp_writeoff_difference, debt2025, C_sp_lease_end, sp_aro_end, cash2025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[E_SP_LEASE] Crown Castle 2025 Form 10-K | PDF/印刷p58、p64、p75、p85、p87；note14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指标 sp_lease_interest, sp_lease_principal_proxy, sp_ebitda, sp_accrual_interest, sp_cash_interest, sp_ffo, sp_cfo, sp_capex, sp_focf, sp_ebitda_rsu, sp_ffo_rsu, sp_ebitda_writeoff, sp_gross_debt, sp_net_debt, sp_leverage, sp_ffo_debt, sp_sbc_effect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Q_sp_crown
S&amp;P Ratios and Adjustments 2025-12-17；案例专用Decimal复算
截至 2026-06-30
输入 C_sp_lease_average, sp_lease_rate, sp_rou_cost, opincome2025, daa2025, sbc2025, writedown2025, interest2025, sp_capitalized_interest, sp_aro_accretion, sp_capitalized_cash_estimate, sp_interest_paid_net, sp_cash_tax, C_contcfo_2025, capex2025, C_sp_sbc_residual, C_sp_writeoff_difference, debt2025, C_sp_lease_end, sp_aro_end, cash2025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[E_SP_LEASE] Crown Castle 2025 Form 10-K | PDF/印刷p58、p64、p75、p85、p87；note14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指标 sp_lease_interest, sp_lease_principal_proxy, sp_ebitda, sp_accrual_interest, sp_cash_interest, sp_ffo, sp_cfo, sp_capex, sp_focf, sp_ebitda_rsu, sp_ffo_rsu, sp_ebitda_writeoff, sp_gross_debt, sp_net_debt, sp_leverage, sp_ffo_debt, sp_sbc_effect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Q01: 不能从公司结论独立重做可收回性或公允价值
Close when: 取得可追溯模型、董事会预算及实际回测，按正确顺序重做并解释余量Q02: 最初签署协议及§2.2–2.7机制已读；公开备考不能解释2025年末89差额或证明所有初始/后续计量
Close when: 按2025分类/年末各日期逐项连接净资产、估计售价、费用与准备；说明89差额及实际适用修订，避免五月信息倒填Q03: 集团现金不等于法律母公司可动用资源，不能双算融资来源
Close when: 形成同一时点来源用途表、到期梯度与压力情境，分清承诺/限制/备用占用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Q04: 公开契约的后续补读另见F06，不列为内部资料缺口；母公司主信用协议定义已读，但不替代每项SPE实际遵约与回收价值证据
Close when: 完成主体→债项法律及资金链，若需评级字母另选截止内正式方法并公开判断调整Q05: 公开新旧定义及会计备考已取得；缺按各适用版本执行的金额与证明，Article11净利润/节息不等于契约EBITDA
Close when: 分别按生效版本重建合规证书，验证待售例外/出售剔除及本金/租赁/现金调整、提款当日CP和条件，确认美元余量Q06: 公开8,500−124−127−2,002=6,247备考已取得；它不证明最终现金、实际还债时间或最终损益；最初合同机制不提供未公开结算数
Close when: 从实际交割凭证逐项连接最终价格、费用应计/支付及每笔偿债；确定后续修订影响。截止后材料另列验证层，不回填截止事实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Q07: 两处公开版本算术不能无解释合并
Close when: 正式桥或更正分别解释两项差异，不将猜测写成事实Q08: 管理层可收回判断需要独立反证与收款支持
Close when: 按公开信息截止和法律实体区分已收、争议、预计收回及计量调整Q_SP: 收窄实际存在的估计差额和评级临界性；965付息gross/net以及RSU已知部分无需重复索取
Close when: 逐项解释已识别差额，重新执行同一方法桥并评价聚合影响；不要求无关的全量内部资料才提供已有分析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[E25EQ] Crown Castle 2025 Form 10-K | 印刷及 PDF p61，Consolidated Statement of Equity (Deficit)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[E25COV] Crown Castle 2025 Form 10-K | MD&amp;A p45 covenant table 及脚注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[E25AUDIT] Crown Castle 2025 Form 10-K | p56–57，PwC auditor report，2026-02-23
https://investor.crowncastle.com/static-files/68fb84e1-1dac-440d-96b4-55b9603e10dd
[EDISH] Crown Castle 2025 Form 10-K | note 18/p89，Subsequent Events—DISH Wireless
https://investor.crowncastle.com/static-files/68fb84e1-1dac-440d-96b4-55b9603e10dd
[EOLDVERSION] Crown Castle 2025 Form 10-K | Exhibit Index p101–102，Ex10.49–10.55，尤其2022 Amendment7
https://investor.crowncastle.com/static-files/68fb84e1-1dac-440d-96b4-55b9603e10dd
[E_SP_SCOPE] Crown Castle 2025 Form 10-K | note1/PDF及印刷p62；p60、p87–88
https://investor.crowncastle.com/static-files/68fb84e1-1dac-440d-96b4-55b9603e10dd
[E_SP_LEASE] Crown Castle 2025 Form 10-K | PDF/印刷p58、p64、p75、p85、p87；note14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[E25EQ] Crown Castle 2025 Form 10-K | 印刷及 PDF p61，Consolidated Statement of Equity (Deficit)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[E25COV] Crown Castle 2025 Form 10-K | MD&amp;A p45 covenant table 及脚注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[E25AUDIT] Crown Castle 2025 Form 10-K | p56–57，PwC auditor report，2026-02-23
https://investor.crowncastle.com/static-files/68fb84e1-1dac-440d-96b4-55b9603e10dd
[EDISH] Crown Castle 2025 Form 10-K | note 18/p89，Subsequent Events—DISH Wireless
https://investor.crowncastle.com/static-files/68fb84e1-1dac-440d-96b4-55b9603e10dd
[EOLDVERSION] Crown Castle 2025 Form 10-K | Exhibit Index p101–102，Ex10.49–10.55，尤其2022 Amendment7
https://investor.crowncastle.com/static-files/68fb84e1-1dac-440d-96b4-55b9603e10dd
[E_SP_SCOPE] Crown Castle 2025 Form 10-K | note1/PDF及印刷p62；p60、p87–88
https://investor.crowncastle.com/static-files/68fb84e1-1dac-440d-96b4-55b9603e10dd
[E_SP_LEASE] Crown Castle 2025 Form 10-K | PDF/印刷p58、p64、p75、p85、p87；note14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[E24IMPAIR] Crown Castle 2024 Form 10-K（原报） | p48–50 Critical Accounting Policies；note 5，印刷/PDF p75 goodwill rollforward
https://investor.crowncastle.com/static-files/baed4489-6578-4e32-81e6-a084eea66a02
[E24WRITE] Crown Castle 2024 Form 10-K（原报） | MD&amp;A p39，Asset write-down charges
https://investor.crowncastle.com/static-files/baed4489-6578-4e32-81e6-a084eea66a02
[E24ORIG] Crown Castle 2024 Form 10-K（原报） | 原报 p61 合并损益；note 14/p88–89 segment results，分部表p89
https://investor.crowncastle.com/static-files/baed4489-6578-4e32-81e6-a084eea66a02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[ESECSEQ] Crown Castle 2025-06-04 SEC comment-response letter | 公司回复 Staff comment 1；引用 ASC350-20-35-31 和 ASC360-10-35-17
https://www.sec.gov/Archives/edgar/data/1051470/000105147025000154/filename1.htm
[ESECSALE] Crown Castle 2025-06-04 SEC comment-response letter | 公司回复 comment 2；ASC205-20-45-3A、税项及830损失/819准备/11售出费用
https://www.sec.gov/Archives/edgar/data/1051470/000105147025000154/filename1.htm
[EQ125] Crown Castle Q1 2025 Form 10-Q 原报 | note 3，2025-03-31 held-for-sale table
https://www.sec.gov/Archives/edgar/data/1051470/000105147025000141/cci-20250331.htm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[EQ126HFS] Crown Castle Q1 2026 Form 10-Q | note 3 印刷 p9/PDF p10，2026/2025 比较损益、准备表、脚注 (c)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[EQ126FAC] Crown Castle Q1 2026 Form 10-Q | note 14 印刷 p20/PDF p21；MD&amp;A/p28 May 5 balances
https://investor.crowncastle.com/static-files/de60fca2-89d5-499d-899b-8e0a23030617
[EQ126INDEX] Crown Castle Q1 2026 Form 10-Q | Item6 Exhibit Index，印刷p38/PDF p39
https://investor.crowncastle.com/static-files/de60fca2-89d5-499d-899b-8e0a23030617
[E_SP_Q1CFO] Crown Castle Q1 2026 Form 10-Q | PDF6/印刷p5，2026Q1/2025Q1现金流表；PDF19–20/印刷p18–19，note13重组事项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[ESALE] Crown Castle announces completion of fiber and small cell sale | 2026-05-01 官方 completion 公告开头、Use of proceeds
https://investor.crowncastle.com/node/29086
[ECREDIT] Crown Castle May 1 2026 Form 8-K and Exhibit 10.1 credit agreement | 8-K Item 1.01；协议 §1.01、§1.04/p43、§1.05/p44、§4.02/p93、§6.10/p108
https://investor.crowncastle.com/static-files/dd7712df-51aa-4a29-b6a5-67becf7b2234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[EFASB] FASB ASU 2017-04 — Simplifying the Test for Goodwill Impairment | 印刷 p12/PDF p18：350-20-35-31/32；印刷 p8/PDF p14：350-20-35-4/8 修订标记
https://storage.fasb.org/ASU2017-04.pdf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[EOLDCREDIT] 2022-07-08 Amendment No.7及附后旧信用协议 | §1.01定义：印刷p13–17/27–28/40/44/50–52；§1.04/1.05 p55–56；§6.09/6.10 p129
https://investor.crowncastle.com/static-files/d735da3e-9136-43ce-ad76-3a96bcb686cf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[E_SP_RENEW] Crown Castle Q4 2025 Supplemental Information | PDF13/印刷p12；TENANT OVERVIEW及脚注(a)–(f)
https://investor.crowncastle.com/static-files/bea23792-6649-4b95-9395-aa837e68396c
[E_SP_LAND] Crown Castle Q4 2025 Supplemental Information | PDF14/印刷p13：GROUND INTEREST OVERVIEW及脚注(e)–(i)
https://investor.crowncastle.com/static-files/bea23792-6649-4b95-9395-aa837e68396c
[E_SP_Q1BILL] Crown Castle Q1 2026 Supplemental Information | PDF10/印刷p9：2026Q1列，Components of changes in site rental revenues
https://investor.crowncastle.com/static-files/38f6a584-60a8-452d-bfd2-a44103aeec82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[E_SP_RATIOS] S&amp;P Corporate Methodology: Ratios And Adjustments | 原发2019-04-01，2025-12-17重发，PDF7 ¶31–35；17–25 ¶86–137；44–45 ¶223–225
https://www.maalot.co.il/Publications/MT20251223092257.pdf
[E_SP_SECTORS] S&amp;P Sector-Specific Corporate Methodology — Digital Infrastructure | 2025-07-07原发、2025-09-26重发；PDF61–78数字基础设施章，尤其68–71及77
https://www.maalot.co.il/Publications/MT20251012123218.pdf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[E_SP_XBRL] SEC Companyfacts：Crown Castle 2025原申报事实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</a:rPr>
              <a:t>Crown Castle 年报与Fiber出售分析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Crown Castle Inc. and subsidiaries  |  2025-12-31  |  crown-castle-2025-public-2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通过四表、附注、出售协议及信用协议分析交易会计、现金资源和债务约束，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形成可复算的公开资料研究成果。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US GAAP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合并报表；明确区分持续经营、终止经营及契约借款人口径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2026-06-30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48920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来源 SSEC, SFASB 公布日期未核验。不得将当前内容分析称为历史时点可用性验证。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采用方法与适用范围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下载官方 PDF，以 pypdf 提取；关键表逐页图像复核；原件 SHA-256 留存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仅采用截止日前公开原件；分别保留原报、重列比较期和期后事项，禁止跨期倒填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以共同底稿复算四表及交易调节；金额按原表百万美元记录，勾稽差额以美元列示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已执行程序仅为公开资料阅读、版本对照和计算；内部审计证据列为待核请求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读取出售备考、签署出售协议和新旧信贷定义，将备考假设、实际交割收付及尚未完成的计划分列。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按S&amp;P Ratios and Adjustments 2025-12-17及Sector-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Specific Corporate Methodology 2025-09-26数字基础设施章建立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历史调整桥和条件路径；方法代理、实际现金和分析估计分列。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分析范围与限制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研究执行于 2026-10-03；信息截止严格为 2026-06-30。2026 年二季报及七月业绩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公告虽涉及六月期末，因发表日晚于截止日排除。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完整下载不等于逐页阅读。2025 年报已重点阅读审计意见、四表、政策/减值、终止经营、债务、税、现金及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期后事项；2024 年报和新协议阅读范围见来源说明。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未取得企业内部总账、估值模型、银行流水、合规证明、资金上划限制清单、最终交割结算及完整出售协议附件；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不能形成审计保证或可支用现金/正式评级。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2024 原报收入与 2025 年报重列比较收入差异，以及 2026 Q1 对 2025 Q1 待售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准备回述差异尚未解释。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现金流桥使用合并表内持续/终止组成项目，不能将其视为法律母公司单体现金流。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US GAAP 条款编号来自 SEC 公司回复及公司政策，未将公司回复视为 SEC 批准，亦未声称已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阅读全文 FASB Codification。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分析范围与限制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公开备考BS假设2025-12-31完成、利润表假设2025-01-01完成，2026-05-01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发表；其金额不属于2025已报实数或2026五月实际现金。出售协议后续修订未找到可识别文本，最初签署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机制不能视为全部最终条款。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S&amp;P桥包含披露支持的最佳估计及局部敏感性；未完成主权/行业、竞争地位、前瞻财务、支持与债项全形成链，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不宣告机构级别。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来源 SSEC, SFASB 的正式公布日期未核验；不得据此证明在信息截止日前已公开。当前披露内容可以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继续分析，历史时点结论须补充公告时间证据。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任务边界与实际程序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公开资料程序与实际审计程序分界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已完成官方原件取得、选定页阅读/视觉复核和四表复算；未声称执行银行函证、内部控制测试、合同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全量测试或估值重建。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PwC 已将 Fiber 出售作为关键审计事项并列明其工作；本研究可引用其报告存在，不能将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审计师工作复制成自己已执行程序。来源可证实公司披露，内部测算与最终评级决定链仍需实证补足。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算术一致与披露齐备仍不能替代存在性、计价和完整性审计证据。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E25AUDIT / E25BS / E25HFS；完整原文与位置见本演示文稿来源附页及备注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任务边界与实际程序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公开资料程序与实际审计程序分界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取得相反的正式更正或企业底稿后重新评估。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E25AUDIT / E25BS / E25HFS；完整原文与位置见本演示文稿来源附页及备注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同一 Fiber 单元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为何长期资产通过、商誉减值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公司先测长期资产未折现可收回性，再测商誉。Fiber商誉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4,958.00 百万USD全额减至0.00 百万USD；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合并商誉由10,085.00 百万USD减至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5,127.00 百万USD，剩余5,127.00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USD全部属于Towers。长期资产通过与Fiber商誉全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额减值可同时成立。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合并商誉滚动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5,127.00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Fiber年初商誉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4,958.00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Fiber年末商誉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0.00 百万USD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Towers年末商誉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5,127.00 百万USD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E24IMPAIR / E25HFS / ESECSEQ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同一 Fiber 单元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为何长期资产通过、商誉减值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资产组及报告单元均为 Fiber segment；未折现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现金流门槛与报告单元公允价值测试不是同一计量。取消节点另有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106.00 百万USD 核销，故‘未触发资产组减值’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不能表述为无核销。估值数值重做仍缺预测、资产组账面调整、折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现/退出假设与敏感性。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估值顺序披露一致，并不证明管理层预测可实现；未折现余量大小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尚不明。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Fiber商誉全额减至零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0.00 百万USD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E24IMPAIR / ESECSEQ / E24WRITE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同一 Fiber 单元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为何长期资产通过、商誉减值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Fiber 商誉测试折现率：未计算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Fiber 未折现现金流超额：未计算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取得模型后若测试单元、顺序、现金流或计量调整不符，应重做减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值及税/权益影响，不能只改商誉一个数字。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ESECSEQ / E24IMPAIR / E24WRITE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由持有使用到待售及终止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经营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原年末仍未达到持有待售；次年签约后列终止经营并重列比较列。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2025 处置损失 1,575.00 百万USD = 准备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1,507.00 百万USD + 已发生售出成本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68.00 百万USD，处置税益 0.00 百万USD。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处置损失组成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1,575.00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准备前终止净资产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9,918.00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准备后终止净资产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8,411.00 百万USD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E24IMPAIR / ESECSALE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由持有使用到待售及终止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经营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已发生费用不同于支付现金；持有待售后停止折旧摊销，使终止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业务跨年营业表现不可直接解读为经营改善。净资产准备前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9,918.00 百万USD、准备后 8,411.00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 均可复算，但总价与净资产差额缺估计售出成本/价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调逐项表，不能臆认其性质。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E24IMPAIR / ESECSALE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由持有使用到待售及终止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经营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已取得最初签署协议§2.2–2.7价格调整及结算机制（两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业务基价合计8,500.00 百万USD），也取得2026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五月发表的公开备考；它们未解释2025年末上述89差额，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不以五月初步124或备考127倒填年末计量。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总价和净资产的剩余差可能涉及预计售出成本或交易调整；未取得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明细前不定性。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E24IMPAIR / ESECSALE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由持有使用到待售及终止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经营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取得分类日内部备忘录、未公开附表及估计净售价逐项测算，核对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公开签署版本后实际适用的修订；解释2025年末89差额后再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更新计量判断。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E24IMPAIR / ESECSALE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减值顺序与出售分类：章节指标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9496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910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终止经营商誉减值费用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1956816"/>
            <a:ext cx="5029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4,958.00 百万USD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利润反弹、非现金减值与负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权益须分开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合并净利润从 -3,903.00 百万USD 至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444.00 百万USD，变化 4,347.00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USD；持续净利润却变化 -59.00 百万USD，终止净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损益变化 4,406.00 百万USD。权益由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-133.00 百万USD 经本期损益、股份及分配滚动至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-1,635.00 百万USD。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权益期初至期末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-1,635.00 百万USD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合并净利润变化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4,347.00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持续净利润变化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-59.00 百万USD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E25EQ / E25PL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利润反弹、非现金减值与负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权益须分开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商誉减值、处置减值和停折旧影响利润，现金流表另作去除及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调整。权益亏绌由累计结果和分配共同形成；不能从负权益直接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宣布无偿债能力，也不能用非现金损失解释掉实际股利与资本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支出。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持续净利润仍受融资成本及非现金会计项目影响；需正常化业务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现金与未来债务服务才形成信用判断。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E25PL / E25EQ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利润反弹、非现金减值与负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权益须分开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若分配合法性、可持续 CFO 或售后业务现金预测恶化，主体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流动性判断可能转弱。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E25PL / E25EQ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四表和税项可复算，但现金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分层不同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2025 合并 CFO 3,057.00 百万USD、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CFI -1,158.00 百万USD、CFF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-1,886.00 百万USD 合计 13.00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USD，年初现金 295.00 百万USD 至年末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308.00 百万USD。税调节复算持续税费 -16.00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百万USD，REIT 不等于所有主体免税。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资产负债恒等式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31,518.00 百万USD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从合并净利润到 CFO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3,057.00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持续税额调节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-16.00 百万USD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E25CF / E25PL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19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四表和税项可复算，但现金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分层不同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四表主要加总、净利润接现金流、净利润/OCI接权益、资产=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负债+权益均已复算。股份支付权益净额与持续经营股份支付现金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流调整属于不同口径；上年宣告分配和实付差额不能擅自认作应付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股利增减。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算术通过只证明所列公开数字一致，不能验证交易发生、计价或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完整性。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E25PL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四表和税项可复算，但现金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分层不同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取得相反的正式更正或企业底稿后重新评估。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E25PL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[unresolved] 公开版本差异保留而非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强行平账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2024 原报合并收入 6,568.00 百万USD，次年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重列持续加终止为 6,570.00 百万USD；税前损益、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税项及净利润仍精确勾稽。上年一季准备原报 819.00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百万USD，后年脚注回述 830.00 百万USD，但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SEC 桥支持前者。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重列后持续加终止收入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6,570.00 百万USD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E25PL / E24ORIG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[unresolved] 公开版本差异保留而非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强行平账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 Tower segment 不应无解释地当作重列持续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业务；收入差异可能源于范围/抵销重分类。上年准备回述也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可能是标签或文字错误，但没有原件证明前不选定原因。两项在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计算结果中保留未解释差异。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收入范围与抵销重分类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比较脚注笔误或未解释口径变化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E24ORIG / E25PL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9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[unresolved] 公开版本差异保留而非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强行平账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取得正式更正或管理层原报→重列逐项桥及上年准备滚动表后，才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消除差异。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E24ORIG / E25PL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持续现金覆盖及备用资源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年末全部现金 308.00 百万USD 含持续受限及终止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现金；持续非受限现金仅 99.00 百万USD。持续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CFO 减资本支出 1,690.00 百万USD，再与集团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分配比较为 -390.00 百万USD；旧额度扣 CP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备用占用观察 4,084.00 百万USD。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持续经营非受限现金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99.00 百万USD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CF 期末全部现金及受限现金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308.00 百万USD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持续经营 CFO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1,872.00 百万USD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13B45"/>
                </a:solidFill>
              </a:rPr>
              <a:t>2025 持续 CFO 减持续资本支出及集团已付分配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-390.00 百万USD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E25CF / E25CASH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持续现金覆盖及备用资源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把合并受限/终止现金、旧额度及 CP 发行能力全部相加会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重复或夸大资源。持续业务覆盖缺口只是一项压力观察，非母公司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现金缺口精确证明；还需要费用、租约、资本承诺、到期时间及上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划限制。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资产出售确已提供期后资金，但不得倒填为年末已持有现金。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年末未提额度扣 CP 备用占用观察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4,084.00 百万USD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E25DEBT / E25CASH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持续现金覆盖及备用资源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2025 终止 CFO 加 CFI：205.00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法律母公司可支用现金：未计算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取得法律实体银行确认、受限明细、现金转移限制及滚动资金计划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后，才可形成母公司可用流动性和覆盖倍数。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E25CASH / E25DEBT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账面债务、契约本金与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债项法律结构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持续经营债务 24,337.00 百万USD 与流动/长期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及担保/无担保分类勾稽。塔票据账面 748.00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 与本金 750.00 百万USD 不同；担保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PPE 账面 610.00 百万USD 不能当作回收价值。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持续经营债务及其他义务账面值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24,337.00 百万USD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E25DEBT / E25SPE / E25BS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账面债务、契约本金与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债项法律结构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CP 实际短期限与长期报表分类须分开；塔票据预期还款日后的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现金清扫/加息条款早于最终到期日。SPE 债务偿还来源、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担保物与可贡献分配的非义务主体并非一组。主体能力→法律义务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人→担保/优先顺位→现金隔离与契约→回收及债项调整，链条仍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缺法律/估值证据，故不输出债项字母。 已取得新旧主信贷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原文；旧Total Indebtedness/§1.04与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新强制全额本金文字不同，不能追溯套用。票据/SPE原始契约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全量核查尚未完成，后续应先取官方公开原件，仅把无法公开取得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的补充条款/证书/估值列为内部请求。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E25DEBT / E25SPE / E25BS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29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账面债务、契约本金与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债项法律结构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即使发行人经营风险相同，母公司无担保票据与隔离塔资产票据仍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可能面临不同损失路径。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按具体票据先补读已公开契约，再取得未公开补充担保/隔离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结构、DSCR/现金陷阱证书与回收估值；不把公开可取得协议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泛称内部缺口。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E25DEBT / E25SPE / E25BS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旧协议遵约比率不等于通用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债务/EBITDA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旧协议净杠杆 590.00% 对限额 650.00%，比率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余量 60.00%；高级担保杠杆 20.00% 对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350.00%。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旧协议实际总净杠杆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590.00%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E25COV / EOLDCREDIT / EOLDVERSION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旧协议遵约比率不等于通用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债务/EBITDA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旧§1.01/1.04/1.05/6.09/6.10及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EBITDA、净利、债务和现金定义已实际补读。净利定义保留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待售但尚未处置组成部分，因此GAAP终止经营并不证明交割前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Fiber已经剔除。历史租赁冻结、指定评级触发的保障要求、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重大出售及偿债备考均有原文；缺的是定义调整的逐项数值和已签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合规证书，0.6倍不能直接变成借款美元。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本案只复核公开报告及原条款，不独立确认公司所有遵约指标。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E25COV / EOLDCREDIT / EOLDVERSION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9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旧协议遵约比率不等于通用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债务/EBITDA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新协议经认可的备考 EBITDA：未计算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取得签署合规证书、定义逐项调整及同日债务/现金明细后重算。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E25COV / EOLDCREDIT / EOLDVERSION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10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DISH 是收益质量与可收回性反证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年末 DISH 应收净敞口公司约报 165.00 百万USD；公司未因期后违约争议计提相关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准备，并暂停后续相关收入确认。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管理层认为可收回是一项判断；争议中的未来合同请求不是已到手现金。已签租约、直线确认的应收与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现金收取节奏不同，是现金质量及预测的风险入口。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最终法律回收、和解及抵销金额可能不同于公司当前主张。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EDISH；完整原文与位置见本演示文稿来源附页及备注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11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DISH 是收益质量与可收回性反证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取得法律意见、债务人能力与期后收款/和解证据，再重估应收损失、收入预测与信用压力。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EDISH；完整原文与位置见本演示文稿来源附页及备注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五月实际交割：合同总价 8,500.00 百万USD 减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初步价调 124.00 百万USD，复算价款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8,376.00 百万USD；另付约 74.00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 先前已计提费用。实际还债约 3,300.00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USD；随后 CP 1,800.00 百万USD、其他还债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2,100.00 百万USD、回购 1,000.00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 为计划。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待售准备自年末到三月滚动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1,836.00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交割初步实际价款桥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8,376.00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交割价款扣当时支付成本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8,302.00 百万USD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五月一日实际还债（约）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3,300.00 百万USD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EQ126HFS / EQ126SALE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另有公开备考：8,500.00 百万USD−124.00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百万USD−127.00 百万USD−2,002.00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百万USD=6,247.00 百万USD，连历史现金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99.00 百万USD至6,346.00 百万USD；这是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假设2025年末已出售的表，不是五月实际期末现金。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计划随后随到期偿还 CP（约）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1,800.00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计划 2026 其他还债（约）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2,100.00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公开备考价格—费用—偿债—剩余现金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6,247.00 百万USD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公开备考现金基数加交易调整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6,346.00 百万USD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EQ126SALE / EPROBASIS / EPROBS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三月待售准备 1,836.00 百万USD = 年末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1,507.00 百万USD + 当季损失 345.00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 − 当季费用 16.00 百万USD。五月完成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未调整三月报表；交割现金与确认费用时间不同。七月公布的第二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季度实绩不在截止信息集中，最终处置损益仍为待核。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公开备考历史权益加综合调整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-1,796.00 百万USD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公开备考持续经营利润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1,188.00 百万USD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EPROBASIS / EPROBS / EPROPL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2026-05-01发表的备考以2025-12-31为BS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假设日、2025-01-01为损益假设日：权益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-1,635.00 百万USD经综合调整-161.00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百万USD至-1,796.00 百万USD，持续经营利润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1,103.00 百万USD+85.00 百万USD=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1,188.00 百万USD。−161不是单独处置损失；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2,002为年末本金假设偿债，127为估计交易及留任成本，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均不得替代五月实际3,300还款或约74已计提成本支付。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EQ126SALE / ESALE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39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五月初仍有 CP 余额佐证后续偿债计划未在交割当日全部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实现。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五月五日仍存 CP（公司约数）：1,500.00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六月截止可证实最终处置损益：未计算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EQ126SALE / ESALE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取得截止前已公开的还款确认或最终结算原件可补充事实；后于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截止的披露只能作为另一期验证。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EQ126SALE / ESALE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新协议替代与出售后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备考指标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五月新循环承诺 4,500.00 百万USD 替代旧协议；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扣生效时信用证 39.40 百万USD 后名义余额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4,460.60 百万USD，并非自由现金。总净杠杆限额改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为 700.00%，旧利息保障条款移除。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新循环协议总承诺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4,500.00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新承诺扣生效时信用证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4,460.60 百万USD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ECREDIT / EQ126FAC / EOLDCREDIT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新协议替代与出售后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备考指标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新协议按全额本金定义债务、约定历史租赁会计基础，并要求出售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备考调整；既要减还债，也要剔除出售业务 EBITDA。提款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仍需真实性陈述、无违约和申请。额度价格挂钩外部高级无担保评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级，未替代本研究的独立主体/债项论证。 两版Net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Income均保留尚未处置的待售组成部分例外；新协议生效后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须按实际处置和偿债重建备考。公开Article11利润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1,188及85节息不是契约EBITDA或独立遵约结果。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有限公开版本检查未发现后续旧信贷定义修订，五月一日明确由新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协议替代。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ECREDIT / EQ126FAC / EOLDCREDIT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9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新协议替代与出售后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备考指标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放宽契约可能增加财务灵活性，但不自动代表经济杠杆较低或评级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改善。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新协议经认可的备考 EBITDA：未计算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以新协议定义取得持续业务备考 EBITDA、限制性付款及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担保债务明细、CP 同日余额，再重算提款余量和偿债覆盖。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ECREDIT / EQ126FAC / EOLDCREDIT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截至六月已知期后事项及新协议：章节指标 10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9496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910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公开备考利息行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1956816"/>
            <a:ext cx="5029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-887.00 百万USD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EPROBASIS / EPROPL；完整原文与位置见本演示文稿来源附页及备注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租赁调整应同时改变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债务、盈利及现金分类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期末经营租赁负债5,229.00 百万USD，真实期初期末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均值5,277.50 百万USD。按披露贴现率计算利息代理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274.43 百万USD及CFO加回代理324.57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USD；实际经营租赁付现519.00 百万USD另列。该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分类不增加可支用现金。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经营租赁利息代理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274.43 百万USD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E25CF / E25DEBT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租赁调整应同时改变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债务、盈利及现金分类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ROU成本599.00 百万USD与可变费用147.00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百万USD分开；可变费用没有进入对应租赁负债，继续留经营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成本。融资租赁折旧已在DDA内、融资租赁负债已在金融债内；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预付租赁PPA和直线租赁成本不能再叠加到ROU成本。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Crown为塔资产提供方，不直接套移动运营商MSA付塔费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分支。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E_SP_RATIOS / E_SP_SCOPE / E_SP_LEASE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租赁调整应同时改变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债务、盈利及现金分类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期末披露贴现率是方法要求的年度利息代理；实际租赁现金仍可能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因预付、确认节奏和新增合同不同于该代理。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未来续租、可变租金、地块迁移或合同范围改变时重做债务与现金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路径；不把租赁CFO加回当新增偿债来源。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E_SP_RATIOS / E_SP_SCOPE / E_SP_LEASE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从原报至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EBITDA、FFO与FOCF的估计桥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SEC原申报确认现金付息965.00 百万USD排除资本化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利息。以资本化现金付息15.00 百万USD估计，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EBITDA为3,448.00 百万USD、FFO为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2,178.57 百万USD、CFO为2,181.57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百万USD、FOCF为2,014.57 百万USD。这些为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方法分析估计，不是机构已发表指标；FOCF尚非支付全部租赁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本金后的自由现金。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S&amp;P口径EBITDA分析估计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3,448.00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FFO分析估计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2,178.57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CFO分析估计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2,181.57 百万USD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13B45"/>
                </a:solidFill>
              </a:rPr>
              <a:t>FOCF分析估计（尚非付完全部租赁本金的现金）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2,014.57 百万USD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E25CF / E25DEBT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49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从原报至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EBITDA、FFO与FOCF的估计桥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现金税采用15.00 百万USD而非费用16；ARO非现金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增值只接应计利息，不再当现金。股份支付73.00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USD中RSU61.00 百万USD已直接证实，差额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12.00 百万USD另作敏感性：只加回RSU时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EBITDA3,436.00 百万USD、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FFO2,166.57 百万USD。净减记行与PP&amp;E核销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差1.00 百万USD未解释，采用总额敏感性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EBITDA3,449.00 百万USD。现有业务没有外售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软件触发，适用内部使用软件不反转分支；不把未披露IT投入全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E_SP_RATIOS / E_SP_CASH / E_SP_SBC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从原报至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EBITDA、FFO与FOCF的估计桥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额费用化。资本化现金估计每增加一单位，FFO/CFO各下降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一单位，capex也下降一单位，FOCF不变。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非RSU差额可能仍符合权益结算条件，不能把仅加回RSU的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敏感性当已证实主值；净减记与PP&amp;E总额差异也不能未经证据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命名为转回。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E_SP_RATIOS / E_SP_CASH / E_SP_SBC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从原报至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EBITDA、FFO与FOCF的估计桥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股份支付总额与直接证实RSU的差额：12.00 百万USD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PP&amp;E核销与损益净行差额：1.00 百万USD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取得资本化现金结算、股份支付差额分类或减记差额后更新相关项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及聚合影响；接近财务分档临界值时提高精确取证程度，不暂停已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可完成的分析。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E_SP_RATIOS / E_SP_CASH / E_SP_SBC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历史高杠杆与售后去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杠杆须按时间连接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将经营租赁及尚未抵减ARO接入后，2025债务估计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29,888.00 百万USD。仅在普通现金符合可动用条件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时净债为29,789.00 百万USD，对应历史债务/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EBITDA8.64 倍、FFO/债务7.31%。这是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2025保留业务与债务的历史压力，不是出售后杠杆或评级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等级。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债务分析估计（ARO尚未抵减）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29,888.00 百万USD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2025历史条件债务/EBITDA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8.64 倍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E25CF / E25DEBT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9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历史高杠杆与售后去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杠杆须按时间连接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ARO滚动可勾稽，但具体税益、专用基金及残值需继续核；不能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对REIT机械套21%或认定税益必为零。受限现金须按用途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判断，不能全扣或永久全排除；最低运营现金需求属于实际预算，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不能擅加为S&amp;P抵债的普遍条件。2025备考按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2,002.00 百万USD偿债、利息改善85.00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USD；五月实际已偿约3,300.00 百万USD，后续偿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债与回购仍为计划。出售现金释放与保留租赁义务、资本分配需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同时接入预测，不能以出售总价直接冲历史债务。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E_SP_RATIOS / E_SP_ARO / E25CASH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S&amp;P财务调整及分析估计 10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历史高杠杆与售后去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杠杆须按时间连接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已完成出售和偿债降低融资负担，但租赁义务仍保留，回购与资本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投入会消耗释放现金；历史杠杆不能单独说明售后状态。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法律母公司可支用现金：未计算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取得截至六月的售后实际债务、可支用现金和完成回购记录后更新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债务/现金桥，再用经营及续约预测判断财务档和流动性。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E_SP_RATIOS / E_SP_ARO / E25CASH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经营变化与信用方法形成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Q1实际现金与客户违约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检验历史趋势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同口径持续经营Q1 CFO由371.00 百万USD降至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296.00 百万USD，同比-20.22%。剔DISH/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Sprint后的billings增量30.00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USD，被DISH-49.00 百万USD及Sprint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-5.00 百万USD抵销，净变动-24.00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USD。现金降幅不能全归因DISH；需继续分解营运资本、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支付节奏和重组。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持续经营Q1 CFO 2026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296.00 百万USD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持续经营Q1 CFO同比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-20.22%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Q1站点billings变动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-24.00 百万USD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E_SP_Q1CFO / E_SP_Q1BILL / EDISH；完整原文与位置见本演示文稿来源附页及备注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经营变化与信用方法形成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Q1实际现金与客户违约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检验历史趋势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公司Q1的2026重组计划费用14.00 百万USD、支付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12.00 百万USD和余额2.00 百万USD；2023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/2024计划另有本期支付4.00 百万USD、余额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12.00 百万USD。经营性重组不能跟随公司非GAAP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任意全部加回。DISH索赔不是现金，管理层应收可回收判断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也不是确定回款。当前实际证据支持压力已经发生，同时说明剔除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两个事件的业务仍有增长，不能只给单方向故事。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E_SP_Q1CFO / E_SP_Q1BILL / EDISH；完整原文与位置见本演示文稿来源附页及备注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经营变化与信用方法形成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Q1实际现金与客户违约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检验历史趋势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应付结算、计息支付及重组付款可令季度CFO变化大于经常盈利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变化；DISH实际损失不排除其他客户仍有新增租赁及合同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提价。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取得Q1现金变化逐项归因、DISH实收及后续续约后更新现金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预测；对持续增长和特定客户损失分别建情景。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E_SP_Q1CFO / E_SP_Q1BILL / EDISH；完整原文与位置见本演示文稿来源附页及备注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经营变化与信用方法形成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塔资产控制、续约集中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与波动档形成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自有土地覆盖30.26%的塔，贡献42.68%的末季年化毛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现金利润。2028续约组年度化租金暴露中AT&amp;T占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90.01%，该暴露不代表当年确定损失。长期租赁及续约经济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性支持将medial列为待验证候选；若相应条件不满足则检验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standard，不能预授low或直接输出等级。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2028续约组AT&amp;T暴露占比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90.01%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E_SP_RENEW / E_SP_LAND / E_SP_SECTORS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经营变化与信用方法形成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59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塔资产控制、续约集中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与波动档形成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租地35年含公司续约权、账内租赁15年、客户当前合同6年/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AT&amp;T3年各有不同定义。土地控制和核心市场规模是正面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证据，客户集中及DISH违约为反证。S&amp;P数字基础设施章低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/中波动要求业务风险、竞争地位及至少90%/2/3可预测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CFO等共同条件；收入占比不能替代CFO归属，客户短剩余期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也不单独否定支持性框架路径。本案尚未独立完成CICRA、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竞争地位、预测CFO及支持债项形成链，保留明确分支，不将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保守标签视作已证实分类。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E_SP_LAND / E_SP_RENEW / E_SP_SECTORS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经营变化与信用方法形成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塔资产控制、续约集中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与波动档形成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网络迁移成本、核心站点及可执行土地续约权可能缓释集中风险；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DISH违约和AT&amp;T续约集中则要求验证客户质量和费率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假设，不能由平均合同期直接定档。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DISH 违约争议后公司仍认为已有应收可收回；未来合同主张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不是现金或无争议已实现资产。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E_SP_LAND / E_SP_RENEW / E_SP_SECTORS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经营变化与信用方法形成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塔资产控制、续约集中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与波动档形成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把实际土地续约权、客户续约费率/迁移经济性和违约压力接入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预测，核准竞争地位及现金归属，再确定波动档和后续评级路径。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E_SP_LAND / E_SP_RENEW / E_SP_SECTORS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Crown Castle持续经营财务方法桥：指标摘要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经营租赁利息代理：274.43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经营租赁折旧及CFO加回代理：324.57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S&amp;P口径EBITDA分析估计：3,448.00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应计利息已识别调整小计：1,286.43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现金利息分析估计（含租赁代理）：1,254.43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FFO分析估计：2,178.57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CFO分析估计：2,181.57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资本支出分析估计（移出资本化现金利息）：167.00 百万USD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6646C"/>
                </a:solidFill>
              </a:rPr>
              <a:t>证据 E_SP_RATIOS, E_SP_SCOPE, E_SP_LEASE 等；完整出处见来源附页及备注。已运行快照，全量结果与公式见Excel/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6646C"/>
                </a:solidFill>
              </a:rPr>
              <a:t>JSON。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Crown Castle持续经营财务方法桥：指标摘要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FOCF分析估计（尚非付完全部租赁本金的现金）：2,014.57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仅加回已直接证实RSU的EBITDA敏感性：3,436.00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仅加回已直接证实RSU的FFO敏感性：2,166.57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采用PP&amp;E核销总额的EBITDA敏感性：3,449.00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债务分析估计（ARO尚未抵减）：29,888.00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仅扣99合格现金的条件债务：29,789.00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2025历史条件债务/EBITDA：8.64 倍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2025历史条件FFO/债务：7.31%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6646C"/>
                </a:solidFill>
              </a:rPr>
              <a:t>证据 E_SP_RATIOS, E_SP_SCOPE, E_SP_LEASE 等；完整出处见来源附页及备注。已运行快照，全量结果与公式见Excel/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6646C"/>
                </a:solidFill>
              </a:rPr>
              <a:t>JSON。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Crown Castle持续经营财务方法桥：指标摘要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股份支付差额对EBITDA的影响：0.35%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6646C"/>
                </a:solidFill>
              </a:rPr>
              <a:t>证据 E_SP_RATIOS, E_SP_SCOPE, E_SP_LEASE 等；完整出处见来源附页及备注。已运行快照，全量结果与公式见Excel/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6646C"/>
                </a:solidFill>
              </a:rPr>
              <a:t>JSON。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Crown Castle持续经营财务方法桥：方法、假设与限制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方法 S&amp;P Ratios and Adjustments 2025-12-17；案例专用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Decimal复算；截至 2026-06-30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已运行专门结果快照；本次导出未重新计算或校验。输入或方法改变后须重跑专门脚本并重新导出。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证据记录 E_SP_RATIOS, E_SP_SCOPE, E_SP_LEASE, E_SP_CASH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, E_SP_SBC, E_SP_ARO, E_SP_XBRL；完整输入记录见备注。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假设：资本化现金付息以同年已披露应计资本化利息估计，原报值与估计分列；改变该估计时FFO和CFO同额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反向变动，资本支出同额反向变动，FOCF不变。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假设：股份支付全部作为权益结算、资产净减记全部作为非流动项是有披露支持的分析估计；RSU已直接证实，余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项另给敏感性。内部使用软件按适用方法不反转。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假设：ARO先采用未抵减负债的分析估计；税益、专款和残值尚未量化。条件净债仅扣普通现金，并以其符合方法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可动用条件为前提。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Crown Castle持续经营财务方法桥：方法、假设与限制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限制：指标是按已识别事项形成的分析估计，不是S&amp;P发表的发行人指标或会计报表重述；不构成主体或债项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等级。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限制：历史2025持续经营利润与当年末保留债务配套；未把2026实际出售收款直接从历史债务扣除。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限制：租赁CFO加回是方法分类代理，不等于实际付款，也不增加可支用现金。受限现金用途及最终售后债务现金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仍需独立取证。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资产组/报告单元组织图、长期资产账面基数、未折现预测、商誉 DCF/市场法、税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属性及敏感性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财务估值/业务预算负责人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分类日内部会计备忘录、公开原件省略的ScheduleII/VI等附表及出售估值/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费用明细、准备滚动；实际适用但未在已取得的公开原件找到的签署修订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交易会计/法务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94360" y="4251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03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1645920" y="42519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按法律实体的银行确认、受限现金、CP 备用额度、现金上划限制、未来逐月支出债务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服务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45920" y="50474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司库/法务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已公开票据/SPE契约之外的未公开补充担保/现金限制、实际DSCR及现金陷阱合规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证书、回收估值和估值输入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融资法务/司库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05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新旧已签合规证书、Borrower/Restricted Subsidiary总体及债务/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合格现金/EBITDA逐项数值调整、出售及偿债备考底稿、实际限制性付款和未公开豁免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司库/贷款代理行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94360" y="4251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06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1645920" y="42519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未公开的交割前估计表、实际124价调组成、最终结算表及尾款、银行收款/还款凭证、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127备考估计与实际费用/留任支付及74已应计费用支付桥、四月新增投资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45920" y="50474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交易财务/司库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69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 2024 分部到重列持续/终止收入的逐项抵销与范围桥；2025 Q1 准备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脚注差异正式解释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财务报告负责人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08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DISH 合同争议法律意见、期后收款、和解及对手方能力证据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法务/信用控制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94360" y="4251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09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1645920" y="42519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资本化现金利息的结算拆分、股份支付非RSU差额的结算分类、PP&amp;E核销与净减记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差额说明；ARO可用税益及专款抵减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45920" y="50474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资金、财务及税务负责人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[S25] Crown Castle 2025 Form 10-K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68fb84e1-1dac-440d-96b4-55b9603e10dd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[E25BS] 印刷及 PDF p58，Consolidated Balance Sheet，2025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/2024 两列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[E25PL] 印刷及 PDF p59，Consolidated Statement of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Operations and Comprehensive Income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[E25CF] 印刷及 PDF p60，Consolidated Statement of Cash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Flows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[E25EQ] 印刷及 PDF p61，Consolidated Statement of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Equity (Deficit)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[E25HFS] note 3，印刷及 PDF p71–72，尤其 p72 资产负债、损益及脚注 (b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)(c)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[E25TAX] note 10，印刷及 PDF p80，所得税组成及法定税率金额调节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[E25CASH] note 16，印刷及 PDF p88，cash reconciliation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table</a:t>
            </a:r>
            <a:endParaRPr lang="en-US" sz="16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[E25DEBT] note 8，p75–79 债务表、2018 Tower Revenue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Notes、CP Program；MD&amp;A p40/p45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[E25COV] MD&amp;A p45 covenant table 及脚注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[E25SPE] note 8/p77–78，2018 Tower Revenue Notes 及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2009 Securitized Notes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[E25AUDIT] p56–57，PwC auditor report，2026-02-23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[EDISH] note 18/p89，Subsequent Events—DISH Wireless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[EOLDVERSION] Exhibit Index p101–102，Ex10.49–10.55，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尤其2022 Amendment7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[E_SP_SCOPE] note1/PDF及印刷p62；p60、p87–88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[E_SP_LEASE] PDF/印刷p58、p64、p75、p85、p87；note14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[E_SP_CASH] PDF/印刷p68利息表；p87补充现金流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[E_SP_SBC] PDF/印刷p59、p65、p83–84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[E_SP_ARO] PDF/印刷p65、p73–74；p80–82税务</a:t>
            </a:r>
            <a:endParaRPr lang="en-US" sz="16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[S24] Crown Castle 2024 Form 10-K（原报）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baed4489-6578-4e32-81e6-a084eea66a02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[E24IMPAIR] p48–50 Critical Accounting Policies；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note 5，印刷/PDF p75 goodwill rollforward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[E24WRITE] MD&amp;A p39，Asset write-down charges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[E24ORIG] 原报 p61 合并损益；note 14/p88–89 segment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results，分部表p89</a:t>
            </a:r>
            <a:endParaRPr lang="en-US" sz="16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[SSEC] Crown Castle 2025-06-04 SEC comment-response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 letter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https://www.sec.gov/Archives/edgar/data/1051470/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000105147025000154/filename1.htm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[ESECSEQ] 公司回复 Staff comment 1；引用 ASC350-20-35-31 和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 ASC360-10-35-17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[ESECSALE] 公司回复 comment 2；ASC205-20-45-3A、税项及830损失/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819准备/11售出费用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[SQ125] Crown Castle Q1 2025 Form 10-Q 原报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https://www.sec.gov/Archives/edgar/data/1051470/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000105147025000141/cci-20250331.htm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[EQ125] note 3，2025-03-31 held-for-sale table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[SQ126] Crown Castle Q1 2026 Form 10-Q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de60fca2-89d5-499d-899b-8e0a23030617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[EQ126HFS] note 3 印刷 p9/PDF p10，2026/2025 比较损益、准备表、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脚注 (c)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[EQ126SALE] note 14 印刷 p19/PDF p20，Completion of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Strategic Fiber Transaction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[EQ126FAC] note 14 印刷 p20/PDF p21；MD&amp;A/p28 May 5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balances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[EQ126INDEX] Item6 Exhibit Index，印刷p38/PDF p39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[E_SP_Q1CFO] PDF6/印刷p5，2026Q1/2025Q1现金流表；PDF19–20/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印刷p18–19，note13重组事项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[SSALE] Crown Castle announces completion of fiber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and small cell sale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https://investor.crowncastle.com/node/29086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[ESALE] 2026-05-01 官方 completion 公告开头、Use of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proceeds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[SCREDIT] Crown Castle May 1 2026 Form 8-K and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Exhibit 10.1 credit agreement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dd7712df-51aa-4a29-b6a5-67becf7b2234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[ECREDIT] 8-K Item 1.01；协议 §1.01、§1.04/p43、§1.05/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p44、§4.02/p93、§6.10/p108</a:t>
            </a:r>
            <a:endParaRPr lang="en-US" sz="16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[SFASB] FASB ASU 2017-04 — Simplifying the Test for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 Goodwill Impairment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https://storage.fasb.org/ASU2017-04.pdf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[EFASB] 印刷 p12/PDF p18：350-20-35-31/32；印刷 p8/PDF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p14：350-20-35-4/8 修订标记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[SPROFORMA] 2026-05-01 出售8-K及Exhibit99.2公开未经审计备考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f4ff727f-0f13-4f18-affa-1ff461698ccf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[EPROBASIS] Ex99.2 PDF p18编制基础；p21 Note1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[EPROBS] Ex99.2 PDF p19资产负债表；p21 Note2(A)–(D)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[EPROPL] Ex99.2 PDF p20损益；p21 Note2(E)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[ESALEVERSION] 8-K PDF p2 Item2.01、p3 Exhibit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Index；Ex99.1 p10 Fiber Business定义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[SSPA] 2025-03-13签署出售协议（2025-03-17提交8-K Exhibit2.1）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3b910737-4f3d-4197-a8b4-893f83855c9f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[ESPAPRICE] §2.2–2.3，PDF p45–48；§1.1定义PDF p16/20/23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/34–37/40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[ESPASETTLE] §2.4–2.7，PDF p48–54；§12.9 PDF p160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[SOLDCREDIT] 2022-07-08 Amendment No.7及附后旧信用协议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d735da3e-9136-43ce-ad76-3a96bcb686cf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[EOLDCREDIT] §1.01定义：印刷p13–17/27–28/40/44/50–52；§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1.04/1.05 p55–56；§6.09/6.10 p129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[S_SP_Q4] Crown Castle Q4 2025 Supplemental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Information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bea23792-6649-4b95-9395-aa837e68396c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[E_SP_RENEW] PDF13/印刷p12；TENANT OVERVIEW及脚注(a)–(f)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[E_SP_LAND] PDF14/印刷p13：GROUND INTEREST OVERVIEW及脚注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(e)–(i)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[S_SP_Q1] Crown Castle Q1 2026 Supplemental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Information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38f6a584-60a8-452d-bfd2-a44103aeec82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[E_SP_Q1BILL] PDF10/印刷p9：2026Q1列，Components of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changes in site rental revenues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79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[S_SP_RATIOS] S&amp;P Corporate Methodology: Ratios And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 Adjustments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https://www.maalot.co.il/Publications/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MT20251223092257.pdf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[E_SP_RATIOS] 原发2019-04-01，2025-12-17重发，PDF7 ¶31–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35；17–25 ¶86–137；44–45 ¶223–225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[S_SP_SECTORS] S&amp;P Sector-Specific Corporate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Methodology — Digital Infrastructure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https://www.maalot.co.il/Publications/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MT20251012123218.pdf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[E_SP_SECTORS] 2025-07-07原发、2025-09-26重发；PDF61–78数字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基础设施章，尤其68–71及77</a:t>
            </a:r>
            <a:endParaRPr lang="en-US" sz="16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crown-castle-2025-public-2  |  80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[S_SP_XBRL] SEC Companyfacts：Crown Castle 2025原申报事实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https://data.sec.gov/api/xbrl/companyfacts/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CIK0001051470.json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[E_SP_XBRL] facts/us-gaap/InterestPaidNet、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InterestCostsCapitalized、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AllocatedShareBasedCompensationExpense、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ShareBasedCompensation；指定原申报accession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Crown Castle 年报与Fiber出售分析</dc:title>
  <dc:subject>通过四表、附注、出售协议及信用协议分析交易会计、现金资源和债务约束，形成可复算的公开资料研究成果。</dc:subject>
  <dc:creator>annual-report-analysis</dc:creator>
  <cp:lastModifiedBy>annual-report-analysis</cp:lastModifiedBy>
  <cp:revision>1</cp:revision>
  <dcterms:created xsi:type="dcterms:W3CDTF">2026-10-04T01:27:38Z</dcterms:created>
  <dcterms:modified xsi:type="dcterms:W3CDTF">2026-10-04T01:27:38Z</dcterms:modified>
</cp:coreProperties>
</file>