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研究执行于 2026-10-03；信息截止严格为 2026-06-30。2026 年二季报及七月业绩公告虽涉及六月期末，因发表日晚于截止日排除。
完整下载不等于逐页阅读。2025 年报已重点阅读审计意见、四表、政策/减值、终止经营、债务、税、现金及期后事项；2024 年报和新协议阅读范围见来源说明。
未取得企业内部总账、估值模型、银行流水、合规证明、资金上划限制清单、最终交割结算及完整出售协议附件；不能形成审计保证或可支用现金/正式评级。
2024 原报收入与 2025 年报重列比较收入差异，以及 2026 Q1 对 2025 Q1 待售准备回述差异尚未解释。
现金流桥使用合并表内持续/终止组成项目，不能将其视为法律母公司单体现金流。
US GAAP 条款编号来自 SEC 公司回复及公司政策，未将公司回复视为 SEC 批准，亦未声称已阅读全文 FASB Codification。
公开备考BS假设2025-12-31完成、利润表假设2025-01-01完成，2026-05-01发表；其金额不属于2025已报实数或2026五月实际现金。出售协议后续修订未找到可识别文本，最初签署机制不能视为全部最终条款。
来源 SSEC, SFASB 的正式公布日期未核验；不得据此证明在信息截止日前已公开。当前披露内容可以继续分析，历史时点结论须补充公告时间证据。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F12
Status: supported
本 workpaper 证据能证明什么？
PwC 已将 Fiber 出售作为关键审计事项并列明其工作；本研究可引用其报告存在，不能将审计师工作复制成自己已执行程序。来源可证实公司披露，内部测算与最终评级决定链仍需实证补足。
算术一致与披露齐备仍不能替代存在性、计价和完整性审计证据。
Evidence: E25AUDIT, E25BS, E25HFS
Counterevidence: [E25AUDIT] Crown Castle 2025 Form 10-K | p56–57，PwC auditor report，2026-02-23
https://investor.crowncastle.com/static-files/68fb84e1-1dac-440d-96b4-55b9603e10dd
[E25BS] Crown Castle 2025 Form 10-K | 印刷及 PDF p58，Consolidated Balance Sheet，2025/2024 两列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F12
Status: supported
本 workpaper 证据能证明什么？
PwC 已将 Fiber 出售作为关键审计事项并列明其工作；本研究可引用其报告存在，不能将审计师工作复制成自己已执行程序。来源可证实公司披露，内部测算与最终评级决定链仍需实证补足。
算术一致与披露齐备仍不能替代存在性、计价和完整性审计证据。
Evidence: E25AUDIT, E25BS, E25HFS
Counterevidence: [E25AUDIT] Crown Castle 2025 Form 10-K | p56–57，PwC auditor report，2026-02-23
https://investor.crowncastle.com/static-files/68fb84e1-1dac-440d-96b4-55b9603e10dd
[E25BS] Crown Castle 2025 Form 10-K | 印刷及 PDF p58，Consolidated Balance Sheet，2025/2024 两列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F01
Status: supported
US GAAP 顺序、计量基础与测试单元是否被混为一谈？
资产组及报告单元均为 Fiber segment；未折现现金流门槛与报告单元公允价值测试不是同一计量。取消节点另有 106.00 百万USD 核销，故‘未触发资产组减值’不能表述为无核销。估值数值重做仍缺预测、资产组账面调整、折现/退出假设与敏感性。
估值顺序披露一致，并不证明管理层预测可实现；未折现余量大小尚不明。
Evidence: ESECSEQ, E24IMPAIR, E24WRITE, EFASB, C_gw2024, C_fibergw
Counterevidence: missing_discount, missing_recoverability[E24IMPAIR] Crown Castle 2024 Form 10-K（原报） | p48–50 Critical Accounting Policies；note 5，印刷/PDF p75 goodwill rollforward
https://investor.crowncastle.com/static-files/baed4489-6578-4e32-81e6-a084eea66a02
[E25HFS] Crown Castle 2025 Form 10-K | note 3，印刷及 PDF p71–72，尤其 p72 资产负债、损益及脚注 (b)(c)
https://investor.crowncastle.com/static-files/68fb84e1-1dac-440d-96b4-55b9603e10dd
[ESECSEQ] Crown Castle 2025-06-04 SEC comment-response letter | 公司回复 Staff comment 1；引用 ASC350-20-35-31 和 ASC360-10-35-17
https://www.sec.gov/Archives/edgar/data/1051470/000105147025000154/filename1.htm
[E24WRITE] Crown Castle 2024 Form 10-K（原报） | MD&amp;A p39，Asset write-down charges
https://investor.crowncastle.com/static-files/baed4489-6578-4e32-81e6-a084eea66a02
[EFASB] FASB ASU 2017-04 — Simplifying the Test for Goodwill Impairment | 印刷 p12/PDF p18：350-20-35-31/32；印刷 p8/PDF p14：350-20-35-4/8 修订标记
https://storage.fasb.org/ASU2017-04.pdf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F01
Status: supported
US GAAP 顺序、计量基础与测试单元是否被混为一谈？
资产组及报告单元均为 Fiber segment；未折现现金流门槛与报告单元公允价值测试不是同一计量。取消节点另有 106.00 百万USD 核销，故‘未触发资产组减值’不能表述为无核销。估值数值重做仍缺预测、资产组账面调整、折现/退出假设与敏感性。
估值顺序披露一致，并不证明管理层预测可实现；未折现余量大小尚不明。
Evidence: ESECSEQ, E24IMPAIR, E24WRITE, EFASB, C_gw2024, C_fibergw
Counterevidence: missing_discount, missing_recoverability[E24IMPAIR] Crown Castle 2024 Form 10-K（原报） | p48–50 Critical Accounting Policies；note 5，印刷/PDF p75 goodwill rollforward
https://investor.crowncastle.com/static-files/baed4489-6578-4e32-81e6-a084eea66a02
[ESECSEQ] Crown Castle 2025-06-04 SEC comment-response letter | 公司回复 Staff comment 1；引用 ASC350-20-35-31 和 ASC360-10-35-17
https://www.sec.gov/Archives/edgar/data/1051470/000105147025000154/filename1.htm
[E24WRITE] Crown Castle 2024 Form 10-K（原报） | MD&amp;A p39，Asset write-down charges
https://investor.crowncastle.com/static-files/baed4489-6578-4e32-81e6-a084eea66a02
[EFASB] FASB ASU 2017-04 — Simplifying the Test for Goodwill Impairment | 印刷 p12/PDF p18：350-20-35-31/32；印刷 p8/PDF p14：350-20-35-4/8 修订标记
https://storage.fasb.org/ASU2017-04.pdf
[E25HFS] Crown Castle 2025 Form 10-K | note 3，印刷及 PDF p71–72，尤其 p72 资产负债、损益及脚注 (b)(c)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F01
Status: supported
US GAAP 顺序、计量基础与测试单元是否被混为一谈？
资产组及报告单元均为 Fiber segment；未折现现金流门槛与报告单元公允价值测试不是同一计量。取消节点另有 106.00 百万USD 核销，故‘未触发资产组减值’不能表述为无核销。估值数值重做仍缺预测、资产组账面调整、折现/退出假设与敏感性。
估值顺序披露一致，并不证明管理层预测可实现；未折现余量大小尚不明。
Evidence: ESECSEQ, E24IMPAIR, E24WRITE, EFASB, C_gw2024, C_fibergw
Counterevidence: missing_discount, missing_recoverability[ESECSEQ] Crown Castle 2025-06-04 SEC comment-response letter | 公司回复 Staff comment 1；引用 ASC350-20-35-31 和 ASC360-10-35-17
https://www.sec.gov/Archives/edgar/data/1051470/000105147025000154/filename1.htm
[E24IMPAIR] Crown Castle 2024 Form 10-K（原报） | p48–50 Critical Accounting Policies；note 5，印刷/PDF p75 goodwill rollforward
https://investor.crowncastle.com/static-files/baed4489-6578-4e32-81e6-a084eea66a02
[E24WRITE] Crown Castle 2024 Form 10-K（原报） | MD&amp;A p39，Asset write-down charges
https://investor.crowncastle.com/static-files/baed4489-6578-4e32-81e6-a084eea66a02
[EFASB] FASB ASU 2017-04 — Simplifying the Test for Goodwill Impairment | 印刷 p12/PDF p18：350-20-35-31/32；印刷 p8/PDF p14：350-20-35-4/8 修订标记
https://storage.fasb.org/ASU2017-04.pdf
[E25HFS] Crown Castle 2025 Form 10-K | note 3，印刷及 PDF p71–72，尤其 p72 资产负债、损益及脚注 (b)(c)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F02
Status: supported
出售分类与损失是否按时点区分？
已发生费用不同于支付现金；持有待售后停止折旧摊销，使终止业务跨年营业表现不可直接解读为经营改善。净资产准备前 9,918.00 百万USD、准备后 8,411.00 百万USD 均可复算，但总价与净资产差额缺估计售出成本/价调逐项表，不能臆认其性质。
已取得最初签署协议§2.2–2.7价格调整及结算机制（两业务基价合计8,500.00 百万USD），也取得2026五月发表的公开备考；它们未解释2025年末上述89差额，不以五月初步124或备考127倒填年末计量。
总价和净资产的剩余差可能涉及预计售出成本或交易调整；未取得明细前不定性。
Evidence: E25HFS, E24IMPAIR, ESECSALE, C_sale2025, C_preallow_netassets, C_postallow_netassets, ESPAPRICE, ESPASETTLE, EPROBS, EQ126INDEX
Counterevidence: [E25HFS] Crown Castle 2025 Form 10-K | note 3，印刷及 PDF p71–72，尤其 p72 资产负债、损益及脚注 (b)(c)
https://investor.crowncastle.com/static-files/68fb84e1-1dac-440d-96b4-55b9603e10dd
[E24IMPAIR] Crown Castle 2024 Form 10-K（原报） | p48–50 Critical Accounting Policies；note 5，印刷/PDF p75 goodwill rollforward
https://investor.crowncastle.com/static-files/baed4489-6578-4e32-81e6-a084eea66a02
[ESECSALE] Crown Castle 2025-06-04 SEC comment-response letter | 公司回复 comment 2；ASC205-20-45-3A、税项及830损失/819准备/11售出费用
https://www.sec.gov/Archives/edgar/data/1051470/000105147025000154/filename1.htm
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
[EPROBS] 2026-05-01 出售8-K及Exhibit99.2公开未经审计备考 | Ex99.2 PDF p19资产负债表；p21 Note2(A)–(D)
https://investor.crowncastle.com/static-files/f4ff727f-0f13-4f18-affa-1ff461698ccf
[EQ126INDEX] Crown Castle Q1 2026 Form 10-Q | Item6 Exhibit Index，印刷p38/PDF p39
https://investor.crowncastle.com/static-files/de60fca2-89d5-499d-899b-8e0a23030617
[E25PL] Crown Castle 2025 Form 10-K | 印刷及 PDF p59，Consolidated Statement of Operations and Comprehensive Income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F02
Status: supported
出售分类与损失是否按时点区分？
已发生费用不同于支付现金；持有待售后停止折旧摊销，使终止业务跨年营业表现不可直接解读为经营改善。净资产准备前 9,918.00 百万USD、准备后 8,411.00 百万USD 均可复算，但总价与净资产差额缺估计售出成本/价调逐项表，不能臆认其性质。
已取得最初签署协议§2.2–2.7价格调整及结算机制（两业务基价合计8,500.00 百万USD），也取得2026五月发表的公开备考；它们未解释2025年末上述89差额，不以五月初步124或备考127倒填年末计量。
总价和净资产的剩余差可能涉及预计售出成本或交易调整；未取得明细前不定性。
Evidence: E25HFS, E24IMPAIR, ESECSALE, C_sale2025, C_preallow_netassets, C_postallow_netassets, ESPAPRICE, ESPASETTLE, EPROBS, EQ126INDEX
Counterevidence: [E25HFS] Crown Castle 2025 Form 10-K | note 3，印刷及 PDF p71–72，尤其 p72 资产负债、损益及脚注 (b)(c)
https://investor.crowncastle.com/static-files/68fb84e1-1dac-440d-96b4-55b9603e10dd
[E24IMPAIR] Crown Castle 2024 Form 10-K（原报） | p48–50 Critical Accounting Policies；note 5，印刷/PDF p75 goodwill rollforward
https://investor.crowncastle.com/static-files/baed4489-6578-4e32-81e6-a084eea66a02
[ESECSALE] Crown Castle 2025-06-04 SEC comment-response letter | 公司回复 comment 2；ASC205-20-45-3A、税项及830损失/819准备/11售出费用
https://www.sec.gov/Archives/edgar/data/1051470/000105147025000154/filename1.htm
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
[EPROBS] 2026-05-01 出售8-K及Exhibit99.2公开未经审计备考 | Ex99.2 PDF p19资产负债表；p21 Note2(A)–(D)
https://investor.crowncastle.com/static-files/f4ff727f-0f13-4f18-affa-1ff461698ccf
[EQ126INDEX] Crown Castle Q1 2026 Form 10-Q | Item6 Exhibit Index，印刷p38/PDF p39
https://investor.crowncastle.com/static-files/de60fca2-89d5-499d-899b-8e0a23030617
[E25PL] Crown Castle 2025 Form 10-K | 印刷及 PDF p59，Consolidated Statement of Operations and Comprehensive Income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F02
Status: supported
出售分类与损失是否按时点区分？
已发生费用不同于支付现金；持有待售后停止折旧摊销，使终止业务跨年营业表现不可直接解读为经营改善。净资产准备前 9,918.00 百万USD、准备后 8,411.00 百万USD 均可复算，但总价与净资产差额缺估计售出成本/价调逐项表，不能臆认其性质。
已取得最初签署协议§2.2–2.7价格调整及结算机制（两业务基价合计8,500.00 百万USD），也取得2026五月发表的公开备考；它们未解释2025年末上述89差额，不以五月初步124或备考127倒填年末计量。
总价和净资产的剩余差可能涉及预计售出成本或交易调整；未取得明细前不定性。
Evidence: E25HFS, E24IMPAIR, ESECSALE, C_sale2025, C_preallow_netassets, C_postallow_netassets, ESPAPRICE, ESPASETTLE, EPROBS, EQ126INDEX
Counterevidence: [E25HFS] Crown Castle 2025 Form 10-K | note 3，印刷及 PDF p71–72，尤其 p72 资产负债、损益及脚注 (b)(c)
https://investor.crowncastle.com/static-files/68fb84e1-1dac-440d-96b4-55b9603e10dd
[E24IMPAIR] Crown Castle 2024 Form 10-K（原报） | p48–50 Critical Accounting Policies；note 5，印刷/PDF p75 goodwill rollforward
https://investor.crowncastle.com/static-files/baed4489-6578-4e32-81e6-a084eea66a02
[ESECSALE] Crown Castle 2025-06-04 SEC comment-response letter | 公司回复 comment 2；ASC205-20-45-3A、税项及830损失/819准备/11售出费用
https://www.sec.gov/Archives/edgar/data/1051470/000105147025000154/filename1.htm
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
[EPROBS] 2026-05-01 出售8-K及Exhibit99.2公开未经审计备考 | Ex99.2 PDF p19资产负债表；p21 Note2(A)–(D)
https://investor.crowncastle.com/static-files/f4ff727f-0f13-4f18-affa-1ff461698ccf
[EQ126INDEX] Crown Castle Q1 2026 Form 10-Q | Item6 Exhibit Index，印刷p38/PDF p39
https://investor.crowncastle.com/static-files/de60fca2-89d5-499d-899b-8e0a23030617
[E25PL] Crown Castle 2025 Form 10-K | 印刷及 PDF p59，Consolidated Statement of Operations and Comprehensive Income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F02
Status: supported
出售分类与损失是否按时点区分？
已发生费用不同于支付现金；持有待售后停止折旧摊销，使终止业务跨年营业表现不可直接解读为经营改善。净资产准备前 9,918.00 百万USD、准备后 8,411.00 百万USD 均可复算，但总价与净资产差额缺估计售出成本/价调逐项表，不能臆认其性质。
已取得最初签署协议§2.2–2.7价格调整及结算机制（两业务基价合计8,500.00 百万USD），也取得2026五月发表的公开备考；它们未解释2025年末上述89差额，不以五月初步124或备考127倒填年末计量。
总价和净资产的剩余差可能涉及预计售出成本或交易调整；未取得明细前不定性。
Evidence: E25HFS, E24IMPAIR, ESECSALE, C_sale2025, C_preallow_netassets, C_postallow_netassets, ESPAPRICE, ESPASETTLE, EPROBS, EQ126INDEX
Counterevidence: [E25HFS] Crown Castle 2025 Form 10-K | note 3，印刷及 PDF p71–72，尤其 p72 资产负债、损益及脚注 (b)(c)
https://investor.crowncastle.com/static-files/68fb84e1-1dac-440d-96b4-55b9603e10dd
[E24IMPAIR] Crown Castle 2024 Form 10-K（原报） | p48–50 Critical Accounting Policies；note 5，印刷/PDF p75 goodwill rollforward
https://investor.crowncastle.com/static-files/baed4489-6578-4e32-81e6-a084eea66a02
[ESECSALE] Crown Castle 2025-06-04 SEC comment-response letter | 公司回复 comment 2；ASC205-20-45-3A、税项及830损失/819准备/11售出费用
https://www.sec.gov/Archives/edgar/data/1051470/000105147025000154/filename1.htm
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
[EPROBS] 2026-05-01 出售8-K及Exhibit99.2公开未经审计备考 | Ex99.2 PDF p19资产负债表；p21 Note2(A)–(D)
https://investor.crowncastle.com/static-files/f4ff727f-0f13-4f18-affa-1ff461698ccf
[EQ126INDEX] Crown Castle Q1 2026 Form 10-Q | Item6 Exhibit Index，印刷p38/PDF p39
https://investor.crowncastle.com/static-files/de60fca2-89d5-499d-899b-8e0a23030617
[E25PL] Crown Castle 2025 Form 10-K | 印刷及 PDF p59，Consolidated Statement of Operations and Comprehensive Income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[E25HFS] Crown Castle 2025 Form 10-K | note 3，印刷及 PDF p71–72，尤其 p72 资产负债、损益及脚注 (b)(c)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F03
Status: supported
扭亏是否代表持续经营现金创造改善？
商誉减值、处置减值和停折旧影响利润，现金流表另作去除及调整。权益亏绌由累计结果和分配共同形成；不能从负权益直接宣布无偿债能力，也不能用非现金损失解释掉实际股利与资本支出。
持续净利润仍受融资成本及非现金会计项目影响；需正常化业务现金与未来债务服务才形成信用判断。
Evidence: C_nimove, C_contnimove, C_discnimove, C_eqroll_2025, C_eqroll_2024, E25CF
Counterevidence: [E25EQ] Crown Castle 2025 Form 10-K | 印刷及 PDF p61，Consolidated Statement of Equity (Deficit)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F03
Status: supported
扭亏是否代表持续经营现金创造改善？
商誉减值、处置减值和停折旧影响利润，现金流表另作去除及调整。权益亏绌由累计结果和分配共同形成；不能从负权益直接宣布无偿债能力，也不能用非现金损失解释掉实际股利与资本支出。
持续净利润仍受融资成本及非现金会计项目影响；需正常化业务现金与未来债务服务才形成信用判断。
Evidence: C_nimove, C_contnimove, C_discnimove, C_eqroll_2025, C_eqroll_2024, E25CF
Counterevidence: [E25PL] Crown Castle 2025 Form 10-K | 印刷及 PDF p59，Consolidated Statement of Operations and Comprehensive Income
https://investor.crowncastle.com/static-files/68fb84e1-1dac-440d-96b4-55b9603e10dd
[E25EQ] Crown Castle 2025 Form 10-K | 印刷及 PDF p61，Consolidated Statement of Equity (Deficit)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F03
Status: supported
扭亏是否代表持续经营现金创造改善？
商誉减值、处置减值和停折旧影响利润，现金流表另作去除及调整。权益亏绌由累计结果和分配共同形成；不能从负权益直接宣布无偿债能力，也不能用非现金损失解释掉实际股利与资本支出。
持续净利润仍受融资成本及非现金会计项目影响；需正常化业务现金与未来债务服务才形成信用判断。
Evidence: C_nimove, C_contnimove, C_discnimove, C_eqroll_2025, C_eqroll_2024, E25CF
Counterevidence: [E25PL] Crown Castle 2025 Form 10-K | 印刷及 PDF p59，Consolidated Statement of Operations and Comprehensive Income
https://investor.crowncastle.com/static-files/68fb84e1-1dac-440d-96b4-55b9603e10dd
[E25EQ] Crown Castle 2025 Form 10-K | 印刷及 PDF p61，Consolidated Statement of Equity (Deficit)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F04
Status: supported
合并净利、综合收益、权益、现金及资产负债表是否串接？
四表主要加总、净利润接现金流、净利润/OCI接权益、资产=负债+权益均已复算。股份支付权益净额与持续经营股份支付现金流调整属于不同口径；上年宣告分配和实付差额不能擅自认作应付股利增减。
算术通过只证明所列公开数字一致，不能验证交易发生、计价或完整性。
Evidence: E25BS, E25PL, E25CF, E25EQ, E25TAX, C_cfo_2025, C_tax_2025, C_bs_2025
Counterevidence: 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[E25TAX] Crown Castle 2025 Form 10-K | note 10，印刷及 PDF p80，所得税组成及法定税率金额调节
https://investor.crowncastle.com/static-files/68fb84e1-1dac-440d-96b4-55b9603e10dd
[E25EQ] Crown Castle 2025 Form 10-K | 印刷及 PDF p61，Consolidated Statement of Equity (Deficit)
https://investor.crowncastle.com/static-files/68fb84e1-1dac-440d-96b4-55b9603e10dd
[E25CASH] Crown Castle 2025 Form 10-K | note 16，印刷及 PDF p88，cash reconciliation table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F04
Status: supported
合并净利、综合收益、权益、现金及资产负债表是否串接？
四表主要加总、净利润接现金流、净利润/OCI接权益、资产=负债+权益均已复算。股份支付权益净额与持续经营股份支付现金流调整属于不同口径；上年宣告分配和实付差额不能擅自认作应付股利增减。
算术通过只证明所列公开数字一致，不能验证交易发生、计价或完整性。
Evidence: E25BS, E25PL, E25CF, E25EQ, E25TAX, C_cfo_2025, C_tax_2025, C_bs_2025
Counterevidence: 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[E25EQ] Crown Castle 2025 Form 10-K | 印刷及 PDF p61，Consolidated Statement of Equity (Deficit)
https://investor.crowncastle.com/static-files/68fb84e1-1dac-440d-96b4-55b9603e10dd
[E25TAX] Crown Castle 2025 Form 10-K | note 10，印刷及 PDF p80，所得税组成及法定税率金额调节
https://investor.crowncastle.com/static-files/68fb84e1-1dac-440d-96b4-55b9603e10dd
[E25CASH] Crown Castle 2025 Form 10-K | note 16，印刷及 PDF p88，cash reconciliation table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F04
Status: supported
合并净利、综合收益、权益、现金及资产负债表是否串接？
四表主要加总、净利润接现金流、净利润/OCI接权益、资产=负债+权益均已复算。股份支付权益净额与持续经营股份支付现金流调整属于不同口径；上年宣告分配和实付差额不能擅自认作应付股利增减。
算术通过只证明所列公开数字一致，不能验证交易发生、计价或完整性。
Evidence: E25BS, E25PL, E25CF, E25EQ, E25TAX, C_cfo_2025, C_tax_2025, C_bs_2025
Counterevidence: 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[E25EQ] Crown Castle 2025 Form 10-K | 印刷及 PDF p61，Consolidated Statement of Equity (Deficit)
https://investor.crowncastle.com/static-files/68fb84e1-1dac-440d-96b4-55b9603e10dd
[E25TAX] Crown Castle 2025 Form 10-K | note 10，印刷及 PDF p80，所得税组成及法定税率金额调节
https://investor.crowncastle.com/static-files/68fb84e1-1dac-440d-96b4-55b9603e10dd
[E25CASH] Crown Castle 2025 Form 10-K | note 16，印刷及 PDF p88，cash reconciliation table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F10
Status: unresolved
比较期间是否真的同口径？
原 Tower segment 不应无解释地当作重列持续业务；收入差异可能源于范围/抵销重分类。上年准备回述也可能是标签或文字错误，但没有原件证明前不选定原因。两项在计算结果中保留未解释差异。
收入范围与抵销重分类
比较脚注笔误或未解释口径变化
Evidence: E24ORIG, E25PL, E25HFS, EQ125, ESECSALE, EQ126HFS, C_recastrev2024, C_priorallow
Counterevidence: [E25HFS] Crown Castle 2025 Form 10-K | note 3，印刷及 PDF p71–72，尤其 p72 资产负债、损益及脚注 (b)(c)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[E24ORIG] Crown Castle 2024 Form 10-K（原报） | 原报 p61 合并损益；note 14/p88–89 segment results，分部表p89
https://investor.crowncastle.com/static-files/baed4489-6578-4e32-81e6-a084eea66a02
[EQ125] Crown Castle Q1 2025 Form 10-Q 原报 | note 3，2025-03-31 held-for-sale table
https://www.sec.gov/Archives/edgar/data/1051470/000105147025000141/cci-20250331.htm
[ESECSALE] Crown Castle 2025-06-04 SEC comment-response letter | 公司回复 comment 2；ASC205-20-45-3A、税项及830损失/819准备/11售出费用
https://www.sec.gov/Archives/edgar/data/1051470/000105147025000154/filename1.htm
[EQ126HFS] Crown Castle Q1 2026 Form 10-Q | note 3 印刷 p9/PDF p10，2026/2025 比较损益、准备表、脚注 (c)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F10
Status: unresolved
比较期间是否真的同口径？
原 Tower segment 不应无解释地当作重列持续业务；收入差异可能源于范围/抵销重分类。上年准备回述也可能是标签或文字错误，但没有原件证明前不选定原因。两项在计算结果中保留未解释差异。
收入范围与抵销重分类
比较脚注笔误或未解释口径变化
Evidence: E24ORIG, E25PL, E25HFS, EQ125, ESECSALE, EQ126HFS, C_recastrev2024, C_priorallow
Counterevidence: [E24ORIG] Crown Castle 2024 Form 10-K（原报） | 原报 p61 合并损益；note 14/p88–89 segment results，分部表p89
https://investor.crowncastle.com/static-files/baed4489-6578-4e32-81e6-a084eea66a02
[E25PL] Crown Castle 2025 Form 10-K | 印刷及 PDF p59，Consolidated Statement of Operations and Comprehensive Income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[EQ125] Crown Castle Q1 2025 Form 10-Q 原报 | note 3，2025-03-31 held-for-sale table
https://www.sec.gov/Archives/edgar/data/1051470/000105147025000141/cci-20250331.htm
[ESECSALE] Crown Castle 2025-06-04 SEC comment-response letter | 公司回复 comment 2；ASC205-20-45-3A、税项及830损失/819准备/11售出费用
https://www.sec.gov/Archives/edgar/data/1051470/000105147025000154/filename1.htm
[EQ126HFS] Crown Castle Q1 2026 Form 10-Q | note 3 印刷 p9/PDF p10，2026/2025 比较损益、准备表、脚注 (c)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F10
Status: unresolved
比较期间是否真的同口径？
原 Tower segment 不应无解释地当作重列持续业务；收入差异可能源于范围/抵销重分类。上年准备回述也可能是标签或文字错误，但没有原件证明前不选定原因。两项在计算结果中保留未解释差异。
收入范围与抵销重分类
比较脚注笔误或未解释口径变化
Evidence: E24ORIG, E25PL, E25HFS, EQ125, ESECSALE, EQ126HFS, C_recastrev2024, C_priorallow
Counterevidence: [E24ORIG] Crown Castle 2024 Form 10-K（原报） | 原报 p61 合并损益；note 14/p88–89 segment results，分部表p89
https://investor.crowncastle.com/static-files/baed4489-6578-4e32-81e6-a084eea66a02
[E25PL] Crown Castle 2025 Form 10-K | 印刷及 PDF p59，Consolidated Statement of Operations and Comprehensive Income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[EQ125] Crown Castle Q1 2025 Form 10-Q 原报 | note 3，2025-03-31 held-for-sale table
https://www.sec.gov/Archives/edgar/data/1051470/000105147025000141/cci-20250331.htm
[ESECSALE] Crown Castle 2025-06-04 SEC comment-response letter | 公司回复 comment 2；ASC205-20-45-3A、税项及830损失/819准备/11售出费用
https://www.sec.gov/Archives/edgar/data/1051470/000105147025000154/filename1.htm
[EQ126HFS] Crown Castle Q1 2026 Form 10-Q | note 3 印刷 p9/PDF p10，2026/2025 比较损益、准备表、脚注 (c)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F05
Status: supported
哪些金额可纳入现金、额度和债务资源？
把合并受限/终止现金、旧额度及 CP 发行能力全部相加会重复或夸大资源。持续业务覆盖缺口只是一项压力观察，非母公司现金缺口精确证明；还需要费用、租约、资本承诺、到期时间及上划限制。
资产出售确已提供期后资金，但不得倒填为年末已持有现金。
Evidence: E25CASH, E25DEBT, C_cashall_2025, C_contcfo_2025, C_cashdiv_2025, C_oldnetavailability
Counterevidence: C_disccashflow_2025, missing_parent_cash[E25BS] Crown Castle 2025 Form 10-K | 印刷及 PDF p58，Consolidated Balance Sheet，2025/2024 两列
https://investor.crowncastle.com/static-files/68fb84e1-1dac-440d-96b4-55b9603e10dd
[E25CF] Crown Castle 2025 Form 10-K | 印刷及 PDF p60，Consolidated Statement of Cash Flows
https://investor.crowncastle.com/static-files/68fb84e1-1dac-440d-96b4-55b9603e10dd
[E25CASH] Crown Castle 2025 Form 10-K | note 16，印刷及 PDF p88，cash reconciliation table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F05
Status: supported
哪些金额可纳入现金、额度和债务资源？
把合并受限/终止现金、旧额度及 CP 发行能力全部相加会重复或夸大资源。持续业务覆盖缺口只是一项压力观察，非母公司现金缺口精确证明；还需要费用、租约、资本承诺、到期时间及上划限制。
资产出售确已提供期后资金，但不得倒填为年末已持有现金。
Evidence: E25CASH, E25DEBT, C_cashall_2025, C_contcfo_2025, C_cashdiv_2025, C_oldnetavailability
Counterevidence: C_disccashflow_2025, missing_parent_cash[E25DEBT] Crown Castle 2025 Form 10-K | note 8，p75–79 债务表、2018 Tower Revenue Notes、CP Program；MD&amp;A p40/p45
https://investor.crowncastle.com/static-files/68fb84e1-1dac-440d-96b4-55b9603e10dd
[E25CASH] Crown Castle 2025 Form 10-K | note 16，印刷及 PDF p88，cash reconciliation table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F05
Status: supported
哪些金额可纳入现金、额度和债务资源？
把合并受限/终止现金、旧额度及 CP 发行能力全部相加会重复或夸大资源。持续业务覆盖缺口只是一项压力观察，非母公司现金缺口精确证明；还需要费用、租约、资本承诺、到期时间及上划限制。
资产出售确已提供期后资金，但不得倒填为年末已持有现金。
Evidence: E25CASH, E25DEBT, C_cashall_2025, C_contcfo_2025, C_cashdiv_2025, C_oldnetavailability
Counterevidence: C_disccashflow_2025, missing_parent_cash[E25CASH] Crown Castle 2025 Form 10-K | note 16，印刷及 PDF p88，cash reconciliation table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[E25CF] Crown Castle 2025 Form 10-K | 印刷及 PDF p60，Consolidated Statement of Cash Flows
https://investor.crowncastle.com/static-files/68fb84e1-1dac-440d-96b4-55b9603e10dd
[E25BS] Crown Castle 2025 Form 10-K | 印刷及 PDF p58，Consolidated Balance Sheet，2025/2024 两列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F06
Status: conditional
主体风险能否直接转成每一债项评级？
CP 实际短期限与长期报表分类须分开；塔票据预期还款日后的现金清扫/加息条款早于最终到期日。SPE 债务偿还来源、担保物与可贡献分配的非义务主体并非一组。主体能力→法律义务人→担保/优先顺位→现金隔离与契约→回收及债项调整，链条仍缺法律/估值证据，故不输出债项字母。 已取得新旧主信贷原文；旧Total Indebtedness/§1.04与新强制全额本金文字不同，不能追溯套用。票据/SPE原始契约全量核查尚未完成，后续应先取官方公开原件，仅把无法公开取得的补充条款/证书/估值列为内部请求。
即使发行人经营风险相同，母公司无担保票据与隔离塔资产票据仍可能面临不同损失路径。
Evidence: E25DEBT, E25SPE, C_debt2025, C_debtsec2025, EOLDCREDIT, ECREDIT
Counterevidence: [E25DEBT] Crown Castle 2025 Form 10-K | note 8，p75–79 债务表、2018 Tower Revenue Notes、CP Program；MD&amp;A p40/p45
https://investor.crowncastle.com/static-files/68fb84e1-1dac-440d-96b4-55b9603e10dd
[E25SPE] Crown Castle 2025 Form 10-K | note 8/p77–78，2018 Tower Revenue Notes 及 2009 Securitized Notes
https://investor.crowncastle.com/static-files/68fb84e1-1dac-440d-96b4-55b9603e10dd
[E25BS] Crown Castle 2025 Form 10-K | 印刷及 PDF p58，Consolidated Balance Sheet，2025/2024 两列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[ECREDIT] Crown Castle May 1 2026 Form 8-K and Exhibit 10.1 credit agreement | 8-K Item 1.01；协议 §1.01、§1.04/p43、§1.05/p44、§4.02/p93、§6.10/p108
https://investor.crowncastle.com/static-files/dd7712df-51aa-4a29-b6a5-67becf7b2234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F06
Status: conditional
主体风险能否直接转成每一债项评级？
CP 实际短期限与长期报表分类须分开；塔票据预期还款日后的现金清扫/加息条款早于最终到期日。SPE 债务偿还来源、担保物与可贡献分配的非义务主体并非一组。主体能力→法律义务人→担保/优先顺位→现金隔离与契约→回收及债项调整，链条仍缺法律/估值证据，故不输出债项字母。 已取得新旧主信贷原文；旧Total Indebtedness/§1.04与新强制全额本金文字不同，不能追溯套用。票据/SPE原始契约全量核查尚未完成，后续应先取官方公开原件，仅把无法公开取得的补充条款/证书/估值列为内部请求。
即使发行人经营风险相同，母公司无担保票据与隔离塔资产票据仍可能面临不同损失路径。
Evidence: E25DEBT, E25SPE, C_debt2025, C_debtsec2025, EOLDCREDIT, ECREDIT
Counterevidence: [E25DEBT] Crown Castle 2025 Form 10-K | note 8，p75–79 债务表、2018 Tower Revenue Notes、CP Program；MD&amp;A p40/p45
https://investor.crowncastle.com/static-files/68fb84e1-1dac-440d-96b4-55b9603e10dd
[E25SPE] Crown Castle 2025 Form 10-K | note 8/p77–78，2018 Tower Revenue Notes 及 2009 Securitized Notes
https://investor.crowncastle.com/static-files/68fb84e1-1dac-440d-96b4-55b9603e10dd
[E25BS] Crown Castle 2025 Form 10-K | 印刷及 PDF p58，Consolidated Balance Sheet，2025/2024 两列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[ECREDIT] Crown Castle May 1 2026 Form 8-K and Exhibit 10.1 credit agreement | 8-K Item 1.01；协议 §1.01、§1.04/p43、§1.05/p44、§4.02/p93、§6.10/p108
https://investor.crowncastle.com/static-files/dd7712df-51aa-4a29-b6a5-67becf7b2234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F06
Status: conditional
主体风险能否直接转成每一债项评级？
CP 实际短期限与长期报表分类须分开；塔票据预期还款日后的现金清扫/加息条款早于最终到期日。SPE 债务偿还来源、担保物与可贡献分配的非义务主体并非一组。主体能力→法律义务人→担保/优先顺位→现金隔离与契约→回收及债项调整，链条仍缺法律/估值证据，故不输出债项字母。 已取得新旧主信贷原文；旧Total Indebtedness/§1.04与新强制全额本金文字不同，不能追溯套用。票据/SPE原始契约全量核查尚未完成，后续应先取官方公开原件，仅把无法公开取得的补充条款/证书/估值列为内部请求。
即使发行人经营风险相同，母公司无担保票据与隔离塔资产票据仍可能面临不同损失路径。
Evidence: E25DEBT, E25SPE, C_debt2025, C_debtsec2025, EOLDCREDIT, ECREDIT
Counterevidence: [E25DEBT] Crown Castle 2025 Form 10-K | note 8，p75–79 债务表、2018 Tower Revenue Notes、CP Program；MD&amp;A p40/p45
https://investor.crowncastle.com/static-files/68fb84e1-1dac-440d-96b4-55b9603e10dd
[E25SPE] Crown Castle 2025 Form 10-K | note 8/p77–78，2018 Tower Revenue Notes 及 2009 Securitized Notes
https://investor.crowncastle.com/static-files/68fb84e1-1dac-440d-96b4-55b9603e10dd
[E25BS] Crown Castle 2025 Form 10-K | 印刷及 PDF p58，Consolidated Balance Sheet，2025/2024 两列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[ECREDIT] Crown Castle May 1 2026 Form 8-K and Exhibit 10.1 credit agreement | 8-K Item 1.01；协议 §1.01、§1.04/p43、§1.05/p44、§4.02/p93、§6.10/p108
https://investor.crowncastle.com/static-files/dd7712df-51aa-4a29-b6a5-67becf7b2234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F07
Status: supported
报告比率、限制和可借美元金额的界线在哪里？
旧§1.01/1.04/1.05/6.09/6.10及EBITDA、净利、债务和现金定义已实际补读。净利定义保留待售但尚未处置组成部分，因此GAAP终止经营并不证明交割前Fiber已经剔除。历史租赁冻结、指定评级触发的保障要求、重大出售及偿债备考均有原文；缺的是定义调整的逐项数值和已签合规证书，0.6倍不能直接变成借款美元。
本案只复核公开报告及原条款，不独立确认公司所有遵约指标。
Evidence: E25COV, C_headroom2025, EOLDCREDIT, EOLDVERSION, EQ126INDEX
Counterevidence: missing_covenant_ebitda[E25COV] Crown Castle 2025 Form 10-K | MD&amp;A p45 covenant table 及脚注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F07
Status: supported
报告比率、限制和可借美元金额的界线在哪里？
旧§1.01/1.04/1.05/6.09/6.10及EBITDA、净利、债务和现金定义已实际补读。净利定义保留待售但尚未处置组成部分，因此GAAP终止经营并不证明交割前Fiber已经剔除。历史租赁冻结、指定评级触发的保障要求、重大出售及偿债备考均有原文；缺的是定义调整的逐项数值和已签合规证书，0.6倍不能直接变成借款美元。
本案只复核公开报告及原条款，不独立确认公司所有遵约指标。
Evidence: E25COV, C_headroom2025, EOLDCREDIT, EOLDVERSION, EQ126INDEX
Counterevidence: missing_covenant_ebitda[E25COV] Crown Castle 2025 Form 10-K | MD&amp;A p45 covenant table 及脚注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F07
Status: supported
报告比率、限制和可借美元金额的界线在哪里？
旧§1.01/1.04/1.05/6.09/6.10及EBITDA、净利、债务和现金定义已实际补读。净利定义保留待售但尚未处置组成部分，因此GAAP终止经营并不证明交割前Fiber已经剔除。历史租赁冻结、指定评级触发的保障要求、重大出售及偿债备考均有原文；缺的是定义调整的逐项数值和已签合规证书，0.6倍不能直接变成借款美元。
本案只复核公开报告及原条款，不独立确认公司所有遵约指标。
Evidence: E25COV, C_headroom2025, EOLDCREDIT, EOLDVERSION, EQ126INDEX
Counterevidence: missing_covenant_ebitda[E25COV] Crown Castle 2025 Form 10-K | MD&amp;A p45 covenant table 及脚注
https://investor.crowncastle.com/static-files/68fb84e1-1dac-440d-96b4-55b9603e10dd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F11
Status: conditional
已有应收是否可以无条件当作未来现金？
管理层认为可收回是一项判断；争议中的未来合同请求不是已到手现金。已签租约、直线确认的应收与现金收取节奏不同，是现金质量及预测的风险入口。
最终法律回收、和解及抵销金额可能不同于公司当前主张。
Evidence: EDISH
Counterevidence: 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F11
Status: conditional
已有应收是否可以无条件当作未来现金？
管理层认为可收回是一项判断；争议中的未来合同请求不是已到手现金。已签租约、直线确认的应收与现金收取节奏不同，是现金质量及预测的风险入口。
最终法律回收、和解及抵销金额可能不同于公司当前主张。
Evidence: EDISH
Counterevidence: [EDISH] Crown Castle 2025 Form 10-K | note 18/p89，Subsequent Events—DISH Wireless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
Status: supported
截至六月可知的实际事项与计划如何区分？
三月待售准备 1,836.00 百万USD = 年末 1,507.00 百万USD + 当季损失 345.00 百万USD − 当季费用 16.00 百万USD。五月完成未调整三月报表；交割现金与确认费用时间不同。七月公布的第二季度实绩不在截止信息集中，最终处置损益仍为待核。
2026-05-01发表的备考以2025-12-31为BS假设日、2025-01-01为损益假设日：权益-1,635.00 百万USD经综合调整-161.00 百万USD至-1,796.00 百万USD，持续经营利润1,103.00 百万USD+85.00 百万USD=1,188.00 百万USD。−161不是单独处置损失；2,002为年末本金假设偿债，127为估计交易及留任成本，均不得替代五月实际3,300还款或约74已计提成本支付。
五月初仍有 CP 余额佐证后续偿债计划未在交割当日全部实现。
Evidence: EQ126SALE, ESALE, C_saleproceeds, C_salecashcost, C_qallow, EPROBASIS, EPROBS, EPROPL, ESALEVERSION, ESPASETTLE, C_pf_cashadd, C_pf_equity, C_pf_contni
Counterevidence: maycp, missing_final_sale[E25HFS]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
Status: supported
截至六月可知的实际事项与计划如何区分？
三月待售准备 1,836.00 百万USD = 年末 1,507.00 百万USD + 当季损失 345.00 百万USD − 当季费用 16.00 百万USD。五月完成未调整三月报表；交割现金与确认费用时间不同。七月公布的第二季度实绩不在截止信息集中，最终处置损益仍为待核。
2026-05-01发表的备考以2025-12-31为BS假设日、2025-01-01为损益假设日：权益-1,635.00 百万USD经综合调整-161.00 百万USD至-1,796.00 百万USD，持续经营利润1,103.00 百万USD+85.00 百万USD=1,188.00 百万USD。−161不是单独处置损失；2,002为年末本金假设偿债，127为估计交易及留任成本，均不得替代五月实际3,300还款或约74已计提成本支付。
五月初仍有 CP 余额佐证后续偿债计划未在交割当日全部实现。
Evidence: EQ126SALE, ESALE, C_saleproceeds, C_salecashcost, C_qallow, EPROBASIS, EPROBS, EPROPL, ESALEVERSION, ESPASETTLE, C_pf_cashadd, C_pf_equity, C_pf_contni
Counterevidence: maycp, missing_final_sale[EQ126SALE] Crown Castle Q1 2026 Form 10-Q | note 14 印刷 p19/PDF p20，Completion of Strategic Fiber Transaction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
Status: supported
截至六月可知的实际事项与计划如何区分？
三月待售准备 1,836.00 百万USD = 年末 1,507.00 百万USD + 当季损失 345.00 百万USD − 当季费用 16.00 百万USD。五月完成未调整三月报表；交割现金与确认费用时间不同。七月公布的第二季度实绩不在截止信息集中，最终处置损益仍为待核。
2026-05-01发表的备考以2025-12-31为BS假设日、2025-01-01为损益假设日：权益-1,635.00 百万USD经综合调整-161.00 百万USD至-1,796.00 百万USD，持续经营利润1,103.00 百万USD+85.00 百万USD=1,188.00 百万USD。−161不是单独处置损失；2,002为年末本金假设偿债，127为估计交易及留任成本，均不得替代五月实际3,300还款或约74已计提成本支付。
五月初仍有 CP 余额佐证后续偿债计划未在交割当日全部实现。
Evidence: EQ126SALE, ESALE, C_saleproceeds, C_salecashcost, C_qallow, EPROBASIS, EPROBS, EPROPL, ESALEVERSION, ESPASETTLE, C_pf_cashadd, C_pf_equity, C_pf_contni
Counterevidence: maycp, missing_final_sale[EPROBASIS]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
Status: supported
截至六月可知的实际事项与计划如何区分？
三月待售准备 1,836.00 百万USD = 年末 1,507.00 百万USD + 当季损失 345.00 百万USD − 当季费用 16.00 百万USD。五月完成未调整三月报表；交割现金与确认费用时间不同。七月公布的第二季度实绩不在截止信息集中，最终处置损益仍为待核。
2026-05-01发表的备考以2025-12-31为BS假设日、2025-01-01为损益假设日：权益-1,635.00 百万USD经综合调整-161.00 百万USD至-1,796.00 百万USD，持续经营利润1,103.00 百万USD+85.00 百万USD=1,188.00 百万USD。−161不是单独处置损失；2,002为年末本金假设偿债，127为估计交易及留任成本，均不得替代五月实际3,300还款或约74已计提成本支付。
五月初仍有 CP 余额佐证后续偿债计划未在交割当日全部实现。
Evidence: EQ126SALE, ESALE, C_saleproceeds, C_salecashcost, C_qallow, EPROBASIS, EPROBS, EPROPL, ESALEVERSION, ESPASETTLE, C_pf_cashadd, C_pf_equity, C_pf_contni
Counterevidence: maycp, missing_final_sale[EQ126SALE]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
Status: supported
截至六月可知的实际事项与计划如何区分？
三月待售准备 1,836.00 百万USD = 年末 1,507.00 百万USD + 当季损失 345.00 百万USD − 当季费用 16.00 百万USD。五月完成未调整三月报表；交割现金与确认费用时间不同。七月公布的第二季度实绩不在截止信息集中，最终处置损益仍为待核。
2026-05-01发表的备考以2025-12-31为BS假设日、2025-01-01为损益假设日：权益-1,635.00 百万USD经综合调整-161.00 百万USD至-1,796.00 百万USD，持续经营利润1,103.00 百万USD+85.00 百万USD=1,188.00 百万USD。−161不是单独处置损失；2,002为年末本金假设偿债，127为估计交易及留任成本，均不得替代五月实际3,300还款或约74已计提成本支付。
五月初仍有 CP 余额佐证后续偿债计划未在交割当日全部实现。
Evidence: EQ126SALE, ESALE, C_saleproceeds, C_salecashcost, C_qallow, EPROBASIS, EPROBS, EPROPL, ESALEVERSION, ESPASETTLE, C_pf_cashadd, C_pf_equity, C_pf_contni
Counterevidence: maycp, missing_final_sale[EQ126SALE]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F08
Status: supported
截至六月可知的实际事项与计划如何区分？
三月待售准备 1,836.00 百万USD = 年末 1,507.00 百万USD + 当季损失 345.00 百万USD − 当季费用 16.00 百万USD。五月完成未调整三月报表；交割现金与确认费用时间不同。七月公布的第二季度实绩不在截止信息集中，最终处置损益仍为待核。
2026-05-01发表的备考以2025-12-31为BS假设日、2025-01-01为损益假设日：权益-1,635.00 百万USD经综合调整-161.00 百万USD至-1,796.00 百万USD，持续经营利润1,103.00 百万USD+85.00 百万USD=1,188.00 百万USD。−161不是单独处置损失；2,002为年末本金假设偿债，127为估计交易及留任成本，均不得替代五月实际3,300还款或约74已计提成本支付。
五月初仍有 CP 余额佐证后续偿债计划未在交割当日全部实现。
Evidence: EQ126SALE, ESALE, C_saleproceeds, C_salecashcost, C_qallow, EPROBASIS, EPROBS, EPROPL, ESALEVERSION, ESPASETTLE, C_pf_cashadd, C_pf_equity, C_pf_contni
Counterevidence: maycp, missing_final_sale[EQ126SALE] Crown Castle Q1 2026 Form 10-Q | note 14 印刷 p19/PDF p20，Completion of Strategic Fiber Transaction
https://investor.crowncastle.com/static-files/de60fca2-89d5-499d-899b-8e0a23030617
[ESALE] Crown Castle announces completion of fiber and small cell sale | 2026-05-01 官方 completion 公告开头、Use of proceeds
https://investor.crowncastle.com/node/29086
[E25HFS] Crown Castle 2025 Form 10-K | note 3，印刷及 PDF p71–72，尤其 p72 资产负债、损益及脚注 (b)(c)
https://investor.crowncastle.com/static-files/68fb84e1-1dac-440d-96b4-55b9603e10dd
[EQ126HFS] Crown Castle Q1 2026 Form 10-Q | note 3 印刷 p9/PDF p10，2026/2025 比较损益、准备表、脚注 (c)
https://investor.crowncastle.com/static-files/de60fca2-89d5-499d-899b-8e0a23030617
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[ESPASETTLE] 2025-03-13签署出售协议（2025-03-17提交8-K Exhibit2.1） | §2.4–2.7，PDF p48–54；§12.9 PDF p160
https://investor.crowncastle.com/static-files/3b910737-4f3d-4197-a8b4-893f83855c9f
[EQ126FAC] Crown Castle Q1 2026 Form 10-Q | note 14 印刷 p20/PDF p21；MD&amp;A/p28 May 5 balances
https://investor.crowncastle.com/static-files/de60fca2-89d5-499d-899b-8e0a23030617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F09
Status: conditional
出售后资源改善能否直接得出杠杆/评级改善？
新协议按全额本金定义债务、约定历史租赁会计基础，并要求出售备考调整；既要减还债，也要剔除出售业务 EBITDA。提款仍需真实性陈述、无违约和申请。额度价格挂钩外部高级无担保评级，未替代本研究的独立主体/债项论证。 两版Net Income均保留尚未处置的待售组成部分例外；新协议生效后须按实际处置和偿债重建备考。公开Article11利润1,188及85节息不是契约EBITDA或独立遵约结果。有限公开版本检查未发现后续旧信贷定义修订，五月一日明确由新协议替代。
放宽契约可能增加财务灵活性，但不自动代表经济杠杆较低或评级改善。
Evidence: ECREDIT, EQ126FAC, C_newnetLC, EOLDCREDIT, EOLDVERSION, EQ126INDEX, EPROPL
Counterevidence: missing_covenant_ebitda[ECREDIT] Crown Castle May 1 2026 Form 8-K and Exhibit 10.1 credit agreement | 8-K Item 1.01；协议 §1.01、§1.04/p43、§1.05/p44、§4.02/p93、§6.10/p108
https://investor.crowncastle.com/static-files/dd7712df-51aa-4a29-b6a5-67becf7b2234
[EQ126FAC] Crown Castle Q1 2026 Form 10-Q | note 14 印刷 p20/PDF p21；MD&amp;A/p28 May 5 balances
https://investor.crowncastle.com/static-files/de60fca2-89d5-499d-899b-8e0a23030617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[EPROPL] 2026-05-01 出售8-K及Exhibit99.2公开未经审计备考 | Ex99.2 PDF p20损益；p21 Note2(E)
https://investor.crowncastle.com/static-files/f4ff727f-0f13-4f18-affa-1ff461698ccf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F09
Status: conditional
出售后资源改善能否直接得出杠杆/评级改善？
新协议按全额本金定义债务、约定历史租赁会计基础，并要求出售备考调整；既要减还债，也要剔除出售业务 EBITDA。提款仍需真实性陈述、无违约和申请。额度价格挂钩外部高级无担保评级，未替代本研究的独立主体/债项论证。 两版Net Income均保留尚未处置的待售组成部分例外；新协议生效后须按实际处置和偿债重建备考。公开Article11利润1,188及85节息不是契约EBITDA或独立遵约结果。有限公开版本检查未发现后续旧信贷定义修订，五月一日明确由新协议替代。
放宽契约可能增加财务灵活性，但不自动代表经济杠杆较低或评级改善。
Evidence: ECREDIT, EQ126FAC, C_newnetLC, EOLDCREDIT, EOLDVERSION, EQ126INDEX, EPROPL
Counterevidence: missing_covenant_ebitda[ECREDIT] Crown Castle May 1 2026 Form 8-K and Exhibit 10.1 credit agreement | 8-K Item 1.01；协议 §1.01、§1.04/p43、§1.05/p44、§4.02/p93、§6.10/p108
https://investor.crowncastle.com/static-files/dd7712df-51aa-4a29-b6a5-67becf7b2234
[EQ126FAC] Crown Castle Q1 2026 Form 10-Q | note 14 印刷 p20/PDF p21；MD&amp;A/p28 May 5 balances
https://investor.crowncastle.com/static-files/de60fca2-89d5-499d-899b-8e0a23030617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[EPROPL] 2026-05-01 出售8-K及Exhibit99.2公开未经审计备考 | Ex99.2 PDF p20损益；p21 Note2(E)
https://investor.crowncastle.com/static-files/f4ff727f-0f13-4f18-affa-1ff461698ccf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F09
Status: conditional
出售后资源改善能否直接得出杠杆/评级改善？
新协议按全额本金定义债务、约定历史租赁会计基础，并要求出售备考调整；既要减还债，也要剔除出售业务 EBITDA。提款仍需真实性陈述、无违约和申请。额度价格挂钩外部高级无担保评级，未替代本研究的独立主体/债项论证。 两版Net Income均保留尚未处置的待售组成部分例外；新协议生效后须按实际处置和偿债重建备考。公开Article11利润1,188及85节息不是契约EBITDA或独立遵约结果。有限公开版本检查未发现后续旧信贷定义修订，五月一日明确由新协议替代。
放宽契约可能增加财务灵活性，但不自动代表经济杠杆较低或评级改善。
Evidence: ECREDIT, EQ126FAC, C_newnetLC, EOLDCREDIT, EOLDVERSION, EQ126INDEX, EPROPL
Counterevidence: missing_covenant_ebitda[ECREDIT] Crown Castle May 1 2026 Form 8-K and Exhibit 10.1 credit agreement | 8-K Item 1.01；协议 §1.01、§1.04/p43、§1.05/p44、§4.02/p93、§6.10/p108
https://investor.crowncastle.com/static-files/dd7712df-51aa-4a29-b6a5-67becf7b2234
[EQ126FAC] Crown Castle Q1 2026 Form 10-Q | note 14 印刷 p20/PDF p21；MD&amp;A/p28 May 5 balances
https://investor.crowncastle.com/static-files/de60fca2-89d5-499d-899b-8e0a23030617
[EOLDCREDIT] 2022-07-08 Amendment No.7及附后旧信用协议 | §1.01定义：印刷p13–17/27–28/40/44/50–52；§1.04/1.05 p55–56；§6.09/6.10 p129
https://investor.crowncastle.com/static-files/d735da3e-9136-43ce-ad76-3a96bcb686cf
[EOLDVERSION] Crown Castle 2025 Form 10-K | Exhibit Index p101–102，Ex10.49–10.55，尤其2022 Amendment7
https://investor.crowncastle.com/static-files/68fb84e1-1dac-440d-96b4-55b9603e10dd
[EQ126INDEX] Crown Castle Q1 2026 Form 10-Q | Item6 Exhibit Index，印刷p38/PDF p39
https://investor.crowncastle.com/static-files/de60fca2-89d5-499d-899b-8e0a23030617
[EPROPL] 2026-05-01 出售8-K及Exhibit99.2公开未经审计备考 | Ex99.2 PDF p20损益；p21 Note2(E)
https://investor.crowncastle.com/static-files/f4ff727f-0f13-4f18-affa-1ff461698ccf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[EPROBASIS] 2026-05-01 出售8-K及Exhibit99.2公开未经审计备考 | Ex99.2 PDF p18编制基础；p21 Note1
https://investor.crowncastle.com/static-files/f4ff727f-0f13-4f18-affa-1ff461698ccf
[EPROPL] 2026-05-01 出售8-K及Exhibit99.2公开未经审计备考 | Ex99.2 PDF p20损益；p21 Note2(E)
https://investor.crowncastle.com/static-files/f4ff727f-0f13-4f18-affa-1ff461698ccf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Q01: 不能从公司结论独立重做可收回性或公允价值
Close when: 取得可追溯模型、董事会预算及实际回测，按正确顺序重做并解释余量Q02: 最初签署协议及§2.2–2.7机制已读；公开备考不能解释2025年末89差额或证明所有初始/后续计量
Close when: 按2025分类/年末各日期逐项连接净资产、估计售价、费用与准备；说明89差额及实际适用修订，避免五月信息倒填Q03: 集团现金不等于法律母公司可动用资源，不能双算融资来源
Close when: 形成同一时点来源用途表、到期梯度与压力情境，分清承诺/限制/备用占用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Q04: 公开契约的后续补读另见F06，不列为内部资料缺口；母公司主信用协议定义已读，但不替代每项SPE实际遵约与回收价值证据
Close when: 完成主体→债项法律及资金链，若需评级字母另选截止内正式方法并公开判断调整Q05: 公开新旧定义及会计备考已取得；缺按各适用版本执行的金额与证明，Article11净利润/节息不等于契约EBITDA
Close when: 分别按生效版本重建合规证书，验证待售例外/出售剔除及本金/租赁/现金调整、提款当日CP和条件，确认美元余量Q06: 公开8,500−124−127−2,002=6,247备考已取得；它不证明最终现金、实际还债时间或最终损益；最初合同机制不提供未公开结算数
Close when: 从实际交割凭证逐项连接最终价格、费用应计/支付及每笔偿债；确定后续修订影响。截止后材料另列验证层，不回填截止事实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Q07: 两处公开版本算术不能无解释合并
Close when: 正式桥或更正分别解释两项差异，不将猜测写成事实Q08: 管理层可收回判断需要独立反证与收款支持
Close when: 按公开信息截止和法律实体区分已收、争议、预计收回及计量调整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[E25EQ] Crown Castle 2025 Form 10-K | 印刷及 PDF p61，Consolidated Statement of Equity (Deficit)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[E25TAX] Crown Castle 2025 Form 10-K | note 10，印刷及 PDF p80，所得税组成及法定税率金额调节
https://investor.crowncastle.com/static-files/68fb84e1-1dac-440d-96b4-55b9603e10dd
[E25CASH] Crown Castle 2025 Form 10-K | note 16，印刷及 PDF p88，cash reconciliation table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[E25COV] Crown Castle 2025 Form 10-K | MD&amp;A p45 covenant table 及脚注
https://investor.crowncastle.com/static-files/68fb84e1-1dac-440d-96b4-55b9603e10dd
[E25SPE] Crown Castle 2025 Form 10-K | note 8/p77–78，2018 Tower Revenue Notes 及 2009 Securitized Notes
https://investor.crowncastle.com/static-files/68fb84e1-1dac-440d-96b4-55b9603e10dd
[E25AUDIT] Crown Castle 2025 Form 10-K | p56–57，PwC auditor report，2026-02-23
https://investor.crowncastle.com/static-files/68fb84e1-1dac-440d-96b4-55b9603e10dd
[EDISH] Crown Castle 2025 Form 10-K | note 18/p89，Subsequent Events—DISH Wireless
https://investor.crowncastle.com/static-files/68fb84e1-1dac-440d-96b4-55b9603e10dd
[EOLDVERSION] Crown Castle 2025 Form 10-K | Exhibit Index p101–102，Ex10.49–10.55，尤其2022 Amendment7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[E25BS] Crown Castle 2025 Form 10-K | 印刷及 PDF p58，Consolidated Balance Sheet，2025/2024 两列
https://investor.crowncastle.com/static-files/68fb84e1-1dac-440d-96b4-55b9603e10dd
[E25PL] Crown Castle 2025 Form 10-K | 印刷及 PDF p59，Consolidated Statement of Operations and Comprehensive Income
https://investor.crowncastle.com/static-files/68fb84e1-1dac-440d-96b4-55b9603e10dd
[E25CF] Crown Castle 2025 Form 10-K | 印刷及 PDF p60，Consolidated Statement of Cash Flows
https://investor.crowncastle.com/static-files/68fb84e1-1dac-440d-96b4-55b9603e10dd
[E25EQ] Crown Castle 2025 Form 10-K | 印刷及 PDF p61，Consolidated Statement of Equity (Deficit)
https://investor.crowncastle.com/static-files/68fb84e1-1dac-440d-96b4-55b9603e10dd
[E25HFS] Crown Castle 2025 Form 10-K | note 3，印刷及 PDF p71–72，尤其 p72 资产负债、损益及脚注 (b)(c)
https://investor.crowncastle.com/static-files/68fb84e1-1dac-440d-96b4-55b9603e10dd
[E25TAX] Crown Castle 2025 Form 10-K | note 10，印刷及 PDF p80，所得税组成及法定税率金额调节
https://investor.crowncastle.com/static-files/68fb84e1-1dac-440d-96b4-55b9603e10dd
[E25CASH] Crown Castle 2025 Form 10-K | note 16，印刷及 PDF p88，cash reconciliation table
https://investor.crowncastle.com/static-files/68fb84e1-1dac-440d-96b4-55b9603e10dd
[E25DEBT] Crown Castle 2025 Form 10-K | note 8，p75–79 债务表、2018 Tower Revenue Notes、CP Program；MD&amp;A p40/p45
https://investor.crowncastle.com/static-files/68fb84e1-1dac-440d-96b4-55b9603e10dd
[E25COV] Crown Castle 2025 Form 10-K | MD&amp;A p45 covenant table 及脚注
https://investor.crowncastle.com/static-files/68fb84e1-1dac-440d-96b4-55b9603e10dd
[E25SPE] Crown Castle 2025 Form 10-K | note 8/p77–78，2018 Tower Revenue Notes 及 2009 Securitized Notes
https://investor.crowncastle.com/static-files/68fb84e1-1dac-440d-96b4-55b9603e10dd
[E25AUDIT] Crown Castle 2025 Form 10-K | p56–57，PwC auditor report，2026-02-23
https://investor.crowncastle.com/static-files/68fb84e1-1dac-440d-96b4-55b9603e10dd
[EDISH] Crown Castle 2025 Form 10-K | note 18/p89，Subsequent Events—DISH Wireless
https://investor.crowncastle.com/static-files/68fb84e1-1dac-440d-96b4-55b9603e10dd
[EOLDVERSION] Crown Castle 2025 Form 10-K | Exhibit Index p101–102，Ex10.49–10.55，尤其2022 Amendment7
https://investor.crowncastle.com/static-files/68fb84e1-1dac-440d-96b4-55b9603e10dd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[E24IMPAIR] Crown Castle 2024 Form 10-K（原报） | p48–50 Critical Accounting Policies；note 5，印刷/PDF p75 goodwill rollforward
https://investor.crowncastle.com/static-files/baed4489-6578-4e32-81e6-a084eea66a02
[E24WRITE] Crown Castle 2024 Form 10-K（原报） | MD&amp;A p39，Asset write-down charges
https://investor.crowncastle.com/static-files/baed4489-6578-4e32-81e6-a084eea66a02
[E24ORIG] Crown Castle 2024 Form 10-K（原报） | 原报 p61 合并损益；note 14/p88–89 segment results，分部表p89
https://investor.crowncastle.com/static-files/baed4489-6578-4e32-81e6-a084eea66a02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[ESECSEQ] Crown Castle 2025-06-04 SEC comment-response letter | 公司回复 Staff comment 1；引用 ASC350-20-35-31 和 ASC360-10-35-17
https://www.sec.gov/Archives/edgar/data/1051470/000105147025000154/filename1.htm
[ESECSALE] Crown Castle 2025-06-04 SEC comment-response letter | 公司回复 comment 2；ASC205-20-45-3A、税项及830损失/819准备/11售出费用
https://www.sec.gov/Archives/edgar/data/1051470/000105147025000154/filename1.htm
[EQ125] Crown Castle Q1 2025 Form 10-Q 原报 | note 3，2025-03-31 held-for-sale table
https://www.sec.gov/Archives/edgar/data/1051470/000105147025000141/cci-20250331.htm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[EQ126HFS] Crown Castle Q1 2026 Form 10-Q | note 3 印刷 p9/PDF p10，2026/2025 比较损益、准备表、脚注 (c)
https://investor.crowncastle.com/static-files/de60fca2-89d5-499d-899b-8e0a23030617
[EQ126SALE] Crown Castle Q1 2026 Form 10-Q | note 14 印刷 p19/PDF p20，Completion of Strategic Fiber Transaction
https://investor.crowncastle.com/static-files/de60fca2-89d5-499d-899b-8e0a23030617
[EQ126FAC] Crown Castle Q1 2026 Form 10-Q | note 14 印刷 p20/PDF p21；MD&amp;A/p28 May 5 balances
https://investor.crowncastle.com/static-files/de60fca2-89d5-499d-899b-8e0a23030617
[EQ126INDEX] Crown Castle Q1 2026 Form 10-Q | Item6 Exhibit Index，印刷p38/PDF p39
https://investor.crowncastle.com/static-files/de60fca2-89d5-499d-899b-8e0a23030617
[ESALE] Crown Castle announces completion of fiber and small cell sale | 2026-05-01 官方 completion 公告开头、Use of proceeds
https://investor.crowncastle.com/node/29086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[ECREDIT] Crown Castle May 1 2026 Form 8-K and Exhibit 10.1 credit agreement | 8-K Item 1.01；协议 §1.01、§1.04/p43、§1.05/p44、§4.02/p93、§6.10/p108
https://investor.crowncastle.com/static-files/dd7712df-51aa-4a29-b6a5-67becf7b2234
[EFASB] FASB ASU 2017-04 — Simplifying the Test for Goodwill Impairment | 印刷 p12/PDF p18：350-20-35-31/32；印刷 p8/PDF p14：350-20-35-4/8 修订标记
https://storage.fasb.org/ASU2017-04.pdf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[EPROBASIS] 2026-05-01 出售8-K及Exhibit99.2公开未经审计备考 | Ex99.2 PDF p18编制基础；p21 Note1
https://investor.crowncastle.com/static-files/f4ff727f-0f13-4f18-affa-1ff461698ccf
[EPROBS] 2026-05-01 出售8-K及Exhibit99.2公开未经审计备考 | Ex99.2 PDF p19资产负债表；p21 Note2(A)–(D)
https://investor.crowncastle.com/static-files/f4ff727f-0f13-4f18-affa-1ff461698ccf
[EPROPL] 2026-05-01 出售8-K及Exhibit99.2公开未经审计备考 | Ex99.2 PDF p20损益；p21 Note2(E)
https://investor.crowncastle.com/static-files/f4ff727f-0f13-4f18-affa-1ff461698ccf
[ESALEVERSION] 2026-05-01 出售8-K及Exhibit99.2公开未经审计备考 | 8-K PDF p2 Item2.01、p3 Exhibit Index；Ex99.1 p10 Fiber Business定义
https://investor.crowncastle.com/static-files/f4ff727f-0f13-4f18-affa-1ff461698ccf
[ESPAPRICE] 2025-03-13签署出售协议（2025-03-17提交8-K Exhibit2.1） | §2.2–2.3，PDF p45–48；§1.1定义PDF p16/20/23/34–37/40
https://investor.crowncastle.com/static-files/3b910737-4f3d-4197-a8b4-893f83855c9f
[ESPASETTLE] 2025-03-13签署出售协议（2025-03-17提交8-K Exhibit2.1） | §2.4–2.7，PDF p48–54；§12.9 PDF p160
https://investor.crowncastle.com/static-files/3b910737-4f3d-4197-a8b4-893f83855c9f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[EOLDCREDIT] 2022-07-08 Amendment No.7及附后旧信用协议 | §1.01定义：印刷p13–17/27–28/40/44/50–52；§1.04/1.05 p55–56；§6.09/6.10 p129
https://investor.crowncastle.com/static-files/d735da3e-9136-43ce-ad76-3a96bcb686cf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</a:rPr>
              <a:t>Crown Castle 年报与Fiber出售分析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D1CC"/>
                </a:solidFill>
              </a:rPr>
              <a:t>Crown Castle Inc. and subsidiaries  |  2025-12-31  |  crown-castle-2025-public-1  | 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通过四表、附注、出售协议及信用协议分析交易会计、现金资源和债务约束，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形成可复算的公开资料研究成果。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会计基础 US GAAP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范围 合并报表；明确区分持续经营、终止经营及契约借款人口径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信息截止 2026-06-30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640080" y="48920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来源 SSEC, SFASB 公布日期未核验。不得将当前内容分析称为历史时点可用性验证。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采用方法与适用范围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下载官方 PDF，以 pypdf 提取；关键表逐页图像复核；原件 SHA-256 留存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仅采用截止日前公开原件；分别保留原报、重列比较期和期后事项，禁止跨期倒填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以共同底稿复算四表及交易调节；金额按原表百万美元记录，勾稽差额以美元列示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已执行程序仅为公开资料阅读、版本对照和计算；内部审计证据列为待核请求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读取出售备考、签署出售协议和新旧信贷定义，将备考假设、实际交割收付及尚未完成的计划分列。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分析范围与限制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研究执行于 2026-10-03；信息截止严格为 2026-06-30。2026 年二季报及七月业绩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公告虽涉及六月期末，因发表日晚于截止日排除。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完整下载不等于逐页阅读。2025 年报已重点阅读审计意见、四表、政策/减值、终止经营、债务、税、现金及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期后事项；2024 年报和新协议阅读范围见来源说明。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未取得企业内部总账、估值模型、银行流水、合规证明、资金上划限制清单、最终交割结算及完整出售协议附件；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不能形成审计保证或可支用现金/正式评级。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2024 原报收入与 2025 年报重列比较收入差异，以及 2026 Q1 对 2025 Q1 待售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准备回述差异尚未解释。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现金流桥使用合并表内持续/终止组成项目，不能将其视为法律母公司单体现金流。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US GAAP 条款编号来自 SEC 公司回复及公司政策，未将公司回复视为 SEC 批准，亦未声称已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阅读全文 FASB Codification。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分析范围与限制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公开备考BS假设2025-12-31完成、利润表假设2025-01-01完成，2026-05-01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发表；其金额不属于2025已报实数或2026五月实际现金。出售协议后续修订未找到可识别文本，最初签署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机制不能视为全部最终条款。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来源 SSEC, SFASB 的正式公布日期未核验；不得据此证明在信息截止日前已公开。当前披露内容可以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继续分析，历史时点结论须补充公告时间证据。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任务边界与实际程序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公开资料程序与实际审计程序分界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已完成官方原件取得、选定页阅读/视觉复核和四表复算；未声称执行银行函证、内部控制测试、合同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全量测试或估值重建。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PwC 已将 Fiber 出售作为关键审计事项并列明其工作；本研究可引用其报告存在，不能将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审计师工作复制成自己已执行程序。来源可证实公司披露，内部测算与最终评级决定链仍需实证补足。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算术一致与披露齐备仍不能替代存在性、计价和完整性审计证据。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E25AUDIT / E25BS / E25HFS；完整原文与位置见本演示文稿来源附页及备注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任务边界与实际程序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公开资料程序与实际审计程序分界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取得相反的正式更正或企业底稿后重新评估。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E25AUDIT / E25BS / E25HFS；完整原文与位置见本演示文稿来源附页及备注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同一 Fiber 单元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为何长期资产通过、商誉减值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公司先测长期资产未折现可收回性，再测商誉。Fiber商誉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4,958.00 百万USD全额减至0.00 百万USD；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合并商誉由10,085.00 百万USD减至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5,127.00 百万USD，剩余5,127.00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USD全部属于Towers。长期资产通过与Fiber商誉全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额减值可同时成立。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合并商誉滚动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5,127.00 百万USD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Fiber年初商誉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4,958.00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Fiber年末商誉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0.00 百万USD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Towers年末商誉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5,127.00 百万USD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E24IMPAIR / E25HFS / ESECSEQ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同一 Fiber 单元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为何长期资产通过、商誉减值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资产组及报告单元均为 Fiber segment；未折现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现金流门槛与报告单元公允价值测试不是同一计量。取消节点另有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106.00 百万USD 核销，故‘未触发资产组减值’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不能表述为无核销。估值数值重做仍缺预测、资产组账面调整、折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现/退出假设与敏感性。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估值顺序披露一致，并不证明管理层预测可实现；未折现余量大小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尚不明。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Fiber商誉全额减至零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0.00 百万USD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E24IMPAIR / ESECSEQ / E24WRITE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同一 Fiber 单元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为何长期资产通过、商誉减值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Fiber 商誉测试折现率：未计算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Fiber 未折现现金流超额：未计算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取得模型后若测试单元、顺序、现金流或计量调整不符，应重做减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值及税/权益影响，不能只改商誉一个数字。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ESECSEQ / E24IMPAIR / E24WRITE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由持有使用到待售及终止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经营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原年末仍未达到持有待售；次年签约后列终止经营并重列比较列。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2025 处置损失 1,575.00 百万USD = 准备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1,507.00 百万USD + 已发生售出成本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68.00 百万USD，处置税益 0.00 百万USD。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处置损失组成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1,575.00 百万USD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准备前终止净资产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9,918.00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准备后终止净资产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8,411.00 百万USD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 / E24IMPAIR / ESECSALE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由持有使用到待售及终止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经营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已发生费用不同于支付现金；持有待售后停止折旧摊销，使终止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业务跨年营业表现不可直接解读为经营改善。净资产准备前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9,918.00 百万USD、准备后 8,411.00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 均可复算，但总价与净资产差额缺估计售出成本/价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调逐项表，不能臆认其性质。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 / E24IMPAIR / ESECSALE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由持有使用到待售及终止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经营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已取得最初签署协议§2.2–2.7价格调整及结算机制（两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业务基价合计8,500.00 百万USD），也取得2026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五月发表的公开备考；它们未解释2025年末上述89差额，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不以五月初步124或备考127倒填年末计量。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总价和净资产的剩余差可能涉及预计售出成本或交易调整；未取得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明细前不定性。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 / E24IMPAIR / ESECSALE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由持有使用到待售及终止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经营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取得分类日内部备忘录、未公开附表及估计净售价逐项测算，核对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公开签署版本后实际适用的修订；解释2025年末89差额后再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更新计量判断。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 / E24IMPAIR / ESECSALE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US GAAP 减值顺序与出售分类：章节指标 8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14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539496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910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终止经营商誉减值费用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1956816"/>
            <a:ext cx="5029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4,958.00 百万USD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利润反弹、非现金减值与负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权益须分开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合并净利润从 -3,903.00 百万USD 至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444.00 百万USD，变化 4,347.00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USD；持续净利润却变化 -59.00 百万USD，终止净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损益变化 4,406.00 百万USD。权益由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-133.00 百万USD 经本期损益、股份及分配滚动至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-1,635.00 百万USD。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权益期初至期末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-1,635.00 百万USD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合并净利润变化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4,347.00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持续净利润变化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-59.00 百万USD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E25EQ / E25PL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利润反弹、非现金减值与负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权益须分开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商誉减值、处置减值和停折旧影响利润，现金流表另作去除及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调整。权益亏绌由累计结果和分配共同形成；不能从负权益直接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宣布无偿债能力，也不能用非现金损失解释掉实际股利与资本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支出。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持续净利润仍受融资成本及非现金会计项目影响；需正常化业务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现金与未来债务服务才形成信用判断。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E25PL / E25EQ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利润反弹、非现金减值与负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权益须分开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若分配合法性、可持续 CFO 或售后业务现金预测恶化，主体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流动性判断可能转弱。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E25PL / E25EQ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18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四表和税项可复算，但现金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分层不同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2025 合并 CFO 3,057.00 百万USD、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CFI -1,158.00 百万USD、CFF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-1,886.00 百万USD 合计 13.00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USD，年初现金 295.00 百万USD 至年末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308.00 百万USD。税调节复算持续税费 -16.00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百万USD，REIT 不等于所有主体免税。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资产负债恒等式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31,518.00 百万USD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从合并净利润到 CFO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3,057.00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持续税额调节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-16.00 百万USD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E25BS / E25CF / E25PL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19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四表和税项可复算，但现金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分层不同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四表主要加总、净利润接现金流、净利润/OCI接权益、资产=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负债+权益均已复算。股份支付权益净额与持续经营股份支付现金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流调整属于不同口径；上年宣告分配和实付差额不能擅自认作应付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股利增减。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算术通过只证明所列公开数字一致，不能验证交易发生、计价或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完整性。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E25BS / E25PL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四表和税项可复算，但现金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分层不同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取得相反的正式更正或企业底稿后重新评估。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E25BS / E25PL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21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[unresolved] 公开版本差异保留而非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强行平账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2024 原报合并收入 6,568.00 百万USD，次年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重列持续加终止为 6,570.00 百万USD；税前损益、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税项及净利润仍精确勾稽。上年一季准备原报 819.00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百万USD，后年脚注回述 830.00 百万USD，但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SEC 桥支持前者。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2024 重列后持续加终止收入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6,570.00 百万USD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 / E25PL / E24ORIG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8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22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[unresolved] 公开版本差异保留而非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强行平账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 Tower segment 不应无解释地当作重列持续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业务；收入差异可能源于范围/抵销重分类。上年准备回述也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可能是标签或文字错误，但没有原件证明前不选定原因。两项在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计算结果中保留未解释差异。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收入范围与抵销重分类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比较脚注笔误或未解释口径变化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E24ORIG / E25PL / E25HFS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四表勾稽、税与收益质量 9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23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[unresolved] 公开版本差异保留而非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强行平账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取得正式更正或管理层原报→重列逐项桥及上年准备滚动表后，才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消除差异。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E24ORIG / E25PL / E25HFS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24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持续现金覆盖及备用资源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年末全部现金 308.00 百万USD 含持续受限及终止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现金；持续非受限现金仅 99.00 百万USD。持续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CFO 减资本支出 1,690.00 百万USD，再与集团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分配比较为 -390.00 百万USD；旧额度扣 CP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备用占用观察 4,084.00 百万USD。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持续经营非受限现金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99.00 百万USD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CF 期末全部现金及受限现金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308.00 百万USD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2025 持续经营 CFO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1,872.00 百万USD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13B45"/>
                </a:solidFill>
              </a:rPr>
              <a:t>2025 持续 CFO 减持续资本支出及集团已付分配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-390.00 百万USD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E25BS / E25CF / E25CASH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25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持续现金覆盖及备用资源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把合并受限/终止现金、旧额度及 CP 发行能力全部相加会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重复或夸大资源。持续业务覆盖缺口只是一项压力观察，非母公司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现金缺口精确证明；还需要费用、租约、资本承诺、到期时间及上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划限制。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资产出售确已提供期后资金，但不得倒填为年末已持有现金。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年末未提额度扣 CP 备用占用观察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4,084.00 百万USD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E25DEBT / E25CASH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持续现金覆盖及备用资源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2025 终止 CFO 加 CFI：205.00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法律母公司可支用现金：未计算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取得法律实体银行确认、受限明细、现金转移限制及滚动资金计划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后，才可形成母公司可用流动性和覆盖倍数。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E25CASH / E25DEBT / E25CF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27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账面债务、契约本金与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债项法律结构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持续经营债务 24,337.00 百万USD 与流动/长期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及担保/无担保分类勾稽。塔票据账面 748.00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 与本金 750.00 百万USD 不同；担保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PPE 账面 610.00 百万USD 不能当作回收价值。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持续经营债务及其他义务账面值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24,337.00 百万USD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E25DEBT / E25SPE / E25BS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28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账面债务、契约本金与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债项法律结构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CP 实际短期限与长期报表分类须分开；塔票据预期还款日后的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现金清扫/加息条款早于最终到期日。SPE 债务偿还来源、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担保物与可贡献分配的非义务主体并非一组。主体能力→法律义务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人→担保/优先顺位→现金隔离与契约→回收及债项调整，链条仍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缺法律/估值证据，故不输出债项字母。 已取得新旧主信贷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原文；旧Total Indebtedness/§1.04与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新强制全额本金文字不同，不能追溯套用。票据/SPE原始契约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全量核查尚未完成，后续应先取官方公开原件，仅把无法公开取得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的补充条款/证书/估值列为内部请求。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E25DEBT / E25SPE / E25BS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29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账面债务、契约本金与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债项法律结构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即使发行人经营风险相同，母公司无担保票据与隔离塔资产票据仍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可能面临不同损失路径。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按具体票据先补读已公开契约，再取得未公开补充担保/隔离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结构、DSCR/现金陷阱证书与回收估值；不把公开可取得协议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泛称内部缺口。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E25DEBT / E25SPE / E25BS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30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旧协议遵约比率不等于通用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债务/EBITDA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旧协议净杠杆 590.00% 对限额 650.00%，比率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余量 60.00%；高级担保杠杆 20.00% 对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350.00%。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旧协议实际总净杠杆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590.00%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E25COV / EOLDCREDIT / EOLDVERSION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8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31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旧协议遵约比率不等于通用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债务/EBITDA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旧§1.01/1.04/1.05/6.09/6.10及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EBITDA、净利、债务和现金定义已实际补读。净利定义保留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待售但尚未处置组成部分，因此GAAP终止经营并不证明交割前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Fiber已经剔除。历史租赁冻结、指定评级触发的保障要求、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重大出售及偿债备考均有原文；缺的是定义调整的逐项数值和已签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合规证书，0.6倍不能直接变成借款美元。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本案只复核公开报告及原条款，不独立确认公司所有遵约指标。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E25COV / EOLDCREDIT / EOLDVERSION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9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32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旧协议遵约比率不等于通用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债务/EBITDA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新协议经认可的备考 EBITDA：未计算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取得签署合规证书、定义逐项调整及同日债务/现金明细后重算。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E25COV / EOLDCREDIT / EOLDVERSION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10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33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DISH 是收益质量与可收回性反证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年末 DISH 应收净敞口公司约报 165.00 百万USD；公司未因期后违约争议计提相关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准备，并暂停后续相关收入确认。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管理层认为可收回是一项判断；争议中的未来合同请求不是已到手现金。已签租约、直线确认的应收与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现金收取节奏不同，是现金质量及预测的风险入口。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最终法律回收、和解及抵销金额可能不同于公司当前主张。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EDISH；完整原文与位置见本演示文稿来源附页及备注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现金、债务与契约资源 11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34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DISH 是收益质量与可收回性反证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取得法律意见、债务人能力与期后收款/和解证据，再重估应收损失、收入预测与信用压力。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EDISH；完整原文与位置见本演示文稿来源附页及备注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35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期后交割现金不回写旧报表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五月实际交割：合同总价 8,500.00 百万USD 减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初步价调 124.00 百万USD，复算价款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8,376.00 百万USD；另付约 74.00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 先前已计提费用。实际还债约 3,300.00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USD；随后 CP 1,800.00 百万USD、其他还债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 2,100.00 百万USD、回购 1,000.00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 为计划。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待售准备自年末到三月滚动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1,836.00 百万USD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交割初步实际价款桥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8,376.00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交割价款扣当时支付成本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8,302.00 百万USD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五月一日实际还债（约）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3,300.00 百万USD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E25HFS / EQ126HFS / EQ126SALE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36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期后交割现金不回写旧报表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另有公开备考：8,500.00 百万USD−124.00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百万USD−127.00 百万USD−2,002.00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百万USD=6,247.00 百万USD，连历史现金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99.00 百万USD至6,346.00 百万USD；这是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假设2025年末已出售的表，不是五月实际期末现金。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计划随后随到期偿还 CP（约）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1,800.00 百万USD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计划 2026 其他还债（约）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2,100.00 百万USD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公开备考价格—费用—偿债—剩余现金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6,247.00 百万USD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公开备考现金基数加交易调整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6,346.00 百万USD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EQ126SALE / EPROBASIS / EPROBS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37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期后交割现金不回写旧报表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三月待售准备 1,836.00 百万USD = 年末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1,507.00 百万USD + 当季损失 345.00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 − 当季费用 16.00 百万USD。五月完成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未调整三月报表；交割现金与确认费用时间不同。七月公布的第二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季度实绩不在截止信息集中，最终处置损益仍为待核。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公开备考历史权益加综合调整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37F72"/>
                </a:solidFill>
              </a:rPr>
              <a:t>-1,796.00 百万USD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公开备考持续经营利润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1,188.00 百万USD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EPROBASIS / EPROBS / EPROPL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4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38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期后交割现金不回写旧报表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2026-05-01发表的备考以2025-12-31为BS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假设日、2025-01-01为损益假设日：权益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-1,635.00 百万USD经综合调整-161.00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百万USD至-1,796.00 百万USD，持续经营利润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1,103.00 百万USD+85.00 百万USD=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1,188.00 百万USD。−161不是单独处置损失；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2,002为年末本金假设偿债，127为估计交易及留任成本，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均不得替代五月实际3,300还款或约74已计提成本支付。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EQ126SALE / ESALE / E25HFS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39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期后交割现金不回写旧报表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五月初仍有 CP 余额佐证后续偿债计划未在交割当日全部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实现。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五月五日仍存 CP（公司约数）：1,500.00 百万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USD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六月截止可证实最终处置损益：未计算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EQ126SALE / ESALE / E25HFS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40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[supported] 期后交割现金不回写旧报表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取得截止前已公开的还款确认或最终结算原件可补充事实；后于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截止的披露只能作为另一期验证。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EQ126SALE / ESALE / E25HFS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41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新协议替代与出售后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备考指标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五月新循环承诺 4,500.00 百万USD 替代旧协议；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扣生效时信用证 39.40 百万USD 后名义余额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4,460.60 百万USD，并非自由现金。总净杠杆限额改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为 700.00%，旧利息保障条款移除。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新循环协议总承诺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4,500.00 百万USD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新承诺扣生效时信用证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4,460.60 百万USD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ECREDIT / EQ126FAC / EOLDCREDIT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8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42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新协议替代与出售后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备考指标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解释与依据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新协议按全额本金定义债务、约定历史租赁会计基础，并要求出售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备考调整；既要减还债，也要剔除出售业务 EBITDA。提款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仍需真实性陈述、无违约和申请。额度价格挂钩外部高级无担保评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级，未替代本研究的独立主体/债项论证。 两版Net 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Income均保留尚未处置的待售组成部分例外；新协议生效后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须按实际处置和偿债重建备考。公开Article11利润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1,188及85节息不是契约EBITDA或独立遵约结果。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有限公开版本检查未发现后续旧信贷定义修订，五月一日明确由新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协议替代。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ECREDIT / EQ126FAC / EOLDCREDIT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 9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43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[conditional] 新协议替代与出售后</a:t>
            </a:r>
            <a:endParaRPr lang="en-US" sz="2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备考指标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其他解释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放宽契约可能增加财务灵活性，但不自动代表经济杠杆较低或评级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改善。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反证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新协议经认可的备考 EBITDA：未计算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以新协议定义取得持续业务备考 EBITDA、限制性付款及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担保债务明细、CP 同日余额，再重算提款余量和偿债覆盖。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ECREDIT / EQ126FAC / EOLDCREDIT 等；完整原文与位置见本演示文稿来源附页及备注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截至六月已知期后事项及新协议：章节指标 10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44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4360" y="1508760"/>
            <a:ext cx="539496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9105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公开备考利息行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1956816"/>
            <a:ext cx="5029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-887.00 百万USD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EPROBASIS / EPROPL；完整原文与位置见本演示文稿来源附页及备注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下一步核查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45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资产组/报告单元组织图、长期资产账面基数、未折现预测、商誉 DCF/市场法、税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属性及敏感性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财务估值/业务预算负责人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45920" y="28803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分类日内部会计备忘录、公开原件省略的ScheduleII/VI等附表及出售估值/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费用明细、准备滚动；实际适用但未在已取得的公开原件找到的签署修订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645920" y="36758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交易会计/法务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94360" y="42519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03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1645920" y="42519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按法律实体的银行确认、受限现金、CP 备用额度、现金上划限制、未来逐月支出债务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服务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645920" y="50474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司库/法务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下一步核查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46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已公开票据/SPE契约之外的未公开补充担保/现金限制、实际DSCR及现金陷阱合规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证书、回收估值和估值输入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融资法务/司库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05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45920" y="28803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新旧已签合规证书、Borrower/Restricted Subsidiary总体及债务/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合格现金/EBITDA逐项数值调整、出售及偿债备考底稿、实际限制性付款和未公开豁免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645920" y="36758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司库/贷款代理行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94360" y="42519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06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1645920" y="42519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未公开的交割前估计表、实际124价调组成、最终结算表及尾款、银行收款/还款凭证、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127备考估计与实际费用/留任支付及74已应计费用支付桥、四月新增投资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645920" y="50474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交易财务/司库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下一步核查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47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 2024 分部到重列持续/终止收入的逐项抵销与范围桥；2025 Q1 准备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脚注差异正式解释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财务报告负责人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08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45920" y="28803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DISH 合同争议法律意见、期后收款、和解及对手方能力证据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645920" y="36758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法务/信用控制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48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[S25] Crown Castle 2025 Form 10-K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68fb84e1-1dac-440d-96b4-55b9603e10dd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[E25BS] 印刷及 PDF p58，Consolidated Balance Sheet，2025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/2024 两列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[E25PL] 印刷及 PDF p59，Consolidated Statement of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Operations and Comprehensive Income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[E25CF] 印刷及 PDF p60，Consolidated Statement of Cash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Flows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[E25EQ] 印刷及 PDF p61，Consolidated Statement of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Equity (Deficit)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[E25HFS] note 3，印刷及 PDF p71–72，尤其 p72 资产负债、损益及脚注 (b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)(c)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[E25TAX] note 10，印刷及 PDF p80，所得税组成及法定税率金额调节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[E25CASH] note 16，印刷及 PDF p88，cash reconciliation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table</a:t>
            </a:r>
            <a:endParaRPr lang="en-US" sz="16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49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[E25DEBT] note 8，p75–79 债务表、2018 Tower Revenue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Notes、CP Program；MD&amp;A p40/p45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[E25COV] MD&amp;A p45 covenant table 及脚注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[E25SPE] note 8/p77–78，2018 Tower Revenue Notes 及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2009 Securitized Notes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[E25AUDIT] p56–57，PwC auditor report，2026-02-23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[EDISH] note 18/p89，Subsequent Events—DISH Wireless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[EOLDVERSION] Exhibit Index p101–102，Ex10.49–10.55，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尤其2022 Amendment7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[S24] Crown Castle 2024 Form 10-K（原报）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baed4489-6578-4e32-81e6-a084eea66a02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[E24IMPAIR] p48–50 Critical Accounting Policies；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note 5，印刷/PDF p75 goodwill rollforward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[E24WRITE] MD&amp;A p39，Asset write-down charges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[E24ORIG] 原报 p61 合并损益；note 14/p88–89 segment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results，分部表p89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51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[SSEC] Crown Castle 2025-06-04 SEC comment-response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 letter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https://www.sec.gov/Archives/edgar/data/1051470/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000105147025000154/filename1.htm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[ESECSEQ] 公司回复 Staff comment 1；引用 ASC350-20-35-31 和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 ASC360-10-35-17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[ESECSALE] 公司回复 comment 2；ASC205-20-45-3A、税项及830损失/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819准备/11售出费用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[SQ125] Crown Castle Q1 2025 Form 10-Q 原报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https://www.sec.gov/Archives/edgar/data/1051470/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000105147025000141/cci-20250331.htm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[EQ125] note 3，2025-03-31 held-for-sale table</a:t>
            </a:r>
            <a:endParaRPr lang="en-US" sz="16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52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[SQ126] Crown Castle Q1 2026 Form 10-Q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de60fca2-89d5-499d-899b-8e0a23030617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[EQ126HFS] note 3 印刷 p9/PDF p10，2026/2025 比较损益、准备表、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脚注 (c)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[EQ126SALE] note 14 印刷 p19/PDF p20，Completion of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Strategic Fiber Transaction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[EQ126FAC] note 14 印刷 p20/PDF p21；MD&amp;A/p28 May 5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balances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[EQ126INDEX] Item6 Exhibit Index，印刷p38/PDF p39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[SSALE] Crown Castle announces completion of fiber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and small cell sale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https://investor.crowncastle.com/node/29086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[ESALE] 2026-05-01 官方 completion 公告开头、Use of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proceeds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53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[SCREDIT] Crown Castle May 1 2026 Form 8-K and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Exhibit 10.1 credit agreement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dd7712df-51aa-4a29-b6a5-67becf7b2234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[ECREDIT] 8-K Item 1.01；协议 §1.01、§1.04/p43、§1.05/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p44、§4.02/p93、§6.10/p108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[SFASB] FASB ASU 2017-04 — Simplifying the Test for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 Goodwill Impairment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https://storage.fasb.org/ASU2017-04.pdf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[EFASB] 印刷 p12/PDF p18：350-20-35-31/32；印刷 p8/PDF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p14：350-20-35-4/8 修订标记</a:t>
            </a:r>
            <a:endParaRPr lang="en-US" sz="16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54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[SPROFORMA] 2026-05-01 出售8-K及Exhibit99.2公开未经审计备考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f4ff727f-0f13-4f18-affa-1ff461698ccf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[EPROBASIS] Ex99.2 PDF p18编制基础；p21 Note1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[EPROBS] Ex99.2 PDF p19资产负债表；p21 Note2(A)–(D)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[EPROPL] Ex99.2 PDF p20损益；p21 Note2(E)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[ESALEVERSION] 8-K PDF p2 Item2.01、p3 Exhibit 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Index；Ex99.1 p10 Fiber Business定义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[SSPA] 2025-03-13签署出售协议（2025-03-17提交8-K Exhibit2.1）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3b910737-4f3d-4197-a8b4-893f83855c9f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[ESPAPRICE] §2.2–2.3，PDF p45–48；§1.1定义PDF p16/20/23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/34–37/40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[ESPASETTLE] §2.4–2.7，PDF p48–54；§12.9 PDF p160</a:t>
            </a:r>
            <a:endParaRPr lang="en-US" sz="16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原文来源与定位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Crown Castle Inc. and subsidiaries  |  2025-12-31  |  crown-castle-2025-public-1  | 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[SOLDCREDIT] 2022-07-08 Amendment No.7及附后旧信用协议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https://investor.crowncastle.com/static-files/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d735da3e-9136-43ce-ad76-3a96bcb686cf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[EOLDCREDIT] §1.01定义：印刷p13–17/27–28/40/44/50–52；§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1.04/1.05 p55–56；§6.09/6.10 p129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Crown Castle 年报与Fiber出售分析</dc:title>
  <dc:subject>通过四表、附注、出售协议及信用协议分析交易会计、现金资源和债务约束，形成可复算的公开资料研究成果。</dc:subject>
  <dc:creator>annual-report-analysis</dc:creator>
  <cp:lastModifiedBy>annual-report-analysis</cp:lastModifiedBy>
  <cp:revision>1</cp:revision>
  <dcterms:created xsi:type="dcterms:W3CDTF">2026-10-03T22:17:59Z</dcterms:created>
  <dcterms:modified xsi:type="dcterms:W3CDTF">2026-10-03T22:17:59Z</dcterms:modified>
</cp:coreProperties>
</file>