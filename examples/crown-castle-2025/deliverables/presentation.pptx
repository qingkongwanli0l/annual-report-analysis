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研究执行于 2026-10-03；信息截止严格为 2026-06-30。2026 年二季报及七月业绩公告虽涉及六月期末，因发表日晚于截止日排除。
完整下载不等于逐页阅读。2025 年报已重点阅读审计意见、四表、政策/减值、终止经营、债务、税、现金及期后事项；2024 年报和新协议阅读范围见来源说明。
未取得企业内部总账、估值模型、银行流水、合规证明、资金上划限制清单、最终交割结算及完整出售协议附件；不能形成审计保证或可支用现金/正式评级。
2024 原报收入与 2025 年报重列比较收入差异，以及 2026 Q1 对 2025 Q1 待售准备回述差异尚未解释。
现金流桥使用合并表内持续/终止组成项目，不能将其视为法律母公司单体现金流。
US GAAP 条款编号来自 SEC 公司回复及公司政策，未将公司回复视为 SEC 批准，亦未声称已阅读全文 FASB Codification。
公开备考BS假设2025-12-31完成、利润表假设2025-01-01完成，2026-05-01发表；其金额不属于2025已报实数或2026五月实际现金。出售协议后续修订未找到可识别文本，最初签署机制不能视为全部最终条款。
S&amp;P桥包含披露支持的最佳估计及局部敏感性；未完成主权/行业、竞争地位、前瞻财务、支持与债项全形成链，不宣告机构级别。
来源 SSEC, SFASB 的正式公布日期未核验；不得据此证明在信息截止日前已公开。当前披露内容可以继续分析，历史时点结论须补充公告时间证据。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F05, F08, F09, F15, F17
[F05] supported / [F08] supported / [F09] conditional / [F15] conditional / [F17] conditional
底稿 F05 / F08 / F09 / F15 / F17；来源 S25 / SQ126 / SSALE / SPROFORMA / SSPA / SCREDIT / SOLDCREDIT / S_SP_RATIOS / S_SP_XBRL / S_SP_Q4 / S_SP_SECTORS / S_SP_Q1
原文定位、URL及完整引用见本页备注；完整方法和明细见同名底稿及 Word/Excel。
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
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
[ECREDIT] Crown Castle May 1 2026 Form 8-K and Exhibit 10.1 credit agreement | 8-K Item 1.01；协议 §1.01、§1.04/p43、§1.05/p44、§4.02/p93、§6.10/p108
https://investor.crowncastle.com/static-files/dd7712df-51aa-4a29-b6a5-67becf7b2234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[E_SP_ARO] Crown Castle 2025 Form 10-K | PDF/印刷p65、p73–74；p80–82税务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
下载官方 PDF，以 pypdf 提取；关键表逐页图像复核；原件 SHA-256 留存
仅采用截止日前公开原件；分别保留原报、重列比较期和期后事项，禁止跨期倒填
以共同底稿复算四表及交易调节；金额按原表百万美元记录，勾稽差额以美元列示
已执行程序仅为公开资料阅读、版本对照和计算；内部审计证据列为待核请求
读取出售备考、签署出售协议和新旧信贷定义，将备考假设、实际交割收付及尚未完成的计划分列。
按S&amp;P Ratios and Adjustments 2025-12-17及Sector-Specific Corporate Methodology 2025-09-26数字基础设施章建立历史调整桥和条件路径；方法代理、实际现金和分析估计分列。
研究执行于 2026-10-03；信息截止严格为 2026-06-30。2026 年二季报及七月业绩公告虽涉及六月期末，因发表日晚于截止日排除。
完整下载不等于逐页阅读。2025 年报已重点阅读审计意见、四表、政策/减值、终止经营、债务、税、现金及期后事项；2024 年报和新协议阅读范围见来源说明。
未取得企业内部总账、估值模型、银行流水、合规证明、资金上划限制清单、最终交割结算及完整出售协议附件；不能形成审计保证或可支用现金/正式评级。
2024 原报收入与 2025 年报重列比较收入差异，以及 2026 Q1 对 2025 Q1 待售准备回述差异尚未解释。
现金流桥使用合并表内持续/终止组成项目，不能将其视为法律母公司单体现金流。
US GAAP 条款编号来自 SEC 公司回复及公司政策，未将公司回复视为 SEC 批准，亦未声称已阅读全文 FASB Codification。
公开备考BS假设2025-12-31完成、利润表假设2025-01-01完成，2026-05-01发表；其金额不属于2025已报实数或2026五月实际现金。出售协议后续修订未找到可识别文本，最初签署机制不能视为全部最终条款。
S&amp;P桥包含披露支持的最佳估计及局部敏感性；未完成主权/行业、竞争地位、前瞻财务、支持与债项全形成链，不宣告机构级别。
来源 SSEC, SFASB 的正式公布日期未核验；不得据此证明在信息截止日前已公开。当前披露内容可以继续分析，历史时点结论须补充公告时间证据。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F01, F02, F03, C_contnimove, saleloss2025
[F01] supported / [F02] supported / [F03] supported
底稿 F01 / F02 / F03；来源 S25 / SSEC / S24 / SFASB / SSPA / SPROFORMA / SQ126
原文定位、URL及完整引用见本页备注；完整方法和明细见同名底稿及 Word/Excel。
[E25PL] Crown Castle 2025 Form 10-K | 印刷及 PDF p59，Consolidated Statement of Operations and Comprehensive Income
https://investor.crowncastle.com/static-files/68fb84e1-1dac-440d-96b4-55b9603e10dd
[ESECSEQ] Crown Castle 2025-06-04 SEC comment-response letter | 公司回复 Staff comment 1；引用 ASC350-20-35-31 和 ASC360-10-35-17
https://www.sec.gov/Archives/edgar/data/1051470/000105147025000154/filename1.htm
[E24IMPAIR] Crown Castle 2024 Form 10-K（原报） | p48–50 Critical Accounting Policies；note 5，印刷/PDF p75 goodwill rollforward
https://investor.crowncastle.com/static-files/baed4489-6578-4e32-81e6-a084eea66a02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
[E25HFS] Crown Castle 2025 Form 10-K | note 3，印刷及 PDF p71–72，尤其 p72 资产负债、损益及脚注 (b)(c)
https://investor.crowncastle.com/static-files/68fb84e1-1dac-440d-96b4-55b9603e10dd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[E25EQ] Crown Castle 2025 Form 10-K | 印刷及 PDF p61，Consolidated Statement of Equity (Deficit)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F04, F05, F12, cash2025, C_cashdiv_2025, cashend2025
[F04] supported / [F05] supported / [F12] supported
底稿 F04 / F05 / F12；来源 S25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[E25CASH] Crown Castle 2025 Form 10-K | note 16，印刷及 PDF p88，cash reconciliation table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[E25EQ] Crown Castle 2025 Form 10-K | 印刷及 PDF p61，Consolidated Statement of Equity (Deficit)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[E25AUDIT] Crown Castle 2025 Form 10-K | p56–57，PwC auditor report，2026-02-23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F08, F15, C_saleproceeds, debtrepaid, costpaid, C_pf_cash
[F08] supported / [F15] conditional
底稿 F08 / F15；来源 SQ126 / SPROFORMA / SSALE / S25 / SSPA / S_SP_RATIOS / S_SP_XBRL
原文定位、URL及完整引用见本页备注；完整方法和明细见同名底稿及 Word/Excel。
[EQ126SALE] Crown Castle Q1 2026 Form 10-Q | note 14 印刷 p19/PDF p20，Completion of Strategic Fiber Transaction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
[E_SP_RATIOS] S&amp;P Corporate Methodology: Ratios And Adjustments | 原发2019-04-01，2025-12-17重发，PDF7 ¶31–35；17–25 ¶86–137；44–45 ¶223–225
https://www.maalot.co.il/Publications/MT20251223092257.pdf
[E_SP_ARO] Crown Castle 2025 Form 10-K | PDF/印刷p65、p73–74；p80–82税务
https://investor.crowncastle.com/static-files/68fb84e1-1dac-440d-96b4-55b9603e10dd
[E25CASH] Crown Castle 2025 Form 10-K | note 16，印刷及 PDF p88，cash reconciliation table
https://investor.crowncastle.com/static-files/68fb84e1-1dac-440d-96b4-55b9603e10dd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F06, F07, F09, C_headroom2025, C_newnetLC, leverage2025, limit2025
[F06] conditional / [F07] supported / [F09] conditional
底稿 F06 / F07 / F09；来源 S25 / SOLDCREDIT / SCREDIT / SQ126 / SPROFORMA
原文定位、URL及完整引用见本页备注；完整方法和明细见同名底稿及 Word/Excel。
[E25COV] Crown Castle 2025 Form 10-K | MD&amp;A p45 covenant table 及脚注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
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[E25BS] Crown Castle 2025 Form 10-K | 印刷及 PDF p58，Consolidated Balance Sheet，2025/2024 两列
https://investor.crowncastle.com/static-files/68fb84e1-1dac-440d-96b4-55b9603e10dd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[EQ126FAC] Crown Castle Q1 2026 Form 10-Q | note 14 印刷 p20/PDF p21；MD&amp;A/p28 May 5 balances
https://investor.crowncastle.com/static-files/de60fca2-89d5-499d-899b-8e0a23030617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F13, F14, F15, sp_ebitda, sp_leverage, sp_ffo, sp_focf
[F13] conditional / [F14] conditional / [F15] conditional
底稿 F13 / F14 / F15；来源 S25 / S_SP_RATIOS / S_SP_XBRL / SPROFORMA / SQ126
原文定位、URL及完整引用见本页备注；完整方法和明细见同名底稿及 Word/Excel。
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[E_SP_ARO] Crown Castle 2025 Form 10-K | PDF/印刷p65、p73–74；p80–82税务
https://investor.crowncastle.com/static-files/68fb84e1-1dac-440d-96b4-55b9603e10dd
[E_SP_CASH] Crown Castle 2025 Form 10-K | PDF/印刷p68利息表；p87补充现金流
https://investor.crowncastle.com/static-files/68fb84e1-1dac-440d-96b4-55b9603e10dd
[E_SP_LEASE] Crown Castle 2025 Form 10-K | PDF/印刷p58、p64、p75、p85、p87；note14
https://investor.crowncastle.com/static-files/68fb84e1-1dac-440d-96b4-55b9603e10dd
[E_SP_RATIOS] S&amp;P Corporate Methodology: Ratios And Adjustments | 原发2019-04-01，2025-12-17重发，PDF7 ¶31–35；17–25 ¶86–137；44–45 ¶223–225
https://www.maalot.co.il/Publications/MT20251223092257.pdf
[E_SP_SBC] Crown Castle 2025 Form 10-K | PDF/印刷p59、p65、p83–84
https://investor.crowncastle.com/static-files/68fb84e1-1dac-440d-96b4-55b9603e10dd
[E_SP_SCOPE] Crown Castle 2025 Form 10-K | note1/PDF及印刷p62；p60、p87–88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[E25CASH] Crown Castle 2025 Form 10-K | note 16，印刷及 PDF p88，cash reconciliation table
https://investor.crowncastle.com/static-files/68fb84e1-1dac-440d-96b4-55b9603e10dd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F11, F16, F17, C_sp_q1_cfo_change, C_sp_renew_share
[F11] conditional / [F16] supported / [F17] conditional
底稿 F11 / F16 / F17；来源 SQ126 / S_SP_Q4 / S25 / S_SP_Q1 / S_SP_SECTORS
原文定位、URL及完整引用见本页备注；完整方法和明细见同名底稿及 Word/Excel。
[E_SP_Q1CFO] Crown Castle Q1 2026 Form 10-Q | PDF6/印刷p5，2026Q1/2025Q1现金流表；PDF19–20/印刷p18–19，note13重组事项
https://investor.crowncastle.com/static-files/de60fca2-89d5-499d-899b-8e0a23030617
[E_SP_RENEW] Crown Castle Q4 2025 Supplemental Information | PDF13/印刷p12；TENANT OVERVIEW及脚注(a)–(f)
https://investor.crowncastle.com/static-files/bea23792-6649-4b95-9395-aa837e68396c
[EDISH] Crown Castle 2025 Form 10-K | note 18/p89，Subsequent Events—DISH Wireless
https://investor.crowncastle.com/static-files/68fb84e1-1dac-440d-96b4-55b9603e10dd
[E_SP_Q1BILL] Crown Castle Q1 2026 Supplemental Information | PDF10/印刷p9：2026Q1列，Components of changes in site rental revenues
https://investor.crowncastle.com/static-files/38f6a584-60a8-452d-bfd2-a44103aeec82
[E_SP_LAND] Crown Castle Q4 2025 Supplemental Information | PDF14/印刷p13：GROUND INTEREST OVERVIEW及脚注(e)–(i)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底稿 F10, F12, F06, F09, F14, F15, F17
[F10] unresolved / [F12] supported / [F06] conditional / [F09] conditional / [F14] conditional / [F15] conditional / [F17] conditional
底稿 F10 / F12 / F06 / F09 / F14 / F15 / F17；来源 S24 / S25 / SQ125 / SSEC / SQ126 / SOLDCREDIT / SCREDIT / SPROFORMA / S_SP_RATIOS / S_SP_XBRL / S_SP_Q4 / S_SP_SECTORS / S_SP_Q1
原文定位、URL及完整引用见本页备注；完整方法和明细见同名底稿及 Word/Excel。
[E24ORIG] Crown Castle 2024 Form 10-K（原报） | 原报 p61 合并损益；note 14/p88–89 segment results，分部表p89
https://investor.crowncastle.com/static-files/baed4489-6578-4e32-81e6-a084eea66a02
[E25PL] Crown Castle 2025 Form 10-K | 印刷及 PDF p59，Consolidated Statement of Operations and Comprehensive Income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
[E25AUDIT] Crown Castle 2025 Form 10-K | p56–57，PwC auditor report，2026-02-23
https://investor.crowncastle.com/static-files/68fb84e1-1dac-440d-96b4-55b9603e10dd
[E25BS] Crown Castle 2025 Form 10-K | 印刷及 PDF p58，Consolidated Balance Sheet，2025/2024 两列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
[EQ126FAC] Crown Castle Q1 2026 Form 10-Q | note 14 印刷 p20/PDF p21；MD&amp;A/p28 May 5 balances
https://investor.crowncastle.com/static-files/de60fca2-89d5-499d-899b-8e0a23030617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[EPROPL] 2026-05-01 出售8-K及Exhibit99.2公开未经审计备考 | Ex99.2 PDF p20损益；p21 Note2(E)
https://investor.crowncastle.com/static-files/f4ff727f-0f13-4f18-affa-1ff461698ccf
[E_SP_RATIOS] S&amp;P Corporate Methodology: Ratios And Adjustments | 原发2019-04-01，2025-12-17重发，PDF7 ¶31–35；17–25 ¶86–137；44–45 ¶223–225
https://www.maalot.co.il/Publications/MT20251223092257.pdf
[E_SP_CASH] Crown Castle 2025 Form 10-K | PDF/印刷p68利息表；p87补充现金流
https://investor.crowncastle.com/static-files/68fb84e1-1dac-440d-96b4-55b9603e10dd
[E_SP_SBC] Crown Castle 2025 Form 10-K | PDF/印刷p59、p65、p83–84
https://investor.crowncastle.com/static-files/68fb84e1-1dac-440d-96b4-55b9603e10dd
[E_SP_ARO] Crown Castle 2025 Form 10-K | PDF/印刷p65、p73–74；p80–82税务
https://investor.crowncastle.com/static-files/68fb84e1-1dac-440d-96b4-55b9603e10dd
[E_SP_XBRL] SEC Companyfacts：Crown Castle 2025原申报事实 | facts/us-gaap/InterestPaidNet、InterestCostsCapitalized、AllocatedShareBasedCompensationExpense、ShareBasedCompensation；指定原申报accession
https://data.sec.gov/api/xbrl/companyfacts/CIK0001051470.json
[E25CF] Crown Castle 2025 Form 10-K | 印刷及 PDF p60，Consolidated Statement of Cash Flows
https://investor.crowncastle.com/static-files/68fb84e1-1dac-440d-96b4-55b9603e10dd
[E_SP_LEASE] Crown Castle 2025 Form 10-K | PDF/印刷p58、p64、p75、p85、p87；note14
https://investor.crowncastle.com/static-files/68fb84e1-1dac-440d-96b4-55b9603e10dd
[E_SP_SCOPE] Crown Castle 2025 Form 10-K | note1/PDF及印刷p62；p60、p87–88
https://investor.crowncastle.com/static-files/68fb84e1-1dac-440d-96b4-55b9603e10dd
[E25CASH] Crown Castle 2025 Form 10-K | note 16，印刷及 PDF p88，cash reconciliation table
https://investor.crowncastle.com/static-files/68fb84e1-1dac-440d-96b4-55b9603e10dd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
[E_SP_LAND] Crown Castle Q4 2025 Supplemental Information | PDF14/印刷p13：GROUND INTEREST OVERVIEW及脚注(e)–(i)
https://investor.crowncastle.com/static-files/bea23792-6649-4b95-9395-aa837e68396c
[E_SP_RENEW] Crown Castle Q4 2025 Supplemental Information | PDF13/印刷p12；TENANT OVERVIEW及脚注(a)–(f)
https://investor.crowncastle.com/static-files/bea23792-6649-4b95-9395-aa837e68396c
[E_SP_SECTORS] S&amp;P Sector-Specific Corporate Methodology — Digital Infrastructure | 2025-07-07原发、2025-09-26重发；PDF61–78数字基础设施章，尤其68–71及77
https://www.maalot.co.il/Publications/MT20251012123218.pdf
[E_SP_Q1BILL] Crown Castle Q1 2026 Supplemental Information | PDF10/印刷p9：2026Q1列，Components of changes in site rental revenues
https://investor.crowncastle.com/static-files/38f6a584-60a8-452d-bfd2-a44103aeec82
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Crown Castle 年报与Fiber出售分析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Crown Castle Inc. and subsidiaries  |  2025-12-31  |  crown-castle-2025-public-3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通过四表、附注、出售协议及信用协议分析交易会计、现金资源和债务约束，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形成可复算的公开资料研究成果。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US GAAP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合并报表；明确区分持续经营、终止经营及契约借款人口径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2026-06-30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48920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来源 SSEC, SFASB 公布日期未核验。不得将当前内容分析称为历史时点可用性验证。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出售释放资金，售后信用判断仍取决于现金与合同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09728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截至2026-06-30，已完成出售及部分还债；后续回购、偿债计划仍须与实际支付分开。历史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杠杆不能证明出售后的信用等级。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本简报采用US GAAP披露及S&amp;P《Ratios and Adjustments》2025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-12-17版、《Sector-Specific Corporate Methodology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》2025-09-26版数字基础设施章的调整路径；未完成全套全球尺度评级形成链，不给主体或债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项字母。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关键前提是售后实际债务、可上划现金和保留业务预测。取得这些资料后须连同续约与客户违约压力更新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判断。完整分析及口径见同一底稿、Word与Excel。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[F05] supported / [F08] supported / [F09] conditional / [F15] conditional /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 [F17] conditional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F05 / F08 / F09 / F15 / F17；来源 S25 / SQ126 / SSALE / SPROFORMA / SSPA / SCREDIT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/ SOLDCREDIT / S_SP_RATIOS / S_SP_XBRL / S_SP_Q4 / S_SP_SECTORS / S_SP_Q1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利润改善须拆开减值、出售计量与持续经营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Fiber长期资产的未折现测试通过，与商誉全额减值可以同时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成立；测试单元、计量基础不同，且另有节点核销。缺管理层预测及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估值模型，不能据披露顺序认证计量合理。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待售后停止折旧、终止经营重列比较数据；持续净利润变化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-59.00 百万USD，不宜用合并利润反弹替代经营改善。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处置损失1,575.00 百万USD包含准备及已发生售出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成本，费用不等于当期付现。估计净售价差额尚未解释；补分类及估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值底稿后应同步重算税、权益与现金影响。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持续净利润变化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-59.00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 终止经营处置损失（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费用正数）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1,575.00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[F01] supported / [F02] supported / [F03] supported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F01 / F02 / F03；来源 S25 / SSEC / S24 / SFASB / SSPA / SPROFORMA / SQ126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现金勾稽通过，可调度资金仍要按法律主体确认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合并四表的主要关系已复算，但年末全部现金308.00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USD包含受限及终止经营部分；持续非受限现金仅99.00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持续CFO减资本支出、再与集团分配比较为-390.00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USD，是一项压力观察，尚非母公司现金缺口。旧授信、CP备用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与现金不能重复相加。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出售形成的期后资金不回写年末。取得法律实体资金、上划限制、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到期及资本承诺后，才能建立真正可用的流动性覆盖；算术一致也不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替代存在性、计价或完整性审计。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 持续经营非受限现金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99.00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 持续 CFO 减持续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资本支出及集团已付分配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-390.00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[F04] supported / [F05] supported / [F12] supported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F04 / F05 / F12；来源 S25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交割现金、公开备考与后续计划保留三条时间线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五月实际价款按合同总价减初步调整复算为8,376.00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USD，另付约74.00 百万USD已计提成本，已还债约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3,300.00 百万USD。后续CP清偿及回购仍是计划，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不能全部视为交割日已完成。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公开备考假设在2025年末已出售，其现金结果6,346.00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百万USD与假设偿债、费用基准均不等于五月实际期末现金。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最终结算尚缺；取得截止日前公开的确认后再补事实，晚于截止的二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季度披露留作另一期验证。两条现金桥不可拼接来推算售后余额。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交割初步实际价款桥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8,376.00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五月一日实际还债（约）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3,300.00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[F08] supported / [F15]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F08 / F15；来源 SQ126 / SPROFORMA / SSALE / S25 / SSPA / S_SP_RATIOS / S_SP_XBRL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契约余量、提款条件和债项顺位分别判断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旧协议净杠杆5.90 倍对限额6.50 倍；该余量不能直接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换算成可借金额，契约EBITDA与通用EBITDA不同。待售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但未处置业务亦不能因GAAP终止经营直接剔除。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五月新协议替代旧协议，须按实际出售及偿债重建定义口径；名义额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度扣信用证4,460.60 百万USD不等于可支用现金，提款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还有陈述、无违约等条件。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CP短期限、塔票据现金清扫及隔离结构各自影响付款时点和追索。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补合规证书、具体债券条款及回收估值前，不给债项等级，也不以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担保物账面值替代回收。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旧协议净杠杆比率余量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0.60 倍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新承诺扣生效时信用证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4,460.60 百万USD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[F06] conditional / [F07] supported / [F09]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F06 / F07 / F09；来源 S25 / SOLDCREDIT / SCREDIT / SQ126 / SPROFORMA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评级调整改变分类，不会创造可用于还债的现金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租赁债务、盈利及现金分类须同时调整；CFO的租赁加回是方法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代理，实际租赁付现另列。可变费用与已包含的融资租赁不能重复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资本化。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历史调整估计EBITDA3,448.00 百万USD、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FFO2,178.57 百万USD、FOCF2,014.57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百万USD；FOCF尚非扣除全部租赁本金后的自由现金，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也不是机构已发表指标。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资本化现金利息、股份支付及减记差异保留局部敏感性；ARO与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现金抵减须核证据。历史杠杆8.64 倍不代表售后评级；更新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实际现金、债务和资本分配后再接预测。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S&amp;P口径EBITDA分析估计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3,448.00 百万USD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2025历史条件债务/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EBITDA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8.64 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[F13] conditional / [F14] conditional / [F15]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F13 / F14 / F15；来源 S25 / S_SP_RATIOS / S_SP_XBRL / SPROFORMA / SQ126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客户事件与续约集中检验持续现金，而非单向外推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7223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同口径持续经营Q1 CFO同比-20.22%；剔DISH与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Sprint后的billings仍有增长。现金降幅不能全归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DISH，需分解营运资本、利息与重组支付。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DISH合同索赔和管理层可收回判断都不是确定回款；法律回收、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实际收款可能改变应收损失与收入预测。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2028续约组年度化租金暴露中AT&amp;T占90.01%，不代表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当年必然损失。土地控制与迁移成本可能缓释风险；先核low全部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条件，再检验medial或standard。本案CICRA、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竞争地位、可预测CFO归属及续约情景尚未完成，不能直接定档。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0" y="1325880"/>
            <a:ext cx="3566160" cy="4069080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11312" y="1417320"/>
            <a:ext cx="32461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持续经营Q1 CFO同比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-20.22%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2028续约组AT&amp;T暴露占比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37F72"/>
                </a:solidFill>
              </a:rPr>
              <a:t>90.01%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[F11] conditional / [F16] supported / [F17] conditional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F11 / F16 / F17；来源 SQ126 / S_SP_Q4 / S25 / S_SP_Q1 / S_SP_SECTORS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下一步以能改变判断的证据关闭未决事项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crown-castle-2025-public-3  | 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109728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原报与重列收入、上年待售准备回述存在未解释差异。取得正式更正或逐项桥前，保留两版，不能自行选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一个数强行平账。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优先取得截止前售后债务与现金、最终结算、合规证书、客户实收及续约预测；将其接入法律主体资金和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契约定义，评估是否改变流动性及财务档。公开可取得协议应先补读，不泛称内部缺口。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减值、税、股份支付等关键差异需相应底稿。这里完成的是公开资料阅读与复算，未执行函证、控制测试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或估值重建，不能把审计师的程序记作本次执行。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53218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[F10] unresolved / [F12] supported / [F06] conditional / [F09] conditional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13B45"/>
                </a:solidFill>
              </a:rPr>
              <a:t>/ [F14] conditional / [F15] conditional / [F17] conditional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57150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底稿 F10 / F12 / F06 / F09 / F14 / F15 / F17；来源 S24 / S25 / SQ125 / SSEC / SQ126 /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SOLDCREDIT / SCREDIT / SPROFORMA / S_SP_RATIOS / S_SP_XBRL / S_SP_Q4 / S_SP_SECTORS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 / S_SP_Q1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86874"/>
                </a:solidFill>
              </a:rPr>
              <a:t>原文定位、URL及完整引用见本页备注；完整方法和明细见同名底稿及 Word/Excel。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Crown Castle 年报与Fiber出售分析</dc:title>
  <dc:subject>通过四表、附注、出售协议及信用协议分析交易会计、现金资源和债务约束，形成可复算的公开资料研究成果。</dc:subject>
  <dc:creator>annual-report-analysis</dc:creator>
  <cp:lastModifiedBy>annual-report-analysis</cp:lastModifiedBy>
  <cp:revision>1</cp:revision>
  <dcterms:created xsi:type="dcterms:W3CDTF">2026-10-06T02:25:31Z</dcterms:created>
  <dcterms:modified xsi:type="dcterms:W3CDTF">2026-10-06T02:25:31Z</dcterms:modified>
</cp:coreProperties>
</file>