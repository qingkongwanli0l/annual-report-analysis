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基准</c:v>
                </c:pt>
              </c:strCache>
            </c:strRef>
          </c:tx>
          <c:spPr>
            <a:solidFill>
              <a:srgbClr val="237F72"/>
            </a:solidFill>
            <a:ln w="25400" cap="flat">
              <a:solidFill>
                <a:srgbClr val="237F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37F72"/>
              </a:solidFill>
              <a:ln w="9525" cap="flat">
                <a:solidFill>
                  <a:srgbClr val="237F72"/>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Sheet1!$B$2:$B$6</c:f>
              <c:numCache>
                <c:formatCode>0.00</c:formatCode>
                <c:ptCount val="5"/>
                <c:pt idx="0">
                  <c:v>9.2686062725</c:v>
                </c:pt>
                <c:pt idx="1">
                  <c:v>1.4381306312</c:v>
                </c:pt>
                <c:pt idx="2">
                  <c:v>7.0258351029999995</c:v>
                </c:pt>
                <c:pt idx="3">
                  <c:v>5.5450257040999995</c:v>
                </c:pt>
                <c:pt idx="4">
                  <c:v>2.726631919</c:v>
                </c:pt>
              </c:numCache>
            </c:numRef>
          </c:val>
          <c:smooth val="0"/>
        </c:ser>
        <c:ser>
          <c:idx val="1"/>
          <c:order val="1"/>
          <c:tx>
            <c:strRef>
              <c:f>Sheet1!$C$1</c:f>
              <c:strCache>
                <c:ptCount val="1"/>
                <c:pt idx="0">
                  <c:v>收款另延5%至窗后</c:v>
                </c:pt>
              </c:strCache>
            </c:strRef>
          </c:tx>
          <c:spPr>
            <a:solidFill>
              <a:srgbClr val="A34638"/>
            </a:solidFill>
            <a:ln w="25400" cap="flat">
              <a:solidFill>
                <a:srgbClr val="A346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4638"/>
              </a:solidFill>
              <a:ln w="9525" cap="flat">
                <a:solidFill>
                  <a:srgbClr val="A34638"/>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Sheet1!$C$2:$C$6</c:f>
              <c:numCache>
                <c:formatCode>0.00</c:formatCode>
                <c:ptCount val="5"/>
                <c:pt idx="0">
                  <c:v>9.2686062725</c:v>
                </c:pt>
                <c:pt idx="1">
                  <c:v>0.8085502098999999</c:v>
                </c:pt>
                <c:pt idx="2">
                  <c:v>5.1571669201</c:v>
                </c:pt>
                <c:pt idx="3">
                  <c:v>2.9386289424000003</c:v>
                </c:pt>
                <c:pt idx="4">
                  <c:v>-0.6776776606999999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CE4E0"/>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亿元人民币</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dTable>
        <c:showHorzBorder val="0"/>
        <c:showVertBorder val="0"/>
        <c:showOutline val="0"/>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00"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条件研究建议：主体与科顺转债BBB+、负面；现金范围桥待核","question":"所选境内方法下，证据如何形成具体建议？","conclusion":"现金季节锚的范围桥尚未闭合；以下数字仅为Δ_A=Δ_H=Γ=0条件参照。以信息截止日的公开证据和明示判断，基准建议主体及科顺转债为BBB+、负面展望。经营C、财务F4的指示单元格为a-/bbb+，选择bbb+；不计可证实的额外支持增益，普通无担保直接债项暂同级。建议以常态融资渠道仍运行、未证实到期不支付，且实际付款日前资金与用途安排足以覆盖为条件。母公司可调度资金和持续承诺后果未核实，不能作为无条件正式评级发布。","mechanism":"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status":"conditional","evidence":["ks_r_e_business","ks_r_e_finance","ks_r_e_matrix","ks_a_ebitda_2025","ks_d_c_book_ratio","ks_horizon_base_peak_funding_intercept_U650","ks_horizon_collection_delay_5pct_peak_funding_intercept_U650","ks_horizon_e_ar_scope","ks_horizon_e_decontrol_scope","ks_credit_e_facilities"],"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environment_score","ks_r_competitive_score","ks_r_financial_score","ks_r_financial_score_alternative","ks_r_financial_lower","ks_r_financial_upper","ks_a_ebitda_2025","ks_d_c_book_ratio","ks_horizon_base_peak_funding_intercept_U650","ks_horizon_collection_delay_5pct_peak_funding_intercept_U650"]}
{"id":"ks_r_liquidity","title":"季度现金压力决定跟踪顺序","question":"年末正现金是否掩盖更早缺口？","conclusion":"现金季节锚的范围桥尚未闭合；以下数字仅为Δ_A=Δ_H=Γ=0条件参照。从三月末实际集团现金接续的无新增融资模型中，基准季度低点1.44 亿元人民币，恶化低点-3.38 亿元人民币；基准再少收4.88%客户现金即触及季度末零现金。基准另预留用途资金后低点-5.06 亿元人民币。这些是条件值，不能替代六月实际数或月内、母公司支付证明。","mechanism":"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status":"conditional","evidence":["ks_d_l_e_cash_actual","ks_d_l_e_season","ks_r_base_cash_min","ks_r_worse_cash_min","ks_d_e_fund_new","ks_horizon_e_ar_scope","ks_horizon_e_decontrol_scope","ks_credit_e_facilities"],"counterevidence":["ks_a_e_q1","ks_a_e_maturity"],"alternatives":["银行续贷、资产变现或真实现金上划可能补足缺口，但须有可执行额度、条件和时点。","实际采购、建设支出或回款季节性可能不同于研究假设，需用实际付款台账替换。"],"changes_if":"若现金短缺由已落实融资或可合法延后支出覆盖，重跑现金表并判断是否足以维持BBB+；若缺口在已核实付款日仍存在，先确认具体偿付事件并重定主体及受影响债项。 须先核实Δ_A、Δ_H及Γ并重跑全部时点和营运缓冲；零调整选点未证明实际资金覆盖，也不构成已证实现金必然更差。","figure_refs":["ks_r_base_cash_min","ks_r_worse_cash_min","ks_r_base_receipt_boundary","ks_r_base_reserve650"]}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条件研究建议：主体与科顺转债BBB+、负面；现金范围桥待核","question":"所选境内方法下，证据如何形成具体建议？","conclusion":"现金季节锚的范围桥尚未闭合；以下数字仅为Δ_A=Δ_H=Γ=0条件参照。以信息截止日的公开证据和明示判断，基准建议主体及科顺转债为BBB+、负面展望。经营C、财务F4的指示单元格为a-/bbb+，选择bbb+；不计可证实的额外支持增益，普通无担保直接债项暂同级。建议以常态融资渠道仍运行、未证实到期不支付，且实际付款日前资金与用途安排足以覆盖为条件。母公司可调度资金和持续承诺后果未核实，不能作为无条件正式评级发布。","mechanism":"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年报未用银行借款10.8亿元与跟踪报告未用授信47亿元的冲突另见ks_credit_find_facilities，尚未形成银行合同桥；不能以额度披露或现有再融资4.65研究分证明付款资金已落实。","status":"conditional","evidence":["ks_r_e_business","ks_r_e_finance","ks_r_e_matrix","ks_a_ebitda_2025","ks_d_c_book_ratio","ks_horizon_base_peak_funding_intercept_U650","ks_horizon_collection_delay_5pct_peak_funding_intercept_U650","ks_horizon_e_ar_scope","ks_horizon_e_decontrol_scope","ks_credit_e_facilities"],"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environment_score","ks_r_competitive_score","ks_r_financial_score","ks_r_financial_score_alternative","ks_r_financial_lower","ks_r_financial_upper","ks_a_ebitda_2025","ks_d_c_book_ratio","ks_horizon_base_peak_funding_intercept_U650","ks_horizon_collection_delay_5pct_peak_funding_intercept_U650"]}
{"id":"ks_r_support_assessment","title":"外部支持：不计未经证实的评级增益","question":"哪些支持能力与意愿证据能够改变独立信用？","conclusion":"基准不计额外支持增益。自然人控制及对特定银行义务的保证未证明本债或全部偿债需要有及时支持；普通政府补助未证明困难时救助。该选择是现有证据下的研究处理，不是“民企无支持”或未来不会支持的事实判断。","mechanism":"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status":"conditional","evidence":["ks_r_e_support","ks_b_e_ownership","ks_a_e_related"],"counterevidence":["ks_a_e_related","ks_a_e_post"],"alternatives":["地方就业、技术或项目重要性可能增加协助意愿，但需具体规模和可执行资金支持。","股东可投入资金，但股权质押、已有保证和未核个人资源使支持额度未定。"],"changes_if":"取得具体支持方独立偿债能力、合法决策、覆盖义务、付款触发及到账时间，再按同一支持方法重做提升；不把普通授信或既有补助重新加成一档。","figure_refs":[]}
{"id":"ks_r_adjustments","title":"个体调整逐项判断及不重复计入","question":"基础因子之外是否还有改变结果的增量事项？","conclusion":"未来投资及基金承诺、ESG、表外义务、信用记录与其他事项逐项保留。当前研究不在已反映的亏损、资产质量和治理弱项之外再机械扣档；持续承诺的具体后果和用途恢复若形成未覆盖的近期付款或不可调度约束，基准评级条件即失效，必须重新分析。","mechanism":"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status":"conditional","evidence":["ks_r_e_matrix","ks_a_e_related","ks_a_e_governance","ks_a_e_fixed","ks_b_e_fund","ks_d_e_commitment"],"counterevidence":["ks_a_e_audit","ks_a_e_control"],"alternatives":["整改、投资收缩或真实回款改善可以减轻增量风险，但只有实施证据才能纳入。","新的监管处罚、质量赔偿或已到期代偿可能同时削弱现金与融资渠道，不能只在治理文字中描述。"],"changes_if":"新事实先量化对现金、资产和基础因素的影响，再识别未被反映的增量风险；若需个体档差，说明具体传导及不重复计入依据。不能把所有未知事项直接当中性已核实。","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is","source":"ks_a_s_25","locator":"第107—109页，合并利润表，单位元，2025年度/2024年度","observation":"成本费用、减值、投资及公允价值、税项和损益归属均按原符号保留。","reliability":"发行人正式披露；财务报表经审计，但本分析未复做审计程序"}
{"id":"ks_b_market_position","title":"有全国覆盖的防水竞争者，未证实市场支配力","question":"发行人品牌和规模是否足以穿越行业需求收缩？","conclusion":"科顺全国网络、研发和工程经验支持较强细分竞争力；规模明显小于东方雨虹，不能给出未经核实的全国市场份额。","mechanism":"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status":"supported","evidence":["ks_b_e_operations","ks_b_e_yuhong","ks_b_e_bnbm"],"counterevidence":["ks_b_e_structure"],"alternatives":["主动压缩高风险客户也可导致收入下滑，不能只解释为份额丧失。"],"changes_if":"若可核实活跃渠道、同口径销量份额和多期间收款质量共同改善，可上移判断；若主要渠道失效或相对同业持续衰退则下移。","figure_refs":["ks_b_materials25","ks_b_yh_materials","ks_b_sheet25","ks_b_bn_sheet","ks_b_score_market_center","ks_b_score_market_low","ks_b_score_market_high"]}
{"id":"ks_a_find_earnings","title":"减值与盈利质量","question":"是否把信用损失全部作为一次性剔除？","conclusion":"净亏损-5.48 亿元人民币，信用与资产损失合计7.87 亿元人民币，会计EBITDA-2.11 亿元人民币。归母利润较2024年减少5.71 亿元人民币，其中扣非恶化3.28 亿元人民币、非经常支持减少2.43 亿元人民币，后者占42.51%；不能把恶化全部归于当期一次性损失。","mechanism":"公司归母非经常损益从2.97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status":"supported","evidence":["ks_a_e_is","ks_a_e_revenue","ks_a_e_debtassets","ks_a_ebitda_2025","ks_a_perf_fv_2024","ks_earn_e_nonrec","ks_earn_nonrec_contribution","ks_earn_two_gains_share_2024","ks_earn_ebitda_sensitivity_2024","ks_earn_ebitda_sensitivity_2025"],"counterevidence":["ks_earn_reversal_2025","ks_earn_disposal_2025","ks_earn_restructuring_2025"],"alternatives":["集中确认历史客户损失会使当期亏损高于现金支出，但持续发生的信用成本不能自动全额加回。","应收转回可能来自真实收款，也可能来自抵债及估计变化；须逐笔对应现金、资产接收和准备滚动后判断。","资产处置及债务重组损失也应按经济性质对称审查；公司扣非口径、分析者正常化和机构偿债收益定义分别保留。"],"changes_if":"按客户和年度拆分新增损失、实际回收及转回依据；把金融资产损益对应到处置现金与剩余估值敞口，对持续补助和负向非经常项目作同等核查。证明常态经营收益和现金覆盖利息及必要投入后再改善盈利判断；仅观察2024正EBITDA或2025转回收益不足以成立。","figure_refs":["ks_a_netincome_2025","ks_a_cf_imp_2025","ks_a_ebitda_2025","ks_earn_parent_decline","ks_earn_deducted_decline","ks_earn_nonrec_decline","ks_earn_nonrec_contribution","ks_earn_total_2024","ks_earn_total_2025","ks_a_adjustedni_2024","ks_a_adjustedni","ks_earn_financial_2024","ks_earn_financial_2025","ks_earn_reversal_2024","ks_earn_reversal_2025","ks_earn_two_gains_share_2024","ks_earn_ebitda_sensitivity_2024","ks_earn_ebitda_sensitivity_2025","ks_earn_pbt_sensitivity_2024","ks_earn_pbt_sensitivity_2025","ks_a_perf_fv_2024"]}
{"id":"ks_a_find_tax","title":"递延税可实现性、利润缓冲与资本质量","question":"递延税资产对亏损和资本的支撑能否兑现为偿债能力？","conclusion":"列报DTA（抵销后）5.03 亿元人民币占总权益12.41%；DTA减DTL净税资产4.66 亿元人民币占总权益11.51%，两种口径不能混用。减值及亏损DTA占抵销前DTA80.11%。当期递延税收益1.03 亿元人民币缓冲亏损；仅剔除该收益并保留当期税费，合并净利润展示为-6.51 亿元人民币，不代表现金流入。","mechanism":"减值DTA增加7,302.10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status":"conditional","evidence":["ks_a_e_tax","ks_tax_e_balance","ks_tax_e_cas18","ks_tax_e_pl_cash","ks_a_taxroll","ks_tax_gross_dta_increase","ks_tax_key_share","ks_a_dta_equity","ks_tax_netasset_equity","ks_tax_loss_equity","ks_tax_income_without_deferred"],"counterevidence":["ks_a_taxcurrent","ks_a_unrecognizeddta"],"alternatives":["部分可抵扣差异可由同一纳税主体未来应税利润及应税暂时性差异转回支持；合并亏损本身不证明全部DTA失效。","集团内其他主体盈利不能未经税法依据抵扣亏损，同一未来应税利润不能在多类DTA中重复使用。"],"changes_if":"取得分主体、税区、亏损发生及到期年度、差异转回和抵扣限制后，若可用应税利润不足，则重估相关DTA；亏损DTA占总权益1.76%。经证实需减记时相应降低损益和权益，不再追加一次假定税盾；按选用信用方法评价资本缓冲，并与减值情景去重。未落实的税资产不进入可调度现金，不能据税收益上调偿债能力。","figure_refs":["ks_a_dta_2025","ks_a_dta_equity","ks_tax_netasset_2025","ks_tax_netasset_equity","ks_tax_key_share","ks_tax_deferred_benefit","ks_tax_income_without_deferred","ks_tax_impairment_increase","ks_tax_loss_increase","ks_tax_key_increase","ks_tax_other_increase","ks_tax_gross_dta_increase","ks_tax_key_dta","ks_a_dtaloss","ks_a_taxlossbasis","ks_a_unrecognizeddta","ks_tax_loss_equity","ks_a_tax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eer_finding","title":"同业证据支持相对弱势，但不代表行业总体","question":"经营下行、盈利与资金效率是否仅为行业共同变化？","conclusion":"三家收入均下降：科顺-11.49%、东方雨虹-1.70%、北新-2.09%。科顺CAS资产负债率67.32%，高于两家样本；净额营业周期130.28 days，亦长于雨虹69.89 days、北新38.28 days。这些差异支持结合公司自身回款和资本质量分析，不能直接转成级差。","mechanism":"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status":"conditional","evidence":["ks_r_peer_keshun","ks_r_peer_yuhong","ks_r_peer_bnbm"],"counterevidence":["ks_b_e_operations","ks_a_e_invest"],"alternatives":["北新集团石膏板/涂料业务和两家并购贡献降低防水业务可比性，不能全归因为科顺竞争力差。","减值会缩短净额周期；科顺原值应收敏感性已另算。"],"changes_if":"取得纯防水行业分布、固定范围收入、完整资本化利息及真实收付款周期后重做可比分析；此前不计算行业均值或借同业等级校准本案分数。","figure_refs":["ks_r_peer_keshun_revenue_growth","ks_r_peer_yuhong_revenue_growth","ks_r_peer_bnbm_revenue_growth","ks_r_peer_keshun_liabilities_assets","ks_r_peer_keshun_noc360","ks_r_peer_yuhong_noc360","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{"id":"ks_a_find_cfo","title":"现金质量、季节性及分红","question":"正经营现金能覆盖投入和分配吗？","conclusion":"全年CFO3.20 亿元人民币，扣现金资本开支后1.47 亿元人民币，再扣已分红后-2.41 亿元人民币。末季贡献11.44 亿元人民币，期间现金波动明显。","mechanism":"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status":"supported","evidence":["ks_a_e_cf","ks_a_e_indirect","ks_a_e_summary","ks_a_e_equity","ks_a_indirect_cfo_2025","ks_credit_e_dealer_use","ks_credit_e_yearend_settlement"],"counterevidence":["ks_credit_e_guarantee_q1"],"alternatives":["利润至经营现金的改善可能由非现金信用损失加回形成，不能把加回项目视为经营盈利恢复。","应收净额下降也可能由核销和抵债形成；年末集中收款与下一季现金流出并存时，全年正经营现金不能证明期内无缺口。"],"changes_if":"取得按客户的季度及月度银行收现、非现金重组和供应商付款桥，并证明现金覆盖利息、必要资本投入和分红后仍有余量，才提高现金生成质量判断。 将经销银行放款与本公司收款逐笔匹配，并与保证余额滚动/逾期情况联查，才能辨别可持续经营回款和依赖保证续作的收现。","figure_refs":["ks_a_cfo_2025","ks_a_fcf_2025","ks_a_fcf_after_div","ks_a_quarter4_cfo","ks_a_indirect_cfo_2025"]}
{"id":"ks_a_find_q1","title":"期后季度改善与年度约束","question":"年度弱项是否在研究截止日前消除？","conclusion":"未经审计Q1归母利润6,355.24 万元人民币、毛利率27.51%，CFO仍-5,518.29 万元人民币。季度现金年初桥闭合；信用减值继续且缺完整债务及受限现金附注，不按一季乘四替换全年。","mechanism":"季节性、原材料预付、银行长短债置换和年度末集中减值会令季度盈利与全年偿债能力不同；部分上年季度比较仍是原披露范围。解释19号实施未披露重大影响。","status":"conditional","evidence":["ks_a_e_q1","ks_a_e_policy26","ks_a_q1_cashbridge","ks_a_missing_q1_debt","ks_a_missing_q1_freecash"],"counterevidence":[],"alternatives":["季节性收付款和提前采购可以使季度利润与经营现金方向不同；不能直接把改善同比推广至全年。","季度表尚缺完整利息、受限现金和同控可比明细，短期借款增加也可能是期限置换而非净融资能力增强。"],"changes_if":"取得半年度完整附注后，用原年度及一季度桥拆出季节性、范围、应收回款与新债；持续现金改善且债务到期与资金用途匹配才支持提高判断。","figure_refs":["ks_a_q1_parentincome","ks_a_q1_gm","ks_a_q1_cfo","ks_a_q1_cashbridge","ks_a_missing_q1_debt","ks_a_missing_q1_freecash"]}
{"id":"ks_a_e_indirect","source":"ks_a_s_25","locator":"第208—209页，净利润调节为CFO，单位元","observation":"净利加减非现金损益、递延税、营运资本及其他；经营性应收项目调整为现金流流出，不可由BS净应收下降反推相反符号。","reliability":"发行人正式披露；财务报表经审计，但本分析未复做审计程序"}
{"id":"ks_a_find_contingent","title":"保证、诉讼、质量与关联支持","question":"表外及或有负担是否被财务比率遗漏？","conclusion":"年末集团外经销担保1.60 亿元人民币；前十笔1.23 亿元人民币、占77.08%，其中原表七笔六月担保到期金额1.04 亿元人民币。三月末公告实际集团外余额降至7,655.11 万元人民币，降幅52.18%；集团内1.21 亿元人民币另列。余额下降是反证，不证明前十笔已逐笔解除或截至六月仍无风险。","mechanism":"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status":"conditional","evidence":["ks_credit_e_dealer_schedule","ks_credit_e_guarantee_q1","ks_credit_e_guarantee_approval","ks_credit_e_dealer_use","ks_credit_e_yearend_settlement","ks_a_e_liabs","ks_a_e_related"],"counterevidence":["ks_credit_e_guarantee_q1"],"alternatives":["三月末实际余额下降且公司声明无逾期、涉诉及败诉代偿，有利于风险判断；它未说明逐户变化原因或六月状态。","反担保可能有回收价值，但需核权属、顺位、可执行性及时间；先列发行人毛付款，再列有依据的追偿，不能抵销当天现金。"],"changes_if":"全查原表前十笔及新增、展期、逾期、追偿和代偿事项；取得其余29户完整台账并核全量滚动，不能外推。把贷款放款—客户付款—发票/应收结算和实际保证状态逐户连接，区分新销售、旧款回收、预收与借新还旧；将净增或有损失与实际现金时点分别进入资产/现金质量、融资及个体调整，消除与回款和已并表债务重复计算。","figure_refs":["ks_a_guarantees_external","ks_credit_dealer_top10","ks_credit_dealer_top10_share","ks_credit_dealer_june","ks_credit_guarantee_external_q1","ks_credit_guarantee_external_decline","ks_credit_guarantee_internal_q1","ks_credit_guarantee_new_approval","ks_a_guarantee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horizon_find_horizon","title":"一年展望须跨过2027年1月恢复用途及上半年营运低谷","question":"2026末正现金能否证明一年展望付款覆盖？","conclusion":"现金季节锚的范围桥尚未闭合；以下数字仅为Δ_A=Δ_H=Γ=0条件参照。不能。在未扣未知2027到期本金及其他净支出前，基准2027六月末集团资金池仅2.73 亿元人民币。恢复6.5亿元用途并保留15日经营缓冲时，累计融资需求截距为6.89 亿元人民币；实际融资需求须代入D、X、P及实际占用U重算，不能称该截距为已证实缺口。","mechanism":"年末回款后的上半年经营消耗、资本开支、利息和用途隔离继续占用资源。Q1复制最近同季原表；Q2毛分项仍缺同控桥，所列金额只在Δ_H=0时成立。Δ_A同时影响承接的2026年末余额。实际融资需求在范围调整及D/X/P/U未代入前为null。","status":"conditional","evidence":["ks_horizon_e_h125","ks_horizon_e_q125","ks_a_e_q1","ks_a_e_ar","ks_d_e_fund_new","ks_horizon_e_ar_scope","ks_horizon_e_decontrol_scope"],"counterevidence":["ks_a_e_q1"],"alternatives":["融资承诺落实、回款提前或可证明项目专户资金按用途支付可改善容量；必须按到款日及用途逐笔确认。"],"changes_if":"取得Δ_H、Δ_A及持续经营范围桥、真实D/X/P/U和逐日预算后按同一公式更新；未取得前不能据旧数值证明评级资金前提。若任一付款日已核实资源不足且无已落实来源，原BBB+/负面的付款覆盖前提失效。 须先核实Δ_A、Δ_H及Γ并重跑全部时点和营运缓冲；零调整选点未证明实际资金覆盖，也不构成已证实现金必然更差。","figure_refs":["ks_horizon_base_end_group_pool_before_unknown_DX","ks_horizon_base_peak_funding_intercept_U650"]}
{"id":"ks_horizon_find_stress","title":"真实回款压力经现金和融资需要进入信用变化条件","question":"除因素分值变动外，业务压力如何影响建议？","conclusion":"现金季节锚的范围桥尚未闭合；以下数字仅为Δ_A=Δ_H=Γ=0条件参照。账龄拉长和房地产工程旧款风险支持测试收款继续延后；将预计销售收款的5%延至2027-06-30后且窗内不追收，使2026全年条件CFO从396253333.07元降至209386514.78元，并提高延伸期资金缺口。此为时点敏感性，不是5%违约概率、永久坏账或利润预测。","mechanism":"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status":"conditional","evidence":["ks_horizon_e_h125","ks_horizon_e_q125","ks_a_e_q1","ks_a_e_ar","ks_d_e_fund_new","ks_horizon_e_ar_scope","ks_horizon_e_decontrol_scope"],"counterevidence":["ks_a_e_q1"],"alternatives":["在同一有证据业务链上，延期收款先降低CFO及自由现金容量，再增加必须在付款日前取得的新融资；不得只将定性分数调低半分。","如果所需资金由无条件可提取授信或合法上划实际落实，并持续满足U、M和逐笔债务，支持原BBB+/负面条件建议继续作为研究分支；不构成上调证据。","如缺口不能由届时确定可得来源覆盖，或临时补流到期恢复用途挤占必要经营付款，原建议的付款覆盖前提失效，需就流动性重大弱化作个体调整/重评；若证实无法按期付款，退出常态矩阵，不用负面展望代替支付风险判断。","本压力是收款时点风险，不自动降低EBITDA或提高违约损失；补融资若以债务取得，后续利息和本金会继续压缩容量。只有新的全年可比盈利、资本及现金短债输入重算支持F5时，才进入原C/F5→BBB-分支；季度CFO不能直接映射F5。"],"changes_if":"持续恢复回款并证明付款覆盖可支持稳定展望的进一步研究；付款覆盖前提失败须重评。没有完整全年损益及债务预测，不从半年CFO或模型分数的任意±0.5直接推出评级级差。 须先核实Δ_A、Δ_H及Γ并重跑全部时点和营运缓冲；零调整选点未证明实际资金覆盖，也不构成已证实现金必然更差。","figure_refs":[]}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{"id":"ks_d_n_funds","title":"补流归还恢复专款用途，不新增转债本金","question":"募集资金占用和归还如何影响流动性，如何避免与本金双计？","conclusion":"年末尚未使用募集资金 13.61 亿元人民币 中，12.75 亿元人民币 已暂用于补流，专户余额为 8,643.12 万元人民币。旧一期实际使用的 13.00 亿元人民币 已于2026-01-06前归还；新一期2026-01-09批准上限 13.00 亿元人民币，实际截止日占用尚未确定。归还募集专户是恢复资金用途约束，不是新增对外金融债偿还，不能再加到转债本金上。","mechanism":"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status":"conditional","evidence":["ks_d_e_fund_balance","ks_d_c_fund_balance_parts","ks_d_c_fund_balance_receipts","ks_d_e_fund_return","ks_d_e_fund_new","ks_d_f_fund_temp_cutoff"],"counterevidence":["ks_d_e_fund_correction","ks_d_e_fund_delay","ks_d_e_sponsor_performance"],"alternatives":["若新一期实际支用低于批准额度，潜在需调回金额相应较低；不能预填最大额度为实际债务。","若可及时收回营运资金并恢复专户，用途恢复压力较小；这不代表资金可不受限制用于付本息。"],"changes_if":"取得截止日及到期前专户/一般户对账、逐笔支用归还、项目支付计划和资金可调回证据后量化用途恢复缺口；清除旧一期占用不能自动证明新一期占用为零。","figure_refs":["ks_d_f_fund_total","ks_d_f_fund_temp_2025","ks_d_f_fund_special_2025","ks_d_f_fund_returned","ks_d_f_fund_new_cap","ks_d_c_fund_balance_parts","ks_d_c_fund_balance_receipts","ks_d_f_fund_temp_cutoff"]}
{"id":"ks_project_n_restore_event","title":"年度模型之后还有临时补流恢复用途的事件边界","question":"2026年末条件正现金能否证明下一次用途恢复已经覆盖？","conclusion":"现金季节锚的范围桥尚未闭合；以下数字仅为Δ_A=Δ_H=Γ=0条件参照。2026-006要求自2026-01-09批准日起不超过12个月并随项目需要提前归还。按2027-01-09的12个月边界核查，若沿用2026末基准集团现金且九日净变动、调度扣减、其他到期付款及营运底额均为零，可恢复用途的静态容量参照为7.03 亿元人民币；恢复650百万元后余5,258.35 万元人民币，按授权全额恢复则需额外资源5.97 亿元人民币。实际占用未知，以上不代表届时真实缺口或连续12个月已覆盖。","mechanism":"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status":"conditional","evidence":["ks_d_e_fund_new","ks_d_e_fund_return","ks_r_base_cash_end","ks_project_g_restore_max","ks_project_g_restore_cap_gap"],"counterevidence":["ks_d_e_fund_return","ks_a_e_q1"],"alternatives":["实际占用低于授权上限、已在年末归还或有可执行九日净流入，均可能关闭该事件的资源差额。","项目提前要求资金、九日其他支出或子公司现金无法上划，会把有效边界提前或降低上限；不得以未证实的下一轮补流授权弥补。"],"changes_if":"先取得实际占用和归还期限/需求、发行人可调度额及九日来源用途。当时需要恢复用途额超过经核实可调度额且无按时落实的合法安排时，重做近端流动性与承诺后果判断；不能只看年末正余额维持原判断，也不能直接把用途恢复缺口认定为债券已违约。 须先核实Δ_A、Δ_H及Γ并重跑全部时点和营运缓冲；零调整选点未证明实际资金覆盖，也不构成已证实现金必然更差。","figure_refs":["ks_project_g_restore_max","ks_project_g_restore650_after","ks_project_g_restore_cap_gap","ks_r_base_cash_end"]}
{"id":"ks_horizon_find_horizon","title":"一年展望须跨过2027年1月恢复用途及上半年营运低谷","question":"2026末正现金能否证明一年展望付款覆盖？","conclusion":"现金季节锚的范围桥尚未闭合；以下数字仅为Δ_A=Δ_H=Γ=0条件参照。不能。在未扣未知2027到期本金及其他净支出前，基准2027六月末集团资金池仅2.73 亿元人民币。恢复6.5亿元用途并保留15日经营缓冲时，累计融资需求截距为6.89 亿元人民币；实际融资需求须代入D、X、P及实际占用U重算，不能称该截距为已证实缺口。","mechanism":"年末回款后的上半年经营消耗、资本开支、利息和用途隔离继续占用资源。Q1复制最近同季原表；Q2毛分项仍缺同控桥，所列金额只在Δ_H=0时成立。Δ_A同时影响承接的2026年末余额。实际融资需求在范围调整及D/X/P/U未代入前为null。","status":"conditional","evidence":["ks_horizon_e_h125","ks_horizon_e_q125","ks_a_e_q1","ks_a_e_ar","ks_d_e_fund_new","ks_horizon_e_ar_scope","ks_horizon_e_decontrol_scope"],"counterevidence":["ks_a_e_q1"],"alternatives":["融资承诺落实、回款提前或可证明项目专户资金按用途支付可改善容量；必须按到款日及用途逐笔确认。"],"changes_if":"取得Δ_H、Δ_A及持续经营范围桥、真实D/X/P/U和逐日预算后按同一公式更新；未取得前不能据旧数值证明评级资金前提。若任一付款日已核实资源不足且无已落实来源，原BBB+/负面的付款覆盖前提失效。 须先核实Δ_A、Δ_H及Γ并重跑全部时点和营运缓冲；零调整选点未证明实际资金覆盖，也不构成已证实现金必然更差。","figure_refs":["ks_horizon_base_end_group_pool_before_unknown_DX","ks_horizon_base_peak_funding_intercept_U650"]}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{"id":"ks_r_parent_risk","title":"集团资源不能直接当作发行人已到手现金","question":"母公司怎样实际取得偿债资源？","conclusion":"母公司年末现金减短借及一年内非流动账面代理后余量1.05 亿元人民币，不能证明完整短期覆盖；与固定本金未来到期价的静态差额为-12.24 亿元人民币。后者说明未来需产现、上划或融资的量级，并非债券在本年到期或已经发生缺口。缺一季末母公司表，集团一季现金不替代。","mechanism":"发行人自身经营现金为负，投资收益现金不等于每年可重复的全部子公司分红。集团内票据及往来在合并层抵销，但现金移转仍依赖对手现金、合法决策、少数股东权益、融资约束和实际到账。","status":"conditional","evidence":["ks_a_e_parent","ks_r_parent_screen","ks_r_parent_maturity_gap"],"counterevidence":["ks_d_l_f_parent_investment_cash","ks_a_e_equity"],"alternatives":["子公司分红或往来回收能改善母公司资金，但不能按合并余额自动推算。","债券未来转换可能降低现金本金，须等真实转股事实确认，不能预先免偿。"],"changes_if":"取得主要子公司的可分配现金、债务和用途限制、上划决议及实际到账后，重建发行人月度来源用途；若可上划路径受阻且本部不足，主体与直接债项结论须同步下调。","figure_refs":["ks_r_parent_screen","ks_r_parent_maturity_gap"]}
{"id":"ks_d_e_issue_coupon","source":"ks_d_s_m1","locator":"PDF p39–40，发行规模、期限、票面利率、还本付息条款","observation":"募集书发行规模上限219800.00万元，每张100元；债券期限2023-08-04至2029-08-03。六个计息年度票息依次为0.30%、0.50%、1.00%、1.50%、1.80%、2.00%；每满一年为付息日，节假日或休息日顺延且不另计息，登记日为付息日前一交易日，付息日后五个交易日内支付。登记日前及当日申请转股不再享有本年度及以后利息。","reliability":"官方原件正文；报告披露不等同于本次独立审计或法律鉴证。"}
{"id":"ks_d_e_maturity_call","source":"ks_d_s_m1","locator":"PDF p43，赎回条款","observation":"到期后五个交易日内按票面面值115%赎回未转股债券，含最后一期利息。转股期内连续三十个交易日至少十五日收盘价不低于当期转股价130%，或未转股余额不足3000万元，发行人可按面值加应计利息赎回。","reliability":"官方原件正文；报告披露不等同于本次独立审计或法律鉴证。"}
{"id":"ks_project_n_model","title":"旧项目末年测算不足以证明最终合同的偿债覆盖","question":"募集说明书项目测算是否仍能构成可用偿债来源？","conclusion":"正式合同115%已进入现有现金时间表，无需追加债务。原项目T+6测算采用104%比较额，且其中79.48%税前净现金来自固定资产余值和流动资金终期回收；扣除此两项后的原模型余额5.02 亿元人民币不是标准经营现金流。该历史项目预测不能直接列作截止日已落实的母公司偿债资金。","mechanism":"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status":"supported","evidence":["ks_project_e_old_model","ks_d_e_maturity_call","ks_project_c_terminal_share","ks_project_c_corrected_old_gap","ks_d_g_cash_2029"],"counterevidence":["ks_d_e_general_performance","ks_a_e_q1"],"alternatives":["原104%可能是募集方案定价前的示意测算沿用，现有资料不足以判断原因、修订义务或主观意图；正式合同支付价格仍按115%。","此前留存项目现金、其他业务产现、可执行融资或真实转股均可能改变发行人总体覆盖；不能把旧末年单表差额等同集团资金缺口，也不能先假定这些资源已到账。"],"changes_if":"取得与最终条款、实际工程节点和截至信息日经营假设一致的逐月税后项目及发行人来源用途表，完成净可变现及资金上划桥后才纳入偿债来源。若旧预测从未进入现有量化来源，移除其信用论据不改变现有现金数值或机械改变档位。","figure_refs":["ks_project_c_terminal_share","ks_project_c_without_terminal","ks_project_c_corrected_old_gap","ks_d_g_cash_2029"]}
{"id":"ks_project_n_timing","title":"项目延期压缩偿债前的投产回收窗口，临时补流归还须单独排期","question":"投入进度如何传导至未来支付及评级条件？","conclusion":"2025末四项建设升级的累计募集投入比例12.63%；未投入计划额度13.34 亿元人民币不是即期负债。四项预定可使用日均延至2028-12-31，与2029-08-03合同到期相隔215个自然日；可使用不等于满产、收款或已获处置价。2026-01-09新一期临时补流批准不超过12个月且项目需要时提前归还，不能因项目延期而把该用途义务推迟至2028年。","mechanism":"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status":"conditional","evidence":["ks_project_e_progress","ks_project_e_schedule","ks_project_e_tracking","ks_d_e_fund_new","ks_d_e_issue_coupon","ks_d_e_maturity_call"],"counterevidence":["ks_project_e_schedule","ks_d_e_fund_return","ks_d_e_general_performance"],"alternatives":["谨慎减慢建设、保留现有产能及改进自研生产线可能降低过剩产能和近期现金消耗；项目可行性须由订单、成本及投产证据验证。","需求恢复可能加快建设和回款，但首先要求资金归位、采购付款及调试；若收款晚于合同付款日，全年或全生命周期盈利不能补救时点缺口。"],"changes_if":"不从原测算差异单独推导等级或展望变更，也不重复计入已进入基础因素的需求、盈利和治理事项；若经核实恢复用途/项目付款使近期发行人资金不能覆盖，则先更新月度现金和可执行融资，再判断常态评级是否仍适用。只有新的可比前瞻导致因素跨档或基础因素未计入的现金约束，才明确新的因素/调整路径。","figure_refs":["ks_project_c_project_ratio","ks_project_c_project_rem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ar","source":"ks_a_s_25","locator":"第165—168页，应收账款，单位元；账龄、单项与组合及准备滚动","observation":"应收账款账龄延长，单项信用减值与组合按不同方法；本年坏账核销与非现金抵债影响净额变化，净额下降不能直接视为现金回收。","reliability":"发行人正式披露；财务报表经审计，但本分析未复做审计程序"}
{"id":"ks_a_e_fixed","source":"ks_a_s_25","locator":"第182—190、204页，投资性房地产、固定资产、在建、使用权、无形、商誉、抵债房产及资产减值","observation":"闲置固定资产、抵债房产、部分无证房屋、减值及建设进度；滁州一期重要CIP滚动原表列位已图像复读仍不能闭合，不能擅自改值。","reliability":"发行人正式披露；财务报表经审计，但本分析未复做审计程序"}
{"id":"ks_d_n_covenant","title":"持续承诺的履约解释尚未闭合","question":"年末累计债券余额承诺是否在适用口径下超限，超限是否触发救济？","conclusion":"年末账面债券 23.13 亿元人民币 除合并总权益 40.52 亿元人民币 得 57.09%，高于原文所列 50.00%；差额为 2.87 亿元人民币。公司同时披露长期有效且正常履行、债券未违约。现有公开材料没有逐项解释冲突，因此保留重大待解释事项，不能认定已违约、自动加速或已获豁免。","mechanism":"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status":"unresolved","evidence":["ks_d_e_commitment","ks_d_e_commitment_origin","ks_d_e_issuance_law","ks_d_f_bond_book_2025","ks_d_f_equity_total_2025","ks_d_c_book_ratio","ks_d_c_book_excess","ks_d_g_face_equity_ratio"],"counterevidence":["ks_d_e_bond_accounting","ks_d_e_general_performance","ks_d_e_sponsor_performance","ks_d_e_temporary_report"],"alternatives":["承诺可能存在已签协议中的特定适用期间或定义，需要以原协议及正式解释证明。","披露可能存在履约状态与财务数值不一致，需要特定更正或补充。","可能存在合法变更、豁免或调节事项，但现有材料未取得，不能推定其存在。"],"changes_if":"取得原承诺适用期间、累计余额及净资产定义、逐期计算调节表、正式解释和依法有效的变更/豁免文件后，按相同原始数字重作结论；仅重复一般“正常履行”不能关闭差异。","figure_refs":["ks_d_f_bond_book_2025","ks_d_f_equity_total_2025","ks_d_c_book_ratio","ks_d_f_covenant_limit","ks_d_c_book_excess","ks_d_g_face_equity_ratio"]}
{"id":"ks_r_bond_bucket_finding","title":"年报债券期限表不能直接代替已核合同时间轴","question":"短期票息与远期兑付的期限分配是否一致？","conclusion":"年报一年内未折现应付债券现金流为1,098.92 万元人民币；同日面值保持不变的合同第三年票息为2,197.83 万元人民币，两者差-1,098.91 万元人民币。其他期限栏也存在条件比较差额，未取得表内假设解释。","mechanism":"资料时点、计息年度和现金支付日期分别核验。票息不是期末有效利率利息费用；到期含末息价也不能再加最后一期利息。差额不通过改写原表、改变面值或重复扣息调平。","status":"unresolved","evidence":["ks_r_e_bond_buckets","ks_d_e_issue_coupon","ks_d_e_maturity_call"],"counterevidence":["ks_a_e_audit"],"alternatives":["表格可能采用不同转股/行权或列报假设，须由发行人给出对应明细，不能由分析者臆造。","计息年度滚动或分桶口径也可能影响显示；目前没有足够证据确定原因。"],"changes_if":"取得发行人未折现表的本金、票息、日期、转股及行权假设明细后对齐比较，更新现金预算；不以原表一年内金额直接替代本年合同付息需求。","figure_refs":["ks_r_bucket_within_one_year","ks_r_bucket_2026_contract","ks_r_bucket_2026_gap"]}
{"id":"ks_project_n_put","title":"延期、用途变更与回售的触发条件分开检验","question":"项目变化是否会把2029债项现金提前？","conclusion":"原文只披露进度延期且用途、主体、方式等未变，保荐核查支持未变相改用途；截至所读资料，不能认定附加回售已经触发。普通价格回售仅适用于最后两个计息年度，自2027-08-04进入首个适用年度，不能在2026-06-30仅凭股价低位当作已可回售。","mechanism":"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status":"conditional","evidence":["ks_d_e_put","ks_d_e_issue_coupon","ks_project_e_schedule","ks_d_e_face_q1"],"counterevidence":["ks_d_e_general_performance","ks_project_e_tracking"],"alternatives":["依法批准且仅改变建设进度可能不构成用途变更；该解释有现有核查支持，但不是对未来执行的免责。","若实际建设内容、主体或资金用途随后实质改变，合同触发分析必须重做，不能只沿用原延期公告结论。"],"changes_if":"获得截止日前有效用途变更文件/认定及回售公告时，按有效行权规模重建发行人逐日现金和替代债券时间轴；若提前现金在付款日前无法覆盖，重定主体及受影响债项，不用负面展望替代即时行动。仅增加待核信息而未证明触发，不将面值搬进2026年已到期债务。","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followup","title":"展望与后续评级行动有明确决定边界","question":"哪些变化真正改变建议，而不只是更新比率？","conclusion":"负面展望反映未来约一年中的行业需求、回收、用途约束与融资压力。经营D/F4对应BB+，C/F5对应BBB-，D/F5对应BB；持续改善达到C/F3且资金及承诺问题解决时才讨论A分支。当前固定定性判断的量化档内范围跨F5/F4，已显示下行择分敏感性；没有由本次区间上端支持F3。","mechanism":"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status":"conditional","evidence":["ks_r_e_definitions","ks_r_e_matrix","ks_r_financial_lower","ks_r_financial_upper","ks_d_e_commitment","ks_d_e_fund_new","ks_project_e_schedule","ks_credit_e_facilities","ks_credit_e_dealer_schedule","ks_credit_e_guarantee_q1"],"counterevidence":["ks_a_e_q1"],"alternatives":["季度业绩改善可使展望转稳，但需要完整期间现金而不只是利润。","正式解释若证明承诺无新增现金后果，会关闭该项不确定性，其他经营财务风险仍需重评。"],"changes_if":"按本研究截止日安排下一次检查于下一份实际半年度披露及任何提前到期、用途变更或支持事件；若已发生应立即反映的偿付问题，不等待下一年度或用展望推迟调整。","figure_refs":["ks_r_financial_lower","ks_r_financial_upper"]}
{"id":"ks_r_rating_chain"}
{"id":"ks_credit_find_facilities","title":"未用借款与授信披露冲突，融资落实条件待核","question":"年末披露额度能否支持付款日的再融资假设？","conclusion":"年报未用银行借款额度10.80 亿元人民币，跟踪报告同称2025年底的银行授信总额73.00 亿元人民币、未用47.00 亿元人民币。未用披露名义差额36.20 亿元人民币，尚未解释。两来源用词不同只是待核线索，不能据此称口径已对齐，任何一项也未作为已落实现金计入。","mechanism":"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status":"unresolved","evidence":["ks_a_e_maturity","ks_credit_e_facilities","ks_credit_facility_gap"],"counterevidence":["ks_a_e_q1"],"alternatives":["一季度实际新增借款证明当季有融资发生，但不能证明六月以后的未用额度、提款条件或母公司付款能力。","若合同总体差异完整解释差额且足额资源可按时提用，可支持融资能力；若主要是可撤销、受限或非现金产品，则应降低可依赖融资并重新评估因素和资金前提。"],"changes_if":"取得两个披露总体的逐项桥及银行直接证据，列明每个付款日已承诺可提金额、条件满足状态和现金所在法人；仍未解释部分排除已落实来源。以核实结果更新再融资因素及资金情景；先检查付款前提是否失效，再决定等级和展望，不沿用4.65作为已证实结论。","figure_refs":["ks_a_undrawn","ks_credit_facility_total","ks_credit_facility_undrawn","ks_credit_facil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科顺股份与科顺转债｜研究建议及条件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底稿记录：ks_r_recommendation / ks_r_liquidity；原页、公式及完整限制见报告和Excel。</a:t>
            </a:r>
            <a:endParaRPr lang="en-US" sz="1000" dirty="0"/>
          </a:p>
        </p:txBody>
      </p:sp>
      <p:sp>
        <p:nvSpPr>
          <p:cNvPr id="6" name="Text 3"/>
          <p:cNvSpPr/>
          <p:nvPr/>
        </p:nvSpPr>
        <p:spPr>
          <a:xfrm>
            <a:off x="640080" y="1417320"/>
            <a:ext cx="10698480" cy="960120"/>
          </a:xfrm>
          <a:prstGeom prst="rect">
            <a:avLst/>
          </a:prstGeom>
          <a:noFill/>
          <a:ln/>
        </p:spPr>
        <p:txBody>
          <a:bodyPr wrap="square" lIns="0" tIns="0" rIns="0" bIns="0" rtlCol="0" anchor="t"/>
          <a:lstStyle/>
          <a:p>
            <a:pPr indent="0" marL="0">
              <a:buNone/>
            </a:pPr>
            <a:r>
              <a:rPr lang="en-US" sz="4900" b="1" dirty="0">
                <a:solidFill>
                  <a:srgbClr val="FFFFFF"/>
                </a:solidFill>
              </a:rPr>
              <a:t>BBB+ / 负面展望</a:t>
            </a:r>
            <a:endParaRPr lang="en-US" sz="4900" dirty="0"/>
          </a:p>
        </p:txBody>
      </p:sp>
      <p:sp>
        <p:nvSpPr>
          <p:cNvPr id="7" name="Text 4"/>
          <p:cNvSpPr/>
          <p:nvPr/>
        </p:nvSpPr>
        <p:spPr>
          <a:xfrm>
            <a:off x="640080" y="2606040"/>
            <a:ext cx="10698480" cy="457200"/>
          </a:xfrm>
          <a:prstGeom prst="rect">
            <a:avLst/>
          </a:prstGeom>
          <a:noFill/>
          <a:ln/>
        </p:spPr>
        <p:txBody>
          <a:bodyPr wrap="square" lIns="0" tIns="0" rIns="0" bIns="0" rtlCol="0" anchor="t"/>
          <a:lstStyle/>
          <a:p>
            <a:pPr indent="0" marL="0">
              <a:buNone/>
            </a:pPr>
            <a:r>
              <a:rPr lang="en-US" sz="2300" dirty="0">
                <a:solidFill>
                  <a:srgbClr val="D4E8E1"/>
                </a:solidFill>
              </a:rPr>
              <a:t>主体与普通无担保直接债项的基准研究建议</a:t>
            </a:r>
            <a:endParaRPr lang="en-US" sz="2300" dirty="0"/>
          </a:p>
        </p:txBody>
      </p:sp>
      <p:sp>
        <p:nvSpPr>
          <p:cNvPr id="8" name="Text 5"/>
          <p:cNvSpPr/>
          <p:nvPr/>
        </p:nvSpPr>
        <p:spPr>
          <a:xfrm>
            <a:off x="640080" y="3337560"/>
            <a:ext cx="10698480" cy="1170432"/>
          </a:xfrm>
          <a:prstGeom prst="rect">
            <a:avLst/>
          </a:prstGeom>
          <a:noFill/>
          <a:ln/>
        </p:spPr>
        <p:txBody>
          <a:bodyPr wrap="square" lIns="0" tIns="0" rIns="0" bIns="0" rtlCol="0" anchor="t"/>
          <a:lstStyle/>
          <a:p>
            <a:pPr indent="0" marL="0">
              <a:buNone/>
            </a:pPr>
            <a:r>
              <a:rPr lang="en-US" sz="2200" dirty="0">
                <a:solidFill>
                  <a:srgbClr val="FFFFFF"/>
                </a:solidFill>
              </a:rPr>
              <a:t>以付款日前资金及用途安排足以覆盖为条件。历史毛现金流的范围调整、母公司未来资金及持续承诺后果尚待核实；模型数值尚不能证明实际付款覆盖。</a:t>
            </a:r>
            <a:endParaRPr lang="en-US" sz="2200" dirty="0"/>
          </a:p>
        </p:txBody>
      </p:sp>
      <p:sp>
        <p:nvSpPr>
          <p:cNvPr id="9" name="Text 6"/>
          <p:cNvSpPr/>
          <p:nvPr/>
        </p:nvSpPr>
        <p:spPr>
          <a:xfrm>
            <a:off x="640080" y="4892040"/>
            <a:ext cx="10698480" cy="640080"/>
          </a:xfrm>
          <a:prstGeom prst="rect">
            <a:avLst/>
          </a:prstGeom>
          <a:noFill/>
          <a:ln/>
        </p:spPr>
        <p:txBody>
          <a:bodyPr wrap="square" lIns="0" tIns="0" rIns="0" bIns="0" rtlCol="0" anchor="t"/>
          <a:lstStyle/>
          <a:p>
            <a:pPr indent="0" marL="0">
              <a:buNone/>
            </a:pPr>
            <a:r>
              <a:rPr lang="en-US" sz="1500" dirty="0">
                <a:solidFill>
                  <a:srgbClr val="D4E8E1"/>
                </a:solidFill>
              </a:rPr>
              <a:t>采用境内相对信用尺度及联合公开方法的明示研究适配；不是联合资信评级行动。完整研究及底稿另附，本汇报只提炼影响决定的事项。</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建议来自因素、调整、支持与债项的连续判断</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2026-06-30｜条件性公开研究｜2</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底稿记录：ks_r_recommendation / ks_r_support_assessment / ks_r_adjustments；原页、公式及完整限制见报告和Excel。</a:t>
            </a:r>
            <a:endParaRPr lang="en-US" sz="1000" dirty="0"/>
          </a:p>
        </p:txBody>
      </p:sp>
      <p:sp>
        <p:nvSpPr>
          <p:cNvPr id="6" name="Shape 3"/>
          <p:cNvSpPr/>
          <p:nvPr/>
        </p:nvSpPr>
        <p:spPr>
          <a:xfrm>
            <a:off x="548640" y="1325880"/>
            <a:ext cx="3474720" cy="1691640"/>
          </a:xfrm>
          <a:prstGeom prst="rect">
            <a:avLst/>
          </a:prstGeom>
          <a:solidFill>
            <a:srgbClr val="E6EFEC"/>
          </a:solidFill>
          <a:ln w="12700">
            <a:solidFill>
              <a:srgbClr val="E6EFEC"/>
            </a:solidFill>
            <a:prstDash val="solid"/>
          </a:ln>
        </p:spPr>
      </p:sp>
      <p:sp>
        <p:nvSpPr>
          <p:cNvPr id="7" name="Text 4"/>
          <p:cNvSpPr/>
          <p:nvPr/>
        </p:nvSpPr>
        <p:spPr>
          <a:xfrm>
            <a:off x="74980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经营风险</a:t>
            </a:r>
            <a:endParaRPr lang="en-US" sz="1400" dirty="0"/>
          </a:p>
        </p:txBody>
      </p:sp>
      <p:sp>
        <p:nvSpPr>
          <p:cNvPr id="8" name="Text 5"/>
          <p:cNvSpPr/>
          <p:nvPr/>
        </p:nvSpPr>
        <p:spPr>
          <a:xfrm>
            <a:off x="74980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C</a:t>
            </a:r>
            <a:endParaRPr lang="en-US" sz="2500" dirty="0"/>
          </a:p>
        </p:txBody>
      </p:sp>
      <p:sp>
        <p:nvSpPr>
          <p:cNvPr id="9" name="Text 6"/>
          <p:cNvSpPr/>
          <p:nvPr/>
        </p:nvSpPr>
        <p:spPr>
          <a:xfrm>
            <a:off x="74980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自身竞争力 3.78 分</a:t>
            </a:r>
            <a:endParaRPr lang="en-US" sz="1200" dirty="0"/>
          </a:p>
        </p:txBody>
      </p:sp>
      <p:sp>
        <p:nvSpPr>
          <p:cNvPr id="10" name="Shape 7"/>
          <p:cNvSpPr/>
          <p:nvPr/>
        </p:nvSpPr>
        <p:spPr>
          <a:xfrm>
            <a:off x="4251960" y="132588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财务风险</a:t>
            </a:r>
            <a:endParaRPr lang="en-US" sz="1400" dirty="0"/>
          </a:p>
        </p:txBody>
      </p:sp>
      <p:sp>
        <p:nvSpPr>
          <p:cNvPr id="12" name="Text 9"/>
          <p:cNvSpPr/>
          <p:nvPr/>
        </p:nvSpPr>
        <p:spPr>
          <a:xfrm>
            <a:off x="445312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F4</a:t>
            </a:r>
            <a:endParaRPr lang="en-US" sz="2500" dirty="0"/>
          </a:p>
        </p:txBody>
      </p:sp>
      <p:sp>
        <p:nvSpPr>
          <p:cNvPr id="13" name="Text 10"/>
          <p:cNvSpPr/>
          <p:nvPr/>
        </p:nvSpPr>
        <p:spPr>
          <a:xfrm>
            <a:off x="445312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财务研究分 3.74 分</a:t>
            </a:r>
            <a:endParaRPr lang="en-US" sz="1200" dirty="0"/>
          </a:p>
        </p:txBody>
      </p:sp>
      <p:sp>
        <p:nvSpPr>
          <p:cNvPr id="14" name="Shape 11"/>
          <p:cNvSpPr/>
          <p:nvPr/>
        </p:nvSpPr>
        <p:spPr>
          <a:xfrm>
            <a:off x="7955280" y="132588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472184"/>
            <a:ext cx="3255264" cy="320040"/>
          </a:xfrm>
          <a:prstGeom prst="rect">
            <a:avLst/>
          </a:prstGeom>
          <a:noFill/>
          <a:ln/>
        </p:spPr>
        <p:txBody>
          <a:bodyPr wrap="square" lIns="0" tIns="0" rIns="0" bIns="0" rtlCol="0" anchor="t"/>
          <a:lstStyle/>
          <a:p>
            <a:pPr indent="0" marL="0">
              <a:buNone/>
            </a:pPr>
            <a:r>
              <a:rPr lang="en-US" sz="1400" dirty="0">
                <a:solidFill>
                  <a:srgbClr val="213B45"/>
                </a:solidFill>
              </a:rPr>
              <a:t>指示结果选择</a:t>
            </a:r>
            <a:endParaRPr lang="en-US" sz="1400" dirty="0"/>
          </a:p>
        </p:txBody>
      </p:sp>
      <p:sp>
        <p:nvSpPr>
          <p:cNvPr id="16" name="Text 13"/>
          <p:cNvSpPr/>
          <p:nvPr/>
        </p:nvSpPr>
        <p:spPr>
          <a:xfrm>
            <a:off x="8156448" y="189280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bbb+</a:t>
            </a:r>
            <a:endParaRPr lang="en-US" sz="2500" dirty="0"/>
          </a:p>
        </p:txBody>
      </p:sp>
      <p:sp>
        <p:nvSpPr>
          <p:cNvPr id="17" name="Text 14"/>
          <p:cNvSpPr/>
          <p:nvPr/>
        </p:nvSpPr>
        <p:spPr>
          <a:xfrm>
            <a:off x="8156448" y="2478024"/>
            <a:ext cx="3255264" cy="393192"/>
          </a:xfrm>
          <a:prstGeom prst="rect">
            <a:avLst/>
          </a:prstGeom>
          <a:noFill/>
          <a:ln/>
        </p:spPr>
        <p:txBody>
          <a:bodyPr wrap="square" lIns="0" tIns="0" rIns="0" bIns="0" rtlCol="0" anchor="t"/>
          <a:lstStyle/>
          <a:p>
            <a:pPr indent="0" marL="0">
              <a:buNone/>
            </a:pPr>
            <a:r>
              <a:rPr lang="en-US" sz="1200" dirty="0">
                <a:solidFill>
                  <a:srgbClr val="213B45"/>
                </a:solidFill>
              </a:rPr>
              <a:t>公开单元格 a-/bbb+</a:t>
            </a:r>
            <a:endParaRPr lang="en-US" sz="1200" dirty="0"/>
          </a:p>
        </p:txBody>
      </p:sp>
      <p:sp>
        <p:nvSpPr>
          <p:cNvPr id="18" name="Text 15"/>
          <p:cNvSpPr/>
          <p:nvPr/>
        </p:nvSpPr>
        <p:spPr>
          <a:xfrm>
            <a:off x="548640" y="3429000"/>
            <a:ext cx="11064240" cy="914400"/>
          </a:xfrm>
          <a:prstGeom prst="rect">
            <a:avLst/>
          </a:prstGeom>
          <a:noFill/>
          <a:ln/>
        </p:spPr>
        <p:txBody>
          <a:bodyPr wrap="square" lIns="0" tIns="0" rIns="0" bIns="0" rtlCol="0" anchor="t"/>
          <a:lstStyle/>
          <a:p>
            <a:pPr indent="0" marL="0">
              <a:buNone/>
            </a:pPr>
            <a:r>
              <a:rPr lang="en-US" sz="2200" dirty="0">
                <a:solidFill>
                  <a:srgbClr val="213B45"/>
                </a:solidFill>
              </a:rPr>
              <a:t>取较弱端：最新负EBITDA、母公司负经营现金、末季回款依赖与用途限制。基础因素已反映的事项不重复扣档；未计入未经证实的支持增益。</a:t>
            </a:r>
            <a:endParaRPr lang="en-US" sz="2200" dirty="0"/>
          </a:p>
        </p:txBody>
      </p:sp>
      <p:sp>
        <p:nvSpPr>
          <p:cNvPr id="19" name="Text 16"/>
          <p:cNvSpPr/>
          <p:nvPr/>
        </p:nvSpPr>
        <p:spPr>
          <a:xfrm>
            <a:off x="548640" y="4663440"/>
            <a:ext cx="11064240" cy="868680"/>
          </a:xfrm>
          <a:prstGeom prst="rect">
            <a:avLst/>
          </a:prstGeom>
          <a:noFill/>
          <a:ln/>
        </p:spPr>
        <p:txBody>
          <a:bodyPr wrap="square" lIns="0" tIns="0" rIns="0" bIns="0" rtlCol="0" anchor="t"/>
          <a:lstStyle/>
          <a:p>
            <a:pPr indent="0" marL="0">
              <a:buNone/>
            </a:pPr>
            <a:r>
              <a:rPr lang="en-US" sz="1800" dirty="0">
                <a:solidFill>
                  <a:srgbClr val="A34638"/>
                </a:solidFill>
              </a:rPr>
              <a:t>同定义年度指标先30/70加权、再分档；缺完整三年重述，仍属研究适配。固定现有定性分值的量化档内范围为[3.46125, 4.01125)，跨F5/F4，不能把代表值当唯一结果。</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收入收缩与毛利修复，并未转成盈利恢复</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2026-06-30｜条件性公开研究｜3</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底稿记录：ks_a_e_is / ks_b_market_position / ks_a_find_earnings / ks_a_find_tax；原页、公式及完整限制见报告和Excel。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2025收入</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60.44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同比 -11.49%</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2025毛利率</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24.20%</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2024 21.77%</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2025 EBITDA</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-2.11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保留信用及资产减值影响</a:t>
            </a:r>
            <a:endParaRPr lang="en-US" sz="1200" dirty="0"/>
          </a:p>
        </p:txBody>
      </p:sp>
      <p:sp>
        <p:nvSpPr>
          <p:cNvPr id="18" name="Text 15"/>
          <p:cNvSpPr/>
          <p:nvPr/>
        </p:nvSpPr>
        <p:spPr>
          <a:xfrm>
            <a:off x="548640" y="3493008"/>
            <a:ext cx="11064240" cy="914400"/>
          </a:xfrm>
          <a:prstGeom prst="rect">
            <a:avLst/>
          </a:prstGeom>
          <a:noFill/>
          <a:ln/>
        </p:spPr>
        <p:txBody>
          <a:bodyPr wrap="square" lIns="0" tIns="0" rIns="0" bIns="0" rtlCol="0" anchor="t"/>
          <a:lstStyle/>
          <a:p>
            <a:pPr indent="0" marL="0">
              <a:buNone/>
            </a:pPr>
            <a:r>
              <a:rPr lang="en-US" sz="2200" dirty="0">
                <a:solidFill>
                  <a:srgbClr val="213B45"/>
                </a:solidFill>
              </a:rPr>
              <a:t>归母利润减少 5.71 亿元：扣非恶化 3.28 亿元，非经常支持减少 2.43 亿元。金融资产损益及应收转回分别核对，不能把恶化全部归于一次性减值。</a:t>
            </a:r>
            <a:endParaRPr lang="en-US" sz="2200" dirty="0"/>
          </a:p>
        </p:txBody>
      </p:sp>
      <p:sp>
        <p:nvSpPr>
          <p:cNvPr id="19" name="Text 16"/>
          <p:cNvSpPr/>
          <p:nvPr/>
        </p:nvSpPr>
        <p:spPr>
          <a:xfrm>
            <a:off x="548640" y="4681728"/>
            <a:ext cx="11064240" cy="914400"/>
          </a:xfrm>
          <a:prstGeom prst="rect">
            <a:avLst/>
          </a:prstGeom>
          <a:noFill/>
          <a:ln/>
        </p:spPr>
        <p:txBody>
          <a:bodyPr wrap="square" lIns="0" tIns="0" rIns="0" bIns="0" rtlCol="0" anchor="t"/>
          <a:lstStyle/>
          <a:p>
            <a:pPr indent="0" marL="0">
              <a:buNone/>
            </a:pPr>
            <a:r>
              <a:rPr lang="en-US" sz="1800" dirty="0">
                <a:solidFill>
                  <a:srgbClr val="213B45"/>
                </a:solidFill>
              </a:rPr>
              <a:t>递延税收益 1.03 亿元人民币 缓冲当期亏损，未形成现金流入；DTA可实现性仍须按纳税主体核验。季度改善和无保留审计意见不能单独排除旧应收损失或付款风险。</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同行比较显示差异，也保留集团业务边界</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2026-06-30｜条件性公开研究｜4</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底稿记录：ks_r_peer_finding；原页、公式及完整限制见报告和Excel。</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749040"/>
                <a:gridCol w="1645920"/>
                <a:gridCol w="1737360"/>
                <a:gridCol w="1645920"/>
                <a:gridCol w="2286000"/>
              </a:tblGrid>
              <a:tr h="438912">
                <a:tc>
                  <a:txBody>
                    <a:bodyPr/>
                    <a:lstStyle/>
                    <a:p>
                      <a:pPr indent="0" marL="0">
                        <a:buNone/>
                      </a:pPr>
                      <a:r>
                        <a:rPr lang="en-US" sz="1500" dirty="0">
                          <a:solidFill>
                            <a:srgbClr val="213B45"/>
                          </a:solidFill>
                        </a:rPr>
                        <a:t>2025集团口径</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收入同比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负债/资产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净周期 天</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EBITDA/费用化利息 倍</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科顺防水科技</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67.32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130.28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北京东方雨虹防水技术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-1.70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51.14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69.89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11.05</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北新集团建材</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21.60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38.28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103.27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822192"/>
            <a:ext cx="11064240" cy="987552"/>
          </a:xfrm>
          <a:prstGeom prst="rect">
            <a:avLst/>
          </a:prstGeom>
          <a:noFill/>
          <a:ln/>
        </p:spPr>
        <p:txBody>
          <a:bodyPr wrap="square" lIns="0" tIns="0" rIns="0" bIns="0" rtlCol="0" anchor="t"/>
          <a:lstStyle/>
          <a:p>
            <a:pPr indent="0" marL="0">
              <a:buNone/>
            </a:pPr>
            <a:r>
              <a:rPr lang="en-US" sz="2100" dirty="0">
                <a:solidFill>
                  <a:srgbClr val="213B45"/>
                </a:solidFill>
              </a:rPr>
              <a:t>科顺的利润、杠杆及账面周转压力不能只用行业下行解释。北新含重要石膏板/涂料业务，两家同行并购贡献未全年化重构；样本不构成行业均值或定级标尺。</a:t>
            </a:r>
            <a:endParaRPr lang="en-US" sz="2100" dirty="0"/>
          </a:p>
        </p:txBody>
      </p:sp>
      <p:sp>
        <p:nvSpPr>
          <p:cNvPr id="8" name="Text 4"/>
          <p:cNvSpPr/>
          <p:nvPr/>
        </p:nvSpPr>
        <p:spPr>
          <a:xfrm>
            <a:off x="548640" y="5138928"/>
            <a:ext cx="11064240" cy="502920"/>
          </a:xfrm>
          <a:prstGeom prst="rect">
            <a:avLst/>
          </a:prstGeom>
          <a:noFill/>
          <a:ln/>
        </p:spPr>
        <p:txBody>
          <a:bodyPr wrap="square" lIns="0" tIns="0" rIns="0" bIns="0" rtlCol="0" anchor="t"/>
          <a:lstStyle/>
          <a:p>
            <a:pPr indent="0" marL="0">
              <a:buNone/>
            </a:pPr>
            <a:r>
              <a:rPr lang="en-US" sz="1700" dirty="0">
                <a:solidFill>
                  <a:srgbClr val="A34638"/>
                </a:solidFill>
              </a:rPr>
              <a:t>同行简式融资口径和费用化利息倍数仅供比较，不能替代本案评级方法的全部债务与全部利息。</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现金质量取决于形成过程与季节性</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2026-06-30｜条件性公开研究｜5</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底稿记录：ks_a_find_cfo / ks_a_find_q1 / ks_a_e_indirect / ks_a_find_contingent；原页、公式及完整限制见报告和Excel。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全年经营净现金</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3.20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正现金不等于正EBITDA</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扣现金资本开支后</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1.47 亿元人民币</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尚未扣并购、分配及其他投资</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第四季CFO</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11.44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不能掩盖前三季净流出</a:t>
            </a:r>
            <a:endParaRPr lang="en-US" sz="1200" dirty="0"/>
          </a:p>
        </p:txBody>
      </p:sp>
      <p:sp>
        <p:nvSpPr>
          <p:cNvPr id="18" name="Text 15"/>
          <p:cNvSpPr/>
          <p:nvPr/>
        </p:nvSpPr>
        <p:spPr>
          <a:xfrm>
            <a:off x="548640" y="3520440"/>
            <a:ext cx="11064240" cy="914400"/>
          </a:xfrm>
          <a:prstGeom prst="rect">
            <a:avLst/>
          </a:prstGeom>
          <a:noFill/>
          <a:ln/>
        </p:spPr>
        <p:txBody>
          <a:bodyPr wrap="square" lIns="0" tIns="0" rIns="0" bIns="0" rtlCol="0" anchor="t"/>
          <a:lstStyle/>
          <a:p>
            <a:pPr indent="0" marL="0">
              <a:buNone/>
            </a:pPr>
            <a:r>
              <a:rPr lang="en-US" sz="2200" dirty="0">
                <a:solidFill>
                  <a:srgbClr val="213B45"/>
                </a:solidFill>
              </a:rPr>
              <a:t>非现金减值加回不会创造经营盈利。应收净额下降还可能来自准备、核销、抵债及范围变化，未完成滚动桥前不能直接视为客户多付现金。</a:t>
            </a:r>
            <a:endParaRPr lang="en-US" sz="2200" dirty="0"/>
          </a:p>
        </p:txBody>
      </p:sp>
      <p:sp>
        <p:nvSpPr>
          <p:cNvPr id="19" name="Text 16"/>
          <p:cNvSpPr/>
          <p:nvPr/>
        </p:nvSpPr>
        <p:spPr>
          <a:xfrm>
            <a:off x="548640" y="4736592"/>
            <a:ext cx="11064240" cy="868680"/>
          </a:xfrm>
          <a:prstGeom prst="rect">
            <a:avLst/>
          </a:prstGeom>
          <a:noFill/>
          <a:ln/>
        </p:spPr>
        <p:txBody>
          <a:bodyPr wrap="square" lIns="0" tIns="0" rIns="0" bIns="0" rtlCol="0" anchor="t"/>
          <a:lstStyle/>
          <a:p>
            <a:pPr indent="0" marL="0">
              <a:buNone/>
            </a:pPr>
            <a:r>
              <a:rPr lang="en-US" sz="1800" dirty="0">
                <a:solidFill>
                  <a:srgbClr val="213B45"/>
                </a:solidFill>
              </a:rPr>
              <a:t>经销贷款用于支付公司货款，同时保留公司保证责任；不以担保存量扣CFO。三月末集团外担保 0.77 亿元，下降 52.18%，未证明六月逐笔解除。一季度CFO -5,518.29 万元人民币。</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一年条件资金容量：范围调整仍须补证</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2026-06-30｜条件性公开研究｜6</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底稿记录：ks_horizon_find_horizon / ks_horizon_find_stress；原页、公式及完整限制见报告和Excel。</a:t>
            </a:r>
            <a:endParaRPr lang="en-US" sz="1000" dirty="0"/>
          </a:p>
        </p:txBody>
      </p:sp>
      <p:graphicFrame>
        <p:nvGraphicFramePr>
          <p:cNvPr id="6" name="Chart 0" descr=""/>
          <p:cNvGraphicFramePr/>
          <p:nvPr/>
        </p:nvGraphicFramePr>
        <p:xfrm>
          <a:off x="548640" y="1389888"/>
          <a:ext cx="72237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183880" y="1600200"/>
            <a:ext cx="3401568" cy="2880360"/>
          </a:xfrm>
          <a:prstGeom prst="rect">
            <a:avLst/>
          </a:prstGeom>
          <a:noFill/>
          <a:ln/>
        </p:spPr>
        <p:txBody>
          <a:bodyPr wrap="square" lIns="0" tIns="0" rIns="0" bIns="0" rtlCol="0" anchor="t"/>
          <a:lstStyle/>
          <a:p>
            <a:pPr indent="0" marL="0">
              <a:buNone/>
            </a:pPr>
            <a:r>
              <a:rPr lang="en-US" sz="2200" dirty="0">
                <a:solidFill>
                  <a:srgbClr val="213B45"/>
                </a:solidFill>
              </a:rPr>
              <a:t>2027六月末资金池</a:t>
            </a:r>
            <a:endParaRPr lang="en-US" sz="2200" dirty="0"/>
          </a:p>
          <a:p>
            <a:pPr indent="0" marL="0">
              <a:buNone/>
            </a:pPr>
            <a:r>
              <a:rPr lang="en-US" sz="2200" dirty="0">
                <a:solidFill>
                  <a:srgbClr val="213B45"/>
                </a:solidFill>
              </a:rPr>
              <a:t>基准 2.73 亿元人民币</a:t>
            </a:r>
            <a:endParaRPr lang="en-US" sz="2200" dirty="0"/>
          </a:p>
          <a:p>
            <a:pPr indent="0" marL="0">
              <a:buNone/>
            </a:pPr>
            <a:endParaRPr lang="en-US" sz="2200" dirty="0"/>
          </a:p>
          <a:p>
            <a:pPr indent="0" marL="0">
              <a:buNone/>
            </a:pPr>
            <a:r>
              <a:rPr lang="en-US" sz="2200" dirty="0">
                <a:solidFill>
                  <a:srgbClr val="213B45"/>
                </a:solidFill>
              </a:rPr>
              <a:t>延期分支</a:t>
            </a:r>
            <a:endParaRPr lang="en-US" sz="2200" dirty="0"/>
          </a:p>
          <a:p>
            <a:pPr indent="0" marL="0">
              <a:buNone/>
            </a:pPr>
            <a:r>
              <a:rPr lang="en-US" sz="2200" dirty="0">
                <a:solidFill>
                  <a:srgbClr val="213B45"/>
                </a:solidFill>
              </a:rPr>
              <a:t>-6,776.78 万元人民币</a:t>
            </a:r>
            <a:endParaRPr lang="en-US" sz="2200" dirty="0"/>
          </a:p>
        </p:txBody>
      </p:sp>
      <p:sp>
        <p:nvSpPr>
          <p:cNvPr id="8" name="Text 4"/>
          <p:cNvSpPr/>
          <p:nvPr/>
        </p:nvSpPr>
        <p:spPr>
          <a:xfrm>
            <a:off x="548640" y="5495544"/>
            <a:ext cx="11064240" cy="384048"/>
          </a:xfrm>
          <a:prstGeom prst="rect">
            <a:avLst/>
          </a:prstGeom>
          <a:noFill/>
          <a:ln/>
        </p:spPr>
        <p:txBody>
          <a:bodyPr wrap="square" lIns="0" tIns="0" rIns="0" bIns="0" rtlCol="0" anchor="t"/>
          <a:lstStyle/>
          <a:p>
            <a:pPr indent="0" marL="0">
              <a:buNone/>
            </a:pPr>
            <a:r>
              <a:rPr lang="en-US" sz="1300" dirty="0">
                <a:solidFill>
                  <a:srgbClr val="A34638"/>
                </a:solidFill>
              </a:rPr>
              <a:t>图示固定两版历史调整ΔA=ΔH=0、持续范围调整Γ=0；实际未知。各线还须扣未核还本D、净用途X、营运缓冲及用途隔离；季度末余额不证明月内付款覆盖。</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用途恢复与营运缓冲改变需要落实的融资</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2026-06-30｜条件性公开研究｜7</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底稿记录：ks_d_n_funds / ks_project_n_restore_event / ks_horizon_find_horizon；原页、公式及完整限制见报告和Excel。</a:t>
            </a:r>
            <a:endParaRPr lang="en-US" sz="1000" dirty="0"/>
          </a:p>
        </p:txBody>
      </p:sp>
      <p:sp>
        <p:nvSpPr>
          <p:cNvPr id="6" name="Shape 3"/>
          <p:cNvSpPr/>
          <p:nvPr/>
        </p:nvSpPr>
        <p:spPr>
          <a:xfrm>
            <a:off x="548640" y="141732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63624"/>
            <a:ext cx="3072384" cy="320040"/>
          </a:xfrm>
          <a:prstGeom prst="rect">
            <a:avLst/>
          </a:prstGeom>
          <a:noFill/>
          <a:ln/>
        </p:spPr>
        <p:txBody>
          <a:bodyPr wrap="square" lIns="0" tIns="0" rIns="0" bIns="0" rtlCol="0" anchor="t"/>
          <a:lstStyle/>
          <a:p>
            <a:pPr indent="0" marL="0">
              <a:buNone/>
            </a:pPr>
            <a:r>
              <a:rPr lang="en-US" sz="1400" dirty="0">
                <a:solidFill>
                  <a:srgbClr val="213B45"/>
                </a:solidFill>
              </a:rPr>
              <a:t>基准：用途占用6.5亿元</a:t>
            </a:r>
            <a:endParaRPr lang="en-US" sz="1400" dirty="0"/>
          </a:p>
        </p:txBody>
      </p:sp>
      <p:sp>
        <p:nvSpPr>
          <p:cNvPr id="8" name="Text 5"/>
          <p:cNvSpPr/>
          <p:nvPr/>
        </p:nvSpPr>
        <p:spPr>
          <a:xfrm>
            <a:off x="749808" y="198424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6.89 亿元人民币</a:t>
            </a:r>
            <a:endParaRPr lang="en-US" sz="2500" dirty="0"/>
          </a:p>
        </p:txBody>
      </p:sp>
      <p:sp>
        <p:nvSpPr>
          <p:cNvPr id="9" name="Text 6"/>
          <p:cNvSpPr/>
          <p:nvPr/>
        </p:nvSpPr>
        <p:spPr>
          <a:xfrm>
            <a:off x="749808" y="2569464"/>
            <a:ext cx="3072384" cy="393192"/>
          </a:xfrm>
          <a:prstGeom prst="rect">
            <a:avLst/>
          </a:prstGeom>
          <a:noFill/>
          <a:ln/>
        </p:spPr>
        <p:txBody>
          <a:bodyPr wrap="square" lIns="0" tIns="0" rIns="0" bIns="0" rtlCol="0" anchor="t"/>
          <a:lstStyle/>
          <a:p>
            <a:pPr indent="0" marL="0">
              <a:buNone/>
            </a:pPr>
            <a:r>
              <a:rPr lang="en-US" sz="1200" dirty="0">
                <a:solidFill>
                  <a:srgbClr val="213B45"/>
                </a:solidFill>
              </a:rPr>
              <a:t>累计融资截距；15日研究缓冲</a:t>
            </a:r>
            <a:endParaRPr lang="en-US" sz="1200" dirty="0"/>
          </a:p>
        </p:txBody>
      </p:sp>
      <p:sp>
        <p:nvSpPr>
          <p:cNvPr id="10" name="Shape 7"/>
          <p:cNvSpPr/>
          <p:nvPr/>
        </p:nvSpPr>
        <p:spPr>
          <a:xfrm>
            <a:off x="4251960" y="141732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63624"/>
            <a:ext cx="3072384" cy="320040"/>
          </a:xfrm>
          <a:prstGeom prst="rect">
            <a:avLst/>
          </a:prstGeom>
          <a:noFill/>
          <a:ln/>
        </p:spPr>
        <p:txBody>
          <a:bodyPr wrap="square" lIns="0" tIns="0" rIns="0" bIns="0" rtlCol="0" anchor="t"/>
          <a:lstStyle/>
          <a:p>
            <a:pPr indent="0" marL="0">
              <a:buNone/>
            </a:pPr>
            <a:r>
              <a:rPr lang="en-US" sz="1400" dirty="0">
                <a:solidFill>
                  <a:srgbClr val="213B45"/>
                </a:solidFill>
              </a:rPr>
              <a:t>基准：用途占用13亿元</a:t>
            </a:r>
            <a:endParaRPr lang="en-US" sz="1400" dirty="0"/>
          </a:p>
        </p:txBody>
      </p:sp>
      <p:sp>
        <p:nvSpPr>
          <p:cNvPr id="12" name="Text 9"/>
          <p:cNvSpPr/>
          <p:nvPr/>
        </p:nvSpPr>
        <p:spPr>
          <a:xfrm>
            <a:off x="4453128" y="1984248"/>
            <a:ext cx="3072384" cy="530352"/>
          </a:xfrm>
          <a:prstGeom prst="rect">
            <a:avLst/>
          </a:prstGeom>
          <a:noFill/>
          <a:ln/>
        </p:spPr>
        <p:txBody>
          <a:bodyPr wrap="square" lIns="0" tIns="0" rIns="0" bIns="0" rtlCol="0" anchor="t"/>
          <a:lstStyle/>
          <a:p>
            <a:pPr indent="0" marL="0">
              <a:buNone/>
            </a:pPr>
            <a:r>
              <a:rPr lang="en-US" sz="2500" b="1" dirty="0">
                <a:solidFill>
                  <a:srgbClr val="A34638"/>
                </a:solidFill>
              </a:rPr>
              <a:t>13.39 亿元人民币</a:t>
            </a:r>
            <a:endParaRPr lang="en-US" sz="2500" dirty="0"/>
          </a:p>
        </p:txBody>
      </p:sp>
      <p:sp>
        <p:nvSpPr>
          <p:cNvPr id="13" name="Text 10"/>
          <p:cNvSpPr/>
          <p:nvPr/>
        </p:nvSpPr>
        <p:spPr>
          <a:xfrm>
            <a:off x="4453128" y="2569464"/>
            <a:ext cx="3072384" cy="393192"/>
          </a:xfrm>
          <a:prstGeom prst="rect">
            <a:avLst/>
          </a:prstGeom>
          <a:noFill/>
          <a:ln/>
        </p:spPr>
        <p:txBody>
          <a:bodyPr wrap="square" lIns="0" tIns="0" rIns="0" bIns="0" rtlCol="0" anchor="t"/>
          <a:lstStyle/>
          <a:p>
            <a:pPr indent="0" marL="0">
              <a:buNone/>
            </a:pPr>
            <a:r>
              <a:rPr lang="en-US" sz="1200" dirty="0">
                <a:solidFill>
                  <a:srgbClr val="213B45"/>
                </a:solidFill>
              </a:rPr>
              <a:t>参数敏感性；非实际占用</a:t>
            </a:r>
            <a:endParaRPr lang="en-US" sz="1200" dirty="0"/>
          </a:p>
        </p:txBody>
      </p:sp>
      <p:sp>
        <p:nvSpPr>
          <p:cNvPr id="14" name="Shape 11"/>
          <p:cNvSpPr/>
          <p:nvPr/>
        </p:nvSpPr>
        <p:spPr>
          <a:xfrm>
            <a:off x="7955280" y="141732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63624"/>
            <a:ext cx="3255264" cy="320040"/>
          </a:xfrm>
          <a:prstGeom prst="rect">
            <a:avLst/>
          </a:prstGeom>
          <a:noFill/>
          <a:ln/>
        </p:spPr>
        <p:txBody>
          <a:bodyPr wrap="square" lIns="0" tIns="0" rIns="0" bIns="0" rtlCol="0" anchor="t"/>
          <a:lstStyle/>
          <a:p>
            <a:pPr indent="0" marL="0">
              <a:buNone/>
            </a:pPr>
            <a:r>
              <a:rPr lang="en-US" sz="1400" dirty="0">
                <a:solidFill>
                  <a:srgbClr val="213B45"/>
                </a:solidFill>
              </a:rPr>
              <a:t>另延5%：用途占用6.5亿元</a:t>
            </a:r>
            <a:endParaRPr lang="en-US" sz="1400" dirty="0"/>
          </a:p>
        </p:txBody>
      </p:sp>
      <p:sp>
        <p:nvSpPr>
          <p:cNvPr id="16" name="Text 13"/>
          <p:cNvSpPr/>
          <p:nvPr/>
        </p:nvSpPr>
        <p:spPr>
          <a:xfrm>
            <a:off x="8156448" y="198424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10.30 亿元人民币</a:t>
            </a:r>
            <a:endParaRPr lang="en-US" sz="2500" dirty="0"/>
          </a:p>
        </p:txBody>
      </p:sp>
      <p:sp>
        <p:nvSpPr>
          <p:cNvPr id="17" name="Text 14"/>
          <p:cNvSpPr/>
          <p:nvPr/>
        </p:nvSpPr>
        <p:spPr>
          <a:xfrm>
            <a:off x="8156448" y="2569464"/>
            <a:ext cx="3255264" cy="393192"/>
          </a:xfrm>
          <a:prstGeom prst="rect">
            <a:avLst/>
          </a:prstGeom>
          <a:noFill/>
          <a:ln/>
        </p:spPr>
        <p:txBody>
          <a:bodyPr wrap="square" lIns="0" tIns="0" rIns="0" bIns="0" rtlCol="0" anchor="t"/>
          <a:lstStyle/>
          <a:p>
            <a:pPr indent="0" marL="0">
              <a:buNone/>
            </a:pPr>
            <a:r>
              <a:rPr lang="en-US" sz="1200" dirty="0">
                <a:solidFill>
                  <a:srgbClr val="213B45"/>
                </a:solidFill>
              </a:rPr>
              <a:t>未当作已承诺融资</a:t>
            </a:r>
            <a:endParaRPr lang="en-US" sz="1200" dirty="0"/>
          </a:p>
        </p:txBody>
      </p:sp>
      <p:sp>
        <p:nvSpPr>
          <p:cNvPr id="18" name="Text 15"/>
          <p:cNvSpPr/>
          <p:nvPr/>
        </p:nvSpPr>
        <p:spPr>
          <a:xfrm>
            <a:off x="548640" y="3566160"/>
            <a:ext cx="11064240" cy="886968"/>
          </a:xfrm>
          <a:prstGeom prst="rect">
            <a:avLst/>
          </a:prstGeom>
          <a:noFill/>
          <a:ln/>
        </p:spPr>
        <p:txBody>
          <a:bodyPr wrap="square" lIns="0" tIns="0" rIns="0" bIns="0" rtlCol="0" anchor="t"/>
          <a:lstStyle/>
          <a:p>
            <a:pPr indent="0" marL="0">
              <a:buNone/>
            </a:pPr>
            <a:r>
              <a:rPr lang="en-US" sz="2200" dirty="0">
                <a:solidFill>
                  <a:srgbClr val="213B45"/>
                </a:solidFill>
              </a:rPr>
              <a:t>临时补流须在2027-01-09十二个月边界及更早项目需要前恢复用途。归还专户是内部调度，须与已有用途预留去重；实际占用仍未知。</a:t>
            </a:r>
            <a:endParaRPr lang="en-US" sz="2200" dirty="0"/>
          </a:p>
        </p:txBody>
      </p:sp>
      <p:sp>
        <p:nvSpPr>
          <p:cNvPr id="19" name="Text 16"/>
          <p:cNvSpPr/>
          <p:nvPr/>
        </p:nvSpPr>
        <p:spPr>
          <a:xfrm>
            <a:off x="548640" y="4718304"/>
            <a:ext cx="11064240" cy="731520"/>
          </a:xfrm>
          <a:prstGeom prst="rect">
            <a:avLst/>
          </a:prstGeom>
          <a:noFill/>
          <a:ln/>
        </p:spPr>
        <p:txBody>
          <a:bodyPr wrap="square" lIns="0" tIns="0" rIns="0" bIns="0" rtlCol="0" anchor="t"/>
          <a:lstStyle/>
          <a:p>
            <a:pPr indent="0" marL="0">
              <a:buNone/>
            </a:pPr>
            <a:r>
              <a:rPr lang="en-US" sz="1900" dirty="0">
                <a:solidFill>
                  <a:srgbClr val="A34638"/>
                </a:solidFill>
              </a:rPr>
              <a:t>截距固定ΔA=ΔH=Γ=D=X=P=0，实际参数未知。范围调整须同时改变经营收付与缓冲；还本、净用途及合格项目耗用须另核并去重。实际融资需求尚不能定值。</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偿债主体是发行人，不能直接动用全部集团余额</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2026-06-30｜条件性公开研究｜8</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底稿记录：ks_r_parent_risk / ks_d_e_issue_coupon / ks_d_e_maturity_call / ks_project_n_model / ks_project_n_timing；原页、公式及完整限制见报告和Excel。</a:t>
            </a:r>
            <a:endParaRPr lang="en-US" sz="1000" dirty="0"/>
          </a:p>
        </p:txBody>
      </p:sp>
      <p:sp>
        <p:nvSpPr>
          <p:cNvPr id="6" name="Shape 3"/>
          <p:cNvSpPr/>
          <p:nvPr/>
        </p:nvSpPr>
        <p:spPr>
          <a:xfrm>
            <a:off x="548640" y="1353312"/>
            <a:ext cx="5394960" cy="1691640"/>
          </a:xfrm>
          <a:prstGeom prst="rect">
            <a:avLst/>
          </a:prstGeom>
          <a:solidFill>
            <a:srgbClr val="E6EFEC"/>
          </a:solidFill>
          <a:ln w="12700">
            <a:solidFill>
              <a:srgbClr val="E6EFEC"/>
            </a:solidFill>
            <a:prstDash val="solid"/>
          </a:ln>
        </p:spPr>
      </p:sp>
      <p:sp>
        <p:nvSpPr>
          <p:cNvPr id="7" name="Text 4"/>
          <p:cNvSpPr/>
          <p:nvPr/>
        </p:nvSpPr>
        <p:spPr>
          <a:xfrm>
            <a:off x="74980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母公司2025末：现金减短期账面代理</a:t>
            </a:r>
            <a:endParaRPr lang="en-US" sz="1400" dirty="0"/>
          </a:p>
        </p:txBody>
      </p:sp>
      <p:sp>
        <p:nvSpPr>
          <p:cNvPr id="8" name="Text 5"/>
          <p:cNvSpPr/>
          <p:nvPr/>
        </p:nvSpPr>
        <p:spPr>
          <a:xfrm>
            <a:off x="749808" y="1920240"/>
            <a:ext cx="4992624" cy="530352"/>
          </a:xfrm>
          <a:prstGeom prst="rect">
            <a:avLst/>
          </a:prstGeom>
          <a:noFill/>
          <a:ln/>
        </p:spPr>
        <p:txBody>
          <a:bodyPr wrap="square" lIns="0" tIns="0" rIns="0" bIns="0" rtlCol="0" anchor="t"/>
          <a:lstStyle/>
          <a:p>
            <a:pPr indent="0" marL="0">
              <a:buNone/>
            </a:pPr>
            <a:r>
              <a:rPr lang="en-US" sz="2500" b="1" dirty="0">
                <a:solidFill>
                  <a:srgbClr val="237F72"/>
                </a:solidFill>
              </a:rPr>
              <a:t>1.05 亿元人民币</a:t>
            </a:r>
            <a:endParaRPr lang="en-US" sz="2500" dirty="0"/>
          </a:p>
        </p:txBody>
      </p:sp>
      <p:sp>
        <p:nvSpPr>
          <p:cNvPr id="9" name="Text 6"/>
          <p:cNvSpPr/>
          <p:nvPr/>
        </p:nvSpPr>
        <p:spPr>
          <a:xfrm>
            <a:off x="74980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未扣全体经营、票据、股利及用途需求</a:t>
            </a:r>
            <a:endParaRPr lang="en-US" sz="1200" dirty="0"/>
          </a:p>
        </p:txBody>
      </p:sp>
      <p:sp>
        <p:nvSpPr>
          <p:cNvPr id="10" name="Shape 7"/>
          <p:cNvSpPr/>
          <p:nvPr/>
        </p:nvSpPr>
        <p:spPr>
          <a:xfrm>
            <a:off x="6217920" y="1353312"/>
            <a:ext cx="5394960" cy="1691640"/>
          </a:xfrm>
          <a:prstGeom prst="rect">
            <a:avLst/>
          </a:prstGeom>
          <a:solidFill>
            <a:srgbClr val="E6EFEC"/>
          </a:solidFill>
          <a:ln w="12700">
            <a:solidFill>
              <a:srgbClr val="E6EFEC"/>
            </a:solidFill>
            <a:prstDash val="solid"/>
          </a:ln>
        </p:spPr>
      </p:sp>
      <p:sp>
        <p:nvSpPr>
          <p:cNvPr id="11" name="Text 8"/>
          <p:cNvSpPr/>
          <p:nvPr/>
        </p:nvSpPr>
        <p:spPr>
          <a:xfrm>
            <a:off x="641908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同日现金减固定本金未来到期价</a:t>
            </a:r>
            <a:endParaRPr lang="en-US" sz="1400" dirty="0"/>
          </a:p>
        </p:txBody>
      </p:sp>
      <p:sp>
        <p:nvSpPr>
          <p:cNvPr id="12" name="Text 9"/>
          <p:cNvSpPr/>
          <p:nvPr/>
        </p:nvSpPr>
        <p:spPr>
          <a:xfrm>
            <a:off x="6419088" y="1920240"/>
            <a:ext cx="4992624" cy="530352"/>
          </a:xfrm>
          <a:prstGeom prst="rect">
            <a:avLst/>
          </a:prstGeom>
          <a:noFill/>
          <a:ln/>
        </p:spPr>
        <p:txBody>
          <a:bodyPr wrap="square" lIns="0" tIns="0" rIns="0" bIns="0" rtlCol="0" anchor="t"/>
          <a:lstStyle/>
          <a:p>
            <a:pPr indent="0" marL="0">
              <a:buNone/>
            </a:pPr>
            <a:r>
              <a:rPr lang="en-US" sz="2500" b="1" dirty="0">
                <a:solidFill>
                  <a:srgbClr val="A34638"/>
                </a:solidFill>
              </a:rPr>
              <a:t>-12.24 亿元人民币</a:t>
            </a:r>
            <a:endParaRPr lang="en-US" sz="2500" dirty="0"/>
          </a:p>
        </p:txBody>
      </p:sp>
      <p:sp>
        <p:nvSpPr>
          <p:cNvPr id="13" name="Text 10"/>
          <p:cNvSpPr/>
          <p:nvPr/>
        </p:nvSpPr>
        <p:spPr>
          <a:xfrm>
            <a:off x="641908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静态比较，不是本年已到期缺口</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419856"/>
          <a:ext cx="11064240" cy="914400"/>
        </p:xfrm>
        <a:graphic>
          <a:graphicData uri="http://schemas.openxmlformats.org/drawingml/2006/table">
            <a:tbl>
              <a:tblPr/>
              <a:tblGrid>
                <a:gridCol w="3383280"/>
                <a:gridCol w="1920240"/>
                <a:gridCol w="1920240"/>
                <a:gridCol w="1920240"/>
                <a:gridCol w="1920240"/>
              </a:tblGrid>
              <a:tr h="438912">
                <a:tc>
                  <a:txBody>
                    <a:bodyPr/>
                    <a:lstStyle/>
                    <a:p>
                      <a:pPr indent="0" marL="0">
                        <a:buNone/>
                      </a:pPr>
                      <a:r>
                        <a:rPr lang="en-US" sz="1500" dirty="0">
                          <a:solidFill>
                            <a:srgbClr val="213B45"/>
                          </a:solidFill>
                        </a:rPr>
                        <a:t>固定一季末面值情景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2026支付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2027支付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2028支付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2029支付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合同现金需求（亿元）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0.2198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0.3297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0.3956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25.2749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15" name="Text 11"/>
          <p:cNvSpPr/>
          <p:nvPr/>
        </p:nvSpPr>
        <p:spPr>
          <a:xfrm>
            <a:off x="548640" y="4800600"/>
            <a:ext cx="11064240" cy="822960"/>
          </a:xfrm>
          <a:prstGeom prst="rect">
            <a:avLst/>
          </a:prstGeom>
          <a:noFill/>
          <a:ln/>
        </p:spPr>
        <p:txBody>
          <a:bodyPr wrap="square" lIns="0" tIns="0" rIns="0" bIns="0" rtlCol="0" anchor="t"/>
          <a:lstStyle/>
          <a:p>
            <a:pPr indent="0" marL="0">
              <a:buNone/>
            </a:pPr>
            <a:r>
              <a:rPr lang="en-US" sz="1900" dirty="0">
                <a:solidFill>
                  <a:srgbClr val="213B45"/>
                </a:solidFill>
              </a:rPr>
              <a:t>115%已含末息。旧项目末年净现金中79.48%依赖终期回收，不能列为已落实偿债资金。四项建设募集投入12.63%、均延至2028年末；还须证明现金可调度至发行人。</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会计与合同疑点保留原值，不倒挤为零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2026-06-30｜条件性公开研究｜9</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底稿记录：ks_a_e_ar / ks_a_e_fixed / ks_d_n_covenant / ks_r_bond_bucket_finding / ks_project_n_put；原页、公式及完整限制见报告和Excel。</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7863840"/>
                <a:gridCol w="3200400"/>
              </a:tblGrid>
              <a:tr h="438912">
                <a:tc>
                  <a:txBody>
                    <a:bodyPr/>
                    <a:lstStyle/>
                    <a:p>
                      <a:pPr indent="0" marL="0">
                        <a:buNone/>
                      </a:pPr>
                      <a:r>
                        <a:rPr lang="en-US" sz="1500" dirty="0">
                          <a:solidFill>
                            <a:srgbClr val="213B45"/>
                          </a:solidFill>
                        </a:rPr>
                        <a:t>需解释的原表勾稽</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精确残差：人民币元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应收准备滚动</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62,431.64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滁州CIP原表未闭合</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12,852,572.76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300984"/>
            <a:ext cx="11064240" cy="914400"/>
          </a:xfrm>
          <a:prstGeom prst="rect">
            <a:avLst/>
          </a:prstGeom>
          <a:noFill/>
          <a:ln/>
        </p:spPr>
        <p:txBody>
          <a:bodyPr wrap="square" lIns="0" tIns="0" rIns="0" bIns="0" rtlCol="0" anchor="t"/>
          <a:lstStyle/>
          <a:p>
            <a:pPr indent="0" marL="0">
              <a:buNone/>
            </a:pPr>
            <a:r>
              <a:rPr lang="en-US" sz="2100" dirty="0">
                <a:solidFill>
                  <a:srgbClr val="213B45"/>
                </a:solidFill>
              </a:rPr>
              <a:t>两项滚动差异均回看原页后保留；另有债券期限表与固定本金合同时间轴的差额。均需解释，不能擅改原符号或直接推断整体报表失实。</a:t>
            </a:r>
            <a:endParaRPr lang="en-US" sz="2100" dirty="0"/>
          </a:p>
        </p:txBody>
      </p:sp>
      <p:sp>
        <p:nvSpPr>
          <p:cNvPr id="8" name="Text 4"/>
          <p:cNvSpPr/>
          <p:nvPr/>
        </p:nvSpPr>
        <p:spPr>
          <a:xfrm>
            <a:off x="548640" y="4517136"/>
            <a:ext cx="11064240" cy="960120"/>
          </a:xfrm>
          <a:prstGeom prst="rect">
            <a:avLst/>
          </a:prstGeom>
          <a:noFill/>
          <a:ln/>
        </p:spPr>
        <p:txBody>
          <a:bodyPr wrap="square" lIns="0" tIns="0" rIns="0" bIns="0" rtlCol="0" anchor="t"/>
          <a:lstStyle/>
          <a:p>
            <a:pPr indent="0" marL="0">
              <a:buNone/>
            </a:pPr>
            <a:r>
              <a:rPr lang="en-US" sz="2000" dirty="0">
                <a:solidFill>
                  <a:srgbClr val="A34638"/>
                </a:solidFill>
              </a:rPr>
              <a:t>债券账面余额/净资产 57.09% 与持续承诺存在待解释关系。发行条件、持续承诺、会议触发和实际加速后果分别核验，不能直接认定已违约或已获豁免。</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跟踪应改变决定，而不只是更新比率</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2026-06-30｜条件性公开研究｜10</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底稿记录：ks_r_followup / ks_r_rating_chain / ks_credit_find_facilities；原页、公式及完整限制见报告和Excel。</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840480"/>
                <a:gridCol w="2011680"/>
                <a:gridCol w="5212080"/>
              </a:tblGrid>
              <a:tr h="438912">
                <a:tc>
                  <a:txBody>
                    <a:bodyPr/>
                    <a:lstStyle/>
                    <a:p>
                      <a:pPr indent="0" marL="0">
                        <a:buNone/>
                      </a:pPr>
                      <a:r>
                        <a:rPr lang="en-US" sz="1700" dirty="0">
                          <a:solidFill>
                            <a:srgbClr val="213B45"/>
                          </a:solidFill>
                        </a:rPr>
                        <a:t>重算后成立的条件</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条件建议</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行动边界</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C/F5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证实近期无法按约付款</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退出常态矩阵</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确认合同事件并立即重新定级</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251960"/>
            <a:ext cx="11064240" cy="1115568"/>
          </a:xfrm>
          <a:prstGeom prst="rect">
            <a:avLst/>
          </a:prstGeom>
          <a:noFill/>
          <a:ln/>
        </p:spPr>
        <p:txBody>
          <a:bodyPr wrap="square" lIns="0" tIns="0" rIns="0" bIns="0" rtlCol="0" anchor="t"/>
          <a:lstStyle/>
          <a:p>
            <a:pPr indent="0" marL="0">
              <a:buNone/>
            </a:pPr>
            <a:r>
              <a:rPr lang="en-US" sz="2100" dirty="0">
                <a:solidFill>
                  <a:srgbClr val="FFFFFF"/>
                </a:solidFill>
              </a:rPr>
              <a:t>同一时点未用银行借款 10.8 亿元与未用授信 47.0 亿元尚未对齐，均不当作现金。逐项核提款条件、发行人付款日、用途及担保解除，再重算融资判断、资金边界与评级条件。</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科顺股份与科顺转债：年报及信用研究｜研究汇报</dc:title>
  <dc:subject>截至2026-06-30的境内相对信用研究：基准建议主体及科顺转债BBB+、负面展望；明确实际付款、资金用途和承诺待核条件。 现金季节锚的同控版本及持续范围桥未闭合，代理数字只作明示零调整条件参照，不能证明付款覆盖。</dc:subject>
  <dc:creator>annual-report-analysis</dc:creator>
  <cp:lastModifiedBy>annual-report-analysis</cp:lastModifiedBy>
  <cp:revision>1</cp:revision>
  <dcterms:created xsi:type="dcterms:W3CDTF">2026-10-03T20:45:34Z</dcterms:created>
  <dcterms:modified xsi:type="dcterms:W3CDTF">2026-10-03T20:45:34Z</dcterms:modified>
</cp:coreProperties>
</file>