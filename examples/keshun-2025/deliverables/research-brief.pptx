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材料不涨价</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0</c:v>
                </c:pt>
                <c:pt idx="1">
                  <c:v>1.6243680944691161</c:v>
                </c:pt>
                <c:pt idx="2">
                  <c:v>2.7017702205419343</c:v>
                </c:pt>
                <c:pt idx="3">
                  <c:v>7.232095895619591</c:v>
                </c:pt>
                <c:pt idx="4">
                  <c:v>10.505477581665769</c:v>
                </c:pt>
              </c:numCache>
            </c:numRef>
          </c:val>
          <c:smooth val="0"/>
        </c:ser>
        <c:ser>
          <c:idx val="1"/>
          <c:order val="1"/>
          <c:tx>
            <c:strRef>
              <c:f>Sheet1!$C$1</c:f>
              <c:strCache>
                <c:ptCount val="1"/>
                <c:pt idx="0">
                  <c:v>材料+5%</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0</c:v>
                </c:pt>
                <c:pt idx="1">
                  <c:v>2.372815537905883</c:v>
                </c:pt>
                <c:pt idx="2">
                  <c:v>3.765950770951788</c:v>
                </c:pt>
                <c:pt idx="3">
                  <c:v>8.640145275302086</c:v>
                </c:pt>
                <c:pt idx="4">
                  <c:v>12.342379612872984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liquidity","title":"无新增融资现金诊断与融资反馈链分列","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status":"conditional","evidence":["ks_d_l_e_cash_actual","ks_d_l_e_season","ks_r_base_cash_min","ks_r_worse_cash_min","ks_d_e_fund_new","ks_horizon_e_ar_scope","ks_horizon_e_decontrol_scope","ks_credit_e_facilities"],"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亿元人民币。归母利润较2024年减少5.71 亿元人民币，其中扣非恶化3.28 亿元人民币、非经常支持减少2.43 亿元人民币，后者占42.51%；不能把恶化全部归于当期一次性损失。","mechanism":"公司归母非经常损益从2.97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status":"supported","evidence":["ks_a_e_is","ks_a_e_revenue","ks_a_e_debtassets","ks_a_ebitda_2025","ks_a_perf_fv_2024","ks_earn_e_nonrec","ks_earn_nonrec_contribution","ks_earn_two_gains_share_2024","ks_earn_ebitda_sensitivity_2024","ks_earn_ebitda_sensitivity_2025"],"counterevidence":["ks_earn_reversal_2025","ks_earn_disposal_2025","ks_earn_restructuring_2025"],"alternatives":["集中确认历史客户损失会使当期亏损高于现金支出，但持续发生的信用成本不能自动全额加回。","应收转回可能来自真实收款，也可能来自抵债及估计变化；须逐笔对应现金、资产接收和准备滚动后判断。","资产处置及债务重组损失也应按经济性质对称审查；公司扣非口径、分析者正常化和机构偿债收益定义分别保留。"],"changes_if":"按客户和年度拆分新增损失、实际回收及转回依据；把金融资产损益对应到处置现金与剩余估值敞口，对持续补助和负向非经常项目作同等核查。证明常态经营收益和现金覆盖利息及必要投入后再改善盈利判断；仅观察2024正EBITDA或2025转回收益不足以成立。","figure_refs":["ks_a_netincome_2025","ks_a_cf_imp_2025","ks_a_ebitda_2025","ks_earn_parent_decline","ks_earn_deducted_decline","ks_earn_nonrec_decline","ks_earn_nonrec_contribution","ks_earn_total_2024","ks_earn_total_2025","ks_a_adjustedni_2024","ks_a_adjustedni","ks_earn_financial_2024","ks_earn_financial_2025","ks_earn_reversal_2024","ks_earn_reversal_2025","ks_earn_two_gains_share_2024","ks_earn_ebitda_sensitivity_2024","ks_earn_ebitda_sensitivity_2025","ks_earn_pbt_sensitivity_2024","ks_earn_pbt_sensitivity_2025","ks_a_perf_fv_2024"]}
{"id":"ks_a_find_tax","title":"递延税可实现性、利润缓冲与资本质量","question":"递延税资产对亏损和资本的支撑能否兑现为偿债能力？","conclusion":"列报DTA（抵销后）5.03 亿元人民币占总权益12.41%；DTA减DTL净税资产4.66 亿元人民币占总权益11.51%，两种口径不能混用。减值及亏损DTA占抵销前DTA80.11%。当期递延税收益1.03 亿元人民币缓冲亏损；仅剔除该收益并保留当期税费，合并净利润展示为-6.51 亿元人民币，不代表现金流入。","mechanism":"减值DTA增加7,302.10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status":"conditional","evidence":["ks_a_e_tax","ks_tax_e_balance","ks_tax_e_cas18","ks_tax_e_pl_cash","ks_a_taxroll","ks_tax_gross_dta_increase","ks_tax_key_share","ks_a_dta_equity","ks_tax_netasset_equity","ks_tax_loss_equity","ks_tax_income_without_deferred"],"counterevidence":["ks_a_taxcurrent","ks_a_unrecognizeddta"],"alternatives":["部分可抵扣差异可由同一纳税主体未来应税利润及应税暂时性差异转回支持；合并亏损本身不证明全部DTA失效。","集团内其他主体盈利不能未经税法依据抵扣亏损，同一未来应税利润不能在多类DTA中重复使用。"],"changes_if":"取得分主体、税区、亏损发生及到期年度、差异转回和抵扣限制后，若可用应税利润不足，则重估相关DTA；亏损DTA占总权益1.76%。经证实需减记时相应降低损益和权益，不再追加一次假定税盾；按选用信用方法评价资本缓冲，并与减值情景去重。未落实的税资产不进入可调度现金，不能据税收益上调偿债能力。","figure_refs":["ks_a_dta_2025","ks_a_dta_equity","ks_tax_netasset_2025","ks_tax_netasset_equity","ks_tax_key_share","ks_tax_deferred_benefit","ks_tax_income_without_deferred","ks_tax_impairment_increase","ks_tax_loss_increase","ks_tax_key_increase","ks_tax_other_increase","ks_tax_gross_dta_increase","ks_tax_key_dta","ks_a_dtaloss","ks_a_taxlossbasis","ks_a_unrecognizeddta","ks_tax_loss_equity","ks_a_tax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status":"supported","evidence":["ks_a_e_cf","ks_a_e_indirect","ks_a_e_summary","ks_a_e_equity","ks_a_indirect_cfo_2025","ks_credit_e_dealer_use","ks_credit_e_yearend_settlement"],"counterevidence":["ks_credit_e_guarantee_q1"],"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 将经销银行放款与本公司收款逐笔匹配，并与保证余额滚动/逾期情况联查，才能辨别可持续经营回款和依赖保证续作的收现。","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
{"id":"ks_a_find_contingent","title":"保证、诉讼、质量与关联支持","question":"表外及或有负担是否被财务比率遗漏？","conclusion":"年末集团外经销担保1.60 亿元人民币；前十笔1.23 亿元人民币、占77.08%，其中原表七笔六月担保到期金额1.04 亿元人民币。三月末公告实际集团外余额降至7,655.11 万元人民币，降幅52.18%；集团内1.21 亿元人民币另列。余额下降是反证，不证明前十笔已逐笔解除或截至六月仍无风险。","mechanism":"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status":"conditional","evidence":["ks_credit_e_dealer_schedule","ks_credit_e_guarantee_q1","ks_credit_e_guarantee_approval","ks_credit_e_dealer_use","ks_credit_e_yearend_settlement","ks_a_e_liabs","ks_a_e_related"],"counterevidence":["ks_credit_e_guarantee_q1"],"alternatives":["三月末实际余额下降且公司声明无逾期、涉诉及败诉代偿，有利于风险判断；它未说明逐户变化原因或六月状态。","反担保可能有回收价值，但需核权属、顺位、可执行性及时间；先列发行人毛付款，再列有依据的追偿，不能抵销当天现金。"],"changes_if":"全查原表前十笔及新增、展期、逾期、追偿和代偿事项；取得其余29户完整台账并核全量滚动，不能外推。把贷款放款—客户付款—发票/应收结算和实际保证状态逐户连接，区分新销售、旧款回收、预收与借新还旧；将净增或有损失与实际现金时点分别进入资产/现金质量、融资及个体调整，消除与回款和已并表债务重复计算。","figure_refs":["ks_a_guarantees_external","ks_credit_dealer_top10","ks_credit_dealer_top10_share","ks_credit_dealer_june","ks_credit_guarantee_external_q1","ks_credit_guarantee_external_decline","ks_credit_guarantee_internal_q1","ks_credit_guarantee_new_approval","ks_a_guarantee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chain","title":"同一材料冲击通过现金融资与利息传至权益和财务风险因素","question":"2025材料毛利改善若部分逆转，未来损益与偿债因素是否改变？","conclusion":"同季利息/补助收益、公开锚定当期税及Q1减值延续条件下，材料+5%使2026 EBITDA3.53735亿元、净利−1.27943亿元、CFO2.36903亿元、末债45.08299亿元；2027H1累计新借12.34238亿元。材料冲击相对同基准使财务分4.61625/F3→4.36625/F4，杠杆跨20和25两个阈值。","mechanism":"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status":"conditional","evidence":["ks_econ_e_material","ks_econ_e_q1","ks_econ_fig_ebitda","ks_econ_fig_cfo","ks_econ_fig_debt","ks_r_e_finance","ks_econ_e_cash_tax"],"counterevidence":[],"alternatives":["2025减值强度延续、材料5%时，2026 EBITDA−0.71357亿元、净亏5.53036亿元，财务分3.68875/F4。","VAT全递延需累计新借12.58118亿元；当期税同季支付12.49497亿元；未来利息补助均不发生12.89331亿元。","年度比率先加权保留；零分母与混合正负EBITDA未决不伪造唯一杠杆或利用带符号均值抵销负担。"],"changes_if":"收入/采购价格、减值回收、税额抵扣、贷款条件与期限改变，须重跑同链；经营资产独立周转预测和真实可调用资金仍待核。","figure_refs":["ks_econ_fig_ebitda","ks_econ_fig_cfo","ks_econ_fig_debt"]}
{"id":"ks_econ_f_qualitative","title":"资产质量和再融资共同相邻评分不支持唯一中心","question":"为何2024/25采用资产质量3.5/2.5、再融资5/4.5，二者共同变化怎样影响结果？","conclusion":"资产质量下调有应收准备27.50%→36.17%、3年以上23.78%→32.56%及抵债房产5.31→7.86亿元支持；但没有官方自动数值门槛。再融资中心5/4.5受同日未用额度冲突与附条件可得性限制，保留未选定。两项各±0.5，历史中心财务分3.62375/3.73625/3.84875均F4，叠加量化档内取值的联合范围[3.34875,4.12375)跨F5/F4。","mechanism":"两项权重10%和12.5%，共同±0.5使财务分±0.1125；Q1减值无涨价分支4.50375/4.61625/4.72875均F3，材料5%为4.25375/4.36625/4.47875均F4。历史联合区间及全部9格另列。","status":"conditional","evidence":["ks_a_e_ar","ks_credit_e_facilities","ks_r_e_finance","ks_r_e_history"],"counterevidence":[],"alternatives":["资产回收与银行可用额度获证支持时可选偏强相邻分支；准备不足、抵债房产/税资产变现弱或融资受限则偏弱。","仅见净应收和受限资产下降不足以证明资产改善；额度未使用不等于无条件可提款。"],"changes_if":"取得实际回收/减值充分性与银行确认后再选定分支；在此之前不以中心评级替代判断区间。","figure_refs":[]}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funding","title":"按需融资成立与融资上限失败须分别进入主体债项建议","question":"相同经营冲击下，新增资金取得是否足以支持支付条件？","conclusion":"累计新增融资仅5亿元时，2027-03-31首次不能满足经营底线和用途准备，缺口3.59975亿元。按需到位、三年期新贷均为条件；材料5%矩阵保留BBB+主体及转债分支、无涨价强分支为A，实际发行人A及支付覆盖仍为空，不能由条件结果认定真实评级调整。","mechanism":"旧债账面清偿预算、现金息和债券票息与经营流同表；每季求F=(底线+用途准备−无新提款期末现金)/(1−当期新借款利息率)，受限融资不足则停止，不继续以自动贷款补平。","status":"conditional","evidence":["ks_econ_e_q1","ks_credit_e_facilities","ks_econ_fig_new_finance_h1_2027","ks_r_e_finance"],"counterevidence":[],"alternatives":["真实合同清偿与账面预算不同会改变提款时点及金额。","U/P、Δ_A/Δ_H/Γ、X、发行人A改变均可能改变日期判断；均不预填为事实。"],"changes_if":"取得按法人和银行拆分的额度确认、提款及资金调拨、合同到期及用途恢复证据后，用同一经营情景重跑；47亿元与10.8亿元未用额度不能替代确认。","figure_refs":["ks_econ_fig_new_finance_h1_2027"]}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status":"conditional","evidence":["ks_project_e_progress","ks_project_e_schedule","ks_project_e_tracking","ks_d_e_fund_new","ks_d_e_issue_coupon","ks_d_e_maturity_call","ks_a_e_bond_repayment_claim","ks_a_e_project_reported_benefits","ks_a_e_audit"],"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一年内的行业需求、回收、用途与融资压力。历史固定定性量化区间跨F5/F4，上端未达F3；未来经营融资的无材料涨价分支可得C/F3及A矩阵值，材料5%分支为C/F4及BBB+，均未证明实际持续改善。只有经营现金兑现、发行人资金及合同问题解决后才讨论实际上调；若付款条件失败立即重评。经营D/F4、C/F5、D/F5的既有变化分支继续保留。","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status":"conditional","evidence":["ks_r_e_definitions","ks_r_e_matrix","ks_r_financial_lower","ks_r_financial_upper","ks_d_e_commitment","ks_d_e_fund_new","ks_project_e_schedule","ks_credit_e_facilities","ks_credit_e_dealer_schedule","ks_credit_e_guarantee_q1"],"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
{"id":"ks_credit_find_facilities","title":"未用借款与授信披露冲突，融资落实条件待核","question":"年末披露额度能否支持付款日的再融资假设？","conclusion":"年报未用银行借款额度10.80 亿元人民币，跟踪报告同称2025年底的银行授信总额73.00 亿元人民币、未用47.00 亿元人民币。未用披露名义差额36.20 亿元人民币，尚未解释。两来源用词不同只是待核线索，不能据此称口径已对齐，任何一项也未作为已落实现金计入。","mechanism":"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status":"unresolved","evidence":["ks_a_e_maturity","ks_credit_e_facilities","ks_credit_facility_gap"],"counterevidence":["ks_a_e_q1","ks_a_e_bond_repayment_claim"],"alternatives":["一季度实际新增借款证明当季有融资发生，但不能证明六月以后的未用额度、提款条件或母公司付款能力。","若合同总体差异完整解释差额且足额资源可按时提用，可支持融资能力；若主要是可撤销、受限或非现金产品，则应降低可依赖融资并重新评估因素和资金前提。"],"changes_if":"取得两个披露总体的逐项桥及银行直接证据，列明每个付款日已承诺可提金额、条件满足状态和现金所在法人；仍未解释部分排除已落实来源。以核实结果更新再融资因素及资金情景；先检查付款前提是否失效，再决定等级和展望，不沿用4.65作为已证实结论。","figure_refs":["ks_a_undrawn","ks_credit_facility_total","ks_credit_facility_undrawn","ks_credit_facil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历史因素代表值下的主体与无担保债项条件分支</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892040"/>
            <a:ext cx="10698480" cy="640080"/>
          </a:xfrm>
          <a:prstGeom prst="rect">
            <a:avLst/>
          </a:prstGeom>
          <a:noFill/>
          <a:ln/>
        </p:spPr>
        <p:txBody>
          <a:bodyPr wrap="square" lIns="0" tIns="0" rIns="0" bIns="0" rtlCol="0" anchor="t"/>
          <a:lstStyle/>
          <a:p>
            <a:pPr indent="0" marL="0">
              <a:buNone/>
            </a:pPr>
            <a:r>
              <a:rPr lang="en-US" sz="1500" dirty="0">
                <a:solidFill>
                  <a:srgbClr val="D4E8E1"/>
                </a:solidFill>
              </a:rPr>
              <a:t>采用境内相对信用尺度及联合公开方法的明示研究适配；不是联合资信评级行动。完整研究及底稿另附，本汇报只提炼影响决定的事项。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 / ks_a_find_tax；原页、公式及完整限制见报告和Excel。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归母利润减少 5.71 亿元：扣非恶化 3.28 亿元，非经常支持减少 2.43 亿元。金融资产损益及应收转回分别核对，不能把恶化全部归于一次性减值。</a:t>
            </a:r>
            <a:endParaRPr lang="en-US" sz="2200" dirty="0"/>
          </a:p>
        </p:txBody>
      </p:sp>
      <p:sp>
        <p:nvSpPr>
          <p:cNvPr id="19" name="Text 16"/>
          <p:cNvSpPr/>
          <p:nvPr/>
        </p:nvSpPr>
        <p:spPr>
          <a:xfrm>
            <a:off x="548640" y="4681728"/>
            <a:ext cx="11064240" cy="914400"/>
          </a:xfrm>
          <a:prstGeom prst="rect">
            <a:avLst/>
          </a:prstGeom>
          <a:noFill/>
          <a:ln/>
        </p:spPr>
        <p:txBody>
          <a:bodyPr wrap="square" lIns="0" tIns="0" rIns="0" bIns="0" rtlCol="0" anchor="t"/>
          <a:lstStyle/>
          <a:p>
            <a:pPr indent="0" marL="0">
              <a:buNone/>
            </a:pPr>
            <a:r>
              <a:rPr lang="en-US" sz="1800" dirty="0">
                <a:solidFill>
                  <a:srgbClr val="213B45"/>
                </a:solidFill>
              </a:rPr>
              <a:t>递延税收益 1.03 亿元人民币 缓冲当期亏损，未形成现金流入；DTA可实现性仍须按纳税主体核验。季度改善和无保留审计意见不能单独排除旧应收损失或付款风险。</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 / ks_a_find_contingent；原页、公式及完整限制见报告和Excel。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868680"/>
          </a:xfrm>
          <a:prstGeom prst="rect">
            <a:avLst/>
          </a:prstGeom>
          <a:noFill/>
          <a:ln/>
        </p:spPr>
        <p:txBody>
          <a:bodyPr wrap="square" lIns="0" tIns="0" rIns="0" bIns="0" rtlCol="0" anchor="t"/>
          <a:lstStyle/>
          <a:p>
            <a:pPr indent="0" marL="0">
              <a:buNone/>
            </a:pPr>
            <a:r>
              <a:rPr lang="en-US" sz="1800" dirty="0">
                <a:solidFill>
                  <a:srgbClr val="213B45"/>
                </a:solidFill>
              </a:rPr>
              <a:t>经销贷款用于支付公司货款，同时保留公司保证责任；不以担保存量扣CFO。三月末集团外担保 0.77 亿元，下降 52.18%，未证明六月逐笔解除。一季度CFO -5,518.29 万元人民币。</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材料成本经现金与利息传至评级因素</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底稿记录：ks_econ_f_chain / ks_econ_f_qualitative / ks_econ_q_chain；原页、公式及完整限制见报告和Excel。</a:t>
            </a:r>
            <a:endParaRPr lang="en-US" sz="1000" dirty="0"/>
          </a:p>
        </p:txBody>
      </p:sp>
      <p:sp>
        <p:nvSpPr>
          <p:cNvPr id="6" name="Text 3"/>
          <p:cNvSpPr/>
          <p:nvPr/>
        </p:nvSpPr>
        <p:spPr>
          <a:xfrm>
            <a:off x="548640" y="1371600"/>
            <a:ext cx="11064240" cy="731520"/>
          </a:xfrm>
          <a:prstGeom prst="rect">
            <a:avLst/>
          </a:prstGeom>
          <a:noFill/>
          <a:ln/>
        </p:spPr>
        <p:txBody>
          <a:bodyPr wrap="square" lIns="0" tIns="0" rIns="0" bIns="0" rtlCol="0" anchor="t"/>
          <a:lstStyle/>
          <a:p>
            <a:pPr indent="0" marL="0">
              <a:buNone/>
            </a:pPr>
            <a:r>
              <a:rPr lang="en-US" sz="2000" dirty="0">
                <a:solidFill>
                  <a:srgbClr val="213B45"/>
                </a:solidFill>
              </a:rPr>
              <a:t>2026全年＝实际Q1＋后三季预测；收入为季节锚98%，Q1减值强度延续、公开当期税锚，金额单位亿元人民币。</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64240" cy="914400"/>
        </p:xfrm>
        <a:graphic>
          <a:graphicData uri="http://schemas.openxmlformats.org/drawingml/2006/table">
            <a:tbl>
              <a:tblPr/>
              <a:tblGrid>
                <a:gridCol w="2011680"/>
                <a:gridCol w="1371600"/>
                <a:gridCol w="1371600"/>
                <a:gridCol w="1371600"/>
                <a:gridCol w="1645920"/>
                <a:gridCol w="3291840"/>
              </a:tblGrid>
              <a:tr h="438912">
                <a:tc>
                  <a:txBody>
                    <a:bodyPr/>
                    <a:lstStyle/>
                    <a:p>
                      <a:pPr indent="0" marL="0">
                        <a:buNone/>
                      </a:pPr>
                      <a:r>
                        <a:rPr lang="en-US" sz="1700" dirty="0">
                          <a:solidFill>
                            <a:srgbClr val="213B45"/>
                          </a:solidFill>
                        </a:rPr>
                        <a:t>材料情景</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EBITDA</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净利润</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CFO</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期末债务</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财务分 / 档</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材料不涨价</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4.59</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-0.21</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3.36</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44.02</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4.61625 / F3</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3.54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-1.28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2.37</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45.08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4.36625 / 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886200"/>
            <a:ext cx="11064240" cy="868680"/>
          </a:xfrm>
          <a:prstGeom prst="rect">
            <a:avLst/>
          </a:prstGeom>
          <a:noFill/>
          <a:ln/>
        </p:spPr>
        <p:txBody>
          <a:bodyPr wrap="square" lIns="0" tIns="0" rIns="0" bIns="0" rtlCol="0" anchor="t"/>
          <a:lstStyle/>
          <a:p>
            <a:pPr indent="0" marL="0">
              <a:buNone/>
            </a:pPr>
            <a:r>
              <a:rPr lang="en-US" sz="2100" dirty="0">
                <a:solidFill>
                  <a:srgbClr val="213B45"/>
                </a:solidFill>
              </a:rPr>
              <a:t>同一材料冲击使加权债务/EBITDA由 19.73 倍升至 25.18 倍，财务档由 F3 至 F4。经营C、其他调整不变时，矩阵较弱端为 A 与 BBB+。</a:t>
            </a:r>
            <a:endParaRPr lang="en-US" sz="2100" dirty="0"/>
          </a:p>
        </p:txBody>
      </p:sp>
      <p:sp>
        <p:nvSpPr>
          <p:cNvPr id="9" name="Text 5"/>
          <p:cNvSpPr/>
          <p:nvPr/>
        </p:nvSpPr>
        <p:spPr>
          <a:xfrm>
            <a:off x="548640" y="5029200"/>
            <a:ext cx="11064240" cy="658368"/>
          </a:xfrm>
          <a:prstGeom prst="rect">
            <a:avLst/>
          </a:prstGeom>
          <a:noFill/>
          <a:ln/>
        </p:spPr>
        <p:txBody>
          <a:bodyPr wrap="square" lIns="0" tIns="0" rIns="0" bIns="0" rtlCol="0" anchor="t"/>
          <a:lstStyle/>
          <a:p>
            <a:pPr indent="0" marL="0">
              <a:buNone/>
            </a:pPr>
            <a:r>
              <a:rPr lang="en-US" sz="1700" dirty="0">
                <a:solidFill>
                  <a:srgbClr val="A34638"/>
                </a:solidFill>
              </a:rPr>
              <a:t>预测金额按20/30/50加权属于研究适配，另列年度比率路线。减值、税款、定性选分及融资仍有条件分支；这里的A不是实际上调结论，完整敏感性见底稿。</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融资成本与融资上限必须进入同一现金链</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底稿记录：ks_econ_f_funding / ks_project_n_restore_event / ks_econ_q_chain；原页、公式及完整限制见报告和Excel。</a:t>
            </a:r>
            <a:endParaRPr lang="en-US" sz="1000" dirty="0"/>
          </a:p>
        </p:txBody>
      </p:sp>
      <p:graphicFrame>
        <p:nvGraphicFramePr>
          <p:cNvPr id="6" name="Chart 0" descr=""/>
          <p:cNvGraphicFramePr/>
          <p:nvPr/>
        </p:nvGraphicFramePr>
        <p:xfrm>
          <a:off x="548640" y="1389888"/>
          <a:ext cx="7223760" cy="35204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103120"/>
          </a:xfrm>
          <a:prstGeom prst="rect">
            <a:avLst/>
          </a:prstGeom>
          <a:noFill/>
          <a:ln/>
        </p:spPr>
        <p:txBody>
          <a:bodyPr wrap="square" lIns="0" tIns="0" rIns="0" bIns="0" rtlCol="0" anchor="t"/>
          <a:lstStyle/>
          <a:p>
            <a:pPr indent="0" marL="0">
              <a:buNone/>
            </a:pPr>
            <a:r>
              <a:rPr lang="en-US" sz="2100" dirty="0">
                <a:solidFill>
                  <a:srgbClr val="213B45"/>
                </a:solidFill>
              </a:rPr>
              <a:t>累计新增贷款</a:t>
            </a:r>
            <a:endParaRPr lang="en-US" sz="2100" dirty="0"/>
          </a:p>
          <a:p>
            <a:pPr indent="0" marL="0">
              <a:buNone/>
            </a:pPr>
            <a:r>
              <a:rPr lang="en-US" sz="2100" dirty="0">
                <a:solidFill>
                  <a:srgbClr val="213B45"/>
                </a:solidFill>
              </a:rPr>
              <a:t>截至2027年六月</a:t>
            </a:r>
            <a:endParaRPr lang="en-US" sz="2100" dirty="0"/>
          </a:p>
          <a:p>
            <a:pPr indent="0" marL="0">
              <a:buNone/>
            </a:pPr>
            <a:endParaRPr lang="en-US" sz="2100" dirty="0"/>
          </a:p>
          <a:p>
            <a:pPr indent="0" marL="0">
              <a:buNone/>
            </a:pPr>
            <a:r>
              <a:rPr lang="en-US" sz="2100" dirty="0">
                <a:solidFill>
                  <a:srgbClr val="213B45"/>
                </a:solidFill>
              </a:rPr>
              <a:t>材料+5%</a:t>
            </a:r>
            <a:endParaRPr lang="en-US" sz="2100" dirty="0"/>
          </a:p>
          <a:p>
            <a:pPr indent="0" marL="0">
              <a:buNone/>
            </a:pPr>
            <a:r>
              <a:rPr lang="en-US" sz="2100" dirty="0">
                <a:solidFill>
                  <a:srgbClr val="213B45"/>
                </a:solidFill>
              </a:rPr>
              <a:t>12.34 亿元人民币</a:t>
            </a:r>
            <a:endParaRPr lang="en-US" sz="2100" dirty="0"/>
          </a:p>
        </p:txBody>
      </p:sp>
      <p:sp>
        <p:nvSpPr>
          <p:cNvPr id="8" name="Text 4"/>
          <p:cNvSpPr/>
          <p:nvPr/>
        </p:nvSpPr>
        <p:spPr>
          <a:xfrm>
            <a:off x="8183880" y="3749040"/>
            <a:ext cx="3401568" cy="1051560"/>
          </a:xfrm>
          <a:prstGeom prst="rect">
            <a:avLst/>
          </a:prstGeom>
          <a:noFill/>
          <a:ln/>
        </p:spPr>
        <p:txBody>
          <a:bodyPr wrap="square" lIns="0" tIns="0" rIns="0" bIns="0" rtlCol="0" anchor="t"/>
          <a:lstStyle/>
          <a:p>
            <a:pPr indent="0" marL="0">
              <a:buNone/>
            </a:pPr>
            <a:r>
              <a:rPr lang="en-US" sz="1900" dirty="0">
                <a:solidFill>
                  <a:srgbClr val="A34638"/>
                </a:solidFill>
              </a:rPr>
              <a:t>若融资限5亿元</a:t>
            </a:r>
            <a:endParaRPr lang="en-US" sz="1900" dirty="0"/>
          </a:p>
          <a:p>
            <a:pPr indent="0" marL="0">
              <a:buNone/>
            </a:pPr>
            <a:r>
              <a:rPr lang="en-US" sz="1900" dirty="0">
                <a:solidFill>
                  <a:srgbClr val="A34638"/>
                </a:solidFill>
              </a:rPr>
              <a:t>2027-03-31</a:t>
            </a:r>
            <a:endParaRPr lang="en-US" sz="1900" dirty="0"/>
          </a:p>
          <a:p>
            <a:pPr indent="0" marL="0">
              <a:buNone/>
            </a:pPr>
            <a:r>
              <a:rPr lang="en-US" sz="1900" dirty="0">
                <a:solidFill>
                  <a:srgbClr val="A34638"/>
                </a:solidFill>
              </a:rPr>
              <a:t>缺口 3.60 亿元</a:t>
            </a:r>
            <a:endParaRPr lang="en-US" sz="1900" dirty="0"/>
          </a:p>
        </p:txBody>
      </p:sp>
      <p:sp>
        <p:nvSpPr>
          <p:cNvPr id="9" name="Text 5"/>
          <p:cNvSpPr/>
          <p:nvPr/>
        </p:nvSpPr>
        <p:spPr>
          <a:xfrm>
            <a:off x="548640" y="5074920"/>
            <a:ext cx="11064240" cy="594360"/>
          </a:xfrm>
          <a:prstGeom prst="rect">
            <a:avLst/>
          </a:prstGeom>
          <a:noFill/>
          <a:ln/>
        </p:spPr>
        <p:txBody>
          <a:bodyPr wrap="square" lIns="0" tIns="0" rIns="0" bIns="0" rtlCol="0" anchor="t"/>
          <a:lstStyle/>
          <a:p>
            <a:pPr indent="0" marL="0">
              <a:buNone/>
            </a:pPr>
            <a:r>
              <a:rPr lang="en-US" sz="1700" dirty="0">
                <a:solidFill>
                  <a:srgbClr val="213B45"/>
                </a:solidFill>
              </a:rPr>
              <a:t>新贷款季初到位并计息；15日经营底线、用途占用6.5亿元及1月9日前恢复预留均为条件。无法融资时停止后续完整评级，不自动填平缺口。</a:t>
            </a:r>
            <a:endParaRPr lang="en-US" sz="1700" dirty="0"/>
          </a:p>
        </p:txBody>
      </p:sp>
      <p:sp>
        <p:nvSpPr>
          <p:cNvPr id="10" name="Text 6"/>
          <p:cNvSpPr/>
          <p:nvPr/>
        </p:nvSpPr>
        <p:spPr>
          <a:xfrm>
            <a:off x="548640" y="5650992"/>
            <a:ext cx="11064240" cy="246888"/>
          </a:xfrm>
          <a:prstGeom prst="rect">
            <a:avLst/>
          </a:prstGeom>
          <a:noFill/>
          <a:ln/>
        </p:spPr>
        <p:txBody>
          <a:bodyPr wrap="square" lIns="0" tIns="0" rIns="0" bIns="0" rtlCol="0" anchor="t"/>
          <a:lstStyle/>
          <a:p>
            <a:pPr indent="0" marL="0">
              <a:buNone/>
            </a:pPr>
            <a:r>
              <a:rPr lang="en-US" sz="1100" dirty="0">
                <a:solidFill>
                  <a:srgbClr val="A34638"/>
                </a:solidFill>
              </a:rPr>
              <a:t>集团池不等于发行人可用款；历史范围修正、合同还本、实际用途及提款仍待核。旧零调整现金截距另列，不与本图累计新贷款混用。</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 / ks_credit_find_facilities；原页、公式及完整限制见报告和Excel。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同一时点未用银行借款 10.8 亿元与未用授信 47.0 亿元尚未对齐，均不当作现金。逐项核提款条件、发行人付款日、用途及担保解除，再重算融资判断、资金边界与评级条件。</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2026-10-04T04:18:55Z</dcterms:created>
  <dcterms:modified xsi:type="dcterms:W3CDTF">2026-10-04T04:18:55Z</dcterms:modified>
</cp:coreProperties>
</file>