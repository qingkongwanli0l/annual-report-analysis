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基准</c:v>
                </c:pt>
              </c:strCache>
            </c:strRef>
          </c:tx>
          <c:spPr>
            <a:solidFill>
              <a:srgbClr val="237F72"/>
            </a:solidFill>
            <a:ln w="25400" cap="flat">
              <a:solidFill>
                <a:srgbClr val="237F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37F72"/>
              </a:solidFill>
              <a:ln w="9525" cap="flat">
                <a:solidFill>
                  <a:srgbClr val="237F72"/>
                </a:solidFill>
                <a:prstDash val="solid"/>
                <a:round/>
              </a:ln>
              <a:effectLst/>
            </c:spPr>
          </c:marker>
          <c:cat>
            <c:multiLvlStrRef>
              <c:f>Sheet1!$A$2:$A$4</c:f>
              <c:multiLvlStrCache>
                <c:ptCount val="3"/>
                <c:lvl>
                  <c:pt idx="0">
                    <c:v>2026-06</c:v>
                  </c:pt>
                  <c:pt idx="1">
                    <c:v>2026-09</c:v>
                  </c:pt>
                  <c:pt idx="2">
                    <c:v>2026-12</c:v>
                  </c:pt>
                </c:lvl>
              </c:multiLvlStrCache>
            </c:multiLvlStrRef>
          </c:cat>
          <c:val>
            <c:numRef>
              <c:f>Sheet1!$B$2:$B$4</c:f>
              <c:numCache>
                <c:formatCode>0.00</c:formatCode>
                <c:ptCount val="3"/>
                <c:pt idx="0">
                  <c:v>9.2686062725</c:v>
                </c:pt>
                <c:pt idx="1">
                  <c:v>1.4381306312</c:v>
                </c:pt>
                <c:pt idx="2">
                  <c:v>7.0258351029999995</c:v>
                </c:pt>
              </c:numCache>
            </c:numRef>
          </c:val>
          <c:smooth val="0"/>
        </c:ser>
        <c:ser>
          <c:idx val="1"/>
          <c:order val="1"/>
          <c:tx>
            <c:strRef>
              <c:f>Sheet1!$C$1</c:f>
              <c:strCache>
                <c:ptCount val="1"/>
                <c:pt idx="0">
                  <c:v>恶化</c:v>
                </c:pt>
              </c:strCache>
            </c:strRef>
          </c:tx>
          <c:spPr>
            <a:solidFill>
              <a:srgbClr val="A34638"/>
            </a:solidFill>
            <a:ln w="25400" cap="flat">
              <a:solidFill>
                <a:srgbClr val="A346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34638"/>
              </a:solidFill>
              <a:ln w="9525" cap="flat">
                <a:solidFill>
                  <a:srgbClr val="A34638"/>
                </a:solidFill>
                <a:prstDash val="solid"/>
                <a:round/>
              </a:ln>
              <a:effectLst/>
            </c:spPr>
          </c:marker>
          <c:cat>
            <c:multiLvlStrRef>
              <c:f>Sheet1!$A$2:$A$4</c:f>
              <c:multiLvlStrCache>
                <c:ptCount val="3"/>
                <c:lvl>
                  <c:pt idx="0">
                    <c:v>2026-06</c:v>
                  </c:pt>
                  <c:pt idx="1">
                    <c:v>2026-09</c:v>
                  </c:pt>
                  <c:pt idx="2">
                    <c:v>2026-12</c:v>
                  </c:pt>
                </c:lvl>
              </c:multiLvlStrCache>
            </c:multiLvlStrRef>
          </c:cat>
          <c:val>
            <c:numRef>
              <c:f>Sheet1!$C$2:$C$4</c:f>
              <c:numCache>
                <c:formatCode>0.00</c:formatCode>
                <c:ptCount val="3"/>
                <c:pt idx="0">
                  <c:v>6.509529258400001</c:v>
                </c:pt>
                <c:pt idx="1">
                  <c:v>-3.3750750381</c:v>
                </c:pt>
                <c:pt idx="2">
                  <c:v>-1.8544336184</c:v>
                </c:pt>
              </c:numCache>
            </c:numRef>
          </c:val>
          <c:smooth val="0"/>
        </c:ser>
        <c:ser>
          <c:idx val="2"/>
          <c:order val="2"/>
          <c:tx>
            <c:strRef>
              <c:f>Sheet1!$D$1</c:f>
              <c:strCache>
                <c:ptCount val="1"/>
                <c:pt idx="0">
                  <c:v>改善</c:v>
                </c:pt>
              </c:strCache>
            </c:strRef>
          </c:tx>
          <c:spPr>
            <a:solidFill>
              <a:srgbClr val="8A9970"/>
            </a:solidFill>
            <a:ln w="25400" cap="flat">
              <a:solidFill>
                <a:srgbClr val="8A99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970"/>
              </a:solidFill>
              <a:ln w="9525" cap="flat">
                <a:solidFill>
                  <a:srgbClr val="8A9970"/>
                </a:solidFill>
                <a:prstDash val="solid"/>
                <a:round/>
              </a:ln>
              <a:effectLst/>
            </c:spPr>
          </c:marker>
          <c:cat>
            <c:multiLvlStrRef>
              <c:f>Sheet1!$A$2:$A$4</c:f>
              <c:multiLvlStrCache>
                <c:ptCount val="3"/>
                <c:lvl>
                  <c:pt idx="0">
                    <c:v>2026-06</c:v>
                  </c:pt>
                  <c:pt idx="1">
                    <c:v>2026-09</c:v>
                  </c:pt>
                  <c:pt idx="2">
                    <c:v>2026-12</c:v>
                  </c:pt>
                </c:lvl>
              </c:multiLvlStrCache>
            </c:multiLvlStrRef>
          </c:cat>
          <c:val>
            <c:numRef>
              <c:f>Sheet1!$D$2:$D$4</c:f>
              <c:numCache>
                <c:formatCode>0.00</c:formatCode>
                <c:ptCount val="3"/>
                <c:pt idx="0">
                  <c:v>10.459656406599999</c:v>
                </c:pt>
                <c:pt idx="1">
                  <c:v>3.5030793521</c:v>
                </c:pt>
                <c:pt idx="2">
                  <c:v>10.9858274621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4E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亿元人民币</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dTable>
        <c:showHorzBorder val="0"/>
        <c:showVertBorder val="0"/>
        <c:showOutline val="0"/>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recommendation","title":"基准研究建议：主体与科顺转债BBB+，负面展望","question":"所选境内方法下，证据如何形成具体建议？","conclusion":"以信息截止日的公开证据和明示判断，基准建议主体及科顺转债为BBB+、负面展望。经营C、财务F4的指示单元格为a-/bbb+，选择bbb+；不计可证实的额外支持增益，普通无担保直接债项暂同级。建议以常态融资渠道仍运行、未证实到期不支付，且实际付款日前资金与用途安排足以覆盖为条件。母公司可调度资金和持续承诺后果未核实，不能作为无条件正式评级发布。","mechanism":"环境3.25 分、自身竞争力3.78 分，财务主方案4.17 分；先权金额为3.74 分仍属F4。选较弱端基于最新负EBITDA、母公司负经营现金、第四季回款依赖及资金用途约束；已进基础因素的弱项不重复扣档。","status":"conditional","evidence":["ks_r_e_business","ks_r_e_finance","ks_r_e_matrix","ks_a_ebitda_2025","ks_d_c_book_ratio"],"counterevidence":["ks_a_e_q1","ks_a_e_control"],"alternatives":["区间代表值和历史适配具有判断空间；可比三年数据或可靠前瞻可能改变档位。","无保留审计及季度盈利、银行新增借款支持持续经营，但不能单独排除现金或合同限制。"],"changes_if":"若更新事实使经营D、财务仍F4，研究分支为BB+；经营C而财务F5为BBB-；两者同时恶化为BB。若证实近期无法按约付款，立即退出上述常态分支，不能只保留负面展望。","figure_refs":["ks_r_environment_score","ks_r_competitive_score","ks_r_financial_score","ks_r_financial_score_alternative","ks_a_ebitda_2025","ks_d_c_book_ratio"]}
{"id":"ks_r_liquidity","title":"季度现金压力决定跟踪顺序","question":"年末正现金是否掩盖更早缺口？","conclusion":"从三月末实际集团现金接续的无新增融资模型中，基准季度低点1.44 亿元人民币，恶化低点-3.38 亿元人民币；基准再少收4.88%客户现金即触及季度末零现金。基准另预留用途资金后低点-5.06 亿元人民币。这些是条件值，不能替代六月实际数或月内、母公司支付证明。","mechanism":"经营采购和票据结算在CFO内只扣一次；融资本金和现金利息另扣，未把非现金AP转借款再扣为现金。募集金恢复用途是现金限制敏感性，不是新增外部债本金。负数后续行只显示未融资缺口，晚收款不能抹去先前支付失败。","status":"conditional","evidence":["ks_d_l_e_cash_actual","ks_d_l_e_season","ks_r_base_cash_min","ks_r_worse_cash_min"],"counterevidence":["ks_a_e_q1","ks_a_e_maturity"],"alternatives":["银行续贷、资产变现或真实现金上划可能补足缺口，但须有可执行额度、条件和时点。","实际采购、建设支出或回款季节性可能不同于研究假设，需用实际付款台账替换。"],"changes_if":"若现金短缺由已落实融资或可合法延后支出覆盖，重跑现金表并判断是否足以维持BBB+；若缺口在已核实付款日仍存在，先确认具体偿付事件并重定主体及受影响债项。","figure_refs":["ks_r_base_cash_min","ks_r_worse_cash_min","ks_r_base_receipt_boundary","ks_r_base_reserve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recommendation","title":"基准研究建议：主体与科顺转债BBB+，负面展望","question":"所选境内方法下，证据如何形成具体建议？","conclusion":"以信息截止日的公开证据和明示判断，基准建议主体及科顺转债为BBB+、负面展望。经营C、财务F4的指示单元格为a-/bbb+，选择bbb+；不计可证实的额外支持增益，普通无担保直接债项暂同级。建议以常态融资渠道仍运行、未证实到期不支付，且实际付款日前资金与用途安排足以覆盖为条件。母公司可调度资金和持续承诺后果未核实，不能作为无条件正式评级发布。","mechanism":"环境3.25 分、自身竞争力3.78 分，财务主方案4.17 分；先权金额为3.74 分仍属F4。选较弱端基于最新负EBITDA、母公司负经营现金、第四季回款依赖及资金用途约束；已进基础因素的弱项不重复扣档。","status":"conditional","evidence":["ks_r_e_business","ks_r_e_finance","ks_r_e_matrix","ks_a_ebitda_2025","ks_d_c_book_ratio"],"counterevidence":["ks_a_e_q1","ks_a_e_control"],"alternatives":["区间代表值和历史适配具有判断空间；可比三年数据或可靠前瞻可能改变档位。","无保留审计及季度盈利、银行新增借款支持持续经营，但不能单独排除现金或合同限制。"],"changes_if":"若更新事实使经营D、财务仍F4，研究分支为BB+；经营C而财务F5为BBB-；两者同时恶化为BB。若证实近期无法按约付款，立即退出上述常态分支，不能只保留负面展望。","figure_refs":["ks_r_environment_score","ks_r_competitive_score","ks_r_financial_score","ks_r_financial_score_alternative","ks_a_ebitda_2025","ks_d_c_book_ratio"]}
{"id":"ks_r_support_assessment","title":"外部支持：不计未经证实的评级增益","question":"哪些支持能力与意愿证据能够改变独立信用？","conclusion":"基准不计额外支持增益。自然人控制及对特定银行义务的保证未证明本债或全部偿债需要有及时支持；普通政府补助未证明困难时救助。该选择是现有证据下的研究处理，不是“民企无支持”或未来不会支持的事实判断。","mechanism":"政府路径分别核持股/控制、地方重要性、违约声誉影响、成本收益和支持历史：已知自然人控制、可替代竞争及普通补助，未识别具体救助方、独立财力及承诺。企业法人股东分支不能机械套自然人；个人保证有具体对象和财力限制。支持可能性不能与能力分开，也不能把多项潜在支持累加。","status":"conditional","evidence":["ks_r_e_support","ks_b_e_ownership","ks_a_e_related"],"counterevidence":["ks_a_e_related","ks_a_e_post"],"alternatives":["地方就业、技术或项目重要性可能增加协助意愿，但需具体规模和可执行资金支持。","股东可投入资金，但股权质押、已有保证和未核个人资源使支持额度未定。"],"changes_if":"取得具体支持方独立偿债能力、合法决策、覆盖义务、付款触发及到账时间，再按同一支持方法重做提升；不把普通授信或既有补助重新加成一档。","figure_refs":[]}
{"id":"ks_r_adjustments","title":"个体调整逐项判断及不重复计入","question":"基础因子之外是否还有改变结果的增量事项？","conclusion":"未来投资及基金承诺、ESG、表外义务、信用记录与其他事项逐项保留。当前研究不在已反映的亏损、资产质量和治理弱项之外再机械扣档；持续承诺的具体后果和用途恢复若形成新增近期现金需要，基准评级条件即失效，必须重新分析。","mechanism":"项目延期和基金调用影响前瞻资本需求；污染/事故、劳工质量披露只代表公司声明和制度，未有监管数据证明风险不重大。担保需与基础债务去重，实际代偿须计入现金。已知付息并不证明所有借款/贸易义务正常；原件两项小额/项目差异需核原因，不能自动转成舞弊分。","status":"conditional","evidence":["ks_r_e_matrix","ks_a_e_related","ks_a_e_governance","ks_a_e_fixed","ks_b_e_fund","ks_d_e_commitment"],"counterevidence":["ks_a_e_audit","ks_a_e_control"],"alternatives":["整改、投资收缩或真实回款改善可以减轻增量风险，但只有实施证据才能纳入。","新的监管处罚、质量赔偿或已到期代偿可能同时削弱现金与融资渠道，不能只在治理文字中描述。"],"changes_if":"新事实先量化对现金、资产和基础因素的影响，再识别未被反映的增量风险；若需个体档差，说明具体传导及不重复计入依据。不能把所有未知事项直接当中性已核实。","figure_re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a_e_is","source":"ks_a_s_25","locator":"第107—109页，合并利润表，单位元，2025年度/2024年度","observation":"成本费用、减值、投资及公允价值、税项和损益归属均按原符号保留。","reliability":"发行人正式披露；财务报表经审计，但本分析未复做审计程序"}
{"id":"ks_b_market_position","title":"有全国覆盖的防水竞争者，未证实市场支配力","question":"发行人品牌和规模是否足以穿越行业需求收缩？","conclusion":"科顺全国网络、研发和工程经验支持较强细分竞争力；规模明显小于东方雨虹，不能给出未经核实的全国市场份额。","mechanism":"科顺防水材料收入46.60 亿元人民币，东方雨虹同名分类191.72 亿元人民币；科顺/北新卷材收入分别30.72 亿元人民币和33.14 亿元人民币，分类及并购口径不同。市场地位研究中心4.00 分（六分制研究刻度）、相邻3.50 分（六分制研究刻度）至4.50 分（六分制研究刻度）；这是分析者判断。","status":"supported","evidence":["ks_b_e_operations","ks_b_e_yuhong","ks_b_e_bnbm"],"counterevidence":["ks_b_e_structure"],"alternatives":["主动压缩高风险客户也可导致收入下滑，不能只解释为份额丧失。"],"changes_if":"若可核实活跃渠道、同口径销量份额和多期间收款质量共同改善，可上移判断；若主要渠道失效或相对同业持续衰退则下移。","figure_refs":["ks_b_materials25","ks_b_yh_materials","ks_b_sheet25","ks_b_bn_sheet","ks_b_score_market_center","ks_b_score_market_low","ks_b_score_market_high"]}
{"id":"ks_a_find_earnings","title":"减值与盈利质量","question":"是否把信用损失全部作为一次性剔除？","conclusion":"净亏损-5.48 亿元人民币，信用与资产损失合计7.87 亿元人民币，会计EBITDA-2.11 亿元人民币。信用损失连续多年存在，不在基础偿债收益中自动全额加回；上期公允价值及补偿收益影响亦需保留。","mechanism":"经营利润、非现金重估、债务重组、税务利益与现金各不相同。会计EBITDA加入折旧及利息但保留资产质量成本，不以减值前利润替代可持续现金。","status":"supported","evidence":["ks_a_e_is","ks_a_e_revenue","ks_a_e_debtassets","ks_a_ebitda_2025","ks_a_perf_fv_2024"],"counterevidence":[],"alternatives":["集中确认历史客户损失可使当期亏损高于近期经营现金消耗，但损失对应的现金不可回收并不会因非现金性质消失。","非经常重估或补偿收益可能短期抵销主营亏损，必须观察对应资产变现和后续冲回。"],"changes_if":"按客户和年度拆分新增信用损失、已计提损失与实际回收，并证明常态业务现金足以覆盖利息及必要投入后，才调整可持续盈利判断。","figure_refs":["ks_a_netincome_2025","ks_a_cf_imp_2025","ks_a_ebitda_2025","ks_a_perf_fv_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peer_finding","title":"同业证据支持相对弱势，但不代表行业总体","question":"经营下行、盈利与资金效率是否仅为行业共同变化？","conclusion":"三家收入均下降：科顺-11.49%、东方雨虹-1.70%、北新-2.09%。科顺CAS资产负债率67.32%，高于两家样本；净额营业周期130.28 days，亦长于雨虹69.89 days、北新38.28 days。这些差异支持结合公司自身回款和资本质量分析，不能直接转成级差。","mechanism":"科顺正CFO与负EBITDA并存，两家同行仍保持正盈利及CFO。雨虹现金下降须连接收购与分配；北新窄口径CCE之外还有较大结构性存款。三家以相同明示融资类别比较，但排除长期应付款等后并非方法全部债务，费用化利息倍数也不是全部利息倍数；本案评级分档仍采用自己的完整方法口径。","status":"conditional","evidence":["ks_r_peer_keshun","ks_r_peer_yuhong","ks_r_peer_bnbm"],"counterevidence":["ks_b_e_operations","ks_a_e_invest"],"alternatives":["北新集团石膏板/涂料业务和两家并购贡献降低防水业务可比性，不能全归因为科顺竞争力差。","减值会缩短净额周期；科顺原值应收敏感性已另算。"],"changes_if":"取得纯防水行业分布、固定范围收入、完整资本化利息及真实收付款周期后重做可比分析；此前不计算行业均值或借同业等级校准本案分数。","figure_refs":["ks_r_peer_keshun_revenue_growth","ks_r_peer_yuhong_revenue_growth","ks_r_peer_bnbm_revenue_growth","ks_r_peer_keshun_liabilities_assets","ks_r_peer_keshun_noc360","ks_r_peer_yuhong_noc360","ks_r_peer_bnbm_noc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{"id":"ks_a_find_cfo","title":"现金质量、季节性及分红","question":"正经营现金能覆盖投入和分配吗？","conclusion":"全年CFO3.20 亿元人民币，扣现金资本开支后1.47 亿元人民币，再扣已分红后-2.41 亿元人民币。末季贡献11.44 亿元人民币，期间现金波动明显。","mechanism":"间接桥中大额非现金减值并不产生现金；供应商负债和押金等融资作用支撑现金，全年正值不能掩盖前三季流出和融资依赖。","status":"supported","evidence":["ks_a_e_cf","ks_a_e_indirect","ks_a_e_summary","ks_a_e_equity","ks_a_indirect_cfo_2025"],"counterevidence":[],"alternatives":["利润至经营现金的改善可能由非现金信用损失加回形成，不能把加回项目视为经营盈利恢复。","应收净额下降也可能由核销和抵债形成；年末集中收款与下一季现金流出并存时，全年正经营现金不能证明期内无缺口。"],"changes_if":"取得按客户的季度及月度银行收现、非现金重组和供应商付款桥，并证明现金覆盖利息、必要资本投入和分红后仍有余量，才提高现金生成质量判断。","figure_refs":["ks_a_cfo_2025","ks_a_fcf_2025","ks_a_fcf_after_div","ks_a_quarter4_cfo","ks_a_indirect_cfo_2025"]}
{"id":"ks_a_find_q1","title":"期后季度改善与年度约束","question":"年度弱项是否在研究截止日前消除？","conclusion":"未经审计Q1归母利润6,355.24 万元人民币、毛利率27.51%，CFO仍-5,518.29 万元人民币。季度现金年初桥闭合；信用减值继续且缺完整债务及受限现金附注，不按一季乘四替换全年。","mechanism":"季节性、原材料预付、银行长短债置换和年度末集中减值会令季度盈利与全年偿债能力不同；部分上年季度比较仍是原披露范围。解释19号实施未披露重大影响。","status":"conditional","evidence":["ks_a_e_q1","ks_a_e_policy26","ks_a_q1_cashbridge","ks_a_missing_q1_debt","ks_a_missing_q1_freecash"],"counterevidence":[],"alternatives":["季节性收付款和提前采购可以使季度利润与经营现金方向不同；不能直接把改善同比推广至全年。","季度表尚缺完整利息、受限现金和同控可比明细，短期借款增加也可能是期限置换而非净融资能力增强。"],"changes_if":"取得半年度完整附注后，用原年度及一季度桥拆出季节性、范围、应收回款与新债；持续现金改善且债务到期与资金用途匹配才支持提高判断。","figure_refs":["ks_a_q1_parentincome","ks_a_q1_gm","ks_a_q1_cfo","ks_a_q1_cashbridge","ks_a_missing_q1_debt","ks_a_missing_q1_freecash"]}
{"id":"ks_a_e_indirect","source":"ks_a_s_25","locator":"第208—209页，净利润调节为CFO，单位元","observation":"净利加减非现金损益、递延税、营运资本及其他；经营性应收项目调整为现金流流出，不可由BS净应收下降反推相反符号。","reliability":"发行人正式披露；财务报表经审计，但本分析未复做审计程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{"id":"ks_r_liquidity","title":"季度现金压力决定跟踪顺序","question":"年末正现金是否掩盖更早缺口？","conclusion":"从三月末实际集团现金接续的无新增融资模型中，基准季度低点1.44 亿元人民币，恶化低点-3.38 亿元人民币；基准再少收4.88%客户现金即触及季度末零现金。基准另预留用途资金后低点-5.06 亿元人民币。这些是条件值，不能替代六月实际数或月内、母公司支付证明。","mechanism":"经营采购和票据结算在CFO内只扣一次；融资本金和现金利息另扣，未把非现金AP转借款再扣为现金。募集金恢复用途是现金限制敏感性，不是新增外部债本金。负数后续行只显示未融资缺口，晚收款不能抹去先前支付失败。","status":"conditional","evidence":["ks_d_l_e_cash_actual","ks_d_l_e_season","ks_r_base_cash_min","ks_r_worse_cash_min"],"counterevidence":["ks_a_e_q1","ks_a_e_maturity"],"alternatives":["银行续贷、资产变现或真实现金上划可能补足缺口，但须有可执行额度、条件和时点。","实际采购、建设支出或回款季节性可能不同于研究假设，需用实际付款台账替换。"],"changes_if":"若现金短缺由已落实融资或可合法延后支出覆盖，重跑现金表并判断是否足以维持BBB+；若缺口在已核实付款日仍存在，先确认具体偿付事件并重定主体及受影响债项。","figure_refs":["ks_r_base_cash_min","ks_r_worse_cash_min","ks_r_base_receipt_boundary","ks_r_base_reserve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{"id":"ks_d_n_funds","title":"补流归还恢复专款用途，不新增转债本金","question":"募集资金占用和归还如何影响流动性，如何避免与本金双计？","conclusion":"年末尚未使用募集资金 13.61 亿元人民币 中，12.75 亿元人民币 已暂用于补流，专户余额为 8,643.12 万元人民币。旧一期实际使用的 13.00 亿元人民币 已于2026-01-06前归还；新一期2026-01-09批准上限 13.00 亿元人民币，实际截止日占用尚未确定。归还募集专户是恢复资金用途约束，不是新增对外金融债偿还，不能再加到转债本金上。","mechanism":"新一期从批准日起至多十二个月、项目需用时须提前归还，按日期推得最长至2027-01-09。实际占用若被营运资金锁定，会产生调回可用资金的压力；集团内部账户转移本身不减少合并现金，但会减少可自由用于一般偿债的资金。批准额度不能替代实际用款和归还流水。","status":"conditional","evidence":["ks_d_e_fund_balance","ks_d_c_fund_balance_parts","ks_d_c_fund_balance_receipts","ks_d_e_fund_return","ks_d_e_fund_new","ks_d_f_fund_temp_cutoff"],"counterevidence":["ks_d_e_fund_correction","ks_d_e_fund_delay","ks_d_e_sponsor_performance"],"alternatives":["若新一期实际支用低于批准额度，潜在需调回金额相应较低；不能预填最大额度为实际债务。","若可及时收回营运资金并恢复专户，用途恢复压力较小；这不代表资金可不受限制用于付本息。"],"changes_if":"取得截止日及到期前专户/一般户对账、逐笔支用归还、项目支付计划和资金可调回证据后量化用途恢复缺口；清除旧一期占用不能自动证明新一期占用为零。","figure_refs":["ks_d_f_fund_total","ks_d_f_fund_temp_2025","ks_d_f_fund_special_2025","ks_d_f_fund_returned","ks_d_f_fund_new_cap","ks_d_c_fund_balance_parts","ks_d_c_fund_balance_receipts","ks_d_f_fund_temp_cutoff"]}
{"id":"ks_r_liquidity","title":"季度现金压力决定跟踪顺序","question":"年末正现金是否掩盖更早缺口？","conclusion":"从三月末实际集团现金接续的无新增融资模型中，基准季度低点1.44 亿元人民币，恶化低点-3.38 亿元人民币；基准再少收4.88%客户现金即触及季度末零现金。基准另预留用途资金后低点-5.06 亿元人民币。这些是条件值，不能替代六月实际数或月内、母公司支付证明。","mechanism":"经营采购和票据结算在CFO内只扣一次；融资本金和现金利息另扣，未把非现金AP转借款再扣为现金。募集金恢复用途是现金限制敏感性，不是新增外部债本金。负数后续行只显示未融资缺口，晚收款不能抹去先前支付失败。","status":"conditional","evidence":["ks_d_l_e_cash_actual","ks_d_l_e_season","ks_r_base_cash_min","ks_r_worse_cash_min"],"counterevidence":["ks_a_e_q1","ks_a_e_maturity"],"alternatives":["银行续贷、资产变现或真实现金上划可能补足缺口，但须有可执行额度、条件和时点。","实际采购、建设支出或回款季节性可能不同于研究假设，需用实际付款台账替换。"],"changes_if":"若现金短缺由已落实融资或可合法延后支出覆盖，重跑现金表并判断是否足以维持BBB+；若缺口在已核实付款日仍存在，先确认具体偿付事件并重定主体及受影响债项。","figure_refs":["ks_r_base_cash_min","ks_r_worse_cash_min","ks_r_base_receipt_boundary","ks_r_base_reserve650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{"id":"ks_r_parent_risk","title":"集团资源不能直接当作发行人已到手现金","question":"母公司怎样实际取得偿债资源？","conclusion":"母公司年末现金减短借及一年内非流动账面代理后余量1.05 亿元人民币，不能证明完整短期覆盖；与固定本金未来到期价的静态差额为-12.24 亿元人民币。后者说明未来需产现、上划或融资的量级，并非债券在本年到期或已经发生缺口。缺一季末母公司表，集团一季现金不替代。","mechanism":"发行人自身经营现金为负，投资收益现金不等于每年可重复的全部子公司分红。集团内票据及往来在合并层抵销，但现金移转仍依赖对手现金、合法决策、少数股东权益、融资约束和实际到账。","status":"conditional","evidence":["ks_a_e_parent","ks_r_parent_screen","ks_r_parent_maturity_gap"],"counterevidence":["ks_d_l_f_parent_investment_cash","ks_a_e_equity"],"alternatives":["子公司分红或往来回收能改善母公司资金，但不能按合并余额自动推算。","债券未来转换可能降低现金本金，须等真实转股事实确认，不能预先免偿。"],"changes_if":"取得主要子公司的可分配现金、债务和用途限制、上划决议及实际到账后，重建发行人月度来源用途；若可上划路径受阻且本部不足，主体与直接债项结论须同步下调。","figure_refs":["ks_r_parent_screen","ks_r_parent_maturity_gap"]}
{"id":"ks_d_e_issue_coupon","source":"ks_d_s_m1","locator":"PDF p39–40，发行规模、期限、票面利率、还本付息条款","observation":"募集书发行规模上限219800.00万元，每张100元；债券期限2023-08-04至2029-08-03。六个计息年度票息依次为0.30%、0.50%、1.00%、1.50%、1.80%、2.00%；每满一年为付息日，节假日或休息日顺延且不另计息，登记日为付息日前一交易日，付息日后五个交易日内支付。登记日前及当日申请转股不再享有本年度及以后利息。","reliability":"官方原件正文；报告披露不等同于本次独立审计或法律鉴证。"}
{"id":"ks_d_e_maturity_call","source":"ks_d_s_m1","locator":"PDF p43，赎回条款","observation":"到期后五个交易日内按票面面值115%赎回未转股债券，含最后一期利息。转股期内连续三十个交易日至少十五日收盘价不低于当期转股价130%，或未转股余额不足3000万元，发行人可按面值加应计利息赎回。","reliability":"官方原件正文；报告披露不等同于本次独立审计或法律鉴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a_e_ar","source":"ks_a_s_25","locator":"第165—168页，应收账款，单位元；账龄、单项与组合及准备滚动","observation":"应收账款账龄延长，单项信用减值与组合按不同方法；本年坏账核销与非现金抵债影响净额变化，净额下降不能直接视为现金回收。","reliability":"发行人正式披露；财务报表经审计，但本分析未复做审计程序"}
{"id":"ks_a_e_fixed","source":"ks_a_s_25","locator":"第182—190、204页，投资性房地产、固定资产、在建、使用权、无形、商誉、抵债房产及资产减值","observation":"闲置固定资产、抵债房产、部分无证房屋、减值及建设进度；滁州一期重要CIP滚动原表列位已图像复读仍不能闭合，不能擅自改值。","reliability":"发行人正式披露；财务报表经审计，但本分析未复做审计程序"}
{"id":"ks_d_n_covenant","title":"持续承诺的履约解释尚未闭合","question":"年末累计债券余额承诺是否在适用口径下超限，超限是否触发救济？","conclusion":"年末账面债券 23.13 亿元人民币 除合并总权益 40.52 亿元人民币 得 57.09%，高于原文所列 50.00%；差额为 2.87 亿元人民币。公司同时披露长期有效且正常履行、债券未违约。现有公开材料没有逐项解释冲突，因此保留重大待解释事项，不能认定已违约、自动加速或已获豁免。","mechanism":"发行时法规解释采用合并账面余额与合并总权益，但发行条件解释不自动解决单独持续承诺的范围。即使用面值替代账面，敏感性仍为 54.24%。利息计提与摊销使债券账面金额高于面值，不能把二者混用。一般良好履约声明没有给出期间、排除项或调节表。","status":"unresolved","evidence":["ks_d_e_commitment","ks_d_e_commitment_origin","ks_d_e_issuance_law","ks_d_f_bond_book_2025","ks_d_f_equity_total_2025","ks_d_c_book_ratio","ks_d_c_book_excess","ks_d_g_face_equity_ratio"],"counterevidence":["ks_d_e_bond_accounting","ks_d_e_general_performance","ks_d_e_sponsor_performance","ks_d_e_temporary_report"],"alternatives":["承诺可能存在已签协议中的特定适用期间或定义，需要以原协议及正式解释证明。","披露可能存在履约状态与财务数值不一致，需要特定更正或补充。","可能存在合法变更、豁免或调节事项，但现有材料未取得，不能推定其存在。"],"changes_if":"取得原承诺适用期间、累计余额及净资产定义、逐期计算调节表、正式解释和依法有效的变更/豁免文件后，按相同原始数字重作结论；仅重复一般“正常履行”不能关闭差异。","figure_refs":["ks_d_f_bond_book_2025","ks_d_f_equity_total_2025","ks_d_c_book_ratio","ks_d_f_covenant_limit","ks_d_c_book_excess","ks_d_g_face_equity_ratio"]}
{"id":"ks_r_bond_bucket_finding","title":"年报债券期限表不能直接代替已核合同时间轴","question":"短期票息与远期兑付的期限分配是否一致？","conclusion":"年报一年内未折现应付债券现金流为1,098.92 万元人民币；同日面值保持不变的合同第三年票息为2,197.83 万元人民币，两者差-1,098.91 万元人民币。其他期限栏也存在条件比较差额，未取得表内假设解释。","mechanism":"资料时点、计息年度和现金支付日期分别核验。票息不是期末有效利率利息费用；到期含末息价也不能再加最后一期利息。差额不通过改写原表、改变面值或重复扣息调平。","status":"unresolved","evidence":["ks_r_e_bond_buckets","ks_d_e_issue_coupon","ks_d_e_maturity_call"],"counterevidence":["ks_a_e_audit"],"alternatives":["表格可能采用不同转股/行权或列报假设，须由发行人给出对应明细，不能由分析者臆造。","计息年度滚动或分桶口径也可能影响显示；目前没有足够证据确定原因。"],"changes_if":"取得发行人未折现表的本金、票息、日期、转股及行权假设明细后对齐比较，更新现金预算；不以原表一年内金额直接替代本年合同付息需求。","figure_refs":["ks_r_bucket_within_one_year","ks_r_bucket_2026_contract","ks_r_bucket_2026_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ks_r_followup","title":"展望与后续评级行动有明确决定边界","question":"哪些变化真正改变建议，而不只是更新比率？","conclusion":"负面展望反映未来约一年中的行业需求、回收、用途约束与融资压力。经营D/F4对应BB+，C/F5对应BBB-，D/F5对应BB；持续改善达到C/F3且资金及承诺问题解决时才讨论A分支。现有因子区间上确界跨F3本身不是升级证据。","mechanism":"跟踪先更新月度银行现金、实际用途占用、母公司到期表和持续承诺解释，再更新半年度/年度亏损、应收回收、订单及融资。三年完整重述和更可靠预测会改变加权依据；对应结果应重算而非沿用此次分数。没有设置后台监控、没有真实委员会投票。","status":"conditional","evidence":["ks_r_e_definitions","ks_r_e_matrix","ks_r_financial_lower","ks_r_financial_upper","ks_d_e_commitment"],"counterevidence":["ks_a_e_q1"],"alternatives":["季度业绩改善可使展望转稳，但需要完整期间现金而不只是利润。","正式解释若证明承诺无新增现金后果，会关闭该项不确定性，其他经营财务风险仍需重评。"],"changes_if":"按本研究截止日安排下一次检查于下一份实际半年度披露及任何提前到期、用途变更或支持事件；若已发生应立即反映的偿付问题，不等待下一年度或用展望推迟调整。","figure_refs":["ks_r_financial_lower","ks_r_financial_upper"]}
{"id":"ks_r_rating_chain"}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B45"/>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FFFFFF"/>
                </a:solidFill>
              </a:rPr>
              <a:t>科顺股份与科顺转债｜研究建议及条件</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BCD2CE"/>
                </a:solidFill>
              </a:rPr>
              <a:t>科顺股份及科顺转债｜信息截止 2026-06-30｜条件性公开研究｜1</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BCD2CE"/>
                </a:solidFill>
              </a:rPr>
              <a:t>底稿记录：ks_r_recommendation / ks_r_liquidity；原页、公式及完整限制见报告和Excel。</a:t>
            </a:r>
            <a:endParaRPr lang="en-US" sz="1000" dirty="0"/>
          </a:p>
        </p:txBody>
      </p:sp>
      <p:sp>
        <p:nvSpPr>
          <p:cNvPr id="6" name="Text 3"/>
          <p:cNvSpPr/>
          <p:nvPr/>
        </p:nvSpPr>
        <p:spPr>
          <a:xfrm>
            <a:off x="640080" y="1417320"/>
            <a:ext cx="10698480" cy="960120"/>
          </a:xfrm>
          <a:prstGeom prst="rect">
            <a:avLst/>
          </a:prstGeom>
          <a:noFill/>
          <a:ln/>
        </p:spPr>
        <p:txBody>
          <a:bodyPr wrap="square" lIns="0" tIns="0" rIns="0" bIns="0" rtlCol="0" anchor="t"/>
          <a:lstStyle/>
          <a:p>
            <a:pPr indent="0" marL="0">
              <a:buNone/>
            </a:pPr>
            <a:r>
              <a:rPr lang="en-US" sz="4900" b="1" dirty="0">
                <a:solidFill>
                  <a:srgbClr val="FFFFFF"/>
                </a:solidFill>
              </a:rPr>
              <a:t>BBB+ / 负面展望</a:t>
            </a:r>
            <a:endParaRPr lang="en-US" sz="4900" dirty="0"/>
          </a:p>
        </p:txBody>
      </p:sp>
      <p:sp>
        <p:nvSpPr>
          <p:cNvPr id="7" name="Text 4"/>
          <p:cNvSpPr/>
          <p:nvPr/>
        </p:nvSpPr>
        <p:spPr>
          <a:xfrm>
            <a:off x="640080" y="2606040"/>
            <a:ext cx="10698480" cy="457200"/>
          </a:xfrm>
          <a:prstGeom prst="rect">
            <a:avLst/>
          </a:prstGeom>
          <a:noFill/>
          <a:ln/>
        </p:spPr>
        <p:txBody>
          <a:bodyPr wrap="square" lIns="0" tIns="0" rIns="0" bIns="0" rtlCol="0" anchor="t"/>
          <a:lstStyle/>
          <a:p>
            <a:pPr indent="0" marL="0">
              <a:buNone/>
            </a:pPr>
            <a:r>
              <a:rPr lang="en-US" sz="2300" dirty="0">
                <a:solidFill>
                  <a:srgbClr val="D4E8E1"/>
                </a:solidFill>
              </a:rPr>
              <a:t>主体与普通无担保直接债项的基准研究建议</a:t>
            </a:r>
            <a:endParaRPr lang="en-US" sz="2300" dirty="0"/>
          </a:p>
        </p:txBody>
      </p:sp>
      <p:sp>
        <p:nvSpPr>
          <p:cNvPr id="8" name="Text 5"/>
          <p:cNvSpPr/>
          <p:nvPr/>
        </p:nvSpPr>
        <p:spPr>
          <a:xfrm>
            <a:off x="640080" y="3337560"/>
            <a:ext cx="10698480" cy="1170432"/>
          </a:xfrm>
          <a:prstGeom prst="rect">
            <a:avLst/>
          </a:prstGeom>
          <a:noFill/>
          <a:ln/>
        </p:spPr>
        <p:txBody>
          <a:bodyPr wrap="square" lIns="0" tIns="0" rIns="0" bIns="0" rtlCol="0" anchor="t"/>
          <a:lstStyle/>
          <a:p>
            <a:pPr indent="0" marL="0">
              <a:buNone/>
            </a:pPr>
            <a:r>
              <a:rPr lang="en-US" sz="2200" dirty="0">
                <a:solidFill>
                  <a:srgbClr val="FFFFFF"/>
                </a:solidFill>
              </a:rPr>
              <a:t>以付款日前可调度资金及用途安排足以覆盖、未证实到期不支付为条件。母公司未来资金与持续承诺后果尚待核实，不能作为无条件正式评级发布。</a:t>
            </a:r>
            <a:endParaRPr lang="en-US" sz="2200" dirty="0"/>
          </a:p>
        </p:txBody>
      </p:sp>
      <p:sp>
        <p:nvSpPr>
          <p:cNvPr id="9" name="Text 6"/>
          <p:cNvSpPr/>
          <p:nvPr/>
        </p:nvSpPr>
        <p:spPr>
          <a:xfrm>
            <a:off x="640080" y="4892040"/>
            <a:ext cx="10698480" cy="640080"/>
          </a:xfrm>
          <a:prstGeom prst="rect">
            <a:avLst/>
          </a:prstGeom>
          <a:noFill/>
          <a:ln/>
        </p:spPr>
        <p:txBody>
          <a:bodyPr wrap="square" lIns="0" tIns="0" rIns="0" bIns="0" rtlCol="0" anchor="t"/>
          <a:lstStyle/>
          <a:p>
            <a:pPr indent="0" marL="0">
              <a:buNone/>
            </a:pPr>
            <a:r>
              <a:rPr lang="en-US" sz="1500" dirty="0">
                <a:solidFill>
                  <a:srgbClr val="D4E8E1"/>
                </a:solidFill>
              </a:rPr>
              <a:t>采用境内相对信用尺度及联合公开方法的明示研究适配；不是联合资信评级行动。完整研究及底稿另附，本汇报只提炼影响决定的事项。</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建议来自因素、调整、支持与债项的连续判断</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2026-06-30｜条件性公开研究｜2</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底稿记录：ks_r_recommendation / ks_r_support_assessment / ks_r_adjustments；原页、公式及完整限制见报告和Excel。</a:t>
            </a:r>
            <a:endParaRPr lang="en-US" sz="1000" dirty="0"/>
          </a:p>
        </p:txBody>
      </p:sp>
      <p:sp>
        <p:nvSpPr>
          <p:cNvPr id="6" name="Shape 3"/>
          <p:cNvSpPr/>
          <p:nvPr/>
        </p:nvSpPr>
        <p:spPr>
          <a:xfrm>
            <a:off x="548640" y="1325880"/>
            <a:ext cx="3474720" cy="1691640"/>
          </a:xfrm>
          <a:prstGeom prst="rect">
            <a:avLst/>
          </a:prstGeom>
          <a:solidFill>
            <a:srgbClr val="E6EFEC"/>
          </a:solidFill>
          <a:ln w="12700">
            <a:solidFill>
              <a:srgbClr val="E6EFEC"/>
            </a:solidFill>
            <a:prstDash val="solid"/>
          </a:ln>
        </p:spPr>
      </p:sp>
      <p:sp>
        <p:nvSpPr>
          <p:cNvPr id="7" name="Text 4"/>
          <p:cNvSpPr/>
          <p:nvPr/>
        </p:nvSpPr>
        <p:spPr>
          <a:xfrm>
            <a:off x="749808" y="1472184"/>
            <a:ext cx="3072384" cy="320040"/>
          </a:xfrm>
          <a:prstGeom prst="rect">
            <a:avLst/>
          </a:prstGeom>
          <a:noFill/>
          <a:ln/>
        </p:spPr>
        <p:txBody>
          <a:bodyPr wrap="square" lIns="0" tIns="0" rIns="0" bIns="0" rtlCol="0" anchor="t"/>
          <a:lstStyle/>
          <a:p>
            <a:pPr indent="0" marL="0">
              <a:buNone/>
            </a:pPr>
            <a:r>
              <a:rPr lang="en-US" sz="1400" dirty="0">
                <a:solidFill>
                  <a:srgbClr val="213B45"/>
                </a:solidFill>
              </a:rPr>
              <a:t>经营风险</a:t>
            </a:r>
            <a:endParaRPr lang="en-US" sz="1400" dirty="0"/>
          </a:p>
        </p:txBody>
      </p:sp>
      <p:sp>
        <p:nvSpPr>
          <p:cNvPr id="8" name="Text 5"/>
          <p:cNvSpPr/>
          <p:nvPr/>
        </p:nvSpPr>
        <p:spPr>
          <a:xfrm>
            <a:off x="749808" y="189280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C</a:t>
            </a:r>
            <a:endParaRPr lang="en-US" sz="2500" dirty="0"/>
          </a:p>
        </p:txBody>
      </p:sp>
      <p:sp>
        <p:nvSpPr>
          <p:cNvPr id="9" name="Text 6"/>
          <p:cNvSpPr/>
          <p:nvPr/>
        </p:nvSpPr>
        <p:spPr>
          <a:xfrm>
            <a:off x="749808" y="2478024"/>
            <a:ext cx="3072384" cy="393192"/>
          </a:xfrm>
          <a:prstGeom prst="rect">
            <a:avLst/>
          </a:prstGeom>
          <a:noFill/>
          <a:ln/>
        </p:spPr>
        <p:txBody>
          <a:bodyPr wrap="square" lIns="0" tIns="0" rIns="0" bIns="0" rtlCol="0" anchor="t"/>
          <a:lstStyle/>
          <a:p>
            <a:pPr indent="0" marL="0">
              <a:buNone/>
            </a:pPr>
            <a:r>
              <a:rPr lang="en-US" sz="1200" dirty="0">
                <a:solidFill>
                  <a:srgbClr val="213B45"/>
                </a:solidFill>
              </a:rPr>
              <a:t>自身竞争力 3.78 分</a:t>
            </a:r>
            <a:endParaRPr lang="en-US" sz="1200" dirty="0"/>
          </a:p>
        </p:txBody>
      </p:sp>
      <p:sp>
        <p:nvSpPr>
          <p:cNvPr id="10" name="Shape 7"/>
          <p:cNvSpPr/>
          <p:nvPr/>
        </p:nvSpPr>
        <p:spPr>
          <a:xfrm>
            <a:off x="4251960" y="1325880"/>
            <a:ext cx="3474720" cy="1691640"/>
          </a:xfrm>
          <a:prstGeom prst="rect">
            <a:avLst/>
          </a:prstGeom>
          <a:solidFill>
            <a:srgbClr val="E6EFEC"/>
          </a:solidFill>
          <a:ln w="12700">
            <a:solidFill>
              <a:srgbClr val="E6EFEC"/>
            </a:solidFill>
            <a:prstDash val="solid"/>
          </a:ln>
        </p:spPr>
      </p:sp>
      <p:sp>
        <p:nvSpPr>
          <p:cNvPr id="11" name="Text 8"/>
          <p:cNvSpPr/>
          <p:nvPr/>
        </p:nvSpPr>
        <p:spPr>
          <a:xfrm>
            <a:off x="4453128" y="1472184"/>
            <a:ext cx="3072384" cy="320040"/>
          </a:xfrm>
          <a:prstGeom prst="rect">
            <a:avLst/>
          </a:prstGeom>
          <a:noFill/>
          <a:ln/>
        </p:spPr>
        <p:txBody>
          <a:bodyPr wrap="square" lIns="0" tIns="0" rIns="0" bIns="0" rtlCol="0" anchor="t"/>
          <a:lstStyle/>
          <a:p>
            <a:pPr indent="0" marL="0">
              <a:buNone/>
            </a:pPr>
            <a:r>
              <a:rPr lang="en-US" sz="1400" dirty="0">
                <a:solidFill>
                  <a:srgbClr val="213B45"/>
                </a:solidFill>
              </a:rPr>
              <a:t>财务风险</a:t>
            </a:r>
            <a:endParaRPr lang="en-US" sz="1400" dirty="0"/>
          </a:p>
        </p:txBody>
      </p:sp>
      <p:sp>
        <p:nvSpPr>
          <p:cNvPr id="12" name="Text 9"/>
          <p:cNvSpPr/>
          <p:nvPr/>
        </p:nvSpPr>
        <p:spPr>
          <a:xfrm>
            <a:off x="4453128" y="189280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F4</a:t>
            </a:r>
            <a:endParaRPr lang="en-US" sz="2500" dirty="0"/>
          </a:p>
        </p:txBody>
      </p:sp>
      <p:sp>
        <p:nvSpPr>
          <p:cNvPr id="13" name="Text 10"/>
          <p:cNvSpPr/>
          <p:nvPr/>
        </p:nvSpPr>
        <p:spPr>
          <a:xfrm>
            <a:off x="4453128" y="2478024"/>
            <a:ext cx="3072384" cy="393192"/>
          </a:xfrm>
          <a:prstGeom prst="rect">
            <a:avLst/>
          </a:prstGeom>
          <a:noFill/>
          <a:ln/>
        </p:spPr>
        <p:txBody>
          <a:bodyPr wrap="square" lIns="0" tIns="0" rIns="0" bIns="0" rtlCol="0" anchor="t"/>
          <a:lstStyle/>
          <a:p>
            <a:pPr indent="0" marL="0">
              <a:buNone/>
            </a:pPr>
            <a:r>
              <a:rPr lang="en-US" sz="1200" dirty="0">
                <a:solidFill>
                  <a:srgbClr val="213B45"/>
                </a:solidFill>
              </a:rPr>
              <a:t>财务研究分 4.17 分</a:t>
            </a:r>
            <a:endParaRPr lang="en-US" sz="1200" dirty="0"/>
          </a:p>
        </p:txBody>
      </p:sp>
      <p:sp>
        <p:nvSpPr>
          <p:cNvPr id="14" name="Shape 11"/>
          <p:cNvSpPr/>
          <p:nvPr/>
        </p:nvSpPr>
        <p:spPr>
          <a:xfrm>
            <a:off x="7955280" y="1325880"/>
            <a:ext cx="3657600" cy="1691640"/>
          </a:xfrm>
          <a:prstGeom prst="rect">
            <a:avLst/>
          </a:prstGeom>
          <a:solidFill>
            <a:srgbClr val="E6EFEC"/>
          </a:solidFill>
          <a:ln w="12700">
            <a:solidFill>
              <a:srgbClr val="E6EFEC"/>
            </a:solidFill>
            <a:prstDash val="solid"/>
          </a:ln>
        </p:spPr>
      </p:sp>
      <p:sp>
        <p:nvSpPr>
          <p:cNvPr id="15" name="Text 12"/>
          <p:cNvSpPr/>
          <p:nvPr/>
        </p:nvSpPr>
        <p:spPr>
          <a:xfrm>
            <a:off x="8156448" y="1472184"/>
            <a:ext cx="3255264" cy="320040"/>
          </a:xfrm>
          <a:prstGeom prst="rect">
            <a:avLst/>
          </a:prstGeom>
          <a:noFill/>
          <a:ln/>
        </p:spPr>
        <p:txBody>
          <a:bodyPr wrap="square" lIns="0" tIns="0" rIns="0" bIns="0" rtlCol="0" anchor="t"/>
          <a:lstStyle/>
          <a:p>
            <a:pPr indent="0" marL="0">
              <a:buNone/>
            </a:pPr>
            <a:r>
              <a:rPr lang="en-US" sz="1400" dirty="0">
                <a:solidFill>
                  <a:srgbClr val="213B45"/>
                </a:solidFill>
              </a:rPr>
              <a:t>指示结果选择</a:t>
            </a:r>
            <a:endParaRPr lang="en-US" sz="1400" dirty="0"/>
          </a:p>
        </p:txBody>
      </p:sp>
      <p:sp>
        <p:nvSpPr>
          <p:cNvPr id="16" name="Text 13"/>
          <p:cNvSpPr/>
          <p:nvPr/>
        </p:nvSpPr>
        <p:spPr>
          <a:xfrm>
            <a:off x="8156448" y="1892808"/>
            <a:ext cx="3255264" cy="530352"/>
          </a:xfrm>
          <a:prstGeom prst="rect">
            <a:avLst/>
          </a:prstGeom>
          <a:noFill/>
          <a:ln/>
        </p:spPr>
        <p:txBody>
          <a:bodyPr wrap="square" lIns="0" tIns="0" rIns="0" bIns="0" rtlCol="0" anchor="t"/>
          <a:lstStyle/>
          <a:p>
            <a:pPr indent="0" marL="0">
              <a:buNone/>
            </a:pPr>
            <a:r>
              <a:rPr lang="en-US" sz="2500" b="1" dirty="0">
                <a:solidFill>
                  <a:srgbClr val="237F72"/>
                </a:solidFill>
              </a:rPr>
              <a:t>bbb+</a:t>
            </a:r>
            <a:endParaRPr lang="en-US" sz="2500" dirty="0"/>
          </a:p>
        </p:txBody>
      </p:sp>
      <p:sp>
        <p:nvSpPr>
          <p:cNvPr id="17" name="Text 14"/>
          <p:cNvSpPr/>
          <p:nvPr/>
        </p:nvSpPr>
        <p:spPr>
          <a:xfrm>
            <a:off x="8156448" y="2478024"/>
            <a:ext cx="3255264" cy="393192"/>
          </a:xfrm>
          <a:prstGeom prst="rect">
            <a:avLst/>
          </a:prstGeom>
          <a:noFill/>
          <a:ln/>
        </p:spPr>
        <p:txBody>
          <a:bodyPr wrap="square" lIns="0" tIns="0" rIns="0" bIns="0" rtlCol="0" anchor="t"/>
          <a:lstStyle/>
          <a:p>
            <a:pPr indent="0" marL="0">
              <a:buNone/>
            </a:pPr>
            <a:r>
              <a:rPr lang="en-US" sz="1200" dirty="0">
                <a:solidFill>
                  <a:srgbClr val="213B45"/>
                </a:solidFill>
              </a:rPr>
              <a:t>公开单元格 a-/bbb+</a:t>
            </a:r>
            <a:endParaRPr lang="en-US" sz="1200" dirty="0"/>
          </a:p>
        </p:txBody>
      </p:sp>
      <p:sp>
        <p:nvSpPr>
          <p:cNvPr id="18" name="Text 15"/>
          <p:cNvSpPr/>
          <p:nvPr/>
        </p:nvSpPr>
        <p:spPr>
          <a:xfrm>
            <a:off x="548640" y="3429000"/>
            <a:ext cx="11064240" cy="914400"/>
          </a:xfrm>
          <a:prstGeom prst="rect">
            <a:avLst/>
          </a:prstGeom>
          <a:noFill/>
          <a:ln/>
        </p:spPr>
        <p:txBody>
          <a:bodyPr wrap="square" lIns="0" tIns="0" rIns="0" bIns="0" rtlCol="0" anchor="t"/>
          <a:lstStyle/>
          <a:p>
            <a:pPr indent="0" marL="0">
              <a:buNone/>
            </a:pPr>
            <a:r>
              <a:rPr lang="en-US" sz="2200" dirty="0">
                <a:solidFill>
                  <a:srgbClr val="213B45"/>
                </a:solidFill>
              </a:rPr>
              <a:t>取较弱端：最新负EBITDA、母公司负经营现金、末季回款依赖与用途限制。基础因素已反映的事项不重复扣档；未计入未经证实的支持增益。</a:t>
            </a:r>
            <a:endParaRPr lang="en-US" sz="2200" dirty="0"/>
          </a:p>
        </p:txBody>
      </p:sp>
      <p:sp>
        <p:nvSpPr>
          <p:cNvPr id="19" name="Text 16"/>
          <p:cNvSpPr/>
          <p:nvPr/>
        </p:nvSpPr>
        <p:spPr>
          <a:xfrm>
            <a:off x="548640" y="4663440"/>
            <a:ext cx="11064240" cy="868680"/>
          </a:xfrm>
          <a:prstGeom prst="rect">
            <a:avLst/>
          </a:prstGeom>
          <a:noFill/>
          <a:ln/>
        </p:spPr>
        <p:txBody>
          <a:bodyPr wrap="square" lIns="0" tIns="0" rIns="0" bIns="0" rtlCol="0" anchor="t"/>
          <a:lstStyle/>
          <a:p>
            <a:pPr indent="0" marL="0">
              <a:buNone/>
            </a:pPr>
            <a:r>
              <a:rPr lang="en-US" sz="1800" dirty="0">
                <a:solidFill>
                  <a:srgbClr val="A34638"/>
                </a:solidFill>
              </a:rPr>
              <a:t>方法局限会影响决定：财务仅以可比两年30/70合成，是研究适配；本企业并非只存续两年。三年重述细项、定性区间与计算顺序都需敏感性核验。</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收入收缩与毛利修复，并未转成盈利恢复</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2026-06-30｜条件性公开研究｜3</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底稿记录：ks_a_e_is / ks_b_market_position / ks_a_find_earnings；原页、公式及完整限制见报告和Excel。</a:t>
            </a:r>
            <a:endParaRPr lang="en-US" sz="1000" dirty="0"/>
          </a:p>
        </p:txBody>
      </p:sp>
      <p:sp>
        <p:nvSpPr>
          <p:cNvPr id="6" name="Shape 3"/>
          <p:cNvSpPr/>
          <p:nvPr/>
        </p:nvSpPr>
        <p:spPr>
          <a:xfrm>
            <a:off x="548640" y="1371600"/>
            <a:ext cx="3474720" cy="1691640"/>
          </a:xfrm>
          <a:prstGeom prst="rect">
            <a:avLst/>
          </a:prstGeom>
          <a:solidFill>
            <a:srgbClr val="E6EFEC"/>
          </a:solidFill>
          <a:ln w="12700">
            <a:solidFill>
              <a:srgbClr val="E6EFEC"/>
            </a:solidFill>
            <a:prstDash val="solid"/>
          </a:ln>
        </p:spPr>
      </p:sp>
      <p:sp>
        <p:nvSpPr>
          <p:cNvPr id="7" name="Text 4"/>
          <p:cNvSpPr/>
          <p:nvPr/>
        </p:nvSpPr>
        <p:spPr>
          <a:xfrm>
            <a:off x="749808" y="1517904"/>
            <a:ext cx="3072384" cy="320040"/>
          </a:xfrm>
          <a:prstGeom prst="rect">
            <a:avLst/>
          </a:prstGeom>
          <a:noFill/>
          <a:ln/>
        </p:spPr>
        <p:txBody>
          <a:bodyPr wrap="square" lIns="0" tIns="0" rIns="0" bIns="0" rtlCol="0" anchor="t"/>
          <a:lstStyle/>
          <a:p>
            <a:pPr indent="0" marL="0">
              <a:buNone/>
            </a:pPr>
            <a:r>
              <a:rPr lang="en-US" sz="1400" dirty="0">
                <a:solidFill>
                  <a:srgbClr val="213B45"/>
                </a:solidFill>
              </a:rPr>
              <a:t>2025收入</a:t>
            </a:r>
            <a:endParaRPr lang="en-US" sz="1400" dirty="0"/>
          </a:p>
        </p:txBody>
      </p:sp>
      <p:sp>
        <p:nvSpPr>
          <p:cNvPr id="8" name="Text 5"/>
          <p:cNvSpPr/>
          <p:nvPr/>
        </p:nvSpPr>
        <p:spPr>
          <a:xfrm>
            <a:off x="749808" y="193852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60.44 亿元人民币</a:t>
            </a:r>
            <a:endParaRPr lang="en-US" sz="2500" dirty="0"/>
          </a:p>
        </p:txBody>
      </p:sp>
      <p:sp>
        <p:nvSpPr>
          <p:cNvPr id="9" name="Text 6"/>
          <p:cNvSpPr/>
          <p:nvPr/>
        </p:nvSpPr>
        <p:spPr>
          <a:xfrm>
            <a:off x="749808" y="2523744"/>
            <a:ext cx="3072384" cy="393192"/>
          </a:xfrm>
          <a:prstGeom prst="rect">
            <a:avLst/>
          </a:prstGeom>
          <a:noFill/>
          <a:ln/>
        </p:spPr>
        <p:txBody>
          <a:bodyPr wrap="square" lIns="0" tIns="0" rIns="0" bIns="0" rtlCol="0" anchor="t"/>
          <a:lstStyle/>
          <a:p>
            <a:pPr indent="0" marL="0">
              <a:buNone/>
            </a:pPr>
            <a:r>
              <a:rPr lang="en-US" sz="1200" dirty="0">
                <a:solidFill>
                  <a:srgbClr val="213B45"/>
                </a:solidFill>
              </a:rPr>
              <a:t>同比 -11.49%</a:t>
            </a:r>
            <a:endParaRPr lang="en-US" sz="1200" dirty="0"/>
          </a:p>
        </p:txBody>
      </p:sp>
      <p:sp>
        <p:nvSpPr>
          <p:cNvPr id="10" name="Shape 7"/>
          <p:cNvSpPr/>
          <p:nvPr/>
        </p:nvSpPr>
        <p:spPr>
          <a:xfrm>
            <a:off x="4251960" y="1371600"/>
            <a:ext cx="3474720" cy="1691640"/>
          </a:xfrm>
          <a:prstGeom prst="rect">
            <a:avLst/>
          </a:prstGeom>
          <a:solidFill>
            <a:srgbClr val="E6EFEC"/>
          </a:solidFill>
          <a:ln w="12700">
            <a:solidFill>
              <a:srgbClr val="E6EFEC"/>
            </a:solidFill>
            <a:prstDash val="solid"/>
          </a:ln>
        </p:spPr>
      </p:sp>
      <p:sp>
        <p:nvSpPr>
          <p:cNvPr id="11" name="Text 8"/>
          <p:cNvSpPr/>
          <p:nvPr/>
        </p:nvSpPr>
        <p:spPr>
          <a:xfrm>
            <a:off x="4453128" y="1517904"/>
            <a:ext cx="3072384" cy="320040"/>
          </a:xfrm>
          <a:prstGeom prst="rect">
            <a:avLst/>
          </a:prstGeom>
          <a:noFill/>
          <a:ln/>
        </p:spPr>
        <p:txBody>
          <a:bodyPr wrap="square" lIns="0" tIns="0" rIns="0" bIns="0" rtlCol="0" anchor="t"/>
          <a:lstStyle/>
          <a:p>
            <a:pPr indent="0" marL="0">
              <a:buNone/>
            </a:pPr>
            <a:r>
              <a:rPr lang="en-US" sz="1400" dirty="0">
                <a:solidFill>
                  <a:srgbClr val="213B45"/>
                </a:solidFill>
              </a:rPr>
              <a:t>2025毛利率</a:t>
            </a:r>
            <a:endParaRPr lang="en-US" sz="1400" dirty="0"/>
          </a:p>
        </p:txBody>
      </p:sp>
      <p:sp>
        <p:nvSpPr>
          <p:cNvPr id="12" name="Text 9"/>
          <p:cNvSpPr/>
          <p:nvPr/>
        </p:nvSpPr>
        <p:spPr>
          <a:xfrm>
            <a:off x="4453128" y="193852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24.20%</a:t>
            </a:r>
            <a:endParaRPr lang="en-US" sz="2500" dirty="0"/>
          </a:p>
        </p:txBody>
      </p:sp>
      <p:sp>
        <p:nvSpPr>
          <p:cNvPr id="13" name="Text 10"/>
          <p:cNvSpPr/>
          <p:nvPr/>
        </p:nvSpPr>
        <p:spPr>
          <a:xfrm>
            <a:off x="4453128" y="2523744"/>
            <a:ext cx="3072384" cy="393192"/>
          </a:xfrm>
          <a:prstGeom prst="rect">
            <a:avLst/>
          </a:prstGeom>
          <a:noFill/>
          <a:ln/>
        </p:spPr>
        <p:txBody>
          <a:bodyPr wrap="square" lIns="0" tIns="0" rIns="0" bIns="0" rtlCol="0" anchor="t"/>
          <a:lstStyle/>
          <a:p>
            <a:pPr indent="0" marL="0">
              <a:buNone/>
            </a:pPr>
            <a:r>
              <a:rPr lang="en-US" sz="1200" dirty="0">
                <a:solidFill>
                  <a:srgbClr val="213B45"/>
                </a:solidFill>
              </a:rPr>
              <a:t>2024 21.77%</a:t>
            </a:r>
            <a:endParaRPr lang="en-US" sz="1200" dirty="0"/>
          </a:p>
        </p:txBody>
      </p:sp>
      <p:sp>
        <p:nvSpPr>
          <p:cNvPr id="14" name="Shape 11"/>
          <p:cNvSpPr/>
          <p:nvPr/>
        </p:nvSpPr>
        <p:spPr>
          <a:xfrm>
            <a:off x="7955280" y="1371600"/>
            <a:ext cx="3657600" cy="1691640"/>
          </a:xfrm>
          <a:prstGeom prst="rect">
            <a:avLst/>
          </a:prstGeom>
          <a:solidFill>
            <a:srgbClr val="E6EFEC"/>
          </a:solidFill>
          <a:ln w="12700">
            <a:solidFill>
              <a:srgbClr val="E6EFEC"/>
            </a:solidFill>
            <a:prstDash val="solid"/>
          </a:ln>
        </p:spPr>
      </p:sp>
      <p:sp>
        <p:nvSpPr>
          <p:cNvPr id="15" name="Text 12"/>
          <p:cNvSpPr/>
          <p:nvPr/>
        </p:nvSpPr>
        <p:spPr>
          <a:xfrm>
            <a:off x="8156448" y="1517904"/>
            <a:ext cx="3255264" cy="320040"/>
          </a:xfrm>
          <a:prstGeom prst="rect">
            <a:avLst/>
          </a:prstGeom>
          <a:noFill/>
          <a:ln/>
        </p:spPr>
        <p:txBody>
          <a:bodyPr wrap="square" lIns="0" tIns="0" rIns="0" bIns="0" rtlCol="0" anchor="t"/>
          <a:lstStyle/>
          <a:p>
            <a:pPr indent="0" marL="0">
              <a:buNone/>
            </a:pPr>
            <a:r>
              <a:rPr lang="en-US" sz="1400" dirty="0">
                <a:solidFill>
                  <a:srgbClr val="213B45"/>
                </a:solidFill>
              </a:rPr>
              <a:t>2025 EBITDA</a:t>
            </a:r>
            <a:endParaRPr lang="en-US" sz="1400" dirty="0"/>
          </a:p>
        </p:txBody>
      </p:sp>
      <p:sp>
        <p:nvSpPr>
          <p:cNvPr id="16" name="Text 13"/>
          <p:cNvSpPr/>
          <p:nvPr/>
        </p:nvSpPr>
        <p:spPr>
          <a:xfrm>
            <a:off x="8156448" y="1938528"/>
            <a:ext cx="3255264" cy="530352"/>
          </a:xfrm>
          <a:prstGeom prst="rect">
            <a:avLst/>
          </a:prstGeom>
          <a:noFill/>
          <a:ln/>
        </p:spPr>
        <p:txBody>
          <a:bodyPr wrap="square" lIns="0" tIns="0" rIns="0" bIns="0" rtlCol="0" anchor="t"/>
          <a:lstStyle/>
          <a:p>
            <a:pPr indent="0" marL="0">
              <a:buNone/>
            </a:pPr>
            <a:r>
              <a:rPr lang="en-US" sz="2500" b="1" dirty="0">
                <a:solidFill>
                  <a:srgbClr val="A34638"/>
                </a:solidFill>
              </a:rPr>
              <a:t>-2.11 亿元人民币</a:t>
            </a:r>
            <a:endParaRPr lang="en-US" sz="2500" dirty="0"/>
          </a:p>
        </p:txBody>
      </p:sp>
      <p:sp>
        <p:nvSpPr>
          <p:cNvPr id="17" name="Text 14"/>
          <p:cNvSpPr/>
          <p:nvPr/>
        </p:nvSpPr>
        <p:spPr>
          <a:xfrm>
            <a:off x="8156448" y="2523744"/>
            <a:ext cx="3255264" cy="393192"/>
          </a:xfrm>
          <a:prstGeom prst="rect">
            <a:avLst/>
          </a:prstGeom>
          <a:noFill/>
          <a:ln/>
        </p:spPr>
        <p:txBody>
          <a:bodyPr wrap="square" lIns="0" tIns="0" rIns="0" bIns="0" rtlCol="0" anchor="t"/>
          <a:lstStyle/>
          <a:p>
            <a:pPr indent="0" marL="0">
              <a:buNone/>
            </a:pPr>
            <a:r>
              <a:rPr lang="en-US" sz="1200" dirty="0">
                <a:solidFill>
                  <a:srgbClr val="213B45"/>
                </a:solidFill>
              </a:rPr>
              <a:t>保留信用及资产减值影响</a:t>
            </a:r>
            <a:endParaRPr lang="en-US" sz="1200" dirty="0"/>
          </a:p>
        </p:txBody>
      </p:sp>
      <p:sp>
        <p:nvSpPr>
          <p:cNvPr id="18" name="Text 15"/>
          <p:cNvSpPr/>
          <p:nvPr/>
        </p:nvSpPr>
        <p:spPr>
          <a:xfrm>
            <a:off x="548640" y="3493008"/>
            <a:ext cx="11064240" cy="914400"/>
          </a:xfrm>
          <a:prstGeom prst="rect">
            <a:avLst/>
          </a:prstGeom>
          <a:noFill/>
          <a:ln/>
        </p:spPr>
        <p:txBody>
          <a:bodyPr wrap="square" lIns="0" tIns="0" rIns="0" bIns="0" rtlCol="0" anchor="t"/>
          <a:lstStyle/>
          <a:p>
            <a:pPr indent="0" marL="0">
              <a:buNone/>
            </a:pPr>
            <a:r>
              <a:rPr lang="en-US" sz="2200" dirty="0">
                <a:solidFill>
                  <a:srgbClr val="213B45"/>
                </a:solidFill>
              </a:rPr>
              <a:t>渠道、产品及成本变化要连接销量、售价和回款。收入类别或毛利率的变化，不能在缺少数量与价格桥时直接命名为有机增长或提价。</a:t>
            </a:r>
            <a:endParaRPr lang="en-US" sz="2200" dirty="0"/>
          </a:p>
        </p:txBody>
      </p:sp>
      <p:sp>
        <p:nvSpPr>
          <p:cNvPr id="19" name="Text 16"/>
          <p:cNvSpPr/>
          <p:nvPr/>
        </p:nvSpPr>
        <p:spPr>
          <a:xfrm>
            <a:off x="548640" y="4681728"/>
            <a:ext cx="11064240" cy="777240"/>
          </a:xfrm>
          <a:prstGeom prst="rect">
            <a:avLst/>
          </a:prstGeom>
          <a:noFill/>
          <a:ln/>
        </p:spPr>
        <p:txBody>
          <a:bodyPr wrap="square" lIns="0" tIns="0" rIns="0" bIns="0" rtlCol="0" anchor="t"/>
          <a:lstStyle/>
          <a:p>
            <a:pPr indent="0" marL="0">
              <a:buNone/>
            </a:pPr>
            <a:r>
              <a:rPr lang="en-US" sz="1900" dirty="0">
                <a:solidFill>
                  <a:srgbClr val="213B45"/>
                </a:solidFill>
              </a:rPr>
              <a:t>反证保留：季度收入及利润初步改善、无保留审计意见；它们不能单独排除旧应收损失、资金限制或短期付款风险。</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同行比较显示差异，也保留集团业务边界</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2026-06-30｜条件性公开研究｜4</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底稿记录：ks_r_peer_finding；原页、公式及完整限制见报告和Excel。</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749040"/>
                <a:gridCol w="1645920"/>
                <a:gridCol w="1737360"/>
                <a:gridCol w="1645920"/>
                <a:gridCol w="2286000"/>
              </a:tblGrid>
              <a:tr h="438912">
                <a:tc>
                  <a:txBody>
                    <a:bodyPr/>
                    <a:lstStyle/>
                    <a:p>
                      <a:pPr indent="0" marL="0">
                        <a:buNone/>
                      </a:pPr>
                      <a:r>
                        <a:rPr lang="en-US" sz="1500" dirty="0">
                          <a:solidFill>
                            <a:srgbClr val="213B45"/>
                          </a:solidFill>
                        </a:rPr>
                        <a:t>2025集团口径</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收入同比 %</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负债/资产 %</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净周期 天</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EBITDA/费用化利息 倍</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科顺防水科技</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-11.49</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67.32</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130.28</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-2.12</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北京东方雨虹防水技术</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-1.70</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51.14</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69.89</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11.05</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北新集团建材</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-2.09</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21.60</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38.28</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103.27</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822192"/>
            <a:ext cx="11064240" cy="987552"/>
          </a:xfrm>
          <a:prstGeom prst="rect">
            <a:avLst/>
          </a:prstGeom>
          <a:noFill/>
          <a:ln/>
        </p:spPr>
        <p:txBody>
          <a:bodyPr wrap="square" lIns="0" tIns="0" rIns="0" bIns="0" rtlCol="0" anchor="t"/>
          <a:lstStyle/>
          <a:p>
            <a:pPr indent="0" marL="0">
              <a:buNone/>
            </a:pPr>
            <a:r>
              <a:rPr lang="en-US" sz="2100" dirty="0">
                <a:solidFill>
                  <a:srgbClr val="213B45"/>
                </a:solidFill>
              </a:rPr>
              <a:t>科顺的利润、杠杆及账面周转压力不能只用行业下行解释。北新含重要石膏板/涂料业务，两家同行并购贡献未全年化重构；样本不构成行业均值或定级标尺。</a:t>
            </a:r>
            <a:endParaRPr lang="en-US" sz="2100" dirty="0"/>
          </a:p>
        </p:txBody>
      </p:sp>
      <p:sp>
        <p:nvSpPr>
          <p:cNvPr id="8" name="Text 4"/>
          <p:cNvSpPr/>
          <p:nvPr/>
        </p:nvSpPr>
        <p:spPr>
          <a:xfrm>
            <a:off x="548640" y="5138928"/>
            <a:ext cx="11064240" cy="502920"/>
          </a:xfrm>
          <a:prstGeom prst="rect">
            <a:avLst/>
          </a:prstGeom>
          <a:noFill/>
          <a:ln/>
        </p:spPr>
        <p:txBody>
          <a:bodyPr wrap="square" lIns="0" tIns="0" rIns="0" bIns="0" rtlCol="0" anchor="t"/>
          <a:lstStyle/>
          <a:p>
            <a:pPr indent="0" marL="0">
              <a:buNone/>
            </a:pPr>
            <a:r>
              <a:rPr lang="en-US" sz="1700" dirty="0">
                <a:solidFill>
                  <a:srgbClr val="A34638"/>
                </a:solidFill>
              </a:rPr>
              <a:t>同行简式融资口径和费用化利息倍数仅供比较，不能替代本案评级方法的全部债务与全部利息。</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现金质量取决于形成过程与季节性</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2026-06-30｜条件性公开研究｜5</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底稿记录：ks_a_find_cfo / ks_a_find_q1 / ks_a_e_indirect；原页、公式及完整限制见报告和Excel。</a:t>
            </a:r>
            <a:endParaRPr lang="en-US" sz="1000" dirty="0"/>
          </a:p>
        </p:txBody>
      </p:sp>
      <p:sp>
        <p:nvSpPr>
          <p:cNvPr id="6" name="Shape 3"/>
          <p:cNvSpPr/>
          <p:nvPr/>
        </p:nvSpPr>
        <p:spPr>
          <a:xfrm>
            <a:off x="548640" y="1371600"/>
            <a:ext cx="3474720" cy="1691640"/>
          </a:xfrm>
          <a:prstGeom prst="rect">
            <a:avLst/>
          </a:prstGeom>
          <a:solidFill>
            <a:srgbClr val="E6EFEC"/>
          </a:solidFill>
          <a:ln w="12700">
            <a:solidFill>
              <a:srgbClr val="E6EFEC"/>
            </a:solidFill>
            <a:prstDash val="solid"/>
          </a:ln>
        </p:spPr>
      </p:sp>
      <p:sp>
        <p:nvSpPr>
          <p:cNvPr id="7" name="Text 4"/>
          <p:cNvSpPr/>
          <p:nvPr/>
        </p:nvSpPr>
        <p:spPr>
          <a:xfrm>
            <a:off x="749808" y="1517904"/>
            <a:ext cx="3072384" cy="320040"/>
          </a:xfrm>
          <a:prstGeom prst="rect">
            <a:avLst/>
          </a:prstGeom>
          <a:noFill/>
          <a:ln/>
        </p:spPr>
        <p:txBody>
          <a:bodyPr wrap="square" lIns="0" tIns="0" rIns="0" bIns="0" rtlCol="0" anchor="t"/>
          <a:lstStyle/>
          <a:p>
            <a:pPr indent="0" marL="0">
              <a:buNone/>
            </a:pPr>
            <a:r>
              <a:rPr lang="en-US" sz="1400" dirty="0">
                <a:solidFill>
                  <a:srgbClr val="213B45"/>
                </a:solidFill>
              </a:rPr>
              <a:t>全年经营净现金</a:t>
            </a:r>
            <a:endParaRPr lang="en-US" sz="1400" dirty="0"/>
          </a:p>
        </p:txBody>
      </p:sp>
      <p:sp>
        <p:nvSpPr>
          <p:cNvPr id="8" name="Text 5"/>
          <p:cNvSpPr/>
          <p:nvPr/>
        </p:nvSpPr>
        <p:spPr>
          <a:xfrm>
            <a:off x="749808" y="193852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3.20 亿元人民币</a:t>
            </a:r>
            <a:endParaRPr lang="en-US" sz="2500" dirty="0"/>
          </a:p>
        </p:txBody>
      </p:sp>
      <p:sp>
        <p:nvSpPr>
          <p:cNvPr id="9" name="Text 6"/>
          <p:cNvSpPr/>
          <p:nvPr/>
        </p:nvSpPr>
        <p:spPr>
          <a:xfrm>
            <a:off x="749808" y="2523744"/>
            <a:ext cx="3072384" cy="393192"/>
          </a:xfrm>
          <a:prstGeom prst="rect">
            <a:avLst/>
          </a:prstGeom>
          <a:noFill/>
          <a:ln/>
        </p:spPr>
        <p:txBody>
          <a:bodyPr wrap="square" lIns="0" tIns="0" rIns="0" bIns="0" rtlCol="0" anchor="t"/>
          <a:lstStyle/>
          <a:p>
            <a:pPr indent="0" marL="0">
              <a:buNone/>
            </a:pPr>
            <a:r>
              <a:rPr lang="en-US" sz="1200" dirty="0">
                <a:solidFill>
                  <a:srgbClr val="213B45"/>
                </a:solidFill>
              </a:rPr>
              <a:t>正现金不等于正EBITDA</a:t>
            </a:r>
            <a:endParaRPr lang="en-US" sz="1200" dirty="0"/>
          </a:p>
        </p:txBody>
      </p:sp>
      <p:sp>
        <p:nvSpPr>
          <p:cNvPr id="10" name="Shape 7"/>
          <p:cNvSpPr/>
          <p:nvPr/>
        </p:nvSpPr>
        <p:spPr>
          <a:xfrm>
            <a:off x="4251960" y="1371600"/>
            <a:ext cx="3474720" cy="1691640"/>
          </a:xfrm>
          <a:prstGeom prst="rect">
            <a:avLst/>
          </a:prstGeom>
          <a:solidFill>
            <a:srgbClr val="E6EFEC"/>
          </a:solidFill>
          <a:ln w="12700">
            <a:solidFill>
              <a:srgbClr val="E6EFEC"/>
            </a:solidFill>
            <a:prstDash val="solid"/>
          </a:ln>
        </p:spPr>
      </p:sp>
      <p:sp>
        <p:nvSpPr>
          <p:cNvPr id="11" name="Text 8"/>
          <p:cNvSpPr/>
          <p:nvPr/>
        </p:nvSpPr>
        <p:spPr>
          <a:xfrm>
            <a:off x="4453128" y="1517904"/>
            <a:ext cx="3072384" cy="320040"/>
          </a:xfrm>
          <a:prstGeom prst="rect">
            <a:avLst/>
          </a:prstGeom>
          <a:noFill/>
          <a:ln/>
        </p:spPr>
        <p:txBody>
          <a:bodyPr wrap="square" lIns="0" tIns="0" rIns="0" bIns="0" rtlCol="0" anchor="t"/>
          <a:lstStyle/>
          <a:p>
            <a:pPr indent="0" marL="0">
              <a:buNone/>
            </a:pPr>
            <a:r>
              <a:rPr lang="en-US" sz="1400" dirty="0">
                <a:solidFill>
                  <a:srgbClr val="213B45"/>
                </a:solidFill>
              </a:rPr>
              <a:t>扣现金资本开支后</a:t>
            </a:r>
            <a:endParaRPr lang="en-US" sz="1400" dirty="0"/>
          </a:p>
        </p:txBody>
      </p:sp>
      <p:sp>
        <p:nvSpPr>
          <p:cNvPr id="12" name="Text 9"/>
          <p:cNvSpPr/>
          <p:nvPr/>
        </p:nvSpPr>
        <p:spPr>
          <a:xfrm>
            <a:off x="4453128" y="193852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1.47 亿元人民币</a:t>
            </a:r>
            <a:endParaRPr lang="en-US" sz="2500" dirty="0"/>
          </a:p>
        </p:txBody>
      </p:sp>
      <p:sp>
        <p:nvSpPr>
          <p:cNvPr id="13" name="Text 10"/>
          <p:cNvSpPr/>
          <p:nvPr/>
        </p:nvSpPr>
        <p:spPr>
          <a:xfrm>
            <a:off x="4453128" y="2523744"/>
            <a:ext cx="3072384" cy="393192"/>
          </a:xfrm>
          <a:prstGeom prst="rect">
            <a:avLst/>
          </a:prstGeom>
          <a:noFill/>
          <a:ln/>
        </p:spPr>
        <p:txBody>
          <a:bodyPr wrap="square" lIns="0" tIns="0" rIns="0" bIns="0" rtlCol="0" anchor="t"/>
          <a:lstStyle/>
          <a:p>
            <a:pPr indent="0" marL="0">
              <a:buNone/>
            </a:pPr>
            <a:r>
              <a:rPr lang="en-US" sz="1200" dirty="0">
                <a:solidFill>
                  <a:srgbClr val="213B45"/>
                </a:solidFill>
              </a:rPr>
              <a:t>尚未扣并购、分配及其他投资</a:t>
            </a:r>
            <a:endParaRPr lang="en-US" sz="1200" dirty="0"/>
          </a:p>
        </p:txBody>
      </p:sp>
      <p:sp>
        <p:nvSpPr>
          <p:cNvPr id="14" name="Shape 11"/>
          <p:cNvSpPr/>
          <p:nvPr/>
        </p:nvSpPr>
        <p:spPr>
          <a:xfrm>
            <a:off x="7955280" y="1371600"/>
            <a:ext cx="3657600" cy="1691640"/>
          </a:xfrm>
          <a:prstGeom prst="rect">
            <a:avLst/>
          </a:prstGeom>
          <a:solidFill>
            <a:srgbClr val="E6EFEC"/>
          </a:solidFill>
          <a:ln w="12700">
            <a:solidFill>
              <a:srgbClr val="E6EFEC"/>
            </a:solidFill>
            <a:prstDash val="solid"/>
          </a:ln>
        </p:spPr>
      </p:sp>
      <p:sp>
        <p:nvSpPr>
          <p:cNvPr id="15" name="Text 12"/>
          <p:cNvSpPr/>
          <p:nvPr/>
        </p:nvSpPr>
        <p:spPr>
          <a:xfrm>
            <a:off x="8156448" y="1517904"/>
            <a:ext cx="3255264" cy="320040"/>
          </a:xfrm>
          <a:prstGeom prst="rect">
            <a:avLst/>
          </a:prstGeom>
          <a:noFill/>
          <a:ln/>
        </p:spPr>
        <p:txBody>
          <a:bodyPr wrap="square" lIns="0" tIns="0" rIns="0" bIns="0" rtlCol="0" anchor="t"/>
          <a:lstStyle/>
          <a:p>
            <a:pPr indent="0" marL="0">
              <a:buNone/>
            </a:pPr>
            <a:r>
              <a:rPr lang="en-US" sz="1400" dirty="0">
                <a:solidFill>
                  <a:srgbClr val="213B45"/>
                </a:solidFill>
              </a:rPr>
              <a:t>第四季CFO</a:t>
            </a:r>
            <a:endParaRPr lang="en-US" sz="1400" dirty="0"/>
          </a:p>
        </p:txBody>
      </p:sp>
      <p:sp>
        <p:nvSpPr>
          <p:cNvPr id="16" name="Text 13"/>
          <p:cNvSpPr/>
          <p:nvPr/>
        </p:nvSpPr>
        <p:spPr>
          <a:xfrm>
            <a:off x="8156448" y="1938528"/>
            <a:ext cx="3255264" cy="530352"/>
          </a:xfrm>
          <a:prstGeom prst="rect">
            <a:avLst/>
          </a:prstGeom>
          <a:noFill/>
          <a:ln/>
        </p:spPr>
        <p:txBody>
          <a:bodyPr wrap="square" lIns="0" tIns="0" rIns="0" bIns="0" rtlCol="0" anchor="t"/>
          <a:lstStyle/>
          <a:p>
            <a:pPr indent="0" marL="0">
              <a:buNone/>
            </a:pPr>
            <a:r>
              <a:rPr lang="en-US" sz="2500" b="1" dirty="0">
                <a:solidFill>
                  <a:srgbClr val="237F72"/>
                </a:solidFill>
              </a:rPr>
              <a:t>11.44 亿元人民币</a:t>
            </a:r>
            <a:endParaRPr lang="en-US" sz="2500" dirty="0"/>
          </a:p>
        </p:txBody>
      </p:sp>
      <p:sp>
        <p:nvSpPr>
          <p:cNvPr id="17" name="Text 14"/>
          <p:cNvSpPr/>
          <p:nvPr/>
        </p:nvSpPr>
        <p:spPr>
          <a:xfrm>
            <a:off x="8156448" y="2523744"/>
            <a:ext cx="3255264" cy="393192"/>
          </a:xfrm>
          <a:prstGeom prst="rect">
            <a:avLst/>
          </a:prstGeom>
          <a:noFill/>
          <a:ln/>
        </p:spPr>
        <p:txBody>
          <a:bodyPr wrap="square" lIns="0" tIns="0" rIns="0" bIns="0" rtlCol="0" anchor="t"/>
          <a:lstStyle/>
          <a:p>
            <a:pPr indent="0" marL="0">
              <a:buNone/>
            </a:pPr>
            <a:r>
              <a:rPr lang="en-US" sz="1200" dirty="0">
                <a:solidFill>
                  <a:srgbClr val="213B45"/>
                </a:solidFill>
              </a:rPr>
              <a:t>不能掩盖前三季净流出</a:t>
            </a:r>
            <a:endParaRPr lang="en-US" sz="1200" dirty="0"/>
          </a:p>
        </p:txBody>
      </p:sp>
      <p:sp>
        <p:nvSpPr>
          <p:cNvPr id="18" name="Text 15"/>
          <p:cNvSpPr/>
          <p:nvPr/>
        </p:nvSpPr>
        <p:spPr>
          <a:xfrm>
            <a:off x="548640" y="3520440"/>
            <a:ext cx="11064240" cy="914400"/>
          </a:xfrm>
          <a:prstGeom prst="rect">
            <a:avLst/>
          </a:prstGeom>
          <a:noFill/>
          <a:ln/>
        </p:spPr>
        <p:txBody>
          <a:bodyPr wrap="square" lIns="0" tIns="0" rIns="0" bIns="0" rtlCol="0" anchor="t"/>
          <a:lstStyle/>
          <a:p>
            <a:pPr indent="0" marL="0">
              <a:buNone/>
            </a:pPr>
            <a:r>
              <a:rPr lang="en-US" sz="2200" dirty="0">
                <a:solidFill>
                  <a:srgbClr val="213B45"/>
                </a:solidFill>
              </a:rPr>
              <a:t>非现金减值加回不会创造经营盈利。应收净额下降还可能来自准备、核销、抵债及范围变化，未完成滚动桥前不能直接视为客户多付现金。</a:t>
            </a:r>
            <a:endParaRPr lang="en-US" sz="2200" dirty="0"/>
          </a:p>
        </p:txBody>
      </p:sp>
      <p:sp>
        <p:nvSpPr>
          <p:cNvPr id="19" name="Text 16"/>
          <p:cNvSpPr/>
          <p:nvPr/>
        </p:nvSpPr>
        <p:spPr>
          <a:xfrm>
            <a:off x="548640" y="4736592"/>
            <a:ext cx="11064240" cy="777240"/>
          </a:xfrm>
          <a:prstGeom prst="rect">
            <a:avLst/>
          </a:prstGeom>
          <a:noFill/>
          <a:ln/>
        </p:spPr>
        <p:txBody>
          <a:bodyPr wrap="square" lIns="0" tIns="0" rIns="0" bIns="0" rtlCol="0" anchor="t"/>
          <a:lstStyle/>
          <a:p>
            <a:pPr indent="0" marL="0">
              <a:buNone/>
            </a:pPr>
            <a:r>
              <a:rPr lang="en-US" sz="1900" dirty="0">
                <a:solidFill>
                  <a:srgbClr val="213B45"/>
                </a:solidFill>
              </a:rPr>
              <a:t>未经审计的一季度CFO仍为 -5,518.29 万元人民币。年度、季度及重述比较范围分开；不以一季乘四取代全年预测。</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季度现金低点比年末余额更先约束支付</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2026-06-30｜条件性公开研究｜6</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底稿记录：ks_r_liquidity；原页、公式及完整限制见报告和Excel。</a:t>
            </a:r>
            <a:endParaRPr lang="en-US" sz="1000" dirty="0"/>
          </a:p>
        </p:txBody>
      </p:sp>
      <p:graphicFrame>
        <p:nvGraphicFramePr>
          <p:cNvPr id="6" name="Chart 0" descr=""/>
          <p:cNvGraphicFramePr/>
          <p:nvPr/>
        </p:nvGraphicFramePr>
        <p:xfrm>
          <a:off x="548640" y="1389888"/>
          <a:ext cx="7223760" cy="39776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8183880" y="1600200"/>
            <a:ext cx="3401568" cy="2880360"/>
          </a:xfrm>
          <a:prstGeom prst="rect">
            <a:avLst/>
          </a:prstGeom>
          <a:noFill/>
          <a:ln/>
        </p:spPr>
        <p:txBody>
          <a:bodyPr wrap="square" lIns="0" tIns="0" rIns="0" bIns="0" rtlCol="0" anchor="t"/>
          <a:lstStyle/>
          <a:p>
            <a:pPr indent="0" marL="0">
              <a:buNone/>
            </a:pPr>
            <a:r>
              <a:rPr lang="en-US" sz="2200" dirty="0">
                <a:solidFill>
                  <a:srgbClr val="213B45"/>
                </a:solidFill>
              </a:rPr>
              <a:t>基准最低</a:t>
            </a:r>
            <a:endParaRPr lang="en-US" sz="2200" dirty="0"/>
          </a:p>
          <a:p>
            <a:pPr indent="0" marL="0">
              <a:buNone/>
            </a:pPr>
            <a:r>
              <a:rPr lang="en-US" sz="2200" dirty="0">
                <a:solidFill>
                  <a:srgbClr val="213B45"/>
                </a:solidFill>
              </a:rPr>
              <a:t>1.44 亿元人民币</a:t>
            </a:r>
            <a:endParaRPr lang="en-US" sz="2200" dirty="0"/>
          </a:p>
          <a:p>
            <a:pPr indent="0" marL="0">
              <a:buNone/>
            </a:pPr>
            <a:endParaRPr lang="en-US" sz="2200" dirty="0"/>
          </a:p>
          <a:p>
            <a:pPr indent="0" marL="0">
              <a:buNone/>
            </a:pPr>
            <a:r>
              <a:rPr lang="en-US" sz="2200" dirty="0">
                <a:solidFill>
                  <a:srgbClr val="213B45"/>
                </a:solidFill>
              </a:rPr>
              <a:t>既定客户收款再降</a:t>
            </a:r>
            <a:endParaRPr lang="en-US" sz="2200" dirty="0"/>
          </a:p>
          <a:p>
            <a:pPr indent="0" marL="0">
              <a:buNone/>
            </a:pPr>
            <a:r>
              <a:rPr lang="en-US" sz="2200" dirty="0">
                <a:solidFill>
                  <a:srgbClr val="213B45"/>
                </a:solidFill>
              </a:rPr>
              <a:t>4.88%</a:t>
            </a:r>
            <a:endParaRPr lang="en-US" sz="2200" dirty="0"/>
          </a:p>
          <a:p>
            <a:pPr indent="0" marL="0">
              <a:buNone/>
            </a:pPr>
            <a:r>
              <a:rPr lang="en-US" sz="2200" dirty="0">
                <a:solidFill>
                  <a:srgbClr val="213B45"/>
                </a:solidFill>
              </a:rPr>
              <a:t>即触及季度末零现金</a:t>
            </a:r>
            <a:endParaRPr lang="en-US" sz="2200" dirty="0"/>
          </a:p>
        </p:txBody>
      </p:sp>
      <p:sp>
        <p:nvSpPr>
          <p:cNvPr id="8" name="Text 4"/>
          <p:cNvSpPr/>
          <p:nvPr/>
        </p:nvSpPr>
        <p:spPr>
          <a:xfrm>
            <a:off x="548640" y="5495544"/>
            <a:ext cx="11064240" cy="384048"/>
          </a:xfrm>
          <a:prstGeom prst="rect">
            <a:avLst/>
          </a:prstGeom>
          <a:noFill/>
          <a:ln/>
        </p:spPr>
        <p:txBody>
          <a:bodyPr wrap="square" lIns="0" tIns="0" rIns="0" bIns="0" rtlCol="0" anchor="t"/>
          <a:lstStyle/>
          <a:p>
            <a:pPr indent="0" marL="0">
              <a:buNone/>
            </a:pPr>
            <a:r>
              <a:rPr lang="en-US" sz="1300" dirty="0">
                <a:solidFill>
                  <a:srgbClr val="A34638"/>
                </a:solidFill>
              </a:rPr>
              <a:t>以3月末合并实际现金为起点；之后均为无新增融资的条件路径。负数后的行只表示未融资缺口延续，后期回款不证明此前已安全支付。</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募集资金用途限制，须与外部还债分开</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2026-06-30｜条件性公开研究｜7</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底稿记录：ks_d_n_funds / ks_r_liquidity；原页、公式及完整限制见报告和Excel。</a:t>
            </a:r>
            <a:endParaRPr lang="en-US" sz="1000" dirty="0"/>
          </a:p>
        </p:txBody>
      </p:sp>
      <p:sp>
        <p:nvSpPr>
          <p:cNvPr id="6" name="Shape 3"/>
          <p:cNvSpPr/>
          <p:nvPr/>
        </p:nvSpPr>
        <p:spPr>
          <a:xfrm>
            <a:off x="548640" y="1417320"/>
            <a:ext cx="3474720" cy="1691640"/>
          </a:xfrm>
          <a:prstGeom prst="rect">
            <a:avLst/>
          </a:prstGeom>
          <a:solidFill>
            <a:srgbClr val="E6EFEC"/>
          </a:solidFill>
          <a:ln w="12700">
            <a:solidFill>
              <a:srgbClr val="E6EFEC"/>
            </a:solidFill>
            <a:prstDash val="solid"/>
          </a:ln>
        </p:spPr>
      </p:sp>
      <p:sp>
        <p:nvSpPr>
          <p:cNvPr id="7" name="Text 4"/>
          <p:cNvSpPr/>
          <p:nvPr/>
        </p:nvSpPr>
        <p:spPr>
          <a:xfrm>
            <a:off x="749808" y="1563624"/>
            <a:ext cx="3072384" cy="320040"/>
          </a:xfrm>
          <a:prstGeom prst="rect">
            <a:avLst/>
          </a:prstGeom>
          <a:noFill/>
          <a:ln/>
        </p:spPr>
        <p:txBody>
          <a:bodyPr wrap="square" lIns="0" tIns="0" rIns="0" bIns="0" rtlCol="0" anchor="t"/>
          <a:lstStyle/>
          <a:p>
            <a:pPr indent="0" marL="0">
              <a:buNone/>
            </a:pPr>
            <a:r>
              <a:rPr lang="en-US" sz="1400" dirty="0">
                <a:solidFill>
                  <a:srgbClr val="213B45"/>
                </a:solidFill>
              </a:rPr>
              <a:t>基准：不新增用途预留</a:t>
            </a:r>
            <a:endParaRPr lang="en-US" sz="1400" dirty="0"/>
          </a:p>
        </p:txBody>
      </p:sp>
      <p:sp>
        <p:nvSpPr>
          <p:cNvPr id="8" name="Text 5"/>
          <p:cNvSpPr/>
          <p:nvPr/>
        </p:nvSpPr>
        <p:spPr>
          <a:xfrm>
            <a:off x="749808" y="1984248"/>
            <a:ext cx="3072384" cy="530352"/>
          </a:xfrm>
          <a:prstGeom prst="rect">
            <a:avLst/>
          </a:prstGeom>
          <a:noFill/>
          <a:ln/>
        </p:spPr>
        <p:txBody>
          <a:bodyPr wrap="square" lIns="0" tIns="0" rIns="0" bIns="0" rtlCol="0" anchor="t"/>
          <a:lstStyle/>
          <a:p>
            <a:pPr indent="0" marL="0">
              <a:buNone/>
            </a:pPr>
            <a:r>
              <a:rPr lang="en-US" sz="2500" b="1" dirty="0">
                <a:solidFill>
                  <a:srgbClr val="237F72"/>
                </a:solidFill>
              </a:rPr>
              <a:t>1.44 亿元人民币</a:t>
            </a:r>
            <a:endParaRPr lang="en-US" sz="2500" dirty="0"/>
          </a:p>
        </p:txBody>
      </p:sp>
      <p:sp>
        <p:nvSpPr>
          <p:cNvPr id="9" name="Text 6"/>
          <p:cNvSpPr/>
          <p:nvPr/>
        </p:nvSpPr>
        <p:spPr>
          <a:xfrm>
            <a:off x="749808" y="2569464"/>
            <a:ext cx="3072384" cy="393192"/>
          </a:xfrm>
          <a:prstGeom prst="rect">
            <a:avLst/>
          </a:prstGeom>
          <a:noFill/>
          <a:ln/>
        </p:spPr>
        <p:txBody>
          <a:bodyPr wrap="square" lIns="0" tIns="0" rIns="0" bIns="0" rtlCol="0" anchor="t"/>
          <a:lstStyle/>
          <a:p>
            <a:pPr indent="0" marL="0">
              <a:buNone/>
            </a:pPr>
            <a:r>
              <a:rPr lang="en-US" sz="1200" dirty="0">
                <a:solidFill>
                  <a:srgbClr val="213B45"/>
                </a:solidFill>
              </a:rPr>
              <a:t>集团季度最低余额</a:t>
            </a:r>
            <a:endParaRPr lang="en-US" sz="1200" dirty="0"/>
          </a:p>
        </p:txBody>
      </p:sp>
      <p:sp>
        <p:nvSpPr>
          <p:cNvPr id="10" name="Shape 7"/>
          <p:cNvSpPr/>
          <p:nvPr/>
        </p:nvSpPr>
        <p:spPr>
          <a:xfrm>
            <a:off x="4251960" y="1417320"/>
            <a:ext cx="3474720" cy="1691640"/>
          </a:xfrm>
          <a:prstGeom prst="rect">
            <a:avLst/>
          </a:prstGeom>
          <a:solidFill>
            <a:srgbClr val="E6EFEC"/>
          </a:solidFill>
          <a:ln w="12700">
            <a:solidFill>
              <a:srgbClr val="E6EFEC"/>
            </a:solidFill>
            <a:prstDash val="solid"/>
          </a:ln>
        </p:spPr>
      </p:sp>
      <p:sp>
        <p:nvSpPr>
          <p:cNvPr id="11" name="Text 8"/>
          <p:cNvSpPr/>
          <p:nvPr/>
        </p:nvSpPr>
        <p:spPr>
          <a:xfrm>
            <a:off x="4453128" y="1563624"/>
            <a:ext cx="3072384" cy="320040"/>
          </a:xfrm>
          <a:prstGeom prst="rect">
            <a:avLst/>
          </a:prstGeom>
          <a:noFill/>
          <a:ln/>
        </p:spPr>
        <p:txBody>
          <a:bodyPr wrap="square" lIns="0" tIns="0" rIns="0" bIns="0" rtlCol="0" anchor="t"/>
          <a:lstStyle/>
          <a:p>
            <a:pPr indent="0" marL="0">
              <a:buNone/>
            </a:pPr>
            <a:r>
              <a:rPr lang="en-US" sz="1400" dirty="0">
                <a:solidFill>
                  <a:srgbClr val="213B45"/>
                </a:solidFill>
              </a:rPr>
              <a:t>基准：另预留6.5亿元</a:t>
            </a:r>
            <a:endParaRPr lang="en-US" sz="1400" dirty="0"/>
          </a:p>
        </p:txBody>
      </p:sp>
      <p:sp>
        <p:nvSpPr>
          <p:cNvPr id="12" name="Text 9"/>
          <p:cNvSpPr/>
          <p:nvPr/>
        </p:nvSpPr>
        <p:spPr>
          <a:xfrm>
            <a:off x="4453128" y="1984248"/>
            <a:ext cx="3072384" cy="530352"/>
          </a:xfrm>
          <a:prstGeom prst="rect">
            <a:avLst/>
          </a:prstGeom>
          <a:noFill/>
          <a:ln/>
        </p:spPr>
        <p:txBody>
          <a:bodyPr wrap="square" lIns="0" tIns="0" rIns="0" bIns="0" rtlCol="0" anchor="t"/>
          <a:lstStyle/>
          <a:p>
            <a:pPr indent="0" marL="0">
              <a:buNone/>
            </a:pPr>
            <a:r>
              <a:rPr lang="en-US" sz="2500" b="1" dirty="0">
                <a:solidFill>
                  <a:srgbClr val="A34638"/>
                </a:solidFill>
              </a:rPr>
              <a:t>-5.06 亿元人民币</a:t>
            </a:r>
            <a:endParaRPr lang="en-US" sz="2500" dirty="0"/>
          </a:p>
        </p:txBody>
      </p:sp>
      <p:sp>
        <p:nvSpPr>
          <p:cNvPr id="13" name="Text 10"/>
          <p:cNvSpPr/>
          <p:nvPr/>
        </p:nvSpPr>
        <p:spPr>
          <a:xfrm>
            <a:off x="4453128" y="2569464"/>
            <a:ext cx="3072384" cy="393192"/>
          </a:xfrm>
          <a:prstGeom prst="rect">
            <a:avLst/>
          </a:prstGeom>
          <a:noFill/>
          <a:ln/>
        </p:spPr>
        <p:txBody>
          <a:bodyPr wrap="square" lIns="0" tIns="0" rIns="0" bIns="0" rtlCol="0" anchor="t"/>
          <a:lstStyle/>
          <a:p>
            <a:pPr indent="0" marL="0">
              <a:buNone/>
            </a:pPr>
            <a:r>
              <a:rPr lang="en-US" sz="1200" dirty="0">
                <a:solidFill>
                  <a:srgbClr val="213B45"/>
                </a:solidFill>
              </a:rPr>
              <a:t>条件用途敏感性；非实际占用</a:t>
            </a:r>
            <a:endParaRPr lang="en-US" sz="1200" dirty="0"/>
          </a:p>
        </p:txBody>
      </p:sp>
      <p:sp>
        <p:nvSpPr>
          <p:cNvPr id="14" name="Shape 11"/>
          <p:cNvSpPr/>
          <p:nvPr/>
        </p:nvSpPr>
        <p:spPr>
          <a:xfrm>
            <a:off x="7955280" y="1417320"/>
            <a:ext cx="3657600" cy="1691640"/>
          </a:xfrm>
          <a:prstGeom prst="rect">
            <a:avLst/>
          </a:prstGeom>
          <a:solidFill>
            <a:srgbClr val="E6EFEC"/>
          </a:solidFill>
          <a:ln w="12700">
            <a:solidFill>
              <a:srgbClr val="E6EFEC"/>
            </a:solidFill>
            <a:prstDash val="solid"/>
          </a:ln>
        </p:spPr>
      </p:sp>
      <p:sp>
        <p:nvSpPr>
          <p:cNvPr id="15" name="Text 12"/>
          <p:cNvSpPr/>
          <p:nvPr/>
        </p:nvSpPr>
        <p:spPr>
          <a:xfrm>
            <a:off x="8156448" y="1563624"/>
            <a:ext cx="3255264" cy="320040"/>
          </a:xfrm>
          <a:prstGeom prst="rect">
            <a:avLst/>
          </a:prstGeom>
          <a:noFill/>
          <a:ln/>
        </p:spPr>
        <p:txBody>
          <a:bodyPr wrap="square" lIns="0" tIns="0" rIns="0" bIns="0" rtlCol="0" anchor="t"/>
          <a:lstStyle/>
          <a:p>
            <a:pPr indent="0" marL="0">
              <a:buNone/>
            </a:pPr>
            <a:r>
              <a:rPr lang="en-US" sz="1400" dirty="0">
                <a:solidFill>
                  <a:srgbClr val="213B45"/>
                </a:solidFill>
              </a:rPr>
              <a:t>恶化：不新增用途预留</a:t>
            </a:r>
            <a:endParaRPr lang="en-US" sz="1400" dirty="0"/>
          </a:p>
        </p:txBody>
      </p:sp>
      <p:sp>
        <p:nvSpPr>
          <p:cNvPr id="16" name="Text 13"/>
          <p:cNvSpPr/>
          <p:nvPr/>
        </p:nvSpPr>
        <p:spPr>
          <a:xfrm>
            <a:off x="8156448" y="1984248"/>
            <a:ext cx="3255264" cy="530352"/>
          </a:xfrm>
          <a:prstGeom prst="rect">
            <a:avLst/>
          </a:prstGeom>
          <a:noFill/>
          <a:ln/>
        </p:spPr>
        <p:txBody>
          <a:bodyPr wrap="square" lIns="0" tIns="0" rIns="0" bIns="0" rtlCol="0" anchor="t"/>
          <a:lstStyle/>
          <a:p>
            <a:pPr indent="0" marL="0">
              <a:buNone/>
            </a:pPr>
            <a:r>
              <a:rPr lang="en-US" sz="2500" b="1" dirty="0">
                <a:solidFill>
                  <a:srgbClr val="A34638"/>
                </a:solidFill>
              </a:rPr>
              <a:t>-3.38 亿元人民币</a:t>
            </a:r>
            <a:endParaRPr lang="en-US" sz="2500" dirty="0"/>
          </a:p>
        </p:txBody>
      </p:sp>
      <p:sp>
        <p:nvSpPr>
          <p:cNvPr id="17" name="Text 14"/>
          <p:cNvSpPr/>
          <p:nvPr/>
        </p:nvSpPr>
        <p:spPr>
          <a:xfrm>
            <a:off x="8156448" y="2569464"/>
            <a:ext cx="3255264" cy="393192"/>
          </a:xfrm>
          <a:prstGeom prst="rect">
            <a:avLst/>
          </a:prstGeom>
          <a:noFill/>
          <a:ln/>
        </p:spPr>
        <p:txBody>
          <a:bodyPr wrap="square" lIns="0" tIns="0" rIns="0" bIns="0" rtlCol="0" anchor="t"/>
          <a:lstStyle/>
          <a:p>
            <a:pPr indent="0" marL="0">
              <a:buNone/>
            </a:pPr>
            <a:r>
              <a:rPr lang="en-US" sz="1200" dirty="0">
                <a:solidFill>
                  <a:srgbClr val="213B45"/>
                </a:solidFill>
              </a:rPr>
              <a:t>尚未落实补缺融资</a:t>
            </a:r>
            <a:endParaRPr lang="en-US" sz="1200" dirty="0"/>
          </a:p>
        </p:txBody>
      </p:sp>
      <p:sp>
        <p:nvSpPr>
          <p:cNvPr id="18" name="Text 15"/>
          <p:cNvSpPr/>
          <p:nvPr/>
        </p:nvSpPr>
        <p:spPr>
          <a:xfrm>
            <a:off x="548640" y="3566160"/>
            <a:ext cx="11064240" cy="886968"/>
          </a:xfrm>
          <a:prstGeom prst="rect">
            <a:avLst/>
          </a:prstGeom>
          <a:noFill/>
          <a:ln/>
        </p:spPr>
        <p:txBody>
          <a:bodyPr wrap="square" lIns="0" tIns="0" rIns="0" bIns="0" rtlCol="0" anchor="t"/>
          <a:lstStyle/>
          <a:p>
            <a:pPr indent="0" marL="0">
              <a:buNone/>
            </a:pPr>
            <a:r>
              <a:rPr lang="en-US" sz="2200" dirty="0">
                <a:solidFill>
                  <a:srgbClr val="213B45"/>
                </a:solidFill>
              </a:rPr>
              <a:t>恢复专户或用途约束是内部现金调度，不是新增一笔债券本金。实际补流占用和项目付款时点未知；已受限余额与未来恢复额必须先核对重合。</a:t>
            </a:r>
            <a:endParaRPr lang="en-US" sz="2200" dirty="0"/>
          </a:p>
        </p:txBody>
      </p:sp>
      <p:sp>
        <p:nvSpPr>
          <p:cNvPr id="19" name="Text 16"/>
          <p:cNvSpPr/>
          <p:nvPr/>
        </p:nvSpPr>
        <p:spPr>
          <a:xfrm>
            <a:off x="548640" y="4718304"/>
            <a:ext cx="11064240" cy="731520"/>
          </a:xfrm>
          <a:prstGeom prst="rect">
            <a:avLst/>
          </a:prstGeom>
          <a:noFill/>
          <a:ln/>
        </p:spPr>
        <p:txBody>
          <a:bodyPr wrap="square" lIns="0" tIns="0" rIns="0" bIns="0" rtlCol="0" anchor="t"/>
          <a:lstStyle/>
          <a:p>
            <a:pPr indent="0" marL="0">
              <a:buNone/>
            </a:pPr>
            <a:r>
              <a:rPr lang="en-US" sz="1900" dirty="0">
                <a:solidFill>
                  <a:srgbClr val="A34638"/>
                </a:solidFill>
              </a:rPr>
              <a:t>现金模型中的银行本金、非转债利息与季度分配是研究预算，尚非已核实的逐笔合同到期表。季度末为正也不能证明月内足够。</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偿债主体是发行人，不能直接动用全部集团余额</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2026-06-30｜条件性公开研究｜8</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底稿记录：ks_r_parent_risk / ks_d_e_issue_coupon / ks_d_e_maturity_call；原页、公式及完整限制见报告和Excel。</a:t>
            </a:r>
            <a:endParaRPr lang="en-US" sz="1000" dirty="0"/>
          </a:p>
        </p:txBody>
      </p:sp>
      <p:sp>
        <p:nvSpPr>
          <p:cNvPr id="6" name="Shape 3"/>
          <p:cNvSpPr/>
          <p:nvPr/>
        </p:nvSpPr>
        <p:spPr>
          <a:xfrm>
            <a:off x="548640" y="1353312"/>
            <a:ext cx="5394960" cy="1691640"/>
          </a:xfrm>
          <a:prstGeom prst="rect">
            <a:avLst/>
          </a:prstGeom>
          <a:solidFill>
            <a:srgbClr val="E6EFEC"/>
          </a:solidFill>
          <a:ln w="12700">
            <a:solidFill>
              <a:srgbClr val="E6EFEC"/>
            </a:solidFill>
            <a:prstDash val="solid"/>
          </a:ln>
        </p:spPr>
      </p:sp>
      <p:sp>
        <p:nvSpPr>
          <p:cNvPr id="7" name="Text 4"/>
          <p:cNvSpPr/>
          <p:nvPr/>
        </p:nvSpPr>
        <p:spPr>
          <a:xfrm>
            <a:off x="749808" y="1499616"/>
            <a:ext cx="4992624" cy="320040"/>
          </a:xfrm>
          <a:prstGeom prst="rect">
            <a:avLst/>
          </a:prstGeom>
          <a:noFill/>
          <a:ln/>
        </p:spPr>
        <p:txBody>
          <a:bodyPr wrap="square" lIns="0" tIns="0" rIns="0" bIns="0" rtlCol="0" anchor="t"/>
          <a:lstStyle/>
          <a:p>
            <a:pPr indent="0" marL="0">
              <a:buNone/>
            </a:pPr>
            <a:r>
              <a:rPr lang="en-US" sz="1400" dirty="0">
                <a:solidFill>
                  <a:srgbClr val="213B45"/>
                </a:solidFill>
              </a:rPr>
              <a:t>母公司2025末：现金减短期账面代理</a:t>
            </a:r>
            <a:endParaRPr lang="en-US" sz="1400" dirty="0"/>
          </a:p>
        </p:txBody>
      </p:sp>
      <p:sp>
        <p:nvSpPr>
          <p:cNvPr id="8" name="Text 5"/>
          <p:cNvSpPr/>
          <p:nvPr/>
        </p:nvSpPr>
        <p:spPr>
          <a:xfrm>
            <a:off x="749808" y="1920240"/>
            <a:ext cx="4992624" cy="530352"/>
          </a:xfrm>
          <a:prstGeom prst="rect">
            <a:avLst/>
          </a:prstGeom>
          <a:noFill/>
          <a:ln/>
        </p:spPr>
        <p:txBody>
          <a:bodyPr wrap="square" lIns="0" tIns="0" rIns="0" bIns="0" rtlCol="0" anchor="t"/>
          <a:lstStyle/>
          <a:p>
            <a:pPr indent="0" marL="0">
              <a:buNone/>
            </a:pPr>
            <a:r>
              <a:rPr lang="en-US" sz="2500" b="1" dirty="0">
                <a:solidFill>
                  <a:srgbClr val="237F72"/>
                </a:solidFill>
              </a:rPr>
              <a:t>1.05 亿元人民币</a:t>
            </a:r>
            <a:endParaRPr lang="en-US" sz="2500" dirty="0"/>
          </a:p>
        </p:txBody>
      </p:sp>
      <p:sp>
        <p:nvSpPr>
          <p:cNvPr id="9" name="Text 6"/>
          <p:cNvSpPr/>
          <p:nvPr/>
        </p:nvSpPr>
        <p:spPr>
          <a:xfrm>
            <a:off x="749808" y="2505456"/>
            <a:ext cx="4992624" cy="393192"/>
          </a:xfrm>
          <a:prstGeom prst="rect">
            <a:avLst/>
          </a:prstGeom>
          <a:noFill/>
          <a:ln/>
        </p:spPr>
        <p:txBody>
          <a:bodyPr wrap="square" lIns="0" tIns="0" rIns="0" bIns="0" rtlCol="0" anchor="t"/>
          <a:lstStyle/>
          <a:p>
            <a:pPr indent="0" marL="0">
              <a:buNone/>
            </a:pPr>
            <a:r>
              <a:rPr lang="en-US" sz="1200" dirty="0">
                <a:solidFill>
                  <a:srgbClr val="213B45"/>
                </a:solidFill>
              </a:rPr>
              <a:t>未扣全体经营、票据、股利及用途需求</a:t>
            </a:r>
            <a:endParaRPr lang="en-US" sz="1200" dirty="0"/>
          </a:p>
        </p:txBody>
      </p:sp>
      <p:sp>
        <p:nvSpPr>
          <p:cNvPr id="10" name="Shape 7"/>
          <p:cNvSpPr/>
          <p:nvPr/>
        </p:nvSpPr>
        <p:spPr>
          <a:xfrm>
            <a:off x="6217920" y="1353312"/>
            <a:ext cx="5394960" cy="1691640"/>
          </a:xfrm>
          <a:prstGeom prst="rect">
            <a:avLst/>
          </a:prstGeom>
          <a:solidFill>
            <a:srgbClr val="E6EFEC"/>
          </a:solidFill>
          <a:ln w="12700">
            <a:solidFill>
              <a:srgbClr val="E6EFEC"/>
            </a:solidFill>
            <a:prstDash val="solid"/>
          </a:ln>
        </p:spPr>
      </p:sp>
      <p:sp>
        <p:nvSpPr>
          <p:cNvPr id="11" name="Text 8"/>
          <p:cNvSpPr/>
          <p:nvPr/>
        </p:nvSpPr>
        <p:spPr>
          <a:xfrm>
            <a:off x="6419088" y="1499616"/>
            <a:ext cx="4992624" cy="320040"/>
          </a:xfrm>
          <a:prstGeom prst="rect">
            <a:avLst/>
          </a:prstGeom>
          <a:noFill/>
          <a:ln/>
        </p:spPr>
        <p:txBody>
          <a:bodyPr wrap="square" lIns="0" tIns="0" rIns="0" bIns="0" rtlCol="0" anchor="t"/>
          <a:lstStyle/>
          <a:p>
            <a:pPr indent="0" marL="0">
              <a:buNone/>
            </a:pPr>
            <a:r>
              <a:rPr lang="en-US" sz="1400" dirty="0">
                <a:solidFill>
                  <a:srgbClr val="213B45"/>
                </a:solidFill>
              </a:rPr>
              <a:t>同日现金减固定本金未来到期价</a:t>
            </a:r>
            <a:endParaRPr lang="en-US" sz="1400" dirty="0"/>
          </a:p>
        </p:txBody>
      </p:sp>
      <p:sp>
        <p:nvSpPr>
          <p:cNvPr id="12" name="Text 9"/>
          <p:cNvSpPr/>
          <p:nvPr/>
        </p:nvSpPr>
        <p:spPr>
          <a:xfrm>
            <a:off x="6419088" y="1920240"/>
            <a:ext cx="4992624" cy="530352"/>
          </a:xfrm>
          <a:prstGeom prst="rect">
            <a:avLst/>
          </a:prstGeom>
          <a:noFill/>
          <a:ln/>
        </p:spPr>
        <p:txBody>
          <a:bodyPr wrap="square" lIns="0" tIns="0" rIns="0" bIns="0" rtlCol="0" anchor="t"/>
          <a:lstStyle/>
          <a:p>
            <a:pPr indent="0" marL="0">
              <a:buNone/>
            </a:pPr>
            <a:r>
              <a:rPr lang="en-US" sz="2500" b="1" dirty="0">
                <a:solidFill>
                  <a:srgbClr val="A34638"/>
                </a:solidFill>
              </a:rPr>
              <a:t>-12.24 亿元人民币</a:t>
            </a:r>
            <a:endParaRPr lang="en-US" sz="2500" dirty="0"/>
          </a:p>
        </p:txBody>
      </p:sp>
      <p:sp>
        <p:nvSpPr>
          <p:cNvPr id="13" name="Text 10"/>
          <p:cNvSpPr/>
          <p:nvPr/>
        </p:nvSpPr>
        <p:spPr>
          <a:xfrm>
            <a:off x="6419088" y="2505456"/>
            <a:ext cx="4992624" cy="393192"/>
          </a:xfrm>
          <a:prstGeom prst="rect">
            <a:avLst/>
          </a:prstGeom>
          <a:noFill/>
          <a:ln/>
        </p:spPr>
        <p:txBody>
          <a:bodyPr wrap="square" lIns="0" tIns="0" rIns="0" bIns="0" rtlCol="0" anchor="t"/>
          <a:lstStyle/>
          <a:p>
            <a:pPr indent="0" marL="0">
              <a:buNone/>
            </a:pPr>
            <a:r>
              <a:rPr lang="en-US" sz="1200" dirty="0">
                <a:solidFill>
                  <a:srgbClr val="213B45"/>
                </a:solidFill>
              </a:rPr>
              <a:t>静态比较，不是本年已到期缺口</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419856"/>
          <a:ext cx="11064240" cy="914400"/>
        </p:xfrm>
        <a:graphic>
          <a:graphicData uri="http://schemas.openxmlformats.org/drawingml/2006/table">
            <a:tbl>
              <a:tblPr/>
              <a:tblGrid>
                <a:gridCol w="3383280"/>
                <a:gridCol w="1920240"/>
                <a:gridCol w="1920240"/>
                <a:gridCol w="1920240"/>
                <a:gridCol w="1920240"/>
              </a:tblGrid>
              <a:tr h="438912">
                <a:tc>
                  <a:txBody>
                    <a:bodyPr/>
                    <a:lstStyle/>
                    <a:p>
                      <a:pPr indent="0" marL="0">
                        <a:buNone/>
                      </a:pPr>
                      <a:r>
                        <a:rPr lang="en-US" sz="1500" dirty="0">
                          <a:solidFill>
                            <a:srgbClr val="213B45"/>
                          </a:solidFill>
                        </a:rPr>
                        <a:t>固定一季末面值情景</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2026支付</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2027支付</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2028支付</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2029支付</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合同现金需求（亿元）</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0.2198</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0.3297</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0.3956</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25.2749</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bl>
          </a:graphicData>
        </a:graphic>
      </p:graphicFrame>
      <p:sp>
        <p:nvSpPr>
          <p:cNvPr id="15" name="Text 11"/>
          <p:cNvSpPr/>
          <p:nvPr/>
        </p:nvSpPr>
        <p:spPr>
          <a:xfrm>
            <a:off x="548640" y="4800600"/>
            <a:ext cx="11064240" cy="822960"/>
          </a:xfrm>
          <a:prstGeom prst="rect">
            <a:avLst/>
          </a:prstGeom>
          <a:noFill/>
          <a:ln/>
        </p:spPr>
        <p:txBody>
          <a:bodyPr wrap="square" lIns="0" tIns="0" rIns="0" bIns="0" rtlCol="0" anchor="t"/>
          <a:lstStyle/>
          <a:p>
            <a:pPr indent="0" marL="0">
              <a:buNone/>
            </a:pPr>
            <a:r>
              <a:rPr lang="en-US" sz="1900" dirty="0">
                <a:solidFill>
                  <a:srgbClr val="213B45"/>
                </a:solidFill>
              </a:rPr>
              <a:t>到期价已含末期利息，不再加末息。未来转股尚未发生，不提前免除本金。母公司上划须核对子公司自身资金、可分配金额、法律决策及到账路径。</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213B45"/>
                </a:solidFill>
              </a:rPr>
              <a:t>会计与合同疑点保留原值，不倒挤为零</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5C6C71"/>
                </a:solidFill>
              </a:rPr>
              <a:t>科顺股份及科顺转债｜信息截止 2026-06-30｜条件性公开研究｜9</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5C6C71"/>
                </a:solidFill>
              </a:rPr>
              <a:t>底稿记录：ks_a_e_ar / ks_a_e_fixed / ks_d_n_covenant / ks_r_bond_bucket_finding；原页、公式及完整限制见报告和Excel。</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7863840"/>
                <a:gridCol w="3200400"/>
              </a:tblGrid>
              <a:tr h="438912">
                <a:tc>
                  <a:txBody>
                    <a:bodyPr/>
                    <a:lstStyle/>
                    <a:p>
                      <a:pPr indent="0" marL="0">
                        <a:buNone/>
                      </a:pPr>
                      <a:r>
                        <a:rPr lang="en-US" sz="1500" dirty="0">
                          <a:solidFill>
                            <a:srgbClr val="213B45"/>
                          </a:solidFill>
                        </a:rPr>
                        <a:t>需解释的原表勾稽</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精确残差：人民币元</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应收准备滚动</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62,431.64</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213B45"/>
                          </a:solidFill>
                        </a:rPr>
                        <a:t>滁州CIP原表未闭合</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500" dirty="0">
                          <a:solidFill>
                            <a:srgbClr val="213B45"/>
                          </a:solidFill>
                        </a:rPr>
                        <a:t>12,852,572.76</a:t>
                      </a:r>
                      <a:endParaRPr lang="en-US" sz="15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300984"/>
            <a:ext cx="11064240" cy="914400"/>
          </a:xfrm>
          <a:prstGeom prst="rect">
            <a:avLst/>
          </a:prstGeom>
          <a:noFill/>
          <a:ln/>
        </p:spPr>
        <p:txBody>
          <a:bodyPr wrap="square" lIns="0" tIns="0" rIns="0" bIns="0" rtlCol="0" anchor="t"/>
          <a:lstStyle/>
          <a:p>
            <a:pPr indent="0" marL="0">
              <a:buNone/>
            </a:pPr>
            <a:r>
              <a:rPr lang="en-US" sz="2100" dirty="0">
                <a:solidFill>
                  <a:srgbClr val="213B45"/>
                </a:solidFill>
              </a:rPr>
              <a:t>两项滚动差异均回看原页后保留；另有债券期限表与固定本金合同时间轴的差额。均需解释，不能擅改原符号或直接推断整体报表失实。</a:t>
            </a:r>
            <a:endParaRPr lang="en-US" sz="2100" dirty="0"/>
          </a:p>
        </p:txBody>
      </p:sp>
      <p:sp>
        <p:nvSpPr>
          <p:cNvPr id="8" name="Text 4"/>
          <p:cNvSpPr/>
          <p:nvPr/>
        </p:nvSpPr>
        <p:spPr>
          <a:xfrm>
            <a:off x="548640" y="4517136"/>
            <a:ext cx="11064240" cy="960120"/>
          </a:xfrm>
          <a:prstGeom prst="rect">
            <a:avLst/>
          </a:prstGeom>
          <a:noFill/>
          <a:ln/>
        </p:spPr>
        <p:txBody>
          <a:bodyPr wrap="square" lIns="0" tIns="0" rIns="0" bIns="0" rtlCol="0" anchor="t"/>
          <a:lstStyle/>
          <a:p>
            <a:pPr indent="0" marL="0">
              <a:buNone/>
            </a:pPr>
            <a:r>
              <a:rPr lang="en-US" sz="2000" dirty="0">
                <a:solidFill>
                  <a:srgbClr val="A34638"/>
                </a:solidFill>
              </a:rPr>
              <a:t>债券账面余额/净资产 57.09% 与持续承诺存在待解释关系。发行条件、持续承诺、会议触发和实际加速后果分别核验，不能直接认定已违约或已获豁免。</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3B45"/>
        </a:solidFill>
      </p:bgPr>
    </p:bg>
    <p:spTree>
      <p:nvGrpSpPr>
        <p:cNvPr id="1" name=""/>
        <p:cNvGrpSpPr/>
        <p:nvPr/>
      </p:nvGrpSpPr>
      <p:grpSpPr>
        <a:xfrm>
          <a:off x="0" y="0"/>
          <a:ext cx="0" cy="0"/>
          <a:chOff x="0" y="0"/>
          <a:chExt cx="0" cy="0"/>
        </a:xfrm>
      </p:grpSpPr>
      <p:sp>
        <p:nvSpPr>
          <p:cNvPr id="2" name="Text 0"/>
          <p:cNvSpPr/>
          <p:nvPr/>
        </p:nvSpPr>
        <p:spPr>
          <a:xfrm>
            <a:off x="548640" y="384048"/>
            <a:ext cx="11064240" cy="594360"/>
          </a:xfrm>
          <a:prstGeom prst="rect">
            <a:avLst/>
          </a:prstGeom>
          <a:noFill/>
          <a:ln/>
        </p:spPr>
        <p:txBody>
          <a:bodyPr wrap="square" lIns="0" tIns="0" rIns="0" bIns="0" rtlCol="0" anchor="t"/>
          <a:lstStyle/>
          <a:p>
            <a:pPr indent="0" marL="0">
              <a:buNone/>
            </a:pPr>
            <a:r>
              <a:rPr lang="en-US" sz="3000" b="1" dirty="0">
                <a:solidFill>
                  <a:srgbClr val="FFFFFF"/>
                </a:solidFill>
              </a:rPr>
              <a:t>跟踪应改变决定，而不只是更新比率</a:t>
            </a:r>
            <a:endParaRPr lang="en-US" sz="3000" dirty="0"/>
          </a:p>
        </p:txBody>
      </p:sp>
      <p:sp>
        <p:nvSpPr>
          <p:cNvPr id="3" name="Text 1"/>
          <p:cNvSpPr/>
          <p:nvPr/>
        </p:nvSpPr>
        <p:spPr>
          <a:xfrm>
            <a:off x="548640" y="6419088"/>
            <a:ext cx="11064240" cy="201168"/>
          </a:xfrm>
          <a:prstGeom prst="rect">
            <a:avLst/>
          </a:prstGeom>
          <a:noFill/>
          <a:ln/>
        </p:spPr>
        <p:txBody>
          <a:bodyPr wrap="square" lIns="0" tIns="0" rIns="0" bIns="0" rtlCol="0" anchor="t"/>
          <a:lstStyle/>
          <a:p>
            <a:pPr indent="0" marL="0">
              <a:buNone/>
            </a:pPr>
            <a:r>
              <a:rPr lang="en-US" sz="900" dirty="0">
                <a:solidFill>
                  <a:srgbClr val="BCD2CE"/>
                </a:solidFill>
              </a:rPr>
              <a:t>科顺股份及科顺转债｜信息截止 2026-06-30｜条件性公开研究｜10</a:t>
            </a:r>
            <a:endParaRPr lang="en-US" sz="900" dirty="0"/>
          </a:p>
        </p:txBody>
      </p:sp>
      <p:sp>
        <p:nvSpPr>
          <p:cNvPr id="4" name="Text 2"/>
          <p:cNvSpPr/>
          <p:nvPr/>
        </p:nvSpPr>
        <p:spPr>
          <a:xfrm>
            <a:off x="548640" y="5961888"/>
            <a:ext cx="11064240" cy="320040"/>
          </a:xfrm>
          <a:prstGeom prst="rect">
            <a:avLst/>
          </a:prstGeom>
          <a:noFill/>
          <a:ln/>
        </p:spPr>
        <p:txBody>
          <a:bodyPr wrap="square" lIns="0" tIns="0" rIns="0" bIns="0" rtlCol="0" anchor="t"/>
          <a:lstStyle/>
          <a:p>
            <a:pPr indent="0" marL="0">
              <a:buNone/>
            </a:pPr>
            <a:r>
              <a:rPr lang="en-US" sz="1000" dirty="0">
                <a:solidFill>
                  <a:srgbClr val="BCD2CE"/>
                </a:solidFill>
              </a:rPr>
              <a:t>底稿记录：ks_r_followup / ks_r_rating_chain；原页、公式及完整限制见报告和Excel。</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840480"/>
                <a:gridCol w="2011680"/>
                <a:gridCol w="5212080"/>
              </a:tblGrid>
              <a:tr h="438912">
                <a:tc>
                  <a:txBody>
                    <a:bodyPr/>
                    <a:lstStyle/>
                    <a:p>
                      <a:pPr indent="0" marL="0">
                        <a:buNone/>
                      </a:pPr>
                      <a:r>
                        <a:rPr lang="en-US" sz="1700" dirty="0">
                          <a:solidFill>
                            <a:srgbClr val="213B45"/>
                          </a:solidFill>
                        </a:rPr>
                        <a:t>重算后成立的条件</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条件建议</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行动边界</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213B45"/>
                          </a:solidFill>
                        </a:rPr>
                        <a:t>D/F4</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BB+</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其他调整、支持及付款条件不变</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213B45"/>
                          </a:solidFill>
                        </a:rPr>
                        <a:t>C/F5</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BBB-</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其他调整、支持及付款条件不变</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213B45"/>
                          </a:solidFill>
                        </a:rPr>
                        <a:t>D/F5</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BB</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其他调整、支持及付款条件不变</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r h="438912">
                <a:tc>
                  <a:txBody>
                    <a:bodyPr/>
                    <a:lstStyle/>
                    <a:p>
                      <a:pPr indent="0" marL="0">
                        <a:buNone/>
                      </a:pPr>
                      <a:r>
                        <a:rPr lang="en-US" sz="1700" dirty="0">
                          <a:solidFill>
                            <a:srgbClr val="213B45"/>
                          </a:solidFill>
                        </a:rPr>
                        <a:t>证实近期无法按约付款</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退出常态矩阵</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700" dirty="0">
                          <a:solidFill>
                            <a:srgbClr val="213B45"/>
                          </a:solidFill>
                        </a:rPr>
                        <a:t>确认合同事件并立即重新定级</a:t>
                      </a:r>
                      <a:endParaRPr lang="en-US" sz="1700" dirty="0"/>
                    </a:p>
                  </a:txBody>
                  <a:tcPr marL="109728" marR="109728" marT="109728" marB="109728">
                    <a:lnL w="6350" cap="flat" cmpd="sng" algn="ctr">
                      <a:solidFill>
                        <a:srgbClr val="D5DEDA"/>
                      </a:solidFill>
                      <a:prstDash val="solid"/>
                      <a:round/>
                      <a:headEnd type="none" w="med" len="med"/>
                      <a:tailEnd type="none" w="med" len="med"/>
                    </a:lnL>
                    <a:lnR w="6350" cap="flat" cmpd="sng" algn="ctr">
                      <a:solidFill>
                        <a:srgbClr val="D5DEDA"/>
                      </a:solidFill>
                      <a:prstDash val="solid"/>
                      <a:round/>
                      <a:headEnd type="none" w="med" len="med"/>
                      <a:tailEnd type="none" w="med" len="med"/>
                    </a:lnR>
                    <a:lnT w="6350" cap="flat" cmpd="sng" algn="ctr">
                      <a:solidFill>
                        <a:srgbClr val="D5DEDA"/>
                      </a:solidFill>
                      <a:prstDash val="solid"/>
                      <a:round/>
                      <a:headEnd type="none" w="med" len="med"/>
                      <a:tailEnd type="none" w="med" len="med"/>
                    </a:lnT>
                    <a:lnB w="6350" cap="flat" cmpd="sng" algn="ctr">
                      <a:solidFill>
                        <a:srgbClr val="D5DEDA"/>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4251960"/>
            <a:ext cx="11064240" cy="1115568"/>
          </a:xfrm>
          <a:prstGeom prst="rect">
            <a:avLst/>
          </a:prstGeom>
          <a:noFill/>
          <a:ln/>
        </p:spPr>
        <p:txBody>
          <a:bodyPr wrap="square" lIns="0" tIns="0" rIns="0" bIns="0" rtlCol="0" anchor="t"/>
          <a:lstStyle/>
          <a:p>
            <a:pPr indent="0" marL="0">
              <a:buNone/>
            </a:pPr>
            <a:r>
              <a:rPr lang="en-US" sz="2100" dirty="0">
                <a:solidFill>
                  <a:srgbClr val="FFFFFF"/>
                </a:solidFill>
              </a:rPr>
              <a:t>先取得实际银行现金与用途对账、母公司付款日、持续承诺后果和可执行融资；再更新回款、亏损、订单及完整重述。改善必须由完整期间和后续证据支持，不能仅靠区间选高分升级。</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科顺股份与科顺转债：年报及信用研究｜研究汇报</dc:title>
  <dc:subject>截至2026-06-30的境内相对信用研究：基准建议主体及科顺转债BBB+、负面展望；明确实际付款、资金用途和承诺待核条件。</dc:subject>
  <dc:creator>annual-report-analysis</dc:creator>
  <cp:lastModifiedBy>annual-report-analysis</cp:lastModifiedBy>
  <cp:revision>1</cp:revision>
  <dcterms:created xsi:type="dcterms:W3CDTF">2026-10-03T10:34:17Z</dcterms:created>
  <dcterms:modified xsi:type="dcterms:W3CDTF">2026-10-03T10:34:17Z</dcterms:modified>
</cp:coreProperties>
</file>