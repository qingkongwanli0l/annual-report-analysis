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Lst>
  <p:notesMasterIdLst>
    <p:notesMasterId r:id="rId3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notesMaster" Target="notesMasters/notesMaster1.xml"/><Relationship Id="rId303" Type="http://schemas.openxmlformats.org/officeDocument/2006/relationships/presProps" Target="presProps.xml"/><Relationship Id="rId304" Type="http://schemas.openxmlformats.org/officeDocument/2006/relationships/viewProps" Target="viewProps.xml"/><Relationship Id="rId305" Type="http://schemas.openxmlformats.org/officeDocument/2006/relationships/theme" Target="theme/theme1.xml"/><Relationship Id="rId3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2025年报PDF第1—92、97—245页完成文本阅读；第93—96页未读未用。视觉复核选页另见覆盖证据，不声称全文视觉审阅。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来源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Counterevidence: ks_a_e_q1[ks_r_e_definitions] 2026科顺跟踪报告的方法适用性与通用等级定义页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Counterevidence: ks_a_e_q1[ks_r_e_definitions] 2026科顺跟踪报告的方法适用性与通用等级定义页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Counterevidence: ks_a_e_q1[ks_r_e_definitions] 2026科顺跟踪报告的方法适用性与通用等级定义页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经营利润、非现金重估、债务重组、税务利益与现金各不相同。会计EBITDA加入折旧及利息但保留资产质量成本，不以减值前利润替代可持续现金。
集中确认历史客户损失可使当期亏损高于近期经营现金消耗，但损失对应的现金不可回收并不会因非现金性质消失。
非经常重估或补偿收益可能短期抵销主营亏损，必须观察对应资产变现和后续冲回。
Evidence: ks_a_e_is, ks_a_e_revenue, ks_a_e_debtassets, ks_a_ebitda_2025, ks_a_perf_fv_2024
Counterevidence: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经营利润、非现金重估、债务重组、税务利益与现金各不相同。会计EBITDA加入折旧及利息但保留资产质量成本，不以减值前利润替代可持续现金。
集中确认历史客户损失可使当期亏损高于近期经营现金消耗，但损失对应的现金不可回收并不会因非现金性质消失。
非经常重估或补偿收益可能短期抵销主营亏损，必须观察对应资产变现和后续冲回。
Evidence: ks_a_e_is, ks_a_e_revenue, ks_a_e_debtassets, ks_a_ebitda_2025, ks_a_perf_fv_2024
Counterevidence: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税务资产是否能直接支持偿债？
未来盈利需按纳税主体、适用税率、亏损到期及可利用差异验证；现有未确认亏损并不能证明已确认部分无风险。
亏损和减值形成可抵扣差异不一定失效，盈利子公司未来应税利润可能支持部分回收。
合并层面的预计盈利不能自动抵销各纳税主体亏损或延长亏损结转期限。
Evidence: ks_a_e_tax, ks_a_taxroll, ks_a_dta_equity
Counterevidence: [ks_a_e_tax] 科顺防水科技股份有限公司2025年年度报告 | 第160—162、188—190、205—206页，税收优惠、递延税、所得税桥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税务资产是否能直接支持偿债？
未来盈利需按纳税主体、适用税率、亏损到期及可利用差异验证；现有未确认亏损并不能证明已确认部分无风险。
亏损和减值形成可抵扣差异不一定失效，盈利子公司未来应税利润可能支持部分回收。
合并层面的预计盈利不能自动抵销各纳税主体亏损或延长亏损结转期限。
Evidence: ks_a_e_tax, ks_a_taxroll, ks_a_dta_equity
Counterevidence: [ks_a_e_tax] 科顺防水科技股份有限公司2025年年度报告 | 第160—162、188—190、205—206页，税收优惠、递延税、所得税桥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Counterevidence: [ks_a_e_cf]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Counterevidence: [ks_a_e_cf]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诉讼/质保支出和经销商代偿可能与客户弱化同时出现；控制人保证、持股及银行未用授信不等于无条件现金支持。
经销商保证有反担保并不消除共同下行时的代偿压力；反担保资产可实现价值须单独核验。
集团内保证对应已并表债务时主要改变追索和现金所在法人，并非额外一份合并本金。
Evidence: ks_a_e_related, ks_a_e_liabs, ks_a_e_governance, ks_a_e_maturity
Counterevidence: [ks_a_e_related] 科顺防水科技股份有限公司2025年年度报告 | 第222—228页及第79—84页，关联方、保证、募集金及承诺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诉讼/质保支出和经销商代偿可能与客户弱化同时出现；控制人保证、持股及银行未用授信不等于无条件现金支持。
经销商保证有反担保并不消除共同下行时的代偿压力；反担保资产可实现价值须单独核验。
集团内保证对应已并表债务时主要改变追索和现金所在法人，并非额外一份合并本金。
Evidence: ks_a_e_related, ks_a_e_liabs, ks_a_e_governance, ks_a_e_maturity
Counterevidence: [ks_a_e_related] 科顺防水科技股份有限公司2025年年度报告 | 第222—228页及第79—84页，关联方、保证、募集金及承诺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税务资产是否能直接支持偿债？ 所需资料用于检验该判断的金额、期限或执行依据。
Close when: 按主体税率、优惠期限和亏损到期核验盈利预测，若不足覆盖转回则降低DTA及权益。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表外及或有负担是否被财务比率遗漏？ 所需资料用于检验该判断的金额、期限或执行依据。
Close when: 取得债权人、被担保人、已提款余额、追索顺位、反担保资产及触发事件后，按同一经济义务去重并重算或有现金和回收。ks_a_req_proceeds: 年末余额与期后归还续作能否衔接？ 所需资料用于检验该判断的金额、期限或执行依据。
Close when: 以截止日实际占用和用途流水确认应恢复额度、时间及项目需求，并验证混用问题整改执行；已公开的旧轮归还时点不再重复请求。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现有最新已取得实际面值是 21.98 亿元人民币，其原始时点为一季度末，不能改写为六月末。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 关于与专业投资机构共同投资设立产业并购基金暨关联交易的公告 | PDF1–2、6–11
https://static.cninfo.com.cn/finalpage/2025-07-23/1224269220.PDF
[ks_b_e_fund_control]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2026科顺跟踪报告的方法适用性与通用等级定义页 | PDF23附件4-1至4-4；方法适用性PDF6、8
https://www.lhratings.com/reports/B010330-P61284-2021-GZ2026.pdf
[ks_horizon_e_h125]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[ks_horizon_e_q125] 科顺股份2025年第一季度报告 | PDF1页追溯选择；10–12页合并现金流量表本期列；与2026Q1 PDF10–12页上期列逐项核对
https://static.cninfo.com.cn/finalpage/2025-04-25/1223275050.PDF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2200" dirty="0">
                <a:solidFill>
                  <a:srgbClr val="FFFFFF"/>
                </a:solidFill>
              </a:rPr>
              <a:t>截至2026-06-30的境内相对信用研究：基准建议主体及科顺转债BBB+</a:t>
            </a:r>
            <a:endParaRPr lang="en-US" sz="2200" dirty="0"/>
          </a:p>
          <a:p>
            <a:pPr indent="0" marL="0">
              <a:lnSpc>
                <a:spcPct val="100000"/>
              </a:lnSpc>
              <a:buNone/>
            </a:pPr>
            <a:r>
              <a:rPr lang="en-US" sz="2200" dirty="0">
                <a:solidFill>
                  <a:srgbClr val="FFFFFF"/>
                </a:solidFill>
              </a:rPr>
              <a:t>、负面展望；明确实际付款、资金用途和承诺待核条件。 现金季节锚的同控版本及</a:t>
            </a:r>
            <a:endParaRPr lang="en-US" sz="2200" dirty="0"/>
          </a:p>
          <a:p>
            <a:pPr indent="0" marL="0">
              <a:lnSpc>
                <a:spcPct val="100000"/>
              </a:lnSpc>
              <a:buNone/>
            </a:pPr>
            <a:r>
              <a:rPr lang="en-US" sz="2200" dirty="0">
                <a:solidFill>
                  <a:srgbClr val="FFFFFF"/>
                </a:solidFill>
              </a:rPr>
              <a:t>持续范围桥未闭合，代理数字只作明示零调整条件参照，不能证明付款覆盖。</a:t>
            </a:r>
            <a:endParaRPr lang="en-US" sz="22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2025年报PDF第1—92、97—245页完成文本阅读；第93—96页未读未用。视觉复核选页另见覆盖</a:t>
            </a:r>
            <a:endParaRPr lang="en-US" sz="1600" dirty="0"/>
          </a:p>
          <a:p>
            <a:pPr indent="0" marL="0">
              <a:lnSpc>
                <a:spcPct val="100000"/>
              </a:lnSpc>
              <a:buNone/>
            </a:pPr>
            <a:r>
              <a:rPr lang="en-US" sz="1600" dirty="0">
                <a:solidFill>
                  <a:srgbClr val="1F2933"/>
                </a:solidFill>
              </a:rPr>
              <a:t>证据，不声称全文视觉审阅。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ks_r_issue 的正式公布日期未核验；不得据此证明在信息截止日前已公开。当前披露内容可以</a:t>
            </a:r>
            <a:endParaRPr lang="en-US" sz="1600" dirty="0"/>
          </a:p>
          <a:p>
            <a:pPr indent="0" marL="0">
              <a:lnSpc>
                <a:spcPct val="100000"/>
              </a:lnSpc>
              <a:buNone/>
            </a:pPr>
            <a:r>
              <a:rPr lang="en-US" sz="1600" dirty="0">
                <a:solidFill>
                  <a:srgbClr val="1F2933"/>
                </a:solidFill>
              </a:rPr>
              <a:t>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=0条件参照。以信息截止日的公开证据和明示判断，基准建议</a:t>
            </a:r>
            <a:endParaRPr lang="en-US" sz="1800" dirty="0"/>
          </a:p>
          <a:p>
            <a:pPr indent="0" marL="0">
              <a:lnSpc>
                <a:spcPct val="100000"/>
              </a:lnSpc>
              <a:buNone/>
            </a:pPr>
            <a:r>
              <a:rPr lang="en-US" sz="1800" dirty="0">
                <a:solidFill>
                  <a:srgbClr val="1F2933"/>
                </a:solidFill>
              </a:rPr>
              <a:t>主体及科顺转债为BBB+、负面展望。经营C、财务F4的指示</a:t>
            </a:r>
            <a:endParaRPr lang="en-US" sz="1800" dirty="0"/>
          </a:p>
          <a:p>
            <a:pPr indent="0" marL="0">
              <a:lnSpc>
                <a:spcPct val="100000"/>
              </a:lnSpc>
              <a:buNone/>
            </a:pPr>
            <a:r>
              <a:rPr lang="en-US" sz="1800" dirty="0">
                <a:solidFill>
                  <a:srgbClr val="1F2933"/>
                </a:solidFill>
              </a:rPr>
              <a:t>单元格为a-/bbb+，选择bbb+；不计可证实的额外支持</a:t>
            </a:r>
            <a:endParaRPr lang="en-US" sz="1800" dirty="0"/>
          </a:p>
          <a:p>
            <a:pPr indent="0" marL="0">
              <a:lnSpc>
                <a:spcPct val="100000"/>
              </a:lnSpc>
              <a:buNone/>
            </a:pPr>
            <a:r>
              <a:rPr lang="en-US" sz="1800" dirty="0">
                <a:solidFill>
                  <a:srgbClr val="1F2933"/>
                </a:solidFill>
              </a:rPr>
              <a:t>增益，普通无担保直接债项暂同级。建议以常态融资渠道仍运行、</a:t>
            </a:r>
            <a:endParaRPr lang="en-US" sz="1800" dirty="0"/>
          </a:p>
          <a:p>
            <a:pPr indent="0" marL="0">
              <a:lnSpc>
                <a:spcPct val="100000"/>
              </a:lnSpc>
              <a:buNone/>
            </a:pPr>
            <a:r>
              <a:rPr lang="en-US" sz="1800" dirty="0">
                <a:solidFill>
                  <a:srgbClr val="1F2933"/>
                </a:solidFill>
              </a:rPr>
              <a:t>未证实到期不支付，且实际付款日前资金与用途安排足以覆盖为</a:t>
            </a:r>
            <a:endParaRPr lang="en-US" sz="1800" dirty="0"/>
          </a:p>
          <a:p>
            <a:pPr indent="0" marL="0">
              <a:lnSpc>
                <a:spcPct val="100000"/>
              </a:lnSpc>
              <a:buNone/>
            </a:pPr>
            <a:r>
              <a:rPr lang="en-US" sz="1800" dirty="0">
                <a:solidFill>
                  <a:srgbClr val="1F2933"/>
                </a:solidFill>
              </a:rPr>
              <a:t>条件。母公司可调度资金和持续承诺后果未核实，不能作为无条件</a:t>
            </a:r>
            <a:endParaRPr lang="en-US" sz="1800" dirty="0"/>
          </a:p>
          <a:p>
            <a:pPr indent="0" marL="0">
              <a:lnSpc>
                <a:spcPct val="100000"/>
              </a:lnSpc>
              <a:buNone/>
            </a:pPr>
            <a:r>
              <a:rPr lang="en-US" sz="1800" dirty="0">
                <a:solidFill>
                  <a:srgbClr val="1F2933"/>
                </a:solidFill>
              </a:rPr>
              <a:t>正式评级发布。</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环境3.25 分、自身竞争力3.78 分。年度同定义指标先</a:t>
            </a:r>
            <a:endParaRPr lang="en-US" sz="1800" dirty="0"/>
          </a:p>
          <a:p>
            <a:pPr indent="0" marL="0">
              <a:lnSpc>
                <a:spcPct val="100000"/>
              </a:lnSpc>
              <a:buNone/>
            </a:pPr>
            <a:r>
              <a:rPr lang="en-US" sz="1800" dirty="0">
                <a:solidFill>
                  <a:srgbClr val="1F2933"/>
                </a:solidFill>
              </a:rPr>
              <a:t>30/70加权后分档的财务代表值3.74 分落F4；先权</a:t>
            </a:r>
            <a:endParaRPr lang="en-US" sz="1800" dirty="0"/>
          </a:p>
          <a:p>
            <a:pPr indent="0" marL="0">
              <a:lnSpc>
                <a:spcPct val="100000"/>
              </a:lnSpc>
              <a:buNone/>
            </a:pPr>
            <a:r>
              <a:rPr lang="en-US" sz="1800" dirty="0">
                <a:solidFill>
                  <a:srgbClr val="1F2933"/>
                </a:solidFill>
              </a:rPr>
              <a:t>会计金额得3.74 分，本案档位相同。固定现有定性判断，</a:t>
            </a:r>
            <a:endParaRPr lang="en-US" sz="1800" dirty="0"/>
          </a:p>
          <a:p>
            <a:pPr indent="0" marL="0">
              <a:lnSpc>
                <a:spcPct val="100000"/>
              </a:lnSpc>
              <a:buNone/>
            </a:pPr>
            <a:r>
              <a:rPr lang="en-US" sz="1800" dirty="0">
                <a:solidFill>
                  <a:srgbClr val="1F2933"/>
                </a:solidFill>
              </a:rPr>
              <a:t>量化档内合成范围从3.46 分（含）至4.01 分（不含）</a:t>
            </a:r>
            <a:endParaRPr lang="en-US" sz="1800" dirty="0"/>
          </a:p>
          <a:p>
            <a:pPr indent="0" marL="0">
              <a:lnSpc>
                <a:spcPct val="100000"/>
              </a:lnSpc>
              <a:buNone/>
            </a:pPr>
            <a:r>
              <a:rPr lang="en-US" sz="1800" dirty="0">
                <a:solidFill>
                  <a:srgbClr val="1F2933"/>
                </a:solidFill>
              </a:rPr>
              <a:t>，跨F5/F4，不能声称BBB+是唯一可推结果。C/F4选</a:t>
            </a:r>
            <a:endParaRPr lang="en-US" sz="1800" dirty="0"/>
          </a:p>
          <a:p>
            <a:pPr indent="0" marL="0">
              <a:lnSpc>
                <a:spcPct val="100000"/>
              </a:lnSpc>
              <a:buNone/>
            </a:pPr>
            <a:r>
              <a:rPr lang="en-US" sz="1800" dirty="0">
                <a:solidFill>
                  <a:srgbClr val="1F2933"/>
                </a:solidFill>
              </a:rPr>
              <a:t>较弱端基于最新负EBITDA、母公司负经营现金、第四季回款</a:t>
            </a:r>
            <a:endParaRPr lang="en-US" sz="1800" dirty="0"/>
          </a:p>
          <a:p>
            <a:pPr indent="0" marL="0">
              <a:lnSpc>
                <a:spcPct val="100000"/>
              </a:lnSpc>
              <a:buNone/>
            </a:pPr>
            <a:r>
              <a:rPr lang="en-US" sz="1800" dirty="0">
                <a:solidFill>
                  <a:srgbClr val="1F2933"/>
                </a:solidFill>
              </a:rPr>
              <a:t>依赖及用途约束；已进基础因素的弱项不重复扣档。 一年资金</a:t>
            </a:r>
            <a:endParaRPr lang="en-US" sz="1800" dirty="0"/>
          </a:p>
          <a:p>
            <a:pPr indent="0" marL="0">
              <a:lnSpc>
                <a:spcPct val="100000"/>
              </a:lnSpc>
              <a:buNone/>
            </a:pPr>
            <a:r>
              <a:rPr lang="en-US" sz="1800" dirty="0">
                <a:solidFill>
                  <a:srgbClr val="1F2933"/>
                </a:solidFill>
              </a:rPr>
              <a:t>容量结果另见ks_horizon_find_horizon</a:t>
            </a:r>
            <a:endParaRPr lang="en-US" sz="1800" dirty="0"/>
          </a:p>
          <a:p>
            <a:pPr indent="0" marL="0">
              <a:lnSpc>
                <a:spcPct val="100000"/>
              </a:lnSpc>
              <a:buNone/>
            </a:pPr>
            <a:r>
              <a:rPr lang="en-US" sz="1800" dirty="0">
                <a:solidFill>
                  <a:srgbClr val="1F2933"/>
                </a:solidFill>
              </a:rPr>
              <a:t>：未核还本和用途参数不能填零，融资截距不等于已落实来源。若</a:t>
            </a:r>
            <a:endParaRPr lang="en-US" sz="1800" dirty="0"/>
          </a:p>
          <a:p>
            <a:pPr indent="0" marL="0">
              <a:lnSpc>
                <a:spcPct val="100000"/>
              </a:lnSpc>
              <a:buNone/>
            </a:pPr>
            <a:r>
              <a:rPr lang="en-US" sz="1800" dirty="0">
                <a:solidFill>
                  <a:srgbClr val="1F2933"/>
                </a:solidFill>
              </a:rPr>
              <a:t>付款日前所需发行人资源无法落实，建议的资金前提失效，须重新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定级。 现金容量还须完成H1/年报版本桥及持续经营范围校正</a:t>
            </a:r>
            <a:endParaRPr lang="en-US" sz="1800" dirty="0"/>
          </a:p>
          <a:p>
            <a:pPr indent="0" marL="0">
              <a:lnSpc>
                <a:spcPct val="100000"/>
              </a:lnSpc>
              <a:buNone/>
            </a:pPr>
            <a:r>
              <a:rPr lang="en-US" sz="1800" dirty="0">
                <a:solidFill>
                  <a:srgbClr val="1F2933"/>
                </a:solidFill>
              </a:rPr>
              <a:t>；原数字为Δ_H=Δ_A=0条件分支，不能充作已验证资金</a:t>
            </a:r>
            <a:endParaRPr lang="en-US" sz="1800" dirty="0"/>
          </a:p>
          <a:p>
            <a:pPr indent="0" marL="0">
              <a:lnSpc>
                <a:spcPct val="100000"/>
              </a:lnSpc>
              <a:buNone/>
            </a:pPr>
            <a:r>
              <a:rPr lang="en-US" sz="1800" dirty="0">
                <a:solidFill>
                  <a:srgbClr val="1F2933"/>
                </a:solidFill>
              </a:rPr>
              <a:t>覆盖或据此固定评级。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排除现金或合同限制。
反证
[ks_a_e_q1] 未经审计；Q1同比收入、盈利及经营
现金改善，但CFO仍负、信用损失增加；长短借款结构变化；缺
完整附注及权益变动表。
[ks_a_e_control] 审计师认为2025-12
-31所有重大方面财务报告内部控制有效，签发2026-04
-23；强调内控固有限制，不覆盖未来控制效果。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经营采购和票据结算在CFO内只扣一次；融资本金和现金利息另扣，未把非现金AP转借款再扣为现金</a:t>
            </a:r>
            <a:endParaRPr lang="en-US" sz="1800" dirty="0"/>
          </a:p>
          <a:p>
            <a:pPr indent="0" marL="0">
              <a:lnSpc>
                <a:spcPct val="100000"/>
              </a:lnSpc>
              <a:buNone/>
            </a:pPr>
            <a:r>
              <a:rPr lang="en-US" sz="1800" dirty="0">
                <a:solidFill>
                  <a:srgbClr val="1F2933"/>
                </a:solidFill>
              </a:rPr>
              <a:t>。募集金恢复用途是现金限制敏感性，不是新增外部债本金。负数后续行只显示未融资缺口，晚收款不能</a:t>
            </a:r>
            <a:endParaRPr lang="en-US" sz="1800" dirty="0"/>
          </a:p>
          <a:p>
            <a:pPr indent="0" marL="0">
              <a:lnSpc>
                <a:spcPct val="100000"/>
              </a:lnSpc>
              <a:buNone/>
            </a:pPr>
            <a:r>
              <a:rPr lang="en-US" sz="1800" dirty="0">
                <a:solidFill>
                  <a:srgbClr val="1F2933"/>
                </a:solidFill>
              </a:rPr>
              <a:t>抹去先前支付失败。 2027-01-09用途恢复另有静态事件桥；一年展望的季节性延伸见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增加；长短借款结构变化；缺完整附注及权益变动表。</a:t>
            </a:r>
            <a:endParaRPr lang="en-US" sz="1800" dirty="0"/>
          </a:p>
          <a:p>
            <a:pPr indent="0" marL="0">
              <a:lnSpc>
                <a:spcPct val="100000"/>
              </a:lnSpc>
              <a:buNone/>
            </a:pPr>
            <a:r>
              <a:rPr lang="en-US" sz="1800" dirty="0">
                <a:solidFill>
                  <a:srgbClr val="1F2933"/>
                </a:solidFill>
              </a:rPr>
              <a:t>[ks_a_e_maturity] 未使用授信、短期偿付期限及风险敞口；未折现现金流含经营性</a:t>
            </a:r>
            <a:endParaRPr lang="en-US" sz="1800" dirty="0"/>
          </a:p>
          <a:p>
            <a:pPr indent="0" marL="0">
              <a:lnSpc>
                <a:spcPct val="100000"/>
              </a:lnSpc>
              <a:buNone/>
            </a:pPr>
            <a:r>
              <a:rPr lang="en-US" sz="1800" dirty="0">
                <a:solidFill>
                  <a:srgbClr val="1F2933"/>
                </a:solidFill>
              </a:rPr>
              <a:t>负债，与会计账面有息债不等额。授信可提条件未核验。</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[ks_d_l_f_parent_investment_cash] 母公司取得投资收益现金：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5.21 亿元人民币</a:t>
            </a:r>
            <a:endParaRPr lang="en-US" sz="1800" dirty="0"/>
          </a:p>
          <a:p>
            <a:pPr indent="0" marL="0">
              <a:lnSpc>
                <a:spcPct val="100000"/>
              </a:lnSpc>
              <a:buNone/>
            </a:pPr>
            <a:r>
              <a:rPr lang="en-US" sz="1800" dirty="0">
                <a:solidFill>
                  <a:srgbClr val="1F2933"/>
                </a:solidFill>
              </a:rPr>
              <a:t>[ks_a_e_equity] 本年期初、综合收益、所有者投入、分配、专项储备及其他滚动；同</a:t>
            </a:r>
            <a:endParaRPr lang="en-US" sz="1800" dirty="0"/>
          </a:p>
          <a:p>
            <a:pPr indent="0" marL="0">
              <a:lnSpc>
                <a:spcPct val="100000"/>
              </a:lnSpc>
              <a:buNone/>
            </a:pPr>
            <a:r>
              <a:rPr lang="en-US" sz="1800" dirty="0">
                <a:solidFill>
                  <a:srgbClr val="1F2933"/>
                </a:solidFill>
              </a:rPr>
              <a:t>控对期初比较及资本公积的影响需分栏。</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[ks_a_e_related] 关联方提供保证不等于已承诺注资；经销商保证与对子公司保证</a:t>
            </a:r>
            <a:endParaRPr lang="en-US" sz="1800" dirty="0"/>
          </a:p>
          <a:p>
            <a:pPr indent="0" marL="0">
              <a:lnSpc>
                <a:spcPct val="100000"/>
              </a:lnSpc>
              <a:buNone/>
            </a:pPr>
            <a:r>
              <a:rPr lang="en-US" sz="1800" dirty="0">
                <a:solidFill>
                  <a:srgbClr val="1F2933"/>
                </a:solidFill>
              </a:rPr>
              <a:t>区分；2025同控收购向控制人付款。正文无重大关联交易不等于无任何关联交易。</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[ks_a_e_post] 拟分配现金股利为期后计划；单一经营分部并不表示不同产品/区域现金</a:t>
            </a:r>
            <a:endParaRPr lang="en-US" sz="1800" dirty="0"/>
          </a:p>
          <a:p>
            <a:pPr indent="0" marL="0">
              <a:lnSpc>
                <a:spcPct val="100000"/>
              </a:lnSpc>
              <a:buNone/>
            </a:pPr>
            <a:r>
              <a:rPr lang="en-US" sz="1800" dirty="0">
                <a:solidFill>
                  <a:srgbClr val="1F2933"/>
                </a:solidFill>
              </a:rPr>
              <a:t>风险一致；抵债资产后续变现需外部证据。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取得具体支持方独立偿债能力、合法决策、覆盖义务、付款触发及到账时间，再按同一支持方法重做提升</a:t>
            </a:r>
            <a:endParaRPr lang="en-US" sz="1800" dirty="0"/>
          </a:p>
          <a:p>
            <a:pPr indent="0" marL="0">
              <a:lnSpc>
                <a:spcPct val="100000"/>
              </a:lnSpc>
              <a:buNone/>
            </a:pPr>
            <a:r>
              <a:rPr lang="en-US" sz="1800" dirty="0">
                <a:solidFill>
                  <a:srgbClr val="1F2933"/>
                </a:solidFill>
              </a:rPr>
              <a:t>；不把普通授信或既有补助重新加成一档。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审计意见不保证无任何错报或未来偿债。</a:t>
            </a:r>
            <a:endParaRPr lang="en-US" sz="1800" dirty="0"/>
          </a:p>
          <a:p>
            <a:pPr indent="0" marL="0">
              <a:lnSpc>
                <a:spcPct val="100000"/>
              </a:lnSpc>
              <a:buNone/>
            </a:pPr>
            <a:r>
              <a:rPr lang="en-US" sz="1800" dirty="0">
                <a:solidFill>
                  <a:srgbClr val="1F2933"/>
                </a:solidFill>
              </a:rPr>
              <a:t>[ks_a_e_control] 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有效，签发2026-04-23；强调内控固有限制，不覆盖未来控制效果。</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
已到账融资；A_t、母公司付款预算、可上划子公司余额与上划限制未取得，均保留未知。已知
2025H1母公司现金10.87亿元只是历史快照。
解释与依据
集团G_t容量是外部融资需求的合并研究边界；子公司自身营运、债务、利润分配条件和监管/合同
限制使其不能自动上划。附加用途限制还可能改变CCE分类，不能由账面货币总额断言自由现金。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负面展望反映未来约一年中的行业需求、回收、用途约束与融资压力。经营D/F4对应BB+，C/</a:t>
            </a:r>
            <a:endParaRPr lang="en-US" sz="1800" dirty="0"/>
          </a:p>
          <a:p>
            <a:pPr indent="0" marL="0">
              <a:lnSpc>
                <a:spcPct val="100000"/>
              </a:lnSpc>
              <a:buNone/>
            </a:pPr>
            <a:r>
              <a:rPr lang="en-US" sz="1800" dirty="0">
                <a:solidFill>
                  <a:srgbClr val="1F2933"/>
                </a:solidFill>
              </a:rPr>
              <a:t>F5对应BBB-，D/F5对应BB；持续改善达到C/F3且资金及承诺问题解决时才讨论A分支。</a:t>
            </a:r>
            <a:endParaRPr lang="en-US" sz="1800" dirty="0"/>
          </a:p>
          <a:p>
            <a:pPr indent="0" marL="0">
              <a:lnSpc>
                <a:spcPct val="100000"/>
              </a:lnSpc>
              <a:buNone/>
            </a:pPr>
            <a:r>
              <a:rPr lang="en-US" sz="1800" dirty="0">
                <a:solidFill>
                  <a:srgbClr val="1F2933"/>
                </a:solidFill>
              </a:rPr>
              <a:t>当前固定定性判断的量化档内范围跨F5/F4，已显示下行择分敏感性；没有由本次区间上端支持F3</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跟踪先更新月度银行现金、实际用途占用、母公司到期表和持续承诺解释，再更新半年度/年度亏损、应</a:t>
            </a:r>
            <a:endParaRPr lang="en-US" sz="1800" dirty="0"/>
          </a:p>
          <a:p>
            <a:pPr indent="0" marL="0">
              <a:lnSpc>
                <a:spcPct val="100000"/>
              </a:lnSpc>
              <a:buNone/>
            </a:pPr>
            <a:r>
              <a:rPr lang="en-US" sz="1800" dirty="0">
                <a:solidFill>
                  <a:srgbClr val="1F2933"/>
                </a:solidFill>
              </a:rPr>
              <a:t>收回收、订单及融资。三年完整重述和更可靠预测会改变加权依据；对应结果应重算而非沿用此次分数。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没有设置后台监控、没有真实委员会投票。 临时补流按2027-01-09十二个月边界及更早项目
需要核查；延伸至2027年6月的条件资金容量须代入实际还本、其他净用途、项目耗用和用途占用，
再检验发行人可调度资金及可落实融资。
其他解释
季度业绩改善可使展望转稳，但需要完整期间现金而不只是利润。
正式解释若证明承诺无新增现金后果，会关闭该项不确定性，其他经营财务风险仍需重评。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按本研究截止日安排下一次检查于下一份实际半年度披露及任何提前到期、用途变更或支持事件；若已</a:t>
            </a:r>
            <a:endParaRPr lang="en-US" sz="1800" dirty="0"/>
          </a:p>
          <a:p>
            <a:pPr indent="0" marL="0">
              <a:lnSpc>
                <a:spcPct val="100000"/>
              </a:lnSpc>
              <a:buNone/>
            </a:pPr>
            <a:r>
              <a:rPr lang="en-US" sz="1800" dirty="0">
                <a:solidFill>
                  <a:srgbClr val="1F2933"/>
                </a:solidFill>
              </a:rPr>
              <a:t>发生应立即反映的偿付问题，不等待下一年度或用展望推迟调整。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持续恢复回款并证明付款覆盖可支持稳定展望的进一步研究；付款覆盖前提失败须重评。没有完整全年</a:t>
            </a:r>
            <a:endParaRPr lang="en-US" sz="1800" dirty="0"/>
          </a:p>
          <a:p>
            <a:pPr indent="0" marL="0">
              <a:lnSpc>
                <a:spcPct val="100000"/>
              </a:lnSpc>
              <a:buNone/>
            </a:pPr>
            <a:r>
              <a:rPr lang="en-US" sz="1800" dirty="0">
                <a:solidFill>
                  <a:srgbClr val="1F2933"/>
                </a:solidFill>
              </a:rPr>
              <a:t>损益及债务预测，不从半年CFO或模型分数的任意±0.5直接推出评级级差。 须先核实Δ_A、</a:t>
            </a:r>
            <a:endParaRPr lang="en-US" sz="1800" dirty="0"/>
          </a:p>
          <a:p>
            <a:pPr indent="0" marL="0">
              <a:lnSpc>
                <a:spcPct val="100000"/>
              </a:lnSpc>
              <a:buNone/>
            </a:pPr>
            <a:r>
              <a:rPr lang="en-US" sz="1800" dirty="0">
                <a:solidFill>
                  <a:srgbClr val="1F2933"/>
                </a:solidFill>
              </a:rPr>
              <a:t>Δ_H及Γ并重跑全部时点和营运缓冲；零调整选点未证明实际资金覆盖，也不构成已证实现金必然更差</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亿元人民币
、60.44 亿元人民币；重述扣非持续为负。完整重述历史负债、利息和折旧仍缺，原口径对照不
混入同口径评级输入。
解释与依据
横琴的金融资产与融资现金影响权益、利润、现金；丰泽失控后恢复控制和保理出表亦影响跨年可比性。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
证据同时保留，未认定舞弊或所有控制无效。
解释与依据
控制结论有重大性和时点边界，不能替代余额可回收、可用现金或条款执行验证；亏损净利定量标准及整
改时点尚需澄清。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亿元人民币；公告次年初旧轮已归还13.00 亿元人民币，并批准新一轮
上限13.00 亿元人民币。时点疑点已由公告澄清，授权上限不等于六月实际占用。
解释与依据
仍需关注一般户混用期间用途追踪、专户整改执行及研究截止日占用；不能以续作代表永久资本，也不能
将归还额倒填年末。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公告证实旧轮归还并获新授权，可解释不同报告时点的余额，不构成旧轮长期未归还的证据。</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以截止日实际占用和用途流水确认应恢复额度、时间及项目需求，并验证混用问题整改执行；已公开的旧</a:t>
            </a:r>
            <a:endParaRPr lang="en-US" sz="1800" dirty="0"/>
          </a:p>
          <a:p>
            <a:pPr indent="0" marL="0">
              <a:lnSpc>
                <a:spcPct val="100000"/>
              </a:lnSpc>
              <a:buNone/>
            </a:pPr>
            <a:r>
              <a:rPr lang="en-US" sz="1800" dirty="0">
                <a:solidFill>
                  <a:srgbClr val="1F2933"/>
                </a:solidFill>
              </a:rPr>
              <a:t>轮归还时点不再重复请求。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
亦闭合；未据此宣称大额现金重分类。
解释与依据
原补充表未逐项列出的差额与后续比较列定存质押、冻结和专用款一致。资金可支配性分析应用完整受限
金额，再核实际用途限制。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[ks_a_e_summary] 摘要因同一控制下收购横琴逸东公司调整往年；列示2023重述</a:t>
            </a:r>
            <a:endParaRPr lang="en-US" sz="1800" dirty="0"/>
          </a:p>
          <a:p>
            <a:pPr indent="0" marL="0">
              <a:lnSpc>
                <a:spcPct val="100000"/>
              </a:lnSpc>
              <a:buNone/>
            </a:pPr>
            <a:r>
              <a:rPr lang="en-US" sz="1800" dirty="0">
                <a:solidFill>
                  <a:srgbClr val="1F2933"/>
                </a:solidFill>
              </a:rPr>
              <a:t>后收入、归母净利、扣非净利、CFO、资产及归母权益，不列全部四表。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
2.11 亿元人民币。信用损失连续多年存在，不在基础偿债收益中自动全额加回；上期公允价值及
补偿收益影响亦需保留。
解释与依据
经营利润、非现金重估、债务重组、税务利益与现金各不相同。会计EBITDA加入折旧及利息但保留
资产质量成本，不以减值前利润替代可持续现金。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集中确认历史客户损失可使当期亏损高于近期经营现金消耗，但损失对应的现金不可回收并不会因非现金</a:t>
            </a:r>
            <a:endParaRPr lang="en-US" sz="1800" dirty="0"/>
          </a:p>
          <a:p>
            <a:pPr indent="0" marL="0">
              <a:lnSpc>
                <a:spcPct val="100000"/>
              </a:lnSpc>
              <a:buNone/>
            </a:pPr>
            <a:r>
              <a:rPr lang="en-US" sz="1800" dirty="0">
                <a:solidFill>
                  <a:srgbClr val="1F2933"/>
                </a:solidFill>
              </a:rPr>
              <a:t>性质消失。</a:t>
            </a:r>
            <a:endParaRPr lang="en-US" sz="1800" dirty="0"/>
          </a:p>
          <a:p>
            <a:pPr indent="0" marL="0">
              <a:lnSpc>
                <a:spcPct val="100000"/>
              </a:lnSpc>
              <a:buNone/>
            </a:pPr>
            <a:r>
              <a:rPr lang="en-US" sz="1800" dirty="0">
                <a:solidFill>
                  <a:srgbClr val="1F2933"/>
                </a:solidFill>
              </a:rPr>
              <a:t>非经常重估或补偿收益可能短期抵销主营亏损，必须观察对应资产变现和后续冲回。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按客户和年度拆分新增信用损失、已计提损失与实际回收，并证明常态业务现金足以覆盖利息及必要投入</a:t>
            </a:r>
            <a:endParaRPr lang="en-US" sz="1800" dirty="0"/>
          </a:p>
          <a:p>
            <a:pPr indent="0" marL="0">
              <a:lnSpc>
                <a:spcPct val="100000"/>
              </a:lnSpc>
              <a:buNone/>
            </a:pPr>
            <a:r>
              <a:rPr lang="en-US" sz="1800" dirty="0">
                <a:solidFill>
                  <a:srgbClr val="1F2933"/>
                </a:solidFill>
              </a:rPr>
              <a:t>后，才调整可持续盈利判断。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[ks_a_ar_balance_change] 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
9,404.00 万元人民币。不能将相关应收与关联人保证互相抵销。
解释与依据
保证金、暂付款和重组款具有不同回收路径；关联关系及第三阶段风险使期后收款和担保品可执行性更
重要。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
确认工程量；无条件应收、合同资产和预提返利分列，不能用订单叙述替代结算证据。
解释与依据
工程量验收、总收入与预计成本调整、返利估计及质保期都可能改变毛利及回款；未执行工程现场或截止
测试。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
和重组损失分开列。净应收、合同、抵债和其他应收合计占资产39.48%。
解释与依据
非现金重组改变资产形态和损失时点，后续变现受权属、销售价格和交割制约；不将该资产池当作短期偿
债现金。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递延税及税收优惠</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净DTA5.03 亿元人民币、占权益12.41%，亏损相关DTA7,146.12 万元人民币
。递延税收益缓冲当年亏损，但并非当年现金流入。
解释与依据
未来盈利需按纳税主体、适用税率、亏损到期及可利用差异验证；现有未确认亏损并不能证明已确认部分
无风险。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ks_a_e_bs；完整原文与位置见本演示文稿来源附页及备注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递延税及税收优惠</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亏损和减值形成可抵扣差异不一定失效，盈利子公司未来应税利润可能支持部分回收。</a:t>
            </a:r>
            <a:endParaRPr lang="en-US" sz="1800" dirty="0"/>
          </a:p>
          <a:p>
            <a:pPr indent="0" marL="0">
              <a:lnSpc>
                <a:spcPct val="100000"/>
              </a:lnSpc>
              <a:buNone/>
            </a:pPr>
            <a:r>
              <a:rPr lang="en-US" sz="1800" dirty="0">
                <a:solidFill>
                  <a:srgbClr val="1F2933"/>
                </a:solidFill>
              </a:rPr>
              <a:t>合并层面的预计盈利不能自动抵销各纳税主体亏损或延长亏损结转期限。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按主体税率、优惠期限和亏损到期核验盈利预测，若不足覆盖转回则降低DTA及权益。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ks_a_e_bs；完整原文与位置见本演示文稿来源附页及备注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
后者也未核实全部无用途限制；理财、公允价值补偿资产及抵债房产不加入基础现金。
解释与依据
质押、冻结、保证金与募集金专户/临时补流有不同约束；仅依据账面资金会高估流动性。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
 亿元人民币。末季贡献11.44 亿元人民币，期间现金波动明显。
解释与依据
间接桥中大额非现金减值并不产生现金；经营性应付项目合计形成正向调节，但其贡献同比减少。尚未
取得组成、结算、非现金及范围变动的分解，不能将该合计或保证金收付直接归因为供应商融资或客户
押金提供现金。全年正值仍须结合前三季流出和融资依赖判断。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
化率56.55%，现金/短期债0.57 倍。转债摊余成本、
租赁及非现金融资需纳入；预计质量负债从利息债中剔开。
解释与依据
利润与权益缩水会抵消债务名义下降。利息含资本化
2,735.06 万元人民币，现金还本额不等同借款账面变动
。未折现合同期限表含经营负债，不能直接当作有息债。
</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亿元人民币，资本化比率57.36%；属于有条件敏感性</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
巨额集团往来影响现金。母公司权益表期初另追溯78.57 万元人民币已单列桥接。
解释与依据
子公司分红能力、资金归集、限制性条款与集团内部往来可回收性决定现金上划；合并报表抵销无法证明
母公司可自由调动全部现金。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
权益收购、金融资产重估和基金承诺分别处理。
解释与依据
同控并非经营收益，出表现金减少不同于资本开支，剩余权益估值与可支配资金不同；基金未实缴承诺
可能形成未来资金需求。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保证、诉讼、质量与关联支持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外部经销商保证余额1.60 亿元人民币、保函1.66 亿元人民币及产品质量预计负债需逐项追踪
。集团内部保证不得与已并表基础债务重复加总。
解释与依据
诉讼/质保支出和经销商代偿可能与客户弱化同时出现；控制人保证、持股及银行未用授信不等于无条件
现金支持。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ks_a_e_related / ks_a_e_liabs / ks_a_e_governance 等；完整原文与位置见本演示文稿来源附页及备注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保证、诉讼、质量与关联支持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经销商保证有反担保并不消除共同下行时的代偿压力；反担保资产可实现价值须单独核验。</a:t>
            </a:r>
            <a:endParaRPr lang="en-US" sz="1800" dirty="0"/>
          </a:p>
          <a:p>
            <a:pPr indent="0" marL="0">
              <a:lnSpc>
                <a:spcPct val="100000"/>
              </a:lnSpc>
              <a:buNone/>
            </a:pPr>
            <a:r>
              <a:rPr lang="en-US" sz="1800" dirty="0">
                <a:solidFill>
                  <a:srgbClr val="1F2933"/>
                </a:solidFill>
              </a:rPr>
              <a:t>集团内保证对应已并表债务时主要改变追索和现金所在法人，并非额外一份合并本金。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取得债权人、被担保人、已提款余额、追索顺位、反担保资产及触发事件后，按同一经济义务去重并重算</a:t>
            </a:r>
            <a:endParaRPr lang="en-US" sz="1800" dirty="0"/>
          </a:p>
          <a:p>
            <a:pPr indent="0" marL="0">
              <a:lnSpc>
                <a:spcPct val="100000"/>
              </a:lnSpc>
              <a:buNone/>
            </a:pPr>
            <a:r>
              <a:rPr lang="en-US" sz="1800" dirty="0">
                <a:solidFill>
                  <a:srgbClr val="1F2933"/>
                </a:solidFill>
              </a:rPr>
              <a:t>或有现金和回收。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ks_a_e_related / ks_a_e_liabs / ks_a_e_governance 等；完整原文与位置见本演示文稿来源附页及备注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ks_a_e_cf / ks_a_e_debtorroll 等；完整原文与位置见本演示文稿来源附页及备注</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 / unavailable</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ks_a_e_summary 等；完整原文与位置见本演示文稿来源附页及备注</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ks_a_e_is；完整原文与位置见本演示文稿来源附页及备注</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
5,518.29 万元人民币。季度现金年初桥闭合；信用减值继续且缺完整债务及受限现金附注，不
按一季乘四替换全年。
解释与依据
季节性、原材料预付、银行长短债置换和年度末集中减值会令季度盈利与全年偿债能力不同；部分上年
季度比较仍是原披露范围。解释19号实施未披露重大影响。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刻度）；这是分析者判断。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[ks_b_e_structure] 2025年营业收入</a:t>
            </a:r>
            <a:endParaRPr lang="en-US" sz="1800" dirty="0"/>
          </a:p>
          <a:p>
            <a:pPr indent="0" marL="0">
              <a:lnSpc>
                <a:spcPct val="100000"/>
              </a:lnSpc>
              <a:buNone/>
            </a:pPr>
            <a:r>
              <a:rPr lang="en-US" sz="1800" dirty="0">
                <a:solidFill>
                  <a:srgbClr val="1F2933"/>
                </a:solidFill>
              </a:rPr>
              <a:t>6044124793.41元；防水材料收入</a:t>
            </a:r>
            <a:endParaRPr lang="en-US" sz="1800" dirty="0"/>
          </a:p>
          <a:p>
            <a:pPr indent="0" marL="0">
              <a:lnSpc>
                <a:spcPct val="100000"/>
              </a:lnSpc>
              <a:buNone/>
            </a:pPr>
            <a:r>
              <a:rPr lang="en-US" sz="1800" dirty="0">
                <a:solidFill>
                  <a:srgbClr val="1F2933"/>
                </a:solidFill>
              </a:rPr>
              <a:t>4659529919.68元，占77.09%；防水工程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[ks_b_e_q1] 2026Q1未经审计收入1455542440.54元，同比4.34%</a:t>
            </a:r>
            <a:endParaRPr lang="en-US" sz="1800" dirty="0"/>
          </a:p>
          <a:p>
            <a:pPr indent="0" marL="0">
              <a:lnSpc>
                <a:spcPct val="100000"/>
              </a:lnSpc>
              <a:buNone/>
            </a:pPr>
            <a:r>
              <a:rPr lang="en-US" sz="1800" dirty="0">
                <a:solidFill>
                  <a:srgbClr val="1F2933"/>
                </a:solidFill>
              </a:rPr>
              <a:t>；扣非归母净利润51105059.49元；经营现金流-55182890.65元，上年同期-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382352272.09元；预付款304863921.94元，上年末182790599.40</a:t>
            </a:r>
            <a:endParaRPr lang="en-US" sz="1800" dirty="0"/>
          </a:p>
          <a:p>
            <a:pPr indent="0" marL="0">
              <a:lnSpc>
                <a:spcPct val="100000"/>
              </a:lnSpc>
              <a:buNone/>
            </a:pPr>
            <a:r>
              <a:rPr lang="en-US" sz="1800" dirty="0">
                <a:solidFill>
                  <a:srgbClr val="1F2933"/>
                </a:solidFill>
              </a:rPr>
              <a:t>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分（六分制研究刻度）</a:t>
            </a:r>
            <a:endParaRPr lang="en-US" sz="1800" dirty="0"/>
          </a:p>
          <a:p>
            <a:pPr indent="0" marL="0">
              <a:lnSpc>
                <a:spcPct val="100000"/>
              </a:lnSpc>
              <a:buNone/>
            </a:pPr>
            <a:r>
              <a:rPr lang="en-US" sz="1800" dirty="0">
                <a:solidFill>
                  <a:srgbClr val="1F2933"/>
                </a:solidFill>
              </a:rPr>
              <a:t>，相邻2.50 分（六分制研究刻度）至3.50 分（六分制</a:t>
            </a:r>
            <a:endParaRPr lang="en-US" sz="1800" dirty="0"/>
          </a:p>
          <a:p>
            <a:pPr indent="0" marL="0">
              <a:lnSpc>
                <a:spcPct val="100000"/>
              </a:lnSpc>
              <a:buNone/>
            </a:pPr>
            <a:r>
              <a:rPr lang="en-US" sz="1800" dirty="0">
                <a:solidFill>
                  <a:srgbClr val="1F2933"/>
                </a:solidFill>
              </a:rPr>
              <a:t>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[ks_b_e_yuhong] 东方雨虹2025年合并收入</a:t>
            </a:r>
            <a:endParaRPr lang="en-US" sz="1800" dirty="0"/>
          </a:p>
          <a:p>
            <a:pPr indent="0" marL="0">
              <a:lnSpc>
                <a:spcPct val="100000"/>
              </a:lnSpc>
              <a:buNone/>
            </a:pPr>
            <a:r>
              <a:rPr lang="en-US" sz="1800" dirty="0">
                <a:solidFill>
                  <a:srgbClr val="1F2933"/>
                </a:solidFill>
              </a:rPr>
              <a:t>27578652775.30元；防水材料</a:t>
            </a:r>
            <a:endParaRPr lang="en-US" sz="1800" dirty="0"/>
          </a:p>
          <a:p>
            <a:pPr indent="0" marL="0">
              <a:lnSpc>
                <a:spcPct val="100000"/>
              </a:lnSpc>
              <a:buNone/>
            </a:pPr>
            <a:r>
              <a:rPr lang="en-US" sz="1800" dirty="0">
                <a:solidFill>
                  <a:srgbClr val="1F2933"/>
                </a:solidFill>
              </a:rPr>
              <a:t>19171975964.82元，同比-6.97%；卷材</a:t>
            </a:r>
            <a:endParaRPr lang="en-US" sz="1800" dirty="0"/>
          </a:p>
          <a:p>
            <a:pPr indent="0" marL="0">
              <a:lnSpc>
                <a:spcPct val="100000"/>
              </a:lnSpc>
              <a:buNone/>
            </a:pPr>
            <a:r>
              <a:rPr lang="en-US" sz="1800" dirty="0">
                <a:solidFill>
                  <a:srgbClr val="1F2933"/>
                </a:solidFill>
              </a:rPr>
              <a:t>11361297695.00元，毛利22.15%；零售渠道</a:t>
            </a:r>
            <a:endParaRPr lang="en-US" sz="1800" dirty="0"/>
          </a:p>
          <a:p>
            <a:pPr indent="0" marL="0">
              <a:lnSpc>
                <a:spcPct val="100000"/>
              </a:lnSpc>
              <a:buNone/>
            </a:pPr>
            <a:r>
              <a:rPr lang="en-US" sz="1800" dirty="0">
                <a:solidFill>
                  <a:srgbClr val="1F2933"/>
                </a:solidFill>
              </a:rPr>
              <a:t>收入占36.06%，工程渠道48.15%。</a:t>
            </a:r>
            <a:endParaRPr lang="en-US" sz="1800" dirty="0"/>
          </a:p>
          <a:p>
            <a:pPr indent="0" marL="0">
              <a:lnSpc>
                <a:spcPct val="100000"/>
              </a:lnSpc>
              <a:buNone/>
            </a:pPr>
            <a:r>
              <a:rPr lang="en-US" sz="1800" dirty="0">
                <a:solidFill>
                  <a:srgbClr val="1F2933"/>
                </a:solidFill>
              </a:rPr>
              <a:t>[ks_b_e_bnbm] 北新2025年合并收入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25280261918.22元；防水建材</a:t>
            </a:r>
            <a:endParaRPr lang="en-US" sz="1800" dirty="0"/>
          </a:p>
          <a:p>
            <a:pPr indent="0" marL="0">
              <a:lnSpc>
                <a:spcPct val="100000"/>
              </a:lnSpc>
              <a:buNone/>
            </a:pPr>
            <a:r>
              <a:rPr lang="en-US" sz="1800" dirty="0">
                <a:solidFill>
                  <a:srgbClr val="1F2933"/>
                </a:solidFill>
              </a:rPr>
              <a:t>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分（六分制研究刻度</a:t>
            </a:r>
            <a:endParaRPr lang="en-US" sz="1800" dirty="0"/>
          </a:p>
          <a:p>
            <a:pPr indent="0" marL="0">
              <a:lnSpc>
                <a:spcPct val="100000"/>
              </a:lnSpc>
              <a:buNone/>
            </a:pPr>
            <a:r>
              <a:rPr lang="en-US" sz="1800" dirty="0">
                <a:solidFill>
                  <a:srgbClr val="1F2933"/>
                </a:solidFill>
              </a:rPr>
              <a:t>））。主要将账户问题计入执行，避免同一事项在治理与调整项重复全额扣分。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[ks_b_e_fund_return] 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[ks_b_e_fund_renew] 2026-01-09董事会批准新一轮不超过</a:t>
            </a:r>
            <a:endParaRPr lang="en-US" sz="1800" dirty="0"/>
          </a:p>
          <a:p>
            <a:pPr indent="0" marL="0">
              <a:lnSpc>
                <a:spcPct val="100000"/>
              </a:lnSpc>
              <a:buNone/>
            </a:pPr>
            <a:r>
              <a:rPr lang="en-US" sz="1800" dirty="0">
                <a:solidFill>
                  <a:srgbClr val="1F2933"/>
                </a:solidFill>
              </a:rPr>
              <a:t>130000万元临时补流、最长12个月、募投需要即归还，仅用于主营生产经营。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[ks_b_e_q1] 2026Q1未经审计收入1455542440.54元，同比4.34%</a:t>
            </a:r>
            <a:endParaRPr lang="en-US" sz="1800" dirty="0"/>
          </a:p>
          <a:p>
            <a:pPr indent="0" marL="0">
              <a:lnSpc>
                <a:spcPct val="100000"/>
              </a:lnSpc>
              <a:buNone/>
            </a:pPr>
            <a:r>
              <a:rPr lang="en-US" sz="1800" dirty="0">
                <a:solidFill>
                  <a:srgbClr val="1F2933"/>
                </a:solidFill>
              </a:rPr>
              <a:t>；扣非归母净利润51105059.49元；经营现金流-55182890.65元，上年同期-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382352272.09元；预付款304863921.94元，上年末182790599.40</a:t>
            </a:r>
            <a:endParaRPr lang="en-US" sz="1800" dirty="0"/>
          </a:p>
          <a:p>
            <a:pPr indent="0" marL="0">
              <a:lnSpc>
                <a:spcPct val="100000"/>
              </a:lnSpc>
              <a:buNone/>
            </a:pPr>
            <a:r>
              <a:rPr lang="en-US" sz="1800" dirty="0">
                <a:solidFill>
                  <a:srgbClr val="1F2933"/>
                </a:solidFill>
              </a:rPr>
              <a:t>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[ks_b_e_2026_dividend] 2025年度</a:t>
            </a:r>
            <a:endParaRPr lang="en-US" sz="1800" dirty="0"/>
          </a:p>
          <a:p>
            <a:pPr indent="0" marL="0">
              <a:lnSpc>
                <a:spcPct val="100000"/>
              </a:lnSpc>
              <a:buNone/>
            </a:pPr>
            <a:r>
              <a:rPr lang="en-US" sz="1800" dirty="0">
                <a:solidFill>
                  <a:srgbClr val="1F2933"/>
                </a:solidFill>
              </a:rPr>
              <a:t>权益分派实施公告规定每股现金0.06元、公告股本</a:t>
            </a:r>
            <a:endParaRPr lang="en-US" sz="1800" dirty="0"/>
          </a:p>
          <a:p>
            <a:pPr indent="0" marL="0">
              <a:lnSpc>
                <a:spcPct val="100000"/>
              </a:lnSpc>
              <a:buNone/>
            </a:pPr>
            <a:r>
              <a:rPr lang="en-US" sz="1800" dirty="0">
                <a:solidFill>
                  <a:srgbClr val="1F2933"/>
                </a:solidFill>
              </a:rPr>
              <a:t>1109971693股，2026-05-26除息及代派。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[ks_b_e_fund_return] 截至2026-</a:t>
            </a:r>
            <a:endParaRPr lang="en-US" sz="1800" dirty="0"/>
          </a:p>
          <a:p>
            <a:pPr indent="0" marL="0">
              <a:lnSpc>
                <a:spcPct val="100000"/>
              </a:lnSpc>
              <a:buNone/>
            </a:pPr>
            <a:r>
              <a:rPr lang="en-US" sz="1800" dirty="0">
                <a:solidFill>
                  <a:srgbClr val="1F2933"/>
                </a:solidFill>
              </a:rPr>
              <a:t>01-06，旧一轮实际用于临时补流的130000万元全部</a:t>
            </a:r>
            <a:endParaRPr lang="en-US" sz="1800" dirty="0"/>
          </a:p>
          <a:p>
            <a:pPr indent="0" marL="0">
              <a:lnSpc>
                <a:spcPct val="100000"/>
              </a:lnSpc>
              <a:buNone/>
            </a:pPr>
            <a:r>
              <a:rPr lang="en-US" sz="1800" dirty="0">
                <a:solidFill>
                  <a:srgbClr val="1F2933"/>
                </a:solidFill>
              </a:rPr>
              <a:t>归还专户，使用不超过原批准12个月。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[ks_b_e_renewal] 中央城市更新意见支持既有</a:t>
            </a:r>
            <a:endParaRPr lang="en-US" sz="1800" dirty="0"/>
          </a:p>
          <a:p>
            <a:pPr indent="0" marL="0">
              <a:lnSpc>
                <a:spcPct val="100000"/>
              </a:lnSpc>
              <a:buNone/>
            </a:pPr>
            <a:r>
              <a:rPr lang="en-US" sz="1800" dirty="0">
                <a:solidFill>
                  <a:srgbClr val="1F2933"/>
                </a:solidFill>
              </a:rPr>
              <a:t>建筑、老旧小区及地下管网改造，强调市场运作、持续投融资及</a:t>
            </a:r>
            <a:endParaRPr lang="en-US" sz="1800" dirty="0"/>
          </a:p>
          <a:p>
            <a:pPr indent="0" marL="0">
              <a:lnSpc>
                <a:spcPct val="100000"/>
              </a:lnSpc>
              <a:buNone/>
            </a:pPr>
            <a:r>
              <a:rPr lang="en-US" sz="1800" dirty="0">
                <a:solidFill>
                  <a:srgbClr val="1F2933"/>
                </a:solidFill>
              </a:rPr>
              <a:t>控制债务风险。</a:t>
            </a:r>
            <a:endParaRPr lang="en-US" sz="1800" dirty="0"/>
          </a:p>
          <a:p>
            <a:pPr indent="0" marL="0">
              <a:lnSpc>
                <a:spcPct val="100000"/>
              </a:lnSpc>
              <a:buNone/>
            </a:pPr>
            <a:r>
              <a:rPr lang="en-US" sz="1800" dirty="0">
                <a:solidFill>
                  <a:srgbClr val="1F2933"/>
                </a:solidFill>
              </a:rPr>
              <a:t>[ks_b_e_standard_sheet] </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[ks_b_e_standard_coating] </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亿元人民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币。 年度报告收现比116.91%并非当年新销售回款率，</a:t>
            </a:r>
            <a:endParaRPr lang="en-US" sz="1800" dirty="0"/>
          </a:p>
          <a:p>
            <a:pPr indent="0" marL="0">
              <a:lnSpc>
                <a:spcPct val="100000"/>
              </a:lnSpc>
              <a:buNone/>
            </a:pPr>
            <a:r>
              <a:rPr lang="en-US" sz="1800" dirty="0">
                <a:solidFill>
                  <a:srgbClr val="1F2933"/>
                </a:solidFill>
              </a:rPr>
              <a:t>包含旧款回收及含税等口径影响。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[ks_b_e_structure] 2025年营业收入</a:t>
            </a:r>
            <a:endParaRPr lang="en-US" sz="1800" dirty="0"/>
          </a:p>
          <a:p>
            <a:pPr indent="0" marL="0">
              <a:lnSpc>
                <a:spcPct val="100000"/>
              </a:lnSpc>
              <a:buNone/>
            </a:pPr>
            <a:r>
              <a:rPr lang="en-US" sz="1800" dirty="0">
                <a:solidFill>
                  <a:srgbClr val="1F2933"/>
                </a:solidFill>
              </a:rPr>
              <a:t>6044124793.41元；防水材料收入</a:t>
            </a:r>
            <a:endParaRPr lang="en-US" sz="1800" dirty="0"/>
          </a:p>
          <a:p>
            <a:pPr indent="0" marL="0">
              <a:lnSpc>
                <a:spcPct val="100000"/>
              </a:lnSpc>
              <a:buNone/>
            </a:pPr>
            <a:r>
              <a:rPr lang="en-US" sz="1800" dirty="0">
                <a:solidFill>
                  <a:srgbClr val="1F2933"/>
                </a:solidFill>
              </a:rPr>
              <a:t>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[ks_b_e_cash] 2025年经营净现金流</a:t>
            </a:r>
            <a:endParaRPr lang="en-US" sz="1800" dirty="0"/>
          </a:p>
          <a:p>
            <a:pPr indent="0" marL="0">
              <a:lnSpc>
                <a:spcPct val="100000"/>
              </a:lnSpc>
              <a:buNone/>
            </a:pPr>
            <a:r>
              <a:rPr lang="en-US" sz="1800" dirty="0">
                <a:solidFill>
                  <a:srgbClr val="1F2933"/>
                </a:solidFill>
              </a:rPr>
              <a:t>319628020.65元；报告收现比116.91%；防水</a:t>
            </a:r>
            <a:endParaRPr lang="en-US" sz="1800" dirty="0"/>
          </a:p>
          <a:p>
            <a:pPr indent="0" marL="0">
              <a:lnSpc>
                <a:spcPct val="100000"/>
              </a:lnSpc>
              <a:buNone/>
            </a:pPr>
            <a:r>
              <a:rPr lang="en-US" sz="1800" dirty="0">
                <a:solidFill>
                  <a:srgbClr val="1F2933"/>
                </a:solidFill>
              </a:rPr>
              <a:t>实物销量同比下降14.63%。</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[ks_b_e_cost_risk] 主要原料包括沥青、膜</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、聚酯胎基、SBS、聚醚等石化原料；公司明确对沥青等大宗</a:t>
            </a:r>
            <a:endParaRPr lang="en-US" sz="1800" dirty="0"/>
          </a:p>
          <a:p>
            <a:pPr indent="0" marL="0">
              <a:lnSpc>
                <a:spcPct val="100000"/>
              </a:lnSpc>
              <a:buNone/>
            </a:pPr>
            <a:r>
              <a:rPr lang="en-US" sz="1800" dirty="0">
                <a:solidFill>
                  <a:srgbClr val="1F2933"/>
                </a:solidFill>
              </a:rPr>
              <a:t>原料议价能力相对弱；通过集采、储备及套保缓释价格风险。</a:t>
            </a:r>
            <a:endParaRPr lang="en-US" sz="1800" dirty="0"/>
          </a:p>
          <a:p>
            <a:pPr indent="0" marL="0">
              <a:lnSpc>
                <a:spcPct val="100000"/>
              </a:lnSpc>
              <a:buNone/>
            </a:pPr>
            <a:r>
              <a:rPr lang="en-US" sz="1800" dirty="0">
                <a:solidFill>
                  <a:srgbClr val="1F2933"/>
                </a:solidFill>
              </a:rPr>
              <a:t>[ks_b_e_cash] 2025年经营净现金流</a:t>
            </a:r>
            <a:endParaRPr lang="en-US" sz="1800" dirty="0"/>
          </a:p>
          <a:p>
            <a:pPr indent="0" marL="0">
              <a:lnSpc>
                <a:spcPct val="100000"/>
              </a:lnSpc>
              <a:buNone/>
            </a:pPr>
            <a:r>
              <a:rPr lang="en-US" sz="1800" dirty="0">
                <a:solidFill>
                  <a:srgbClr val="1F2933"/>
                </a:solidFill>
              </a:rPr>
              <a:t>319628020.65元；报告收现比116.91%；防水</a:t>
            </a:r>
            <a:endParaRPr lang="en-US" sz="1800" dirty="0"/>
          </a:p>
          <a:p>
            <a:pPr indent="0" marL="0">
              <a:lnSpc>
                <a:spcPct val="100000"/>
              </a:lnSpc>
              <a:buNone/>
            </a:pPr>
            <a:r>
              <a:rPr lang="en-US" sz="1800" dirty="0">
                <a:solidFill>
                  <a:srgbClr val="1F2933"/>
                </a:solidFill>
              </a:rPr>
              <a:t>实物销量同比下降14.63%。</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取得新渠道收入、实际订单、旧账现金回收及海外运营数据后重设</a:t>
            </a:r>
            <a:endParaRPr lang="en-US" sz="1800" dirty="0"/>
          </a:p>
          <a:p>
            <a:pPr indent="0" marL="0">
              <a:lnSpc>
                <a:spcPct val="100000"/>
              </a:lnSpc>
              <a:buNone/>
            </a:pPr>
            <a:r>
              <a:rPr lang="en-US" sz="1800" dirty="0">
                <a:solidFill>
                  <a:srgbClr val="1F2933"/>
                </a:solidFill>
              </a:rPr>
              <a:t>假设并重算；成本和现金另建模型，不从收入区间直接推导。</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[ks_d_f_face_conversion_q1] 一</a:t>
            </a:r>
            <a:endParaRPr lang="en-US" sz="1800" dirty="0"/>
          </a:p>
          <a:p>
            <a:pPr indent="0" marL="0">
              <a:lnSpc>
                <a:spcPct val="100000"/>
              </a:lnSpc>
              <a:buNone/>
            </a:pPr>
            <a:r>
              <a:rPr lang="en-US" sz="1800" dirty="0">
                <a:solidFill>
                  <a:srgbClr val="1F2933"/>
                </a:solidFill>
              </a:rPr>
              <a:t>季度已转股面值：8,600.00 元人民币</a:t>
            </a:r>
            <a:endParaRPr lang="en-US" sz="1800" dirty="0"/>
          </a:p>
          <a:p>
            <a:pPr indent="0" marL="0">
              <a:lnSpc>
                <a:spcPct val="100000"/>
              </a:lnSpc>
              <a:buNone/>
            </a:pPr>
            <a:r>
              <a:rPr lang="en-US" sz="1800" dirty="0">
                <a:solidFill>
                  <a:srgbClr val="1F2933"/>
                </a:solidFill>
              </a:rPr>
              <a:t>[ks_d_e_put] 最后两个计息年度中，任意连续三十</a:t>
            </a:r>
            <a:endParaRPr lang="en-US" sz="1800" dirty="0"/>
          </a:p>
          <a:p>
            <a:pPr indent="0" marL="0">
              <a:lnSpc>
                <a:spcPct val="100000"/>
              </a:lnSpc>
              <a:buNone/>
            </a:pPr>
            <a:r>
              <a:rPr lang="en-US" sz="1800" dirty="0">
                <a:solidFill>
                  <a:srgbClr val="1F2933"/>
                </a:solidFill>
              </a:rPr>
              <a:t>个交易日收盘价低于当期转股价70%，持有人可按面值加应计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利息回售；每计息年度首次触发后按公告申报，不能多次行使部分</a:t>
            </a:r>
            <a:endParaRPr lang="en-US" sz="1800" dirty="0"/>
          </a:p>
          <a:p>
            <a:pPr indent="0" marL="0">
              <a:lnSpc>
                <a:spcPct val="100000"/>
              </a:lnSpc>
              <a:buNone/>
            </a:pPr>
            <a:r>
              <a:rPr lang="en-US" sz="1800" dirty="0">
                <a:solidFill>
                  <a:srgbClr val="1F2933"/>
                </a:solidFill>
              </a:rPr>
              <a:t>回售，向下修正转股价则重算观察期。募集资金投资项目实施发生</a:t>
            </a:r>
            <a:endParaRPr lang="en-US" sz="1800" dirty="0"/>
          </a:p>
          <a:p>
            <a:pPr indent="0" marL="0">
              <a:lnSpc>
                <a:spcPct val="100000"/>
              </a:lnSpc>
              <a:buNone/>
            </a:pPr>
            <a:r>
              <a:rPr lang="en-US" sz="1800" dirty="0">
                <a:solidFill>
                  <a:srgbClr val="1F2933"/>
                </a:solidFill>
              </a:rPr>
              <a:t>重大变化且依法被视为或被监管认定改变用途时，有一次附加回售</a:t>
            </a:r>
            <a:endParaRPr lang="en-US" sz="1800" dirty="0"/>
          </a:p>
          <a:p>
            <a:pPr indent="0" marL="0">
              <a:lnSpc>
                <a:spcPct val="100000"/>
              </a:lnSpc>
              <a:buNone/>
            </a:pPr>
            <a:r>
              <a:rPr lang="en-US" sz="1800" dirty="0">
                <a:solidFill>
                  <a:srgbClr val="1F2933"/>
                </a:solidFill>
              </a:rPr>
              <a:t>权。</a:t>
            </a:r>
            <a:endParaRPr lang="en-US" sz="1800" dirty="0"/>
          </a:p>
          <a:p>
            <a:pPr indent="0" marL="0">
              <a:lnSpc>
                <a:spcPct val="100000"/>
              </a:lnSpc>
              <a:buNone/>
            </a:pPr>
            <a:r>
              <a:rPr lang="en-US" sz="1800" dirty="0">
                <a:solidFill>
                  <a:srgbClr val="1F2933"/>
                </a:solidFill>
              </a:rPr>
              <a:t>[ks_d_e_maturity_call] 到期后五个</a:t>
            </a:r>
            <a:endParaRPr lang="en-US" sz="1800" dirty="0"/>
          </a:p>
          <a:p>
            <a:pPr indent="0" marL="0">
              <a:lnSpc>
                <a:spcPct val="100000"/>
              </a:lnSpc>
              <a:buNone/>
            </a:pPr>
            <a:r>
              <a:rPr lang="en-US" sz="1800" dirty="0">
                <a:solidFill>
                  <a:srgbClr val="1F2933"/>
                </a:solidFill>
              </a:rPr>
              <a:t>交易日内按票面面值115%赎回未转股债券，含最后一期利息。</a:t>
            </a:r>
            <a:endParaRPr lang="en-US" sz="1800" dirty="0"/>
          </a:p>
          <a:p>
            <a:pPr indent="0" marL="0">
              <a:lnSpc>
                <a:spcPct val="100000"/>
              </a:lnSpc>
              <a:buNone/>
            </a:pPr>
            <a:r>
              <a:rPr lang="en-US" sz="1800" dirty="0">
                <a:solidFill>
                  <a:srgbClr val="1F2933"/>
                </a:solidFill>
              </a:rPr>
              <a:t>转股期内连续三十个交易日至少十五日收盘价不低于当期转股价</a:t>
            </a:r>
            <a:endParaRPr lang="en-US" sz="1800" dirty="0"/>
          </a:p>
          <a:p>
            <a:pPr indent="0" marL="0">
              <a:lnSpc>
                <a:spcPct val="100000"/>
              </a:lnSpc>
              <a:buNone/>
            </a:pPr>
            <a:r>
              <a:rPr lang="en-US" sz="1800" dirty="0">
                <a:solidFill>
                  <a:srgbClr val="1F2933"/>
                </a:solidFill>
              </a:rPr>
              <a:t>130%，或未转股余额不足3000万元，发行人可按面值加应</a:t>
            </a:r>
            <a:endParaRPr lang="en-US" sz="1800" dirty="0"/>
          </a:p>
          <a:p>
            <a:pPr indent="0" marL="0">
              <a:lnSpc>
                <a:spcPct val="100000"/>
              </a:lnSpc>
              <a:buNone/>
            </a:pPr>
            <a:r>
              <a:rPr lang="en-US" sz="1800" dirty="0">
                <a:solidFill>
                  <a:srgbClr val="1F2933"/>
                </a:solidFill>
              </a:rPr>
              <a:t>计利息赎回。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是税前、项目层及T+6相对期间，不能跳过公司层及付款日的桥</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[ks_project_e_schedule] 2025-</a:t>
            </a:r>
            <a:endParaRPr lang="en-US" sz="1800" dirty="0"/>
          </a:p>
          <a:p>
            <a:pPr indent="0" marL="0">
              <a:lnSpc>
                <a:spcPct val="100000"/>
              </a:lnSpc>
              <a:buNone/>
            </a:pPr>
            <a:r>
              <a:rPr lang="en-US" sz="1800" dirty="0">
                <a:solidFill>
                  <a:srgbClr val="1F2933"/>
                </a:solidFill>
              </a:rPr>
              <a:t>04-24批准将安徽滁州、福建三明、重庆长寿扩产及智能化</a:t>
            </a:r>
            <a:endParaRPr lang="en-US" sz="1800" dirty="0"/>
          </a:p>
          <a:p>
            <a:pPr indent="0" marL="0">
              <a:lnSpc>
                <a:spcPct val="100000"/>
              </a:lnSpc>
              <a:buNone/>
            </a:pPr>
            <a:r>
              <a:rPr lang="en-US" sz="1800" dirty="0">
                <a:solidFill>
                  <a:srgbClr val="1F2933"/>
                </a:solidFill>
              </a:rPr>
              <a:t>升级四项预定可使用日期均延至2028-12-31。披露原因</a:t>
            </a:r>
            <a:endParaRPr lang="en-US" sz="1800" dirty="0"/>
          </a:p>
          <a:p>
            <a:pPr indent="0" marL="0">
              <a:lnSpc>
                <a:spcPct val="100000"/>
              </a:lnSpc>
              <a:buNone/>
            </a:pPr>
            <a:r>
              <a:rPr lang="en-US" sz="1800" dirty="0">
                <a:solidFill>
                  <a:srgbClr val="1F2933"/>
                </a:solidFill>
              </a:rPr>
              <a:t>为下游需求/业务增长不及预期及工艺升级；称实施主体、方式、</a:t>
            </a:r>
            <a:endParaRPr lang="en-US" sz="1800" dirty="0"/>
          </a:p>
          <a:p>
            <a:pPr indent="0" marL="0">
              <a:lnSpc>
                <a:spcPct val="100000"/>
              </a:lnSpc>
              <a:buNone/>
            </a:pPr>
            <a:r>
              <a:rPr lang="en-US" sz="1800" dirty="0">
                <a:solidFill>
                  <a:srgbClr val="1F2933"/>
                </a:solidFill>
              </a:rPr>
              <a:t>建设内容、用途及规模未变、项目可行性无重大变化，不存在变相</a:t>
            </a:r>
            <a:endParaRPr lang="en-US" sz="1800" dirty="0"/>
          </a:p>
          <a:p>
            <a:pPr indent="0" marL="0">
              <a:lnSpc>
                <a:spcPct val="100000"/>
              </a:lnSpc>
              <a:buNone/>
            </a:pPr>
            <a:r>
              <a:rPr lang="en-US" sz="1800" dirty="0">
                <a:solidFill>
                  <a:srgbClr val="1F2933"/>
                </a:solidFill>
              </a:rPr>
              <a:t>改变用途。</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[ks_d_e_fund_return] 2025-01-</a:t>
            </a:r>
            <a:endParaRPr lang="en-US" sz="1800" dirty="0"/>
          </a:p>
          <a:p>
            <a:pPr indent="0" marL="0">
              <a:lnSpc>
                <a:spcPct val="100000"/>
              </a:lnSpc>
              <a:buNone/>
            </a:pPr>
            <a:r>
              <a:rPr lang="en-US" sz="1800" dirty="0">
                <a:solidFill>
                  <a:srgbClr val="1F2933"/>
                </a:solidFill>
              </a:rPr>
              <a:t>10批准临时补流不超过130000.00万元、期限不超过</a:t>
            </a:r>
            <a:endParaRPr lang="en-US" sz="1800" dirty="0"/>
          </a:p>
          <a:p>
            <a:pPr indent="0" marL="0">
              <a:lnSpc>
                <a:spcPct val="100000"/>
              </a:lnSpc>
              <a:buNone/>
            </a:pPr>
            <a:r>
              <a:rPr lang="en-US" sz="1800" dirty="0">
                <a:solidFill>
                  <a:srgbClr val="1F2933"/>
                </a:solidFill>
              </a:rPr>
              <a:t>十二个月；公司实际使用130000.00万元，截至2026</a:t>
            </a:r>
            <a:endParaRPr lang="en-US" sz="1800" dirty="0"/>
          </a:p>
          <a:p>
            <a:pPr indent="0" marL="0">
              <a:lnSpc>
                <a:spcPct val="100000"/>
              </a:lnSpc>
              <a:buNone/>
            </a:pPr>
            <a:r>
              <a:rPr lang="en-US" sz="1800" dirty="0">
                <a:solidFill>
                  <a:srgbClr val="1F2933"/>
                </a:solidFill>
              </a:rPr>
              <a:t>-01-06已全部归还募集资金专户。该公告不是偿还另行新增</a:t>
            </a:r>
            <a:endParaRPr lang="en-US" sz="1800" dirty="0"/>
          </a:p>
          <a:p>
            <a:pPr indent="0" marL="0">
              <a:lnSpc>
                <a:spcPct val="100000"/>
              </a:lnSpc>
              <a:buNone/>
            </a:pPr>
            <a:r>
              <a:rPr lang="en-US" sz="1800" dirty="0">
                <a:solidFill>
                  <a:srgbClr val="1F2933"/>
                </a:solidFill>
              </a:rPr>
              <a:t>的外部金融债。</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附加回售另需项目实施较承诺重大变化并符合被视作或认定改变用途的条件，不受普通回售最后两年限制</a:t>
            </a:r>
            <a:endParaRPr lang="en-US" sz="1800" dirty="0"/>
          </a:p>
          <a:p>
            <a:pPr indent="0" marL="0">
              <a:lnSpc>
                <a:spcPct val="100000"/>
              </a:lnSpc>
              <a:buNone/>
            </a:pPr>
            <a:r>
              <a:rPr lang="en-US" sz="1800" dirty="0">
                <a:solidFill>
                  <a:srgbClr val="1F2933"/>
                </a:solidFill>
              </a:rPr>
              <a:t>。若真实触发且持有人依法申报，现金额为被回售面值B加B×当年票息i×计息日数t/365，替换</a:t>
            </a:r>
            <a:endParaRPr lang="en-US" sz="1800" dirty="0"/>
          </a:p>
          <a:p>
            <a:pPr indent="0" marL="0">
              <a:lnSpc>
                <a:spcPct val="100000"/>
              </a:lnSpc>
              <a:buNone/>
            </a:pPr>
            <a:r>
              <a:rPr lang="en-US" sz="1800" dirty="0">
                <a:solidFill>
                  <a:srgbClr val="1F2933"/>
                </a:solidFill>
              </a:rPr>
              <a:t>该部分之后票息和到期兑付，不把115%到期价加在回售价上。并须核公告、申报窗口、有效行权及</a:t>
            </a:r>
            <a:endParaRPr lang="en-US" sz="1800" dirty="0"/>
          </a:p>
          <a:p>
            <a:pPr indent="0" marL="0">
              <a:lnSpc>
                <a:spcPct val="100000"/>
              </a:lnSpc>
              <a:buNone/>
            </a:pPr>
            <a:r>
              <a:rPr lang="en-US" sz="1800" dirty="0">
                <a:solidFill>
                  <a:srgbClr val="1F2933"/>
                </a:solidFill>
              </a:rPr>
              <a:t>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报告称已发行债券及其他债务融资工具</a:t>
            </a:r>
            <a:endParaRPr lang="en-US" sz="1800" dirty="0"/>
          </a:p>
          <a:p>
            <a:pPr indent="0" marL="0">
              <a:lnSpc>
                <a:spcPct val="100000"/>
              </a:lnSpc>
              <a:buNone/>
            </a:pPr>
            <a:r>
              <a:rPr lang="en-US" sz="1800" dirty="0">
                <a:solidFill>
                  <a:srgbClr val="1F2933"/>
                </a:solidFill>
              </a:rPr>
              <a:t>不存在延迟支付本息、2025年度付息无延迟、2025年度未发生应召开或已召开的持有人会议事项</a:t>
            </a:r>
            <a:endParaRPr lang="en-US" sz="1800" dirty="0"/>
          </a:p>
          <a:p>
            <a:pPr indent="0" marL="0">
              <a:lnSpc>
                <a:spcPct val="100000"/>
              </a:lnSpc>
              <a:buNone/>
            </a:pPr>
            <a:r>
              <a:rPr lang="en-US" sz="1800" dirty="0">
                <a:solidFill>
                  <a:srgbClr val="1F2933"/>
                </a:solidFill>
              </a:rPr>
              <a:t>，相关承诺履行良好；未提供持续财务承诺的专门测试调节表。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[ks_project_e_tracking] 截至2025年末累计使用募集资金38.82%</a:t>
            </a:r>
            <a:endParaRPr lang="en-US" sz="1800" dirty="0"/>
          </a:p>
          <a:p>
            <a:pPr indent="0" marL="0">
              <a:lnSpc>
                <a:spcPct val="100000"/>
              </a:lnSpc>
              <a:buNone/>
            </a:pPr>
            <a:r>
              <a:rPr lang="en-US" sz="1800" dirty="0">
                <a:solidFill>
                  <a:srgbClr val="1F2933"/>
                </a:solidFill>
              </a:rPr>
              <a:t>、项目进度延迟；保荐机构提示如未来可行性或募投项目变化，须履行审批和披露。2025年度存在</a:t>
            </a:r>
            <a:endParaRPr lang="en-US" sz="1800" dirty="0"/>
          </a:p>
          <a:p>
            <a:pPr indent="0" marL="0">
              <a:lnSpc>
                <a:spcPct val="100000"/>
              </a:lnSpc>
              <a:buNone/>
            </a:pPr>
            <a:r>
              <a:rPr lang="en-US" sz="1800" dirty="0">
                <a:solidFill>
                  <a:srgbClr val="1F2933"/>
                </a:solidFill>
              </a:rPr>
              <a:t>延期和临时补流转入一般户事项。</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01-09的12个月边界核查，若沿用2026末基准集团现金</a:t>
            </a:r>
            <a:endParaRPr lang="en-US" sz="1800" dirty="0"/>
          </a:p>
          <a:p>
            <a:pPr indent="0" marL="0">
              <a:lnSpc>
                <a:spcPct val="100000"/>
              </a:lnSpc>
              <a:buNone/>
            </a:pPr>
            <a:r>
              <a:rPr lang="en-US" sz="1800" dirty="0">
                <a:solidFill>
                  <a:srgbClr val="1F2933"/>
                </a:solidFill>
              </a:rPr>
              <a:t>且九日净变动、调度扣减、其他到期付款及营运底额均为零，可</a:t>
            </a:r>
            <a:endParaRPr lang="en-US" sz="1800" dirty="0"/>
          </a:p>
          <a:p>
            <a:pPr indent="0" marL="0">
              <a:lnSpc>
                <a:spcPct val="100000"/>
              </a:lnSpc>
              <a:buNone/>
            </a:pPr>
            <a:r>
              <a:rPr lang="en-US" sz="1800" dirty="0">
                <a:solidFill>
                  <a:srgbClr val="1F2933"/>
                </a:solidFill>
              </a:rPr>
              <a:t>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
解释与依据
恢复专户先减少可自由使用资金，并不必然减少集团总现金或偿还
一笔外部债务。项目付款、预留及归还记录按同一资金流去重；
不能将本事件再叠加到已扣的6.5/13亿元用途预留。须将
年末条件集团现金桥接到归还义务主体在事件日可调度金额，加减
九日有证据收支及其他支付，不能把合并余额当母公司已到手资金
。
</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[ks_d_e_fund_return] 2025-01-</a:t>
            </a:r>
            <a:endParaRPr lang="en-US" sz="1800" dirty="0"/>
          </a:p>
          <a:p>
            <a:pPr indent="0" marL="0">
              <a:lnSpc>
                <a:spcPct val="100000"/>
              </a:lnSpc>
              <a:buNone/>
            </a:pPr>
            <a:r>
              <a:rPr lang="en-US" sz="1800" dirty="0">
                <a:solidFill>
                  <a:srgbClr val="1F2933"/>
                </a:solidFill>
              </a:rPr>
              <a:t>10批准临时补流不超过130000.00万元、期限不超过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十二个月；公司实际使用130000.00万元，截至2026</a:t>
            </a:r>
            <a:endParaRPr lang="en-US" sz="1800" dirty="0"/>
          </a:p>
          <a:p>
            <a:pPr indent="0" marL="0">
              <a:lnSpc>
                <a:spcPct val="100000"/>
              </a:lnSpc>
              <a:buNone/>
            </a:pPr>
            <a:r>
              <a:rPr lang="en-US" sz="1800" dirty="0">
                <a:solidFill>
                  <a:srgbClr val="1F2933"/>
                </a:solidFill>
              </a:rPr>
              <a:t>-01-06已全部归还募集资金专户。该公告不是偿还另行新增</a:t>
            </a:r>
            <a:endParaRPr lang="en-US" sz="1800" dirty="0"/>
          </a:p>
          <a:p>
            <a:pPr indent="0" marL="0">
              <a:lnSpc>
                <a:spcPct val="100000"/>
              </a:lnSpc>
              <a:buNone/>
            </a:pPr>
            <a:r>
              <a:rPr lang="en-US" sz="1800" dirty="0">
                <a:solidFill>
                  <a:srgbClr val="1F2933"/>
                </a:solidFill>
              </a:rPr>
              <a:t>的外部金融债。</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 / unavailable</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[ks_d_e_bond_accounting] 应付债券</a:t>
            </a:r>
            <a:endParaRPr lang="en-US" sz="1800" dirty="0"/>
          </a:p>
          <a:p>
            <a:pPr indent="0" marL="0">
              <a:lnSpc>
                <a:spcPct val="100000"/>
              </a:lnSpc>
              <a:buNone/>
            </a:pPr>
            <a:r>
              <a:rPr lang="en-US" sz="1800" dirty="0">
                <a:solidFill>
                  <a:srgbClr val="1F2933"/>
                </a:solidFill>
              </a:rPr>
              <a:t>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元、支付利息10989198.50元、本期转股17700元</a:t>
            </a:r>
            <a:endParaRPr lang="en-US" sz="1800" dirty="0"/>
          </a:p>
          <a:p>
            <a:pPr indent="0" marL="0">
              <a:lnSpc>
                <a:spcPct val="100000"/>
              </a:lnSpc>
              <a:buNone/>
            </a:pPr>
            <a:r>
              <a:rPr lang="en-US" sz="1800" dirty="0">
                <a:solidFill>
                  <a:srgbClr val="1F2933"/>
                </a:solidFill>
              </a:rPr>
              <a:t>；期末2313383227.05元；是否违约栏为否。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[ks_d_e_sponsor_performance] </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a:p>
            <a:pPr indent="0" marL="0">
              <a:lnSpc>
                <a:spcPct val="100000"/>
              </a:lnSpc>
              <a:buNone/>
            </a:pPr>
            <a:r>
              <a:rPr lang="en-US" sz="1800" dirty="0">
                <a:solidFill>
                  <a:srgbClr val="1F2933"/>
                </a:solidFill>
              </a:rPr>
              <a:t>资金混同管理事项。未提供累计债券余额承诺逐期计算或豁免文件</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[ks_d_e_temporary_report] p5仍</a:t>
            </a:r>
            <a:endParaRPr lang="en-US" sz="1800" dirty="0"/>
          </a:p>
          <a:p>
            <a:pPr indent="0" marL="0">
              <a:lnSpc>
                <a:spcPct val="100000"/>
              </a:lnSpc>
              <a:buNone/>
            </a:pPr>
            <a:r>
              <a:rPr lang="en-US" sz="1800" dirty="0">
                <a:solidFill>
                  <a:srgbClr val="1F2933"/>
                </a:solidFill>
              </a:rPr>
              <a:t>列6.72元/股，p15已记录后续6.67元/股。p16</a:t>
            </a:r>
            <a:endParaRPr lang="en-US" sz="1800" dirty="0"/>
          </a:p>
          <a:p>
            <a:pPr indent="0" marL="0">
              <a:lnSpc>
                <a:spcPct val="100000"/>
              </a:lnSpc>
              <a:buNone/>
            </a:pPr>
            <a:r>
              <a:rPr lang="en-US" sz="1800" dirty="0">
                <a:solidFill>
                  <a:srgbClr val="1F2933"/>
                </a:solidFill>
              </a:rPr>
              <a:t>报告2025年度亏损超过上年末净资产10%的重大事项；该段</a:t>
            </a:r>
            <a:endParaRPr lang="en-US" sz="1800" dirty="0"/>
          </a:p>
          <a:p>
            <a:pPr indent="0" marL="0">
              <a:lnSpc>
                <a:spcPct val="100000"/>
              </a:lnSpc>
              <a:buNone/>
            </a:pPr>
            <a:r>
              <a:rPr lang="en-US" sz="1800" dirty="0">
                <a:solidFill>
                  <a:srgbClr val="1F2933"/>
                </a:solidFill>
              </a:rPr>
              <a:t>没有认定累计债券余额承诺违约。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报告称已发行债券及其他债务融资工具</a:t>
            </a:r>
            <a:endParaRPr lang="en-US" sz="1800" dirty="0"/>
          </a:p>
          <a:p>
            <a:pPr indent="0" marL="0">
              <a:lnSpc>
                <a:spcPct val="100000"/>
              </a:lnSpc>
              <a:buNone/>
            </a:pPr>
            <a:r>
              <a:rPr lang="en-US" sz="1800" dirty="0">
                <a:solidFill>
                  <a:srgbClr val="1F2933"/>
                </a:solidFill>
              </a:rPr>
              <a:t>不存在延迟支付本息、2025年度付息无延迟、2025年度未发生应召开或已召开的持有人会议事项</a:t>
            </a:r>
            <a:endParaRPr lang="en-US" sz="1800" dirty="0"/>
          </a:p>
          <a:p>
            <a:pPr indent="0" marL="0">
              <a:lnSpc>
                <a:spcPct val="100000"/>
              </a:lnSpc>
              <a:buNone/>
            </a:pPr>
            <a:r>
              <a:rPr lang="en-US" sz="1800" dirty="0">
                <a:solidFill>
                  <a:srgbClr val="1F2933"/>
                </a:solidFill>
              </a:rPr>
              <a:t>，相关承诺履行良好；未提供持续财务承诺的专门测试调节表。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[ks_d_e_temporary_report] p5仍</a:t>
            </a:r>
            <a:endParaRPr lang="en-US" sz="1800" dirty="0"/>
          </a:p>
          <a:p>
            <a:pPr indent="0" marL="0">
              <a:lnSpc>
                <a:spcPct val="100000"/>
              </a:lnSpc>
              <a:buNone/>
            </a:pPr>
            <a:r>
              <a:rPr lang="en-US" sz="1800" dirty="0">
                <a:solidFill>
                  <a:srgbClr val="1F2933"/>
                </a:solidFill>
              </a:rPr>
              <a:t>列6.72元/股，p15已记录后续6.67元/股。p16</a:t>
            </a:r>
            <a:endParaRPr lang="en-US" sz="1800" dirty="0"/>
          </a:p>
          <a:p>
            <a:pPr indent="0" marL="0">
              <a:lnSpc>
                <a:spcPct val="100000"/>
              </a:lnSpc>
              <a:buNone/>
            </a:pPr>
            <a:r>
              <a:rPr lang="en-US" sz="1800" dirty="0">
                <a:solidFill>
                  <a:srgbClr val="1F2933"/>
                </a:solidFill>
              </a:rPr>
              <a:t>报告2025年度亏损超过上年末净资产10%的重大事项；该段</a:t>
            </a:r>
            <a:endParaRPr lang="en-US" sz="1800" dirty="0"/>
          </a:p>
          <a:p>
            <a:pPr indent="0" marL="0">
              <a:lnSpc>
                <a:spcPct val="100000"/>
              </a:lnSpc>
              <a:buNone/>
            </a:pPr>
            <a:r>
              <a:rPr lang="en-US" sz="1800" dirty="0">
                <a:solidFill>
                  <a:srgbClr val="1F2933"/>
                </a:solidFill>
              </a:rPr>
              <a:t>没有认定累计债券余额承诺违约。</a:t>
            </a:r>
            <a:endParaRPr lang="en-US" sz="1800" dirty="0"/>
          </a:p>
          <a:p>
            <a:pPr indent="0" marL="0">
              <a:lnSpc>
                <a:spcPct val="100000"/>
              </a:lnSpc>
              <a:buNone/>
            </a:pPr>
            <a:r>
              <a:rPr lang="en-US" sz="1800" dirty="0">
                <a:solidFill>
                  <a:srgbClr val="1F2933"/>
                </a:solidFill>
              </a:rPr>
              <a:t>[ks_d_e_fund_delay] 有关项目达到预定可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使用状态日期延至2028-12-31；公司及核查意见称未</a:t>
            </a:r>
            <a:endParaRPr lang="en-US" sz="1800" dirty="0"/>
          </a:p>
          <a:p>
            <a:pPr indent="0" marL="0">
              <a:lnSpc>
                <a:spcPct val="100000"/>
              </a:lnSpc>
              <a:buNone/>
            </a:pPr>
            <a:r>
              <a:rPr lang="en-US" sz="1800" dirty="0">
                <a:solidFill>
                  <a:srgbClr val="1F2933"/>
                </a:solidFill>
              </a:rPr>
              <a:t>改变主体、方式、内容、用途或投资规模。披露临时补流与一般</a:t>
            </a:r>
            <a:endParaRPr lang="en-US" sz="1800" dirty="0"/>
          </a:p>
          <a:p>
            <a:pPr indent="0" marL="0">
              <a:lnSpc>
                <a:spcPct val="100000"/>
              </a:lnSpc>
              <a:buNone/>
            </a:pPr>
            <a:r>
              <a:rPr lang="en-US" sz="1800" dirty="0">
                <a:solidFill>
                  <a:srgbClr val="1F2933"/>
                </a:solidFill>
              </a:rPr>
              <a:t>资金混同，要求加强独立管理，同时作未违规改变投向的一般结论</a:t>
            </a:r>
            <a:endParaRPr lang="en-US" sz="1800" dirty="0"/>
          </a:p>
          <a:p>
            <a:pPr indent="0" marL="0">
              <a:lnSpc>
                <a:spcPct val="100000"/>
              </a:lnSpc>
              <a:buNone/>
            </a:pPr>
            <a:r>
              <a:rPr lang="en-US" sz="1800" dirty="0">
                <a:solidFill>
                  <a:srgbClr val="1F2933"/>
                </a:solidFill>
              </a:rPr>
              <a:t>；仅延期或管理混同不足以直接认定附加回售条件已成就。</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股价记录、当期有效转股价、适用计息年度及程序证据共同满足时</a:t>
            </a:r>
            <a:endParaRPr lang="en-US" sz="1800" dirty="0"/>
          </a:p>
          <a:p>
            <a:pPr indent="0" marL="0">
              <a:lnSpc>
                <a:spcPct val="100000"/>
              </a:lnSpc>
              <a:buNone/>
            </a:pPr>
            <a:r>
              <a:rPr lang="en-US" sz="1800" dirty="0">
                <a:solidFill>
                  <a:srgbClr val="1F2933"/>
                </a:solidFill>
              </a:rPr>
              <a:t>，才将相关提前支付列为已触发义务。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400" b="1" dirty="0">
                <a:solidFill>
                  <a:srgbClr val="237F72"/>
                </a:solidFill>
              </a:rPr>
              <a:t>未计算 / unavailable</a:t>
            </a:r>
            <a:endParaRPr lang="en-US" sz="14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[ks_d_e_fund_correction] 受托报告</a:t>
            </a:r>
            <a:endParaRPr lang="en-US" sz="1800" dirty="0"/>
          </a:p>
          <a:p>
            <a:pPr indent="0" marL="0">
              <a:lnSpc>
                <a:spcPct val="100000"/>
              </a:lnSpc>
              <a:buNone/>
            </a:pPr>
            <a:r>
              <a:rPr lang="en-US" sz="1800" dirty="0">
                <a:solidFill>
                  <a:srgbClr val="1F2933"/>
                </a:solidFill>
              </a:rPr>
              <a:t>指出临时补流从专户转入一般户后与其他资金混同，要求单独管理</a:t>
            </a:r>
            <a:endParaRPr lang="en-US" sz="1800" dirty="0"/>
          </a:p>
          <a:p>
            <a:pPr indent="0" marL="0">
              <a:lnSpc>
                <a:spcPct val="100000"/>
              </a:lnSpc>
              <a:buNone/>
            </a:pPr>
            <a:r>
              <a:rPr lang="en-US" sz="1800" dirty="0">
                <a:solidFill>
                  <a:srgbClr val="1F2933"/>
                </a:solidFill>
              </a:rPr>
              <a:t>，并记录旧一期资金全部归还。一般履约意见不消除已披露管理</a:t>
            </a:r>
            <a:endParaRPr lang="en-US" sz="1800" dirty="0"/>
          </a:p>
          <a:p>
            <a:pPr indent="0" marL="0">
              <a:lnSpc>
                <a:spcPct val="100000"/>
              </a:lnSpc>
              <a:buNone/>
            </a:pPr>
            <a:r>
              <a:rPr lang="en-US" sz="1800" dirty="0">
                <a:solidFill>
                  <a:srgbClr val="1F2933"/>
                </a:solidFill>
              </a:rPr>
              <a:t>问题。</a:t>
            </a:r>
            <a:endParaRPr lang="en-US" sz="1800" dirty="0"/>
          </a:p>
          <a:p>
            <a:pPr indent="0" marL="0">
              <a:lnSpc>
                <a:spcPct val="100000"/>
              </a:lnSpc>
              <a:buNone/>
            </a:pPr>
            <a:r>
              <a:rPr lang="en-US" sz="1800" dirty="0">
                <a:solidFill>
                  <a:srgbClr val="1F2933"/>
                </a:solidFill>
              </a:rPr>
              <a:t>[ks_d_e_fund_delay] 有关项目达到预定可</a:t>
            </a:r>
            <a:endParaRPr lang="en-US" sz="1800" dirty="0"/>
          </a:p>
          <a:p>
            <a:pPr indent="0" marL="0">
              <a:lnSpc>
                <a:spcPct val="100000"/>
              </a:lnSpc>
              <a:buNone/>
            </a:pPr>
            <a:r>
              <a:rPr lang="en-US" sz="1800" dirty="0">
                <a:solidFill>
                  <a:srgbClr val="1F2933"/>
                </a:solidFill>
              </a:rPr>
              <a:t>使用状态日期延至2028-12-31；公司及核查意见称未</a:t>
            </a:r>
            <a:endParaRPr lang="en-US" sz="1800" dirty="0"/>
          </a:p>
          <a:p>
            <a:pPr indent="0" marL="0">
              <a:lnSpc>
                <a:spcPct val="100000"/>
              </a:lnSpc>
              <a:buNone/>
            </a:pPr>
            <a:r>
              <a:rPr lang="en-US" sz="1800" dirty="0">
                <a:solidFill>
                  <a:srgbClr val="1F2933"/>
                </a:solidFill>
              </a:rPr>
              <a:t>改变主体、方式、内容、用途或投资规模。披露临时补流与一般</a:t>
            </a:r>
            <a:endParaRPr lang="en-US" sz="1800" dirty="0"/>
          </a:p>
          <a:p>
            <a:pPr indent="0" marL="0">
              <a:lnSpc>
                <a:spcPct val="100000"/>
              </a:lnSpc>
              <a:buNone/>
            </a:pPr>
            <a:r>
              <a:rPr lang="en-US" sz="1800" dirty="0">
                <a:solidFill>
                  <a:srgbClr val="1F2933"/>
                </a:solidFill>
              </a:rPr>
              <a:t>资金混同，要求加强独立管理，同时作未违规改变投向的一般结论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；仅延期或管理混同不足以直接认定附加回售条件已成就。</a:t>
            </a:r>
            <a:endParaRPr lang="en-US" sz="1800" dirty="0"/>
          </a:p>
          <a:p>
            <a:pPr indent="0" marL="0">
              <a:lnSpc>
                <a:spcPct val="100000"/>
              </a:lnSpc>
              <a:buNone/>
            </a:pPr>
            <a:r>
              <a:rPr lang="en-US" sz="1800" dirty="0">
                <a:solidFill>
                  <a:srgbClr val="1F2933"/>
                </a:solidFill>
              </a:rPr>
              <a:t>[ks_d_e_sponsor_performance] </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a:p>
            <a:pPr indent="0" marL="0">
              <a:lnSpc>
                <a:spcPct val="100000"/>
              </a:lnSpc>
              <a:buNone/>
            </a:pPr>
            <a:r>
              <a:rPr lang="en-US" sz="1800" dirty="0">
                <a:solidFill>
                  <a:srgbClr val="1F2933"/>
                </a:solidFill>
              </a:rPr>
              <a:t>资金混同管理事项。未提供累计债券余额承诺逐期计算或豁免文件</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科顺正CFO与负EBITDA并存，两家同行仍保持正盈利及CFO。雨虹现金下降须连接收购与分配</a:t>
            </a:r>
            <a:endParaRPr lang="en-US" sz="1800" dirty="0"/>
          </a:p>
          <a:p>
            <a:pPr indent="0" marL="0">
              <a:lnSpc>
                <a:spcPct val="100000"/>
              </a:lnSpc>
              <a:buNone/>
            </a:pPr>
            <a:r>
              <a:rPr lang="en-US" sz="1800" dirty="0">
                <a:solidFill>
                  <a:srgbClr val="1F2933"/>
                </a:solidFill>
              </a:rPr>
              <a:t>；北新窄口径CCE之外还有较大结构性存款。三家以相同明示融资类别比较，但排除长期应付款等后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并非方法全部债务，费用化利息倍数也不是全部利息倍数；本案评级分档仍采用自己的完整方法口径。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[ks_b_e_operations] 公司列示全国生产基地，31个省市3200多家经销商；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2025研发人员378人，研发投入252838924.63元，占收入4.18%，研发资本化为</a:t>
            </a:r>
            <a:endParaRPr lang="en-US" sz="1800" dirty="0"/>
          </a:p>
          <a:p>
            <a:pPr indent="0" marL="0">
              <a:lnSpc>
                <a:spcPct val="100000"/>
              </a:lnSpc>
              <a:buNone/>
            </a:pPr>
            <a:r>
              <a:rPr lang="en-US" sz="1800" dirty="0">
                <a:solidFill>
                  <a:srgbClr val="1F2933"/>
                </a:solidFill>
              </a:rPr>
              <a:t>零；有效专利908项。</a:t>
            </a:r>
            <a:endParaRPr lang="en-US" sz="1800" dirty="0"/>
          </a:p>
          <a:p>
            <a:pPr indent="0" marL="0">
              <a:lnSpc>
                <a:spcPct val="100000"/>
              </a:lnSpc>
              <a:buNone/>
            </a:pPr>
            <a:r>
              <a:rPr lang="en-US" sz="1800" dirty="0">
                <a:solidFill>
                  <a:srgbClr val="1F2933"/>
                </a:solidFill>
              </a:rPr>
              <a:t>[ks_a_e_invest] 新增基金、顺控保理丧失控制、横琴同控收购、科安顺少数股权；</a:t>
            </a:r>
            <a:endParaRPr lang="en-US" sz="1800" dirty="0"/>
          </a:p>
          <a:p>
            <a:pPr indent="0" marL="0">
              <a:lnSpc>
                <a:spcPct val="100000"/>
              </a:lnSpc>
              <a:buNone/>
            </a:pPr>
            <a:r>
              <a:rPr lang="en-US" sz="1800" dirty="0">
                <a:solidFill>
                  <a:srgbClr val="1F2933"/>
                </a:solidFill>
              </a:rPr>
              <a:t>历史丰泽失控/恢复控制导致历史可比性限制。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按境内境外构建的2026收入情景：指标摘要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按境内境外构建的2026收入情景：方法、假设与限制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等；完整出处见来源附页及备注</a:t>
            </a:r>
            <a:endParaRPr lang="en-US" sz="1100" dirty="0"/>
          </a:p>
          <a:p>
            <a:pPr indent="0" marL="0">
              <a:lnSpc>
                <a:spcPct val="100000"/>
              </a:lnSpc>
              <a:buNone/>
            </a:pPr>
            <a:r>
              <a:rPr lang="en-US" sz="1100" dirty="0">
                <a:solidFill>
                  <a:srgbClr val="56646C"/>
                </a:solidFill>
              </a:rPr>
              <a:t>。已运行快照，全量结果与公式见Excel/JSON。</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nominal_to_consolidated_equity_bridge_v1</a:t>
            </a:r>
            <a:endParaRPr lang="en-US" sz="1600" dirty="0"/>
          </a:p>
          <a:p>
            <a:pPr indent="0" marL="0">
              <a:lnSpc>
                <a:spcPct val="100000"/>
              </a:lnSpc>
              <a:buNone/>
            </a:pPr>
            <a:r>
              <a:rPr lang="en-US" sz="1600" dirty="0">
                <a:solidFill>
                  <a:srgbClr val="1F2933"/>
                </a:solidFill>
              </a:rPr>
              <a:t>；截至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
已运行专门结果快照；本次导出未重新计算或校验。输入或方法改变后须重跑专门脚本并重新导出。
证据记录 ks_r_e_business, ks_r_e_history, 
ks_b_e_operations, ks_b_e_ownership；完整输入记录见备注。
假设：原文营收区间[50,120)亿元、净周期(50,200]天分别给出[4,5)分；4.5只是明确的
区间代表值，不声称机构内部插值。
</a:t>
            </a:r>
            <a:endParaRPr lang="en-US" sz="16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满足原文两年例外。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假设：资产质量评价针对真实可回收价值及变现限制；减值对盈利已有直接作用，不再将同一减值损失机械重复扣分</a:t>
            </a:r>
            <a:endParaRPr lang="en-US" sz="1600" dirty="0"/>
          </a:p>
          <a:p>
            <a:pPr indent="0" marL="0">
              <a:lnSpc>
                <a:spcPct val="100000"/>
              </a:lnSpc>
              <a:buNone/>
            </a:pPr>
            <a:r>
              <a:rPr lang="en-US" sz="1600" dirty="0">
                <a:solidFill>
                  <a:srgbClr val="1F2933"/>
                </a:solidFill>
              </a:rPr>
              <a:t>。再融资判断衡量实际融资资源与约束，不承诺未来续贷。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限制：资产权属、抵债实际成交/ECL回收参数、DTA按主体盈利、募集金用途及可提款授信条件未获底层验证</a:t>
            </a:r>
            <a:endParaRPr lang="en-US" sz="1600" dirty="0"/>
          </a:p>
          <a:p>
            <a:pPr indent="0" marL="0">
              <a:lnSpc>
                <a:spcPct val="100000"/>
              </a:lnSpc>
              <a:buNone/>
            </a:pPr>
            <a:r>
              <a:rPr lang="en-US" sz="1600" dirty="0">
                <a:solidFill>
                  <a:srgbClr val="1F2933"/>
                </a:solidFill>
              </a:rPr>
              <a:t>。资产质量和再融资分值为明确研究判断；本次量化区间边界固定这些定性分值，不伪装成全部判断的穷尽范围。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ks_horizon_e_decontrol_scope；完整输入记录见备注。
假设：起点为2026-03-31合并实际CCE；六月至十二月均为条件值。
假设：无新增融资、续贷、注资、资产变现；本金/资本支出/其他现金预算均明确为假设。
假设：季度合成收款用于保持原披露季节性，不是原件披露的季度收款。
假设：用途资金敏感性为单独预留，不新增一笔外部还债。
假设：历史剩余期为年报减原Q1的跨版本机械锚；所列三情景数字均假定Δ_A=0，未认定调整已核实为零。
假设：所列代理数值只在对应Δ及Γ取0时成立；实际参数均未核，保留null。取0不是同口径已获证实。
</a:t>
            </a:r>
            <a:endParaRPr lang="en-US" sz="16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ks_horizon_e_decontrol_scope；完整输入记录见备注。
假设：起点为2026-03-31合并实际CCE；六月至十二月均为条件值。
假设：无新增融资、续贷、注资、资产变现；本金/资本支出/其他现金预算均明确为假设。
假设：季度合成收款用于保持原披露季节性，不是原件披露的季度收款。
假设：用途资金敏感性为单独预留，不新增一笔外部还债。
假设：历史剩余期为年报减原Q1的跨版本机械锚；所列三情景数字均假定Δ_A=0，未认定调整已核实为零。
假设：所列代理数值只在对应Δ及Γ取0时成立；实际参数均未核，保留null。取0不是同口径已获证实。
</a:t>
            </a:r>
            <a:endParaRPr lang="en-US" sz="16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ks_horizon_e_decontrol_scope；完整输入记录见备注。
假设：起点为2026-03-31合并实际CCE；六月至十二月均为条件值。
假设：无新增融资、续贷、注资、资产变现；本金/资本支出/其他现金预算均明确为假设。
假设：季度合成收款用于保持原披露季节性，不是原件披露的季度收款。
假设：用途资金敏感性为单独预留，不新增一笔外部还债。
假设：历史剩余期为年报减原Q1的跨版本机械锚；所列三情景数字均假定Δ_A=0，未认定调整已核实为零。
假设：所列代理数值只在对应Δ及Γ取0时成立；实际参数均未核，保留null。取0不是同口径已获证实。
</a:t>
            </a:r>
            <a:endParaRPr lang="en-US" sz="16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
已运行专门结果快照；本次导出未重新计算或校验。输入或方法改变后须重跑专门脚本并重新导出。
证据记录 ks_a_e_parent, ks_d_e_issue_coupon, 
ks_r_e_issue；完整输入记录见备注。
假设：现金、短期义务与面值同取2025-12-31；冻结本金到期比较为条件需求，非2029实际余额。
限制：母公司短借和一年内非流动负债仍为账面库存代理，不能把含息或混合项目全称银行本金；本表不证明付款
期限。
</a:t>
            </a:r>
            <a:endParaRPr lang="en-US" sz="16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branch：中央研究路径
business：C
finance：F4
cell：a-/bbb+
chosen：bbb+
individual：不另加减档，条件与风险逐项列明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branch：先权会计金额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
business：D
finance：F4
cell：bbb-/bb+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
business：D
finance：F5
cell：bb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condition：若已证实到期不能支付、合法提前到期或未落实资金不足以覆盖，停止常态矩阵结论；按事实</a:t>
            </a:r>
            <a:endParaRPr lang="en-US" sz="1600" dirty="0"/>
          </a:p>
          <a:p>
            <a:pPr indent="0" marL="0">
              <a:lnSpc>
                <a:spcPct val="100000"/>
              </a:lnSpc>
              <a:buNone/>
            </a:pPr>
            <a:r>
              <a:rPr lang="en-US" sz="1600" dirty="0">
                <a:solidFill>
                  <a:srgbClr val="1F2933"/>
                </a:solidFill>
              </a:rPr>
              <a:t>、合同宽限、补救与适用困境规则重新定级，不用负面展望替代即时行动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
已运行专门结果快照；本次导出未重新计算或校验。输入或方法改变后须重跑专门脚本并重新导出。
证据记录 ks_r_peer_keshun, ks_r_peer_yuhong, 
ks_r_peer_bnbm；完整输入记录见备注。
假设：统一定义及原始输入按已运行同行底稿保留；不用不同机构口径拼接得分。
限制：本底稿只补充增长、盈利、杠杆和长短期偿债四方面的代表性同行观察，不计算行业均值、市场份额或机构评
级。
</a:t>
            </a:r>
            <a:endParaRPr lang="en-US" sz="16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限制：全部原值为人民币元，金额字符串保留小数；比较表金额转亿元，比例为百分比，覆盖为倍，周转为天。
2025与2024均为年度流量或各年12月31日存量。
限制：简式融资余额包含列示银行借款、债券含短融、租赁、应付票据及已识别保理/拆借本金和表内利息；不包含
长期应付款、一般AP、股份回购义务和未确认为融资的其他负债。三个公司采用同一类别定义；因此不等同各机构
全部债务或已核实的经济融资负债。
限制：长期应付款全部单列排除以保持列报可比：东方雨虹2025/2024非流动融资租赁
49,640,000/51,100,000元，2025当前长期应付款32,155,000元分拆不足；科
顺2024当前融资租赁17,792,864.10元；北新长期应付款明细为人员项目与国家拨款。它们不因
排除而免偿，相关融资余额比率会比全口径略乐观。
</a:t>
            </a:r>
            <a:endParaRPr lang="en-US" sz="16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2026-06-30
已运行专门结果快照；本次导出未重新计算或校验。输入或方法改变后须重跑专门脚本并重新导出。
证据记录 ks_d_e_fund_new, ks_d_e_fund_return, 
ks_d_l_e_parent, ks_project_e_schedule, 
ks_horizon_e_h1_scope, ks_horizon_e_ar_scope, 
ks_horizon_e_q126_comparatives, 
ks_horizon_e_decontrol_scope；完整输入记录见备注。
假设：使用现有基准现金模型的2026-12-31条件集团现金，不是已公布实际年末现金。
假设：静态测试在Δ_A=Γ=0代理起点上，另假设1月1日至12个月边界净资源变动、发行人可调度扣减、
其他到期支付和营运底额均为零，只形成该条件选点的静态容量，非未知范围调整下的真实上限。
</a:t>
            </a:r>
            <a:endParaRPr lang="en-US" sz="16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限制：本事件在现有2026年底现金路径之后；前一季度已发生的缺口须先解决，静态年末余量不能治愈此前断点</a:t>
            </a:r>
            <a:endParaRPr lang="en-US" sz="1600" dirty="0"/>
          </a:p>
          <a:p>
            <a:pPr indent="0" marL="0">
              <a:lnSpc>
                <a:spcPct val="100000"/>
              </a:lnSpc>
              <a:buNone/>
            </a:pPr>
            <a:r>
              <a:rPr lang="en-US" sz="1600" dirty="0">
                <a:solidFill>
                  <a:srgbClr val="1F2933"/>
                </a:solidFill>
              </a:rPr>
              <a:t>，也不证明连续12个月覆盖。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假设：2027Q1/Q2银行本金、供应链融资本金及租赁付款D1/D2均为null未知。2027未来股利</a:t>
            </a:r>
            <a:endParaRPr lang="en-US" sz="1600" dirty="0"/>
          </a:p>
          <a:p>
            <a:pPr indent="0" marL="0">
              <a:lnSpc>
                <a:spcPct val="100000"/>
              </a:lnSpc>
              <a:buNone/>
            </a:pPr>
            <a:r>
              <a:rPr lang="en-US" sz="1600" dirty="0">
                <a:solidFill>
                  <a:srgbClr val="1F2933"/>
                </a:solidFill>
              </a:rPr>
              <a:t>、收购、未纳入项目款、利息预算差额、其他限制/汇率净不利变化归X（可正可负），也为null未知。表中</a:t>
            </a:r>
            <a:endParaRPr lang="en-US" sz="1600" dirty="0"/>
          </a:p>
          <a:p>
            <a:pPr indent="0" marL="0">
              <a:lnSpc>
                <a:spcPct val="100000"/>
              </a:lnSpc>
              <a:buNone/>
            </a:pPr>
            <a:r>
              <a:rPr lang="en-US" sz="1600" dirty="0">
                <a:solidFill>
                  <a:srgbClr val="1F2933"/>
                </a:solidFill>
              </a:rPr>
              <a:t>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之后；不在2027Q1/Q2再次扣除。2026Q3的21,978,205元已包含在承接路径中。提前回售
/赎回如合法触发必须替换相关时间轴，不预设触发或自动转股。
假设：15个日历日正常经营毛付款作为研究最低营运缓冲M=季度经营付款/季天数×15；不是事实、监管要求
或管理层最低余额。另保留0/30日敏感性，缓冲只占用自由现金容量，不当对外现金支出重复扣。
假设：U是截至恢复用途事件仍须从该模拟现金池隔离、且尚未在起点排除的临时补流金额，实际null未知；0
、6.5亿、13亿仅边界/中点敏感性。1月9日前主列假定尚无提前项目需求；若提前需要，须把同一U事件前
移，不能加第二次。授权额不是所有用途限制上限。
假设：恢复用途为集团内划转；不减少集团持有货币总额，但可能改变报表现金等价物分类。G表示沿原CCE起点
形成的模拟资金池（未扣新增用途隔离），不是未来已披露自由现金。P是已经包括在资本开支中的合格项目付款使
U相应消耗的累计额，实际null；R=max(0,U-P)，扣外付同时减用途余额，不双扣。
</a:t>
            </a:r>
            <a:endParaRPr lang="en-US" sz="16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假设：2027Q1/Q2银行本金、供应链融资本金及租赁付款D1/D2均为null未知。2027未来股利</a:t>
            </a:r>
            <a:endParaRPr lang="en-US" sz="1600" dirty="0"/>
          </a:p>
          <a:p>
            <a:pPr indent="0" marL="0">
              <a:lnSpc>
                <a:spcPct val="100000"/>
              </a:lnSpc>
              <a:buNone/>
            </a:pPr>
            <a:r>
              <a:rPr lang="en-US" sz="1600" dirty="0">
                <a:solidFill>
                  <a:srgbClr val="1F2933"/>
                </a:solidFill>
              </a:rPr>
              <a:t>、收购、未纳入项目款、利息预算差额、其他限制/汇率净不利变化归X（可正可负），也为null未知。表中</a:t>
            </a:r>
            <a:endParaRPr lang="en-US" sz="1600" dirty="0"/>
          </a:p>
          <a:p>
            <a:pPr indent="0" marL="0">
              <a:lnSpc>
                <a:spcPct val="100000"/>
              </a:lnSpc>
              <a:buNone/>
            </a:pPr>
            <a:r>
              <a:rPr lang="en-US" sz="1600" dirty="0">
                <a:solidFill>
                  <a:srgbClr val="1F2933"/>
                </a:solidFill>
              </a:rPr>
              <a:t>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之后；不在2027Q1/Q2再次扣除。2026Q3的21,978,205元已包含在承接路径中。提前回售
/赎回如合法触发必须替换相关时间轴，不预设触发或自动转股。
假设：15个日历日正常经营毛付款作为研究最低营运缓冲M=季度经营付款/季天数×15；不是事实、监管要求
或管理层最低余额。另保留0/30日敏感性，缓冲只占用自由现金容量，不当对外现金支出重复扣。
假设：U是截至恢复用途事件仍须从该模拟现金池隔离、且尚未在起点排除的临时补流金额，实际null未知；0
、6.5亿、13亿仅边界/中点敏感性。1月9日前主列假定尚无提前项目需求；若提前需要，须把同一U事件前
移，不能加第二次。授权额不是所有用途限制上限。
假设：恢复用途为集团内划转；不减少集团持有货币总额，但可能改变报表现金等价物分类。G表示沿原CCE起点
形成的模拟资金池（未扣新增用途隔离），不是未来已披露自由现金。P是已经包括在资本开支中的合格项目付款使
U相应消耗的累计额，实际null；R=max(0,U-P)，扣外付同时减用途余额，不双扣。
</a:t>
            </a:r>
            <a:endParaRPr lang="en-US" sz="16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
unit：CNY
original_Q1：1471135133.66
original_Q1_ref：ks_d_l_f_q1_2025_customerscash
H1_reported：3116316201.72
H1_ref：ks_horizon_f_h125_customerscash
AR_reported：7066047632.31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AR_ref：ks_a_customerscash_2025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
unit：CNY
original_Q1：48893992.48
original_Q1_ref：ks_d_l_f_q1_2025_otheropcashin
H1_reported：117263659.93
H1_ref：ks_horizon_f_h125_otheropcashin
AR_reported：375860933.08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AR_ref：ks_a_otheropcashin_2025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
unit：CNY
original_Q1：1500131598.29
original_Q1_ref：ks_d_l_f_q1_2025_suppliercash
H1_reported：3030340600.46
H1_ref：ks_horizon_f_h125_suppliercash
AR_reported：5571190685.38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AR_ref：ks_a_suppliercash_2025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
unit：CNY
original_Q1：254375757.35
original_Q1_ref：ks_d_l_f_q1_2025_employeecash
H1_reported：401629422.52
H1_ref：ks_horizon_f_h125_employeecash
AR_reported：727672271.98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AR_ref：ks_a_employeecash_2025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
unit：CNY
original_Q1：58023509.17
original_Q1_ref：ks_d_l_f_q1_2025_taxcash
H1_reported：175817108.19
H1_ref：ks_horizon_f_h125_taxcash
AR_reported：301197217.77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AR_ref：ks_a_taxcash_2025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
unit：CNY
original_Q1：89850533.42
original_Q1_ref：ks_d_l_f_q1_2025_otheropcashout
H1_reported：186965076.93
H1_ref：ks_horizon_f_h125_otheropcashout
AR_reported：523173663.02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AR_ref：ks_a_otheropcashout_2025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
unit：CNY
original_Q1：95610189.36
original_Q1_ref：ks_d_l_f_q1_2025_capex
H1_reported：132437094.72
H1_ref：ks_horizon_f_h125_capex
AR_reported：172502372.71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AR_ref：ks_a_capex_2025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
mechanical_H1_minus_original_Q1：-178820074.36
mechanical_AR_minus_original_Q1：701980292.74
delta_H_Q1：null
delta_A_Q1：0.00
H1_version_Q2_formula：H1_reported - original_Q1 - 
delta_H_Q1
AR_version_Apr_Dec_formula：AR_reported - 
original_Q1 - delta_A_Q1
</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主要工程合同、客户确认工程量、变更索赔、预计总成本、质保及期后结算，执行截止测试</a:t>
            </a:r>
            <a:endParaRPr lang="en-US" sz="1800" dirty="0"/>
          </a:p>
          <a:p>
            <a:pPr indent="0" marL="0">
              <a:lnSpc>
                <a:spcPct val="100000"/>
              </a:lnSpc>
              <a:buNone/>
            </a:pPr>
            <a:r>
              <a:rPr lang="en-US" sz="1800" dirty="0">
                <a:solidFill>
                  <a:srgbClr val="1F2933"/>
                </a:solidFill>
              </a:rPr>
              <a:t>。</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滁州一期重要在建表各列至总账明细的完整桥、其他减少内容、转固验收及资本化利息计算</a:t>
            </a:r>
            <a:endParaRPr lang="en-US" sz="1800" dirty="0"/>
          </a:p>
          <a:p>
            <a:pPr indent="0" marL="0">
              <a:lnSpc>
                <a:spcPct val="100000"/>
              </a:lnSpc>
              <a:buNone/>
            </a:pPr>
            <a:r>
              <a:rPr lang="en-US" sz="1800" dirty="0">
                <a:solidFill>
                  <a:srgbClr val="1F2933"/>
                </a:solidFill>
              </a:rPr>
              <a:t>。</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按纳税主体未来应税利润预算、亏损到期表、可抵扣差异转回时点及优惠资格持续性。</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银行授信合同可提条件、保证/保函对手清单和代偿历史、诉讼律师意见、产品质量预计</a:t>
            </a:r>
            <a:endParaRPr lang="en-US" sz="1800" dirty="0"/>
          </a:p>
          <a:p>
            <a:pPr indent="0" marL="0">
              <a:lnSpc>
                <a:spcPct val="100000"/>
              </a:lnSpc>
              <a:buNone/>
            </a:pPr>
            <a:r>
              <a:rPr lang="en-US" sz="1800" dirty="0">
                <a:solidFill>
                  <a:srgbClr val="1F2933"/>
                </a:solidFill>
              </a:rPr>
              <a:t>负债测算。</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取得混用期间逐笔银行流水与用途追踪、专户整改执行、截至研究截止日新轮实际占用及募</a:t>
            </a:r>
            <a:endParaRPr lang="en-US" sz="1800" dirty="0"/>
          </a:p>
          <a:p>
            <a:pPr indent="0" marL="0">
              <a:lnSpc>
                <a:spcPct val="100000"/>
              </a:lnSpc>
              <a:buNone/>
            </a:pPr>
            <a:r>
              <a:rPr lang="en-US" sz="1800" dirty="0">
                <a:solidFill>
                  <a:srgbClr val="1F2933"/>
                </a:solidFill>
              </a:rPr>
              <a:t>投资金需求。旧轮归还和新轮授权公告已取得，不再请求重复证明授权时点。</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现金等价物</a:t>
            </a:r>
            <a:endParaRPr lang="en-US" sz="1600" dirty="0"/>
          </a:p>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第36、179—182、214—216、223、242页，长期股权投资</a:t>
            </a:r>
            <a:endParaRPr lang="en-US" sz="1600" dirty="0"/>
          </a:p>
          <a:p>
            <a:pPr indent="0" marL="0">
              <a:lnSpc>
                <a:spcPct val="100000"/>
              </a:lnSpc>
              <a:buNone/>
            </a:pPr>
            <a:r>
              <a:rPr lang="en-US" sz="1600" dirty="0">
                <a:solidFill>
                  <a:srgbClr val="1F2933"/>
                </a:solidFill>
              </a:rPr>
              <a:t>、基金承诺及范围变化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2025年报PDF218，未折现剩余合同现金流表；期末余额</a:t>
            </a:r>
            <a:endParaRPr lang="en-US" sz="1600" dirty="0"/>
          </a:p>
          <a:p>
            <a:pPr indent="0" marL="0">
              <a:lnSpc>
                <a:spcPct val="100000"/>
              </a:lnSpc>
              <a:buNone/>
            </a:pPr>
            <a:r>
              <a:rPr lang="en-US" sz="1600" dirty="0">
                <a:solidFill>
                  <a:srgbClr val="1F2933"/>
                </a:solidFill>
              </a:rPr>
              <a:t>，应付债券行，原单位万元；列为一年以内/一至三年/三年以上/合计。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a:p>
            <a:pPr indent="0" marL="0">
              <a:lnSpc>
                <a:spcPct val="100000"/>
              </a:lnSpc>
              <a:buNone/>
            </a:pPr>
            <a:r>
              <a:rPr lang="en-US" sz="1600" dirty="0">
                <a:solidFill>
                  <a:srgbClr val="1F2933"/>
                </a:solidFill>
              </a:rPr>
              <a:t>范围变动；209页处置子公司现金影响</a:t>
            </a:r>
            <a:endParaRPr lang="en-US" sz="16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[ks_d_l_f_q1_2025_otherfinout_e]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[ks_a_s_return26] 关于归还暂时用于补充流动资金的闲置募集资金的公告（2026-002</a:t>
            </a:r>
            <a:endParaRPr lang="en-US" sz="1600" dirty="0"/>
          </a:p>
          <a:p>
            <a:pPr indent="0" marL="0">
              <a:lnSpc>
                <a:spcPct val="100000"/>
              </a:lnSpc>
              <a:buNone/>
            </a:pPr>
            <a:r>
              <a:rPr lang="en-US" sz="1600" dirty="0">
                <a:solidFill>
                  <a:srgbClr val="1F2933"/>
                </a:solidFill>
              </a:rPr>
              <a:t>）</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合并资产负债表；列：期末余额/期初余额（2025-12</a:t>
            </a:r>
            <a:endParaRPr lang="en-US" sz="1600" dirty="0"/>
          </a:p>
          <a:p>
            <a:pPr indent="0" marL="0">
              <a:lnSpc>
                <a:spcPct val="100000"/>
              </a:lnSpc>
              <a:buNone/>
            </a:pPr>
            <a:r>
              <a:rPr lang="en-US" sz="1600" dirty="0">
                <a:solidFill>
                  <a:srgbClr val="1F2933"/>
                </a:solidFill>
              </a:rPr>
              <a:t>-31/2024-12-31）；[144] 合并资产负债表；列：期末余额/期初余额（2025-12-</a:t>
            </a:r>
            <a:endParaRPr lang="en-US" sz="1600" dirty="0"/>
          </a:p>
          <a:p>
            <a:pPr indent="0" marL="0">
              <a:lnSpc>
                <a:spcPct val="100000"/>
              </a:lnSpc>
              <a:buNone/>
            </a:pPr>
            <a:r>
              <a:rPr lang="en-US" sz="1600" dirty="0">
                <a:solidFill>
                  <a:srgbClr val="1F2933"/>
                </a:solidFill>
              </a:rPr>
              <a:t>31/2024-12-31）；[146, 147] 合并利润表；列：2025年度/2024年度；[</a:t>
            </a:r>
            <a:endParaRPr lang="en-US" sz="1600" dirty="0"/>
          </a:p>
          <a:p>
            <a:pPr indent="0" marL="0">
              <a:lnSpc>
                <a:spcPct val="100000"/>
              </a:lnSpc>
              <a:buNone/>
            </a:pPr>
            <a:r>
              <a:rPr lang="en-US" sz="1600" dirty="0">
                <a:solidFill>
                  <a:srgbClr val="1F2933"/>
                </a:solidFill>
              </a:rPr>
              <a:t>147] 合并利润表；列：2025年度/2024年度；[148] 合并利润表；列：2025年度/</a:t>
            </a:r>
            <a:endParaRPr lang="en-US" sz="16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2024年度；[150] 合并现金流量表；列：2025年度/2024年度；[151] 合并现金流量表；</a:t>
            </a:r>
            <a:endParaRPr lang="en-US" sz="1600" dirty="0"/>
          </a:p>
          <a:p>
            <a:pPr indent="0" marL="0">
              <a:lnSpc>
                <a:spcPct val="100000"/>
              </a:lnSpc>
              <a:buNone/>
            </a:pPr>
            <a:r>
              <a:rPr lang="en-US" sz="1600" dirty="0">
                <a:solidFill>
                  <a:srgbClr val="1F2933"/>
                </a:solidFill>
              </a:rPr>
              <a:t>列：2025年度/2024年度；[151, 250] 合并现金流量表；列：2025年度/2024年度；</a:t>
            </a:r>
            <a:endParaRPr lang="en-US" sz="1600" dirty="0"/>
          </a:p>
          <a:p>
            <a:pPr indent="0" marL="0">
              <a:lnSpc>
                <a:spcPct val="100000"/>
              </a:lnSpc>
              <a:buNone/>
            </a:pPr>
            <a:r>
              <a:rPr lang="en-US" sz="1600" dirty="0">
                <a:solidFill>
                  <a:srgbClr val="1F2933"/>
                </a:solidFill>
              </a:rPr>
              <a:t>[199, 231] 货币资金注释/所有权或使用权受到限制资产；列期末/期初；[234] 32 一年内</a:t>
            </a:r>
            <a:endParaRPr lang="en-US" sz="1600" dirty="0"/>
          </a:p>
          <a:p>
            <a:pPr indent="0" marL="0">
              <a:lnSpc>
                <a:spcPct val="100000"/>
              </a:lnSpc>
              <a:buNone/>
            </a:pPr>
            <a:r>
              <a:rPr lang="en-US" sz="1600" dirty="0">
                <a:solidFill>
                  <a:srgbClr val="1F2933"/>
                </a:solidFill>
              </a:rPr>
              <a:t>到期的非流动负债；期末/期初；[234, 247] 32 一年内到期的非流动负债/融资负债变动表；[</a:t>
            </a:r>
            <a:endParaRPr lang="en-US" sz="1600" dirty="0"/>
          </a:p>
          <a:p>
            <a:pPr indent="0" marL="0">
              <a:lnSpc>
                <a:spcPct val="100000"/>
              </a:lnSpc>
              <a:buNone/>
            </a:pPr>
            <a:r>
              <a:rPr lang="en-US" sz="1600" dirty="0">
                <a:solidFill>
                  <a:srgbClr val="1F2933"/>
                </a:solidFill>
              </a:rPr>
              <a:t>236] 36 长期应付款：按款项性质列示；[247] 筹资活动产生各项负债变动：其他应付款行；期末/</a:t>
            </a:r>
            <a:endParaRPr lang="en-US" sz="1600" dirty="0"/>
          </a:p>
          <a:p>
            <a:pPr indent="0" marL="0">
              <a:lnSpc>
                <a:spcPct val="100000"/>
              </a:lnSpc>
              <a:buNone/>
            </a:pPr>
            <a:r>
              <a:rPr lang="en-US" sz="1600" dirty="0">
                <a:solidFill>
                  <a:srgbClr val="1F2933"/>
                </a:solidFill>
              </a:rPr>
              <a:t>期初；[242] 50 财务费用；本期/上期；[248] 62 现金流量表补充资料；本期/上期；[</a:t>
            </a:r>
            <a:endParaRPr lang="en-US" sz="1600" dirty="0"/>
          </a:p>
          <a:p>
            <a:pPr indent="0" marL="0">
              <a:lnSpc>
                <a:spcPct val="100000"/>
              </a:lnSpc>
              <a:buNone/>
            </a:pPr>
            <a:r>
              <a:rPr lang="en-US" sz="1600" dirty="0">
                <a:solidFill>
                  <a:srgbClr val="1F2933"/>
                </a:solidFill>
              </a:rPr>
              <a:t>219] 16 固定资产累计折旧：计提；2025本期；[217] 15 投资性房地产累计折旧：计提或摊</a:t>
            </a:r>
            <a:endParaRPr lang="en-US" sz="1600" dirty="0"/>
          </a:p>
          <a:p>
            <a:pPr indent="0" marL="0">
              <a:lnSpc>
                <a:spcPct val="100000"/>
              </a:lnSpc>
              <a:buNone/>
            </a:pPr>
            <a:r>
              <a:rPr lang="en-US" sz="1600" dirty="0">
                <a:solidFill>
                  <a:srgbClr val="1F2933"/>
                </a:solidFill>
              </a:rPr>
              <a:t>销；2025本期；[238] 44 未分配利润；本期/上期；[237] 41 库存股，本期增加</a:t>
            </a:r>
            <a:endParaRPr lang="en-US" sz="16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 </a:t>
            </a:r>
            <a:endParaRPr lang="en-US" sz="1600" dirty="0"/>
          </a:p>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1、合并资产负债表</a:t>
            </a:r>
            <a:endParaRPr lang="en-US" sz="1600" dirty="0"/>
          </a:p>
          <a:p>
            <a:pPr indent="0" marL="0">
              <a:lnSpc>
                <a:spcPct val="100000"/>
              </a:lnSpc>
              <a:buNone/>
            </a:pPr>
            <a:r>
              <a:rPr lang="en-US" sz="1600" dirty="0">
                <a:solidFill>
                  <a:srgbClr val="1F2933"/>
                </a:solidFill>
              </a:rPr>
              <a:t>；项目 / 期末余额 / 期初余额；[7, 89] 1、合并资产负债表；项目 / 期末余额 / 期初余</a:t>
            </a:r>
            <a:endParaRPr lang="en-US" sz="1600" dirty="0"/>
          </a:p>
          <a:p>
            <a:pPr indent="0" marL="0">
              <a:lnSpc>
                <a:spcPct val="100000"/>
              </a:lnSpc>
              <a:buNone/>
            </a:pPr>
            <a:r>
              <a:rPr lang="en-US" sz="1600" dirty="0">
                <a:solidFill>
                  <a:srgbClr val="1F2933"/>
                </a:solidFill>
              </a:rPr>
              <a:t>额；[90] 1、合并资产负债表；项目 / 期末余额 / 期初余额；[7, 90, 101] 1、合并</a:t>
            </a:r>
            <a:endParaRPr lang="en-US" sz="1600" dirty="0"/>
          </a:p>
          <a:p>
            <a:pPr indent="0" marL="0">
              <a:lnSpc>
                <a:spcPct val="100000"/>
              </a:lnSpc>
              <a:buNone/>
            </a:pPr>
            <a:r>
              <a:rPr lang="en-US" sz="1600" dirty="0">
                <a:solidFill>
                  <a:srgbClr val="1F2933"/>
                </a:solidFill>
              </a:rPr>
              <a:t>资产负债表；项目 / 期末余额 / 期初余额；[90, 101] 1、合并资产负债表；项目 / 期末余</a:t>
            </a:r>
            <a:endParaRPr lang="en-US" sz="1600" dirty="0"/>
          </a:p>
          <a:p>
            <a:pPr indent="0" marL="0">
              <a:lnSpc>
                <a:spcPct val="100000"/>
              </a:lnSpc>
              <a:buNone/>
            </a:pPr>
            <a:r>
              <a:rPr lang="en-US" sz="1600" dirty="0">
                <a:solidFill>
                  <a:srgbClr val="1F2933"/>
                </a:solidFill>
              </a:rPr>
              <a:t>额 / 期初余额；[89, 214] 1、合并资产负债表；项目 / 期末余额 / 期初余额；[214]</a:t>
            </a:r>
            <a:endParaRPr lang="en-US" sz="1600" dirty="0"/>
          </a:p>
          <a:p>
            <a:pPr indent="0" marL="0">
              <a:lnSpc>
                <a:spcPct val="100000"/>
              </a:lnSpc>
              <a:buNone/>
            </a:pPr>
            <a:r>
              <a:rPr lang="en-US" sz="1600" dirty="0">
                <a:solidFill>
                  <a:srgbClr val="1F2933"/>
                </a:solidFill>
              </a:rPr>
              <a:t> 43、一年内到期的非流动负债；期末余额 / 期初余额；[89, 215] 1、合并资产负债表；项目 </a:t>
            </a:r>
            <a:endParaRPr lang="en-US" sz="16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 期末余额 / 期初余额；[89, 216] 1、合并资产负债表；项目 / 期末余额 / 期初余额；</a:t>
            </a:r>
            <a:endParaRPr lang="en-US" sz="1600" dirty="0"/>
          </a:p>
          <a:p>
            <a:pPr indent="0" marL="0">
              <a:lnSpc>
                <a:spcPct val="100000"/>
              </a:lnSpc>
              <a:buNone/>
            </a:pPr>
            <a:r>
              <a:rPr lang="en-US" sz="1600" dirty="0">
                <a:solidFill>
                  <a:srgbClr val="1F2933"/>
                </a:solidFill>
              </a:rPr>
              <a:t>[90, 216] 1、合并资产负债表；项目 / 期末余额 / 期初余额；[214, 215] 44、</a:t>
            </a:r>
            <a:endParaRPr lang="en-US" sz="1600" dirty="0"/>
          </a:p>
          <a:p>
            <a:pPr indent="0" marL="0">
              <a:lnSpc>
                <a:spcPct val="100000"/>
              </a:lnSpc>
              <a:buNone/>
            </a:pPr>
            <a:r>
              <a:rPr lang="en-US" sz="1600" dirty="0">
                <a:solidFill>
                  <a:srgbClr val="1F2933"/>
                </a:solidFill>
              </a:rPr>
              <a:t>其他流动负债；期末余额 / 期初余额；[211] 37（3）按款项性质列示其他应付款；期末余额 / </a:t>
            </a:r>
            <a:endParaRPr lang="en-US" sz="1600" dirty="0"/>
          </a:p>
          <a:p>
            <a:pPr indent="0" marL="0">
              <a:lnSpc>
                <a:spcPct val="100000"/>
              </a:lnSpc>
              <a:buNone/>
            </a:pPr>
            <a:r>
              <a:rPr lang="en-US" sz="1600" dirty="0">
                <a:solidFill>
                  <a:srgbClr val="1F2933"/>
                </a:solidFill>
              </a:rPr>
              <a:t>期初余额；[220] 52、其他非流动负债；期末余额 / 期初余额；[231] 筹资活动产生的各项负债</a:t>
            </a:r>
            <a:endParaRPr lang="en-US" sz="1600" dirty="0"/>
          </a:p>
          <a:p>
            <a:pPr indent="0" marL="0">
              <a:lnSpc>
                <a:spcPct val="100000"/>
              </a:lnSpc>
              <a:buNone/>
            </a:pPr>
            <a:r>
              <a:rPr lang="en-US" sz="1600" dirty="0">
                <a:solidFill>
                  <a:srgbClr val="1F2933"/>
                </a:solidFill>
              </a:rPr>
              <a:t>变动情况；期初余额 / 本期增加 / 本期减少 / 期末余额；[90, 217] 1、合并资产负债表；</a:t>
            </a:r>
            <a:endParaRPr lang="en-US" sz="1600" dirty="0"/>
          </a:p>
          <a:p>
            <a:pPr indent="0" marL="0">
              <a:lnSpc>
                <a:spcPct val="100000"/>
              </a:lnSpc>
              <a:buNone/>
            </a:pPr>
            <a:r>
              <a:rPr lang="en-US" sz="1600" dirty="0">
                <a:solidFill>
                  <a:srgbClr val="1F2933"/>
                </a:solidFill>
              </a:rPr>
              <a:t>项目 / 期末余额 / 期初余额；[217] 48、长期应付款；期末余额 / 期初余额；[217, </a:t>
            </a:r>
            <a:endParaRPr lang="en-US" sz="1600" dirty="0"/>
          </a:p>
          <a:p>
            <a:pPr indent="0" marL="0">
              <a:lnSpc>
                <a:spcPct val="100000"/>
              </a:lnSpc>
              <a:buNone/>
            </a:pPr>
            <a:r>
              <a:rPr lang="en-US" sz="1600" dirty="0">
                <a:solidFill>
                  <a:srgbClr val="1F2933"/>
                </a:solidFill>
              </a:rPr>
              <a:t>219] 48（2）专项应付款；期初余额 / 本期增加 / 本期减少 / 期末余额；[217, 219</a:t>
            </a:r>
            <a:endParaRPr lang="en-US" sz="1600" dirty="0"/>
          </a:p>
          <a:p>
            <a:pPr indent="0" marL="0">
              <a:lnSpc>
                <a:spcPct val="100000"/>
              </a:lnSpc>
              <a:buNone/>
            </a:pPr>
            <a:r>
              <a:rPr lang="en-US" sz="1600" dirty="0">
                <a:solidFill>
                  <a:srgbClr val="1F2933"/>
                </a:solidFill>
              </a:rPr>
              <a:t>] 48、长期应付款；[195, 196] 22（2）重要在建工程项目本期变动情况；利息资本化累计金额</a:t>
            </a:r>
            <a:endParaRPr lang="en-US" sz="1600" dirty="0"/>
          </a:p>
          <a:p>
            <a:pPr indent="0" marL="0">
              <a:lnSpc>
                <a:spcPct val="100000"/>
              </a:lnSpc>
              <a:buNone/>
            </a:pPr>
            <a:r>
              <a:rPr lang="en-US" sz="1600" dirty="0">
                <a:solidFill>
                  <a:srgbClr val="1F2933"/>
                </a:solidFill>
              </a:rPr>
              <a:t> / 其中：本期利息资本化金额；[231] 79（1）现金流量表补充资料；补充资料 / 本期金额 / </a:t>
            </a:r>
            <a:endParaRPr lang="en-US" sz="1600" dirty="0"/>
          </a:p>
          <a:p>
            <a:pPr indent="0" marL="0">
              <a:lnSpc>
                <a:spcPct val="100000"/>
              </a:lnSpc>
              <a:buNone/>
            </a:pPr>
            <a:r>
              <a:rPr lang="en-US" sz="1600" dirty="0">
                <a:solidFill>
                  <a:srgbClr val="1F2933"/>
                </a:solidFill>
              </a:rPr>
              <a:t>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p14、22–23、28，履约、付息</a:t>
            </a:r>
            <a:endParaRPr lang="en-US" sz="1600" dirty="0"/>
          </a:p>
          <a:p>
            <a:pPr indent="0" marL="0">
              <a:lnSpc>
                <a:spcPct val="100000"/>
              </a:lnSpc>
              <a:buNone/>
            </a:pPr>
            <a:r>
              <a:rPr lang="en-US" sz="1600" dirty="0">
                <a:solidFill>
                  <a:srgbClr val="1F2933"/>
                </a:solidFill>
              </a:rPr>
              <a:t>、会议和承诺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2026科顺跟踪报告的方法适用性与通用等级定义页</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300</Slides>
  <Notes>300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300</vt:i4>
      </vt:variant>
    </vt:vector>
  </HeadingPairs>
  <TitlesOfParts>
    <vt:vector size="3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截至2026-06-30的境内相对信用研究：基准建议主体及科顺转债BBB+、负面展望；明确实际付款、资金用途和承诺待核条件。 现金季节锚的同控版本及持续范围桥未闭合，代理数字只作明示零调整条件参照，不能证明付款覆盖。</dc:subject>
  <dc:creator>annual-report-analysis</dc:creator>
  <cp:lastModifiedBy>annual-report-analysis</cp:lastModifiedBy>
  <cp:revision>1</cp:revision>
  <dcterms:created xsi:type="dcterms:W3CDTF">2026-10-03T18:41:57Z</dcterms:created>
  <dcterms:modified xsi:type="dcterms:W3CDTF">2026-10-03T18:41:57Z</dcterms:modified>
</cp:coreProperties>
</file>