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slideMasters/slideMaster360.xml" ContentType="application/vnd.openxmlformats-officedocument.presentationml.slideMaster+xml"/>
  <Override PartName="/ppt/slides/slide360.xml" ContentType="application/vnd.openxmlformats-officedocument.presentationml.slide+xml"/>
  <Override PartName="/ppt/slideMasters/slideMaster361.xml" ContentType="application/vnd.openxmlformats-officedocument.presentationml.slideMaster+xml"/>
  <Override PartName="/ppt/slides/slide361.xml" ContentType="application/vnd.openxmlformats-officedocument.presentationml.slide+xml"/>
  <Override PartName="/ppt/slideMasters/slideMaster362.xml" ContentType="application/vnd.openxmlformats-officedocument.presentationml.slideMaster+xml"/>
  <Override PartName="/ppt/slides/slide362.xml" ContentType="application/vnd.openxmlformats-officedocument.presentationml.slide+xml"/>
  <Override PartName="/ppt/slideMasters/slideMaster363.xml" ContentType="application/vnd.openxmlformats-officedocument.presentationml.slideMaster+xml"/>
  <Override PartName="/ppt/slides/slide363.xml" ContentType="application/vnd.openxmlformats-officedocument.presentationml.slide+xml"/>
  <Override PartName="/ppt/slideMasters/slideMaster364.xml" ContentType="application/vnd.openxmlformats-officedocument.presentationml.slideMaster+xml"/>
  <Override PartName="/ppt/slides/slide364.xml" ContentType="application/vnd.openxmlformats-officedocument.presentationml.slide+xml"/>
  <Override PartName="/ppt/slideMasters/slideMaster365.xml" ContentType="application/vnd.openxmlformats-officedocument.presentationml.slideMaster+xml"/>
  <Override PartName="/ppt/slides/slide365.xml" ContentType="application/vnd.openxmlformats-officedocument.presentationml.slide+xml"/>
  <Override PartName="/ppt/slideMasters/slideMaster366.xml" ContentType="application/vnd.openxmlformats-officedocument.presentationml.slideMaster+xml"/>
  <Override PartName="/ppt/slides/slide366.xml" ContentType="application/vnd.openxmlformats-officedocument.presentationml.slide+xml"/>
  <Override PartName="/ppt/slideMasters/slideMaster367.xml" ContentType="application/vnd.openxmlformats-officedocument.presentationml.slideMaster+xml"/>
  <Override PartName="/ppt/slides/slide367.xml" ContentType="application/vnd.openxmlformats-officedocument.presentationml.slide+xml"/>
  <Override PartName="/ppt/slideMasters/slideMaster368.xml" ContentType="application/vnd.openxmlformats-officedocument.presentationml.slideMaster+xml"/>
  <Override PartName="/ppt/slides/slide368.xml" ContentType="application/vnd.openxmlformats-officedocument.presentationml.slide+xml"/>
  <Override PartName="/ppt/slideMasters/slideMaster369.xml" ContentType="application/vnd.openxmlformats-officedocument.presentationml.slideMaster+xml"/>
  <Override PartName="/ppt/slides/slide369.xml" ContentType="application/vnd.openxmlformats-officedocument.presentationml.slide+xml"/>
  <Override PartName="/ppt/slideMasters/slideMaster370.xml" ContentType="application/vnd.openxmlformats-officedocument.presentationml.slideMaster+xml"/>
  <Override PartName="/ppt/slides/slide3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Lst>
  <p:notesMasterIdLst>
    <p:notesMasterId r:id="rId3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notesMaster" Target="notesMasters/notesMaster1.xml"/><Relationship Id="rId373" Type="http://schemas.openxmlformats.org/officeDocument/2006/relationships/presProps" Target="presProps.xml"/><Relationship Id="rId374" Type="http://schemas.openxmlformats.org/officeDocument/2006/relationships/viewProps" Target="viewProps.xml"/><Relationship Id="rId375" Type="http://schemas.openxmlformats.org/officeDocument/2006/relationships/theme" Target="theme/theme1.xml"/><Relationship Id="rId3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_rels/notesSlide3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0.xml"/>
		</Relationships>
</file>

<file path=ppt/notesSlides/_rels/notesSlide3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1.xml"/>
		</Relationships>
</file>

<file path=ppt/notesSlides/_rels/notesSlide3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2.xml"/>
		</Relationships>
</file>

<file path=ppt/notesSlides/_rels/notesSlide3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3.xml"/>
		</Relationships>
</file>

<file path=ppt/notesSlides/_rels/notesSlide3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4.xml"/>
		</Relationships>
</file>

<file path=ppt/notesSlides/_rels/notesSlide3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5.xml"/>
		</Relationships>
</file>

<file path=ppt/notesSlides/_rels/notesSlide3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6.xml"/>
		</Relationships>
</file>

<file path=ppt/notesSlides/_rels/notesSlide3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7.xml"/>
		</Relationships>
</file>

<file path=ppt/notesSlides/_rels/notesSlide3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8.xml"/>
		</Relationships>
</file>

<file path=ppt/notesSlides/_rels/notesSlide3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9.xml"/>
		</Relationships>
</file>

<file path=ppt/notesSlides/_rels/notesSlide3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公开资料分析，不构成审计；未执行函证、盘点、穿行测试、凭证抽查、管理层访谈或合同原件核验。
2025年报PDF第1—245页完成文本阅读；视觉复核仅为覆盖证据所列选页，包括补读的第83、95—96页，不声称全文视觉审阅。外部机构历史评级与本次研究判断分列，未作为因素输入或等级校准目标。
2023年同控重述摘要及部分期初/期末余额可核，完整盈利、利息等细项仍缺；2024原年报的2023明细保留原范围，不能据其补齐同口径指标。
2026一季报未经审计；对比季报未统一作横琴同控重述，不按季度数据年度化。
没有完整同控重述三年细项；财务两年30/70和最新周期输入是明确研究适配，缺明细不等于原文仅存在近两年报表数据。
来源覆盖底稿保留适用章节和未完成项。没有完成内部合同、母公司未来资金、行业总体统计或真实评级委员会，不能据本例宣称生产验收通过。
Δ_A=Δ_H=Γ=0仅为所列数值的条件选点，实际调整未知；真实同口径现金及融资需求仍为null。净CFO吻合不证明毛分项适用；本模型未验证真实一年付款覆盖。
已运行同一经营冲击贯穿损益、税款、现金、融资利息、债务权益及评级因素的条件链；非现金资产其余周转仍为间接法调节，未来收现构成/当期税/回收池及融资期限是明示预算，不是已验证实际。
来源 ks_a_s_23, ks_r_issue 的正式公布日期未核验；不得据此证明在信息截止日前已公开。当前披露内容可以继续分析，历史时点结论须补充公告时间证据。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[ks_r_e_business] 联合资信一般工商企业信用评级方法与模型V4.1.202606 | PDF24表1、25表4、26–27表7、29表9、33公式
https://www.lhratings.com/file/8622bc88-5377-4572-8c93-afc6d796339d.pdf
[ks_r_e_matrix] 联合资信一般工商企业信用评级方法与模型V4.1.202606 | PDF25表5、26表6、32专业判断
https://www.lhratings.com/file/8622bc88-5377-4572-8c93-afc6d796339d.pdf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[ks_r_e_business] 联合资信一般工商企业信用评级方法与模型V4.1.202606 | PDF24表1、25表4、26–27表7、29表9、33公式
https://www.lhratings.com/file/8622bc88-5377-4572-8c93-afc6d796339d.pdf
[ks_r_e_matrix] 联合资信一般工商企业信用评级方法与模型V4.1.202606 | PDF25表5、26表6、32专业判断
https://www.lhratings.com/file/8622bc88-5377-4572-8c93-afc6d796339d.pdf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ks_econ_f_funding
Status: conditional
相同经营冲击下，新增资金取得是否足以支持支付条件？
旧债账面清偿预算、现金息和债券票息与经营流同表；每季求F=(底线+用途准备−无新提款期末现金)/(1−当期新借款利息率)，受限融资不足则停止，不继续以自动贷款补平。
真实合同清偿与账面预算不同会改变提款时点及金额。
U/P、Δ_A/Δ_H/Γ、X、发行人A改变均可能改变日期判断；均不预填为事实。
Evidence: ks_econ_e_q1, ks_credit_e_facilities, ks_econ_fig_new_finance_h1_2027, ks_r_e_finance
Counterevidence: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ks_econ_f_funding
Status: conditional
相同经营冲击下，新增资金取得是否足以支持支付条件？
旧债账面清偿预算、现金息和债券票息与经营流同表；每季求F=(底线+用途准备−无新提款期末现金)/(1−当期新借款利息率)，受限融资不足则停止，不继续以自动贷款补平。
真实合同清偿与账面预算不同会改变提款时点及金额。
U/P、Δ_A/Δ_H/Γ、X、发行人A改变均可能改变日期判断；均不预填为事实。
Evidence: ks_econ_e_q1, ks_credit_e_facilities, ks_econ_fig_new_finance_h1_2027, ks_r_e_finance
Counterevidence: [ks_econ_e_q1] 科顺防水科技股份有限公司2026年第一季度报告 | PDF5–11：2026Q1合并资产负债表及利润表；PDF3说明原料冬储锁价及增加长期贷款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ks_econ_f_qualitative
Status: conditional
为何2024/25采用资产质量3.5/2.5、再融资5/4.5，二者共同变化怎样影响结果？
两项权重10%和12.5%，共同±0.5使财务分±0.1125；Q1减值无涨价分支4.50375/4.61625/4.72875均F3，材料5%为4.25375/4.36625/4.47875均F4。历史联合区间及全部9格另列。
资产回收与银行可用额度获证支持时可选偏强相邻分支；准备不足、抵债房产/税资产变现弱或融资受限则偏弱。
仅见净应收和受限资产下降不足以证明资产改善；额度未使用不等于无条件可提款。
Evidence: ks_a_e_ar, ks_credit_e_facilities, ks_r_e_finance, ks_r_e_history
Counterevidence: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ks_econ_f_qualitative
Status: conditional
为何2024/25采用资产质量3.5/2.5、再融资5/4.5，二者共同变化怎样影响结果？
两项权重10%和12.5%，共同±0.5使财务分±0.1125；Q1减值无涨价分支4.50375/4.61625/4.72875均F3，材料5%为4.25375/4.36625/4.47875均F4。历史联合区间及全部9格另列。
资产回收与银行可用额度获证支持时可选偏强相邻分支；准备不足、抵债房产/税资产变现弱或融资受限则偏弱。
仅见净应收和受限资产下降不足以证明资产改善；额度未使用不等于无条件可提款。
Evidence: ks_a_e_ar, ks_credit_e_facilities, ks_r_e_finance, ks_r_e_history
Counterevidence: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原2023CF类别桥-6,326.31 万元人民币未含独立披露的投资性房地产折旧488.02 万元人民币，完整DA桥为-5,838.29 万元人民币。两者均保留原范围，不补最新同控三年盈利输入；2024/2025的CF折旧行已含该项，不再重复加回。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ks_a_e_old_ip_dep, ks_a_old_ebitda_complete_da_2023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[ks_a_e_old_ip_dep] 科顺防水科技股份有限公司2023年年度报告 | 2023年报PDF/印刷172页附注15完整投资性房地产表；199页附注66现金流补充表，单位元
https://static.cninfo.com.cn/finalpage/2024-04-30/1219911976.PDF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原2023CF类别桥-6,326.31 万元人民币未含独立披露的投资性房地产折旧488.02 万元人民币，完整DA桥为-5,838.29 万元人民币。两者均保留原范围，不补最新同控三年盈利输入；2024/2025的CF折旧行已含该项，不再重复加回。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ks_a_e_old_ip_dep, ks_a_old_ebitda_complete_da_2023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[ks_a_e_old_ip_dep] 科顺防水科技股份有限公司2023年年度报告 | 2023年报PDF/印刷172页附注15完整投资性房地产表；199页附注66现金流补充表，单位元
https://static.cninfo.com.cn/finalpage/2024-04-30/1219911976.PDF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[ks_a_e_liabs] 科顺防水科技股份有限公司2025年年度报告 | 第191—199页，借款、应付/合同/职工/税费/预计负债、权益附注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[ks_a_e_old] 科顺防水科技股份有限公司2024年年度报告 | 2024年报第116—124、126—134、191—195、203、208—210页（单位元，2024/2023列）
https://static.cninfo.com.cn/finalpage/2025-04-25/1223275058.PDF
[ks_a_e_summary] 科顺防水科技股份有限公司2025年年度报告 | 第10—12页，主要会计数据（元），2025/2024调整前后/2023调整前后及分季度指标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[ks_a_e_bond_metrics] 科顺防水科技股份有限公司2025年年度报告 | 第95—96页，第七节第八项，近两年主要会计数据和财务指标，含跨页续表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[ks_a_e_bond_metrics] 科顺防水科技股份有限公司2025年年度报告 | 第95—96页，第七节第八项，近两年主要会计数据和财务指标，含跨页续表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ks_b_disclosure_gap
Status: unresolved
公告与年报关联事项是否同一口径？
初次公告为筹设及认缴，年报经营叙述同时提及基金；缺少足够资料区分设立、认缴、实缴及关系变化时点。
交易当时关联关系可能因人员任职改变；尚未实缴、报告分类或重大性口径也可能造成差异。
Evidence: ks_b_e_fund, ks_b_e_governance
Counterevidence: [ks_b_e_fund] 关于与专业投资机构共同投资设立产业并购基金暨关联交易的公告 | PDF1–2、6–11
https://static.cninfo.com.cn/finalpage/2025-07-23/1224269220.PDF
[ks_b_e_governance] 科顺防水科技股份有限公司2025年年度报告 | PDF53–57、66–67、77–79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ks_b_e_standard_coating[ks_b_e_property26] 2026年1—5月份全国房地产市场基本情况 | 正文一至三、表1
https://www.stats.gov.cn/sj/zxfb/202606/t20260616_1963950.html
[ks_b_e_gdp26]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[ks_d_l_e_season] 科顺防水科技股份有限公司2025年年度报告 | PDF p11、111–112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[ks_d_e_maturity_call] 科顺股份创业板向不特定对象发行可转换公司债券募集说明书（最终发行稿） | PDF p43，赎回条款
https://disc.static.szse.cn/disc/disk03/finalpage/2023-08-02/664c558c-7896-414d-8e36-b7cd8129fa03.PDF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ks_d_e_sponsor_performance[ks_d_e_fund_new] 关于使用部分闲置募集资金暂时补充流动资金的公告（2026-006） | PDF p1、3–5，新一期临时补流批准及归还义务
https://static.cninfo.com.cn/finalpage/2026-01-09/1224927241.PDF
[ks_d_e_fund_balance]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ks_a_req_scope: 历史趋势是否同口径？ 所需资料用于检验该判断的金额、期限或执行依据。
Close when: 取得重述调整表后先重建同口径期初和历史指标，再判断变化是否跨越因素档位；仅补齐摘要利润不足以关闭债务及周转分母。ks_a_req_ar: 净应收下降是否证明回收风险消除？ 所需资料用于检验该判断的金额、期限或执行依据。
Close when: 取得逐笔期后现金回收、第三方确认、债务重组执行和ECL参数后，重估损失覆盖、回收速度和资产可用性。ks_a_req_otherar: 重组款是否具备兑现条件？ 所需资料用于检验该判断的金额、期限或执行依据。
Close when: 取得已交割权属、真实期后到账及担保人的独立资源证明后，逐笔更新回收额与时点；资产转让协议签署不等于收到现金。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ks_a_req_contract: 工程进度、质保及结算会否改变利润和现金？ 所需资料用于检验该判断的金额、期限或执行依据。
Close when: 将主要工程履约进度、客户签认、合同总价及最新预计成本逐项桥接，复核期后结算及退款后，区分正常结算周期与减值或收入截止问题。ks_a_req_cash: 账面现金可多少用于一般偿债？ 所需资料用于检验该判断的金额、期限或执行依据。
Close when: 确认银行函证、全部账户用途及理财/票据变现条件后，修订自由现金和现金类短债覆盖。ks_a_req_supplier: 供应商融资是否重复计债或掩盖营运资金压力？ 所需资料用于检验该判断的金额、期限或执行依据。
Close when: 取得融资协议、付款展期和追索安排后确定AP部分重分类；核对银行流水后再调整现金流。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ks_a_req_fixed: 低利用率及项目延期的账面价值有无压力？ 所需资料用于检验该判断的金额、期限或执行依据。
Close when: 逐产线取得产能、利用率、订单、维护支出、处置报价及权属证据，并用实际经营偏差检验现金产出单元预测；验证后重估减值和未来资本需求。ks_a_req_cip: 原表列位误读能否解释差额？ 所需资料用于检验该判断的金额、期限或执行依据。
Close when: 取得滁州项目逐笔期初、增加、转固、其他减少和期末桥，定位差额对应的会计科目、期间及是否影响本期损益，再撤回或确认疑点。ks_a_req_tax: 减值及亏损DTA构成主要税务资产，未确认亏损的期限表和集团利润不足以支持已确认部分可实现性；需要检验利润缓冲及资本质量。
Close when: 在同一纳税主体、税区和可用期间内证明可抵扣额，排除重复使用未来应税利润；按结果确定可实现DTA及资本影响，无法证实的部分保留不确定性，不机械全额减记。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ks_a_req_parent: 合并现金能否直接供发行主体偿债？ 所需资料用于检验该判断的金额、期限或执行依据。
Close when: 取得母公司债务到期表、子公司上划决议与现金到账、资金归集合同及往来可回收证据后判断发行主体资源。ks_a_req_contingent: 核原表六月七笔到期集中与三月余额下降能否对应实际解除，检验保证支持收现的持续性及同一客户压力下的现金/损失传导。
Close when: 全量滚动闭合到最新时点，重点逐户状态由直接证据支持；剩余总体和未决明确，回款、毛代偿、追偿及并表债务去重后进入现金和评级分析，不能只以余额下降或公司声明关闭。ks_a_req_proceeds: 年末余额与期后归还续作能否衔接？ 所需资料用于检验该判断的金额、期限或执行依据。
Close when: 以截止日实际占用和用途流水确认应恢复额度、时间及项目需求，并验证混用问题整改执行；已公开的旧轮归还时点不再重复请求。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ks_a_req_q1: 年度弱项是否在研究截止日前消除？ 所需资料用于检验该判断的金额、期限或执行依据。
Close when: 取得半年度完整附注后，用原年度及一季度桥拆出季节性、范围、应收回款与新债；持续现金改善且债务到期与资金用途匹配才支持提高判断。ks_b_req_channels: 检验多元化是否已形成独立现金来源，并解释收入下降与收现改善的机制。
Close when: 取得可与合并收入、回款及客户明细勾稽的完整期间数据。ks_b_req_fund_status: 区分长期承诺和已用现金、判断审批后实际执行及披露一致性。
Close when: 原始协议、登记及银行支付记录与年报附注范围完成勾稽。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ks_d_req_covenant: 需要解释研究账面比率 57.09% 与正常履行披露的差异；一般履约声明不足以替代具体计算。
Close when: 明细可追至原财报并完整调节差额，适用期与定义有原始法律文件支持；对是否不履约给出可核查的特定说明。ks_d_req_trustee_agreement: 募集书转介的具体救济没有全文；已取得会议规则只能证明集体决策程序，不能据此创造自动加速。
Close when: 取得真实有效完整文本及签署/修订适用证据，条款可逐项映射本案事实。 普通价格回售、附加回售和违约加速的各自适用窗口及触发证据分别闭合；已回售部分不再重复计入后续本金利息。ks_d_req_funds: 已知授权上限 13.00 亿元人民币 不等于实际占用或可自由偿债现金；需量化到期恢复专户的资金安排。 延期不会自动延长2026年补流授权；现有模型止于2026年底，不能证明年初归还事件或连续12个月覆盖。需区分用途恢复与新增外部债务，避免与资本支出重复扣款。
Close when: 支用减归还可勾稽截止日实际占用，并与募集专户、一般账户及项目支付计划一致；避免与对外本金重复计入。 截止前已有证据和后续实际信息分开；实际归还需要与发行主体在相应日可调度现金及已落实安排相匹配，并将项目提前要款纳入同一时间轴。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ks_d_req_face_cutoff: 现有最新已取得实际面值是 21.98 亿元人民币，其原始时点为一季度末，不能改写为六月末。
Close when: 原始日期、可得日期和面值变动可核验，并在保留旧节点的基础上重跑现金流情景。ks_r_req_bond_buckets: 一年内披露额与固定同日面值的合同票息不同，影响短期现金预算及期限归属。
Close when: 原表与合同时间轴在一致假设下可复算，或有正式说明解释口径及剩余差额。ks_project_req_project: 旧模型依赖终期变现，项目延期后原满产和回收时点缺乏更新桥；需要确认可执行偿债来源，而非再次调整已按115%计算的债务。
Close when: 原预测—实际进度—更新税后项目现金—可上划净额—合同付款日全链可复算；已落实资金与经营/出售/融资假设分列，无法取得的细项不填零。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ks_horizon_request_execution: D1/D2、X、U、P与发行人A_t尚未闭合。短借+一年内到期账面扣2026付款预算只能作库存筛查，不能认定2027真实本金下限。 Δ_A、Δ_H和Γ必须分离，H版净额约束中的κ_H2另行核实；实际全路径融资需要仍为null。
Close when: 逐笔核实到期及付款覆盖，验证用途恢复与项目支出只扣一次，并以到账证明及可执行融资承诺覆盖每一关键日期；季度末正数不足以关闭月内或发行人分支。 重跑三条2026路径、两条2027延伸及用途恢复静态观察，连同毛付款决定的M和各时点max融资需求；净CFO相符本身不能关闭。ks_horizon_request_scope_bridge: Δ_H与Δ_A分别未知；期初833421.24元存量差和季度净CFO一致不能识别毛额调整。范围调整会改变2026三情景及2027H1现金容量和融资需求。 Δ_A、Δ_H和Γ必须分离，H版净额约束中的κ_H2另行核实；实际全路径融资需要仍为null。
Close when: 在形成资金覆盖结论前完成版本桥；按2026-08-04付息窗口、2027-01-09最迟恢复用途窗口及2027-06-30观察期分配影响，逐项重算并以真实可得资金覆盖核实付款日。未取得毛额或抵销明细时保持开放，不以净额勾稽代替。 重跑三条2026路径、两条2027延伸及用途恢复静态观察，连同毛付款决定的M和各时点max融资需求；净CFO相符本身不能关闭。ks_tax_req_bridge: 确认损益税收益与余额变动差额的实际归属，避免把期末DTL余额当作当期权益流量或重复调整现金流。
Close when: 分录金额、期间、科目与附注及现金流补充资料一致；残差据实际来源说明，不能倒挤其他或把空白填零。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ks_credit_req_facilities: 同称年末但相差36.2亿元，尚未解释；不能据任一披露或再融资4.65研究分证明付款日前资金可得。
Close when: 两来源总体差额逐项有证据解释，所有拟用于覆盖缺口的资金已核法人、时点、条件与金额；未落实部分排除后重算融资因素、现金及评级条件。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[ks_a_e_old] 科顺防水科技股份有限公司2024年年度报告 | 2024年报第116—124、126—134、191—195、203、208—210页（单位元，2024/2023列）
https://static.cninfo.com.cn/finalpage/2025-04-25/1223275058.PDF
[ks_a_e_cash2024bridge] 科顺防水科技股份有限公司2024年年度报告 | 2024年报第116、191、209—210页；2025年报第209—210及214页
https://static.cninfo.com.cn/finalpage/2025-04-25/1223275058.PDF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[ks_a_e_old_ip_dep] 科顺防水科技股份有限公司2023年年度报告 | 2023年报PDF/印刷172页附注15完整投资性房地产表；199页附注66现金流补充表，单位元
https://static.cninfo.com.cn/finalpage/2024-04-30/1219911976.PDF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[ks_a_e_self] 科顺防水科技股份有限公司2025年度内部控制自我评价报告 | 自评第1—2、9—11页，评价范围及缺陷标准
https://static.cninfo.com.cn/finalpage/2026-04-24/1225172718.PDF
[ks_a_e_policy26] 科顺防水科技股份有限公司关于会计政策变更的公告 | 2026政策变更公告第1—2页
https://static.cninfo.com.cn/finalpage/2026-04-24/1225172716.PDF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[ks_a_e_return26] 关于归还暂时用于补充流动资金的闲置募集资金的公告（2026-002） | 归还公告PDF第1—2页，公告2026-002
https://static.cninfo.com.cn/finalpage/2026-01-06/1224921562.PDF
[ks_b_e_fund_return] 关于归还暂时用于补充流动资金的闲置募集资金的公告（2026-002） | PDF1–2
https://static.cninfo.com.cn/finalpage/2026-01-06/1224921562.PDF
[ks_d_e_fund_return] 关于归还暂时用于补充流动资金的闲置募集资金的公告（2026-002） | PDF p1–2，旧一期临时补流归还
https://static.cninfo.com.cn/finalpage/2026-01-06/1224921562.PDF
[ks_a_e_renew26] 关于使用部分闲置募集资金暂时补充流动资金的公告（2026-006） | 重新补流公告PDF第1—6页，公告2026-006
https://static.cninfo.com.cn/finalpage/2026-01-09/1224927241.PDF
[ks_b_e_fund_renew] 关于使用部分闲置募集资金暂时补充流动资金的公告（2026-006） | PDF1、3–5
https://static.cninfo.com.cn/finalpage/2026-01-09/1224927241.PDF
[ks_d_e_fund_new] 关于使用部分闲置募集资金暂时补充流动资金的公告（2026-006） | PDF p1、3–5，新一期临时补流批准及归还义务
https://static.cninfo.com.cn/finalpage/2026-01-09/1224927241.PDF
[ks_d_l_e_fund_use] 关于使用部分闲置募集资金暂时补充流动资金的公告（2026-006） | PDF p1、3–5；与F3 p2、4、6–8对照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[ks_b_e_investment26] 2026年1—5月份全国固定资产投资基本情况 | 正文、主要数据表、附注1/7
https://www.stats.gov.cn/sj/zxfb/202606/t20260616_1963951.html
[ks_b_e_gdp26] 2026年一季度国内生产总值初步核算结果 | 表1及附注
https://www.stats.gov.cn/sj/zxfbhjd/202604/t20260417_1963336.html
[ks_b_e_renewal] 关于持续推进城市更新行动的意见（生态环境部官方刊载） | 主要任务（一）（二）（四）（六）、支撑保障（四）
https://www.mee.gov.cn/zcwj/zyygwj/202505/t20250516_1119546.shtml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
[ks_b_e_fund] 关于与专业投资机构共同投资设立产业并购基金暨关联交易的公告 | PDF1–2、6–11
https://static.cninfo.com.cn/finalpage/2025-07-23/1224269220.PDF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[ks_b_e_fund_control] 科顺转债受托管理事务报告（2025年度） | 仅PDF20，募集资金使用核查
https://static.cninfo.com.cn/finalpage/2026-06-26/1225389523.PDF
[ks_d_e_price_history] 科顺转债受托管理事务报告（2025年度） | PDF p5、28–29，实际转股期及历次价格/下修决策
https://static.cninfo.com.cn/finalpage/2026-06-26/1225389523.PDF
[ks_d_e_general_performance] 科顺转债受托管理事务报告（2025年度） | PDF p14、22–23、28，履约、付息、会议和承诺
https://static.cninfo.com.cn/finalpage/2026-06-26/1225389523.PDF
[ks_d_e_fund_correction] 科顺转债受托管理事务报告（2025年度） | PDF p20、26–28，临时补流管理及项目延期
https://static.cninfo.com.cn/finalpage/2026-06-26/1225389523.PDF
[ks_b_e_2026_dividend] 2025年年度权益分派实施公告 | PDF1–4
https://disc.static.szse.cn/disc/disk03/finalpage/2026-05-19/a22ddf62-bedc-4698-bc94-9852ced27e84.PDF
[ks_d_e_distribution] 2025年年度权益分派实施公告 | PDF p1–3，权益分派方案、登记及除息日
https://disc.static.szse.cn/disc/disk03/finalpage/2026-05-19/a22ddf62-bedc-4698-bc94-9852ced27e84.PDF
[ks_d_l_e_dividend] 2025年年度权益分派实施公告 | PDF p1–3
https://disc.static.szse.cn/disc/disk03/finalpage/2026-05-19/a22ddf62-bedc-4698-bc94-9852ced27e84.PDF
[ks_d_l_f_dividend_shares_e] 2025年年度权益分派实施公告 | PDF p1–3
https://disc.static.szse.cn/disc/disk03/finalpage/2026-05-19/a22ddf62-bedc-4698-bc94-9852ced27e84.PDF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[ks_d_e_commitment_origin] 科顺股份创业板向不特定对象发行可转换公司债券募集说明书（最终发行稿） | PDF p136–137；p400，发行条件说明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[ks_d_e_remedies_contract] 科顺股份创业板向不特定对象发行可转换公司债券募集说明书（最终发行稿） | PDF p49、51–52，担保、违约责任及争议解决
https://disc.static.szse.cn/disc/disk03/finalpage/2023-08-02/664c558c-7896-414d-8e36-b7cd8129fa03.PDF
[ks_d_l_e_coupon] 科顺股份创业板向不特定对象发行可转换公司债券募集说明书（最终发行稿） | PDF p39–40、43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[ks_d_e_temporary_report] 科顺股份2026年第一次临时受托管理事务报告 | PDF p5、15–17，价格信息与重大事项
https://disc.static.szse.cn/disc/disk03/finalpage/2026-04-29/808bd56f-b2a4-418f-a330-2b4f6cc8911f.PDF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[ks_d_e_price_latest] 关于科顺转债转股价格调整的公告（2026-027） | PDF p1、6，转股价格调整及实施日
https://static.cninfo.com.cn/finalpage/2026-05-19/1225313108.PDF
[ks_d_e_fund_balance] 国泰海通关于科顺股份募集资金2025年度存放、管理与使用情况的核查意见 | PDF p1–2、4、6、9，募集资金累计收支、年末余额及对照表，单位万元（p1原到款金额为元）
https://static.cninfo.com.cn/finalpage/2026-04-24/1225172704.PDF
[ks_d_e_fund_delay] 国泰海通关于科顺股份募集资金2025年度存放、管理与使用情况的核查意见 | PDF p6–8，项目延期及使用管理核查
https://static.cninfo.com.cn/finalpage/2026-04-24/1225172704.PDF
[ks_project_e_progress]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[ks_d_e_sponsor_performance] 国泰海通关于科顺股份2025年度持续督导跟踪报告 | PDF p4–5，问题事项及承诺履行
https://static.cninfo.com.cn/finalpage/2026-05-12/1225301174.PDF
[ks_project_e_tracking] 国泰海通关于科顺股份2025年度持续督导跟踪报告 | PDF第2–4页，现场检查、关注事项及募集资金问题
https://static.cninfo.com.cn/finalpage/2026-05-12/1225301174.PDF
[ks_d_e_civil_remedies] 中华人民共和国民法典（最高人民法院发布全文） | 网页正文：第五百七十七至五百七十九条
https://www.court.gov.cn/zixun/xiangqing/233181.html
[ks_d_e_ranking] 最高人民法院关于破产分配中本金与利息清偿顺序疑问的回复 | 网页正文回复：普通破产债权本息清偿顺序
https://www.court.gov.cn/hudong/xiangqing/320171.html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[ks_r_e_matrix] 联合资信一般工商企业信用评级方法与模型V4.1.202606 | PDF25表5、26表6、32专业判断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[ks_r_e_definitions] 科顺防水科技股份有限公司可转换公司债券2026年跟踪评级报告 | PDF23附件4-1至4-4；方法适用性PDF6、8
https://www.lhratings.com/reports/B010330-P61284-2021-GZ2026.pdf
[ks_credit_e_facilities] 科顺防水科技股份有限公司可转换公司债券2026年跟踪评级报告 | PDF17/印刷14，偿债指标变化后授信段；截至2025年底，亿元
https://www.lhratings.com/reports/B010330-P61284-2021-GZ2026.pdf
[ks_credit_e_yearend_settlement] 科顺防水科技股份有限公司可转换公司债券2026年跟踪评级报告 | PDF17/印刷14，授信段后经销商担保段
https://www.lhratings.com/reports/B010330-P61284-2021-GZ2026.pdf
[ks_horizon_e_h125] 科顺股份2025年半年度报告 | PDF71–72页，合并现金流量表2025年半年度列；单位元
https://disc.static.szse.cn/disc/disk03/finalpage/2025-08-29/fac36ebc-3d92-4c4c-93ef-826df53c41bb.PDF
[ks_horizon_e_parenth125] 科顺股份2025年半年度报告 | PDF73–74页，母公司现金流量表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[ks_horizon_e_q125] 科顺股份2025年第一季度报告 | PDF1页追溯选择；10–12页合并现金流量表本期列；与2026Q1 PDF10–12页上期列逐项核对
https://static.cninfo.com.cn/finalpage/2025-04-25/1223275050.PDF
[ks_tax_e_cas18] 企业会计准则第18号——所得税 | 第13、15、17、20—22条
https://kjs.mof.gov.cn/zt/kjzzss/kuaijizhunzeshishi/200806/t20080618_46230.htm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[ks_credit_e_dealer_use] 国泰君安证券关于科顺股份对外担保的核查意见 | PDF2—3，第四及第五节
https://static.cninfo.com.cn/finalpage/2024-08-28/1221008879.PDF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FFFFFF"/>
                </a:solidFill>
              </a:rPr>
              <a:t>科顺股份与科顺转债：年报及信用研究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B9D1CC"/>
                </a:solidFill>
              </a:rPr>
              <a:t>科顺防水科技股份有限公司  |  2025-12-31  |  keshun-public-research-2026-06-30  |  1</a:t>
            </a:r>
            <a:endParaRPr lang="en-US" sz="900" dirty="0"/>
          </a:p>
        </p:txBody>
      </p:sp>
      <p:sp>
        <p:nvSpPr>
          <p:cNvPr id="5" name="Text 3"/>
          <p:cNvSpPr/>
          <p:nvPr/>
        </p:nvSpPr>
        <p:spPr>
          <a:xfrm>
            <a:off x="640080" y="1645920"/>
            <a:ext cx="10789920" cy="1143000"/>
          </a:xfrm>
          <a:prstGeom prst="rect">
            <a:avLst/>
          </a:prstGeom>
          <a:noFill/>
          <a:ln/>
        </p:spPr>
        <p:txBody>
          <a:bodyPr wrap="square" lIns="0" tIns="0" rIns="0" bIns="0" rtlCol="0" anchor="t"/>
          <a:lstStyle/>
          <a:p>
            <a:pPr indent="0" marL="0">
              <a:lnSpc>
                <a:spcPct val="100000"/>
              </a:lnSpc>
              <a:buNone/>
            </a:pPr>
            <a:r>
              <a:rPr lang="en-US" sz="1800" dirty="0">
                <a:solidFill>
                  <a:srgbClr val="FFFFFF"/>
                </a:solidFill>
              </a:rPr>
              <a:t>截至2026-06-30的境内相对信用研究：历史因素代表值支持主体及科顺转债BBB+、负面</a:t>
            </a:r>
            <a:endParaRPr lang="en-US" sz="1800" dirty="0"/>
          </a:p>
          <a:p>
            <a:pPr indent="0" marL="0">
              <a:lnSpc>
                <a:spcPct val="100000"/>
              </a:lnSpc>
              <a:buNone/>
            </a:pPr>
            <a:r>
              <a:rPr lang="en-US" sz="1800" dirty="0">
                <a:solidFill>
                  <a:srgbClr val="FFFFFF"/>
                </a:solidFill>
              </a:rPr>
              <a:t>展望的条件分支；未来经营、税款和融资链展示条件变化，未选定唯一评级。实际付款、资金用途、同</a:t>
            </a:r>
            <a:endParaRPr lang="en-US" sz="1800" dirty="0"/>
          </a:p>
          <a:p>
            <a:pPr indent="0" marL="0">
              <a:lnSpc>
                <a:spcPct val="100000"/>
              </a:lnSpc>
              <a:buNone/>
            </a:pPr>
            <a:r>
              <a:rPr lang="en-US" sz="1800" dirty="0">
                <a:solidFill>
                  <a:srgbClr val="FFFFFF"/>
                </a:solidFill>
              </a:rPr>
              <a:t>控版本与持续范围桥、发行人资金及承诺仍待核，条件数字不能证明付款覆盖。</a:t>
            </a:r>
            <a:endParaRPr lang="en-US" sz="1800" dirty="0"/>
          </a:p>
        </p:txBody>
      </p:sp>
      <p:sp>
        <p:nvSpPr>
          <p:cNvPr id="6" name="Text 4"/>
          <p:cNvSpPr/>
          <p:nvPr/>
        </p:nvSpPr>
        <p:spPr>
          <a:xfrm>
            <a:off x="640080" y="3200400"/>
            <a:ext cx="10789920" cy="1371600"/>
          </a:xfrm>
          <a:prstGeom prst="rect">
            <a:avLst/>
          </a:prstGeom>
          <a:noFill/>
          <a:ln/>
        </p:spPr>
        <p:txBody>
          <a:bodyPr wrap="square" lIns="0" tIns="0" rIns="0" bIns="0" rtlCol="0" anchor="ctr"/>
          <a:lstStyle/>
          <a:p>
            <a:pPr indent="0" marL="0">
              <a:buNone/>
            </a:pPr>
            <a:r>
              <a:rPr lang="en-US" sz="1900" dirty="0">
                <a:solidFill>
                  <a:srgbClr val="C6DEDA"/>
                </a:solidFill>
              </a:rPr>
              <a:t>会计基础 中国企业会计准则</a:t>
            </a:r>
            <a:endParaRPr lang="en-US" sz="1900" dirty="0"/>
          </a:p>
          <a:p>
            <a:pPr indent="0" marL="0">
              <a:buNone/>
            </a:pPr>
            <a:r>
              <a:rPr lang="en-US" sz="1900" dirty="0">
                <a:solidFill>
                  <a:srgbClr val="C6DEDA"/>
                </a:solidFill>
              </a:rPr>
              <a:t>范围 合并主体为主，母公司偿债资源单列；期后季度和历史原口径分别列示；Δ_A、Δ_H和持续经营范围Γ独立保留未知</a:t>
            </a:r>
            <a:endParaRPr lang="en-US" sz="1900" dirty="0"/>
          </a:p>
          <a:p>
            <a:pPr indent="0" marL="0">
              <a:buNone/>
            </a:pPr>
            <a:r>
              <a:rPr lang="en-US" sz="1900" dirty="0">
                <a:solidFill>
                  <a:srgbClr val="C6DEDA"/>
                </a:solidFill>
              </a:rPr>
              <a:t>信息截止 2026-06-30</a:t>
            </a:r>
            <a:endParaRPr lang="en-US" sz="1900" dirty="0"/>
          </a:p>
        </p:txBody>
      </p:sp>
      <p:sp>
        <p:nvSpPr>
          <p:cNvPr id="8" name="Text 5"/>
          <p:cNvSpPr/>
          <p:nvPr/>
        </p:nvSpPr>
        <p:spPr>
          <a:xfrm>
            <a:off x="640080" y="4892040"/>
            <a:ext cx="10789920" cy="868680"/>
          </a:xfrm>
          <a:prstGeom prst="rect">
            <a:avLst/>
          </a:prstGeom>
          <a:noFill/>
          <a:ln/>
        </p:spPr>
        <p:txBody>
          <a:bodyPr wrap="square" lIns="0" tIns="0" rIns="0" bIns="0" rtlCol="0" anchor="ctr">
            <a:normAutofit/>
          </a:bodyPr>
          <a:lstStyle/>
          <a:p>
            <a:pPr indent="0" marL="0">
              <a:buNone/>
            </a:pPr>
            <a:r>
              <a:rPr lang="en-US" sz="1600" dirty="0">
                <a:solidFill>
                  <a:srgbClr val="FFFFFF"/>
                </a:solidFill>
              </a:rPr>
              <a:t>来源 ks_a_s_23, ks_r_issue 公布日期未核验。不得将当前内容分析称为历史时点可用性验证。</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采用方法与适用范围</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联合一般工商V4.1.202606及总论/支持V4.1.202605、债项V3.0.202207；采用</a:t>
            </a:r>
            <a:endParaRPr lang="en-US" sz="1600" dirty="0"/>
          </a:p>
          <a:p>
            <a:pPr indent="0" marL="0">
              <a:lnSpc>
                <a:spcPct val="100000"/>
              </a:lnSpc>
              <a:buNone/>
            </a:pPr>
            <a:r>
              <a:rPr lang="en-US" sz="1600" dirty="0">
                <a:solidFill>
                  <a:srgbClr val="1F2933"/>
                </a:solidFill>
              </a:rPr>
              <a:t>公开规则并明示研究适配，不是机构评级复现或发布。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四表及附注取证、确定性计算、经营/财务因素与现金条件情景使用同一底稿。</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公开资料分析，不构成审计；未执行函证、盘点、穿行测试、凭证抽查、管理层访谈或合同原件核验。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2025年报PDF第1—245页完成文本阅读；视觉复核仅为覆盖证据所列选页，包括补读的第83、95—</a:t>
            </a:r>
            <a:endParaRPr lang="en-US" sz="1600" dirty="0"/>
          </a:p>
          <a:p>
            <a:pPr indent="0" marL="0">
              <a:lnSpc>
                <a:spcPct val="100000"/>
              </a:lnSpc>
              <a:buNone/>
            </a:pPr>
            <a:r>
              <a:rPr lang="en-US" sz="1600" dirty="0">
                <a:solidFill>
                  <a:srgbClr val="1F2933"/>
                </a:solidFill>
              </a:rPr>
              <a:t>96页，不声称全文视觉审阅。外部机构历史评级与本次研究判断分列，未作为因素输入或等级校准目标。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2023年同控重述摘要及部分期初/期末余额可核，完整盈利、利息等细项仍缺；2024原年报的2023明细</a:t>
            </a:r>
            <a:endParaRPr lang="en-US" sz="1600" dirty="0"/>
          </a:p>
          <a:p>
            <a:pPr indent="0" marL="0">
              <a:lnSpc>
                <a:spcPct val="100000"/>
              </a:lnSpc>
              <a:buNone/>
            </a:pPr>
            <a:r>
              <a:rPr lang="en-US" sz="1600" dirty="0">
                <a:solidFill>
                  <a:srgbClr val="1F2933"/>
                </a:solidFill>
              </a:rPr>
              <a:t>保留原范围，不能据其补齐同口径指标。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2026一季报未经审计；对比季报未统一作横琴同控重述，不按季度数据年度化。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没有完整同控重述三年细项；财务两年30/70和最新周期输入是明确研究适配，缺明细不等于原文仅存在近两年</a:t>
            </a:r>
            <a:endParaRPr lang="en-US" sz="1600" dirty="0"/>
          </a:p>
          <a:p>
            <a:pPr indent="0" marL="0">
              <a:lnSpc>
                <a:spcPct val="100000"/>
              </a:lnSpc>
              <a:buNone/>
            </a:pPr>
            <a:r>
              <a:rPr lang="en-US" sz="1600" dirty="0">
                <a:solidFill>
                  <a:srgbClr val="1F2933"/>
                </a:solidFill>
              </a:rPr>
              <a:t>报表数据。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来源覆盖底稿保留适用章节和未完成项。没有完成内部合同、母公司未来资金、行业总体统计或真实评级委员会，</a:t>
            </a:r>
            <a:endParaRPr lang="en-US" sz="1600" dirty="0"/>
          </a:p>
          <a:p>
            <a:pPr indent="0" marL="0">
              <a:lnSpc>
                <a:spcPct val="100000"/>
              </a:lnSpc>
              <a:buNone/>
            </a:pPr>
            <a:r>
              <a:rPr lang="en-US" sz="1600" dirty="0">
                <a:solidFill>
                  <a:srgbClr val="1F2933"/>
                </a:solidFill>
              </a:rPr>
              <a:t>不能据本例宣称生产验收通过。</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Δ_A=Δ_H=Γ=0仅为所列数值的条件选点，实际调整未知；真实同口径现金及融资需求仍为null。净</a:t>
            </a:r>
            <a:endParaRPr lang="en-US" sz="1600" dirty="0"/>
          </a:p>
          <a:p>
            <a:pPr indent="0" marL="0">
              <a:lnSpc>
                <a:spcPct val="100000"/>
              </a:lnSpc>
              <a:buNone/>
            </a:pPr>
            <a:r>
              <a:rPr lang="en-US" sz="1600" dirty="0">
                <a:solidFill>
                  <a:srgbClr val="1F2933"/>
                </a:solidFill>
              </a:rPr>
              <a:t>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已运行同一经营冲击贯穿损益、税款、现金、融资利息、债务权益及评级因素的条件链；非现金资产其余周转仍为</a:t>
            </a:r>
            <a:endParaRPr lang="en-US" sz="1600" dirty="0"/>
          </a:p>
          <a:p>
            <a:pPr indent="0" marL="0">
              <a:lnSpc>
                <a:spcPct val="100000"/>
              </a:lnSpc>
              <a:buNone/>
            </a:pPr>
            <a:r>
              <a:rPr lang="en-US" sz="1600" dirty="0">
                <a:solidFill>
                  <a:srgbClr val="1F2933"/>
                </a:solidFill>
              </a:rPr>
              <a:t>间接法调节，未来收现构成/当期税/回收池及融资期限是明示预算，不是已验证实际。</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 ks_a_s_23, ks_r_issue 的正式公布日期未核验；不得据此证明在信息截止日前已</a:t>
            </a:r>
            <a:endParaRPr lang="en-US" sz="1600" dirty="0"/>
          </a:p>
          <a:p>
            <a:pPr indent="0" marL="0">
              <a:lnSpc>
                <a:spcPct val="100000"/>
              </a:lnSpc>
              <a:buNone/>
            </a:pPr>
            <a:r>
              <a:rPr lang="en-US" sz="1600" dirty="0">
                <a:solidFill>
                  <a:srgbClr val="1F2933"/>
                </a:solidFill>
              </a:rPr>
              <a:t>公开。当前披露内容可以继续分析，历史时点结论须补充公告时间证据。</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以公开证据和明示判断，历史经营C、财务F4代表值的较弱端</a:t>
            </a:r>
            <a:endParaRPr lang="en-US" sz="1800" dirty="0"/>
          </a:p>
          <a:p>
            <a:pPr indent="0" marL="0">
              <a:lnSpc>
                <a:spcPct val="100000"/>
              </a:lnSpc>
              <a:buNone/>
            </a:pPr>
            <a:r>
              <a:rPr lang="en-US" sz="1800" dirty="0">
                <a:solidFill>
                  <a:srgbClr val="1F2933"/>
                </a:solidFill>
              </a:rPr>
              <a:t>支持主体及普通无担保科顺转债BBB+、负面展望的条件研究</a:t>
            </a:r>
            <a:endParaRPr lang="en-US" sz="1800" dirty="0"/>
          </a:p>
          <a:p>
            <a:pPr indent="0" marL="0">
              <a:lnSpc>
                <a:spcPct val="100000"/>
              </a:lnSpc>
              <a:buNone/>
            </a:pPr>
            <a:r>
              <a:rPr lang="en-US" sz="1800" dirty="0">
                <a:solidFill>
                  <a:srgbClr val="1F2933"/>
                </a:solidFill>
              </a:rPr>
              <a:t>分支，定性中心并未唯一选定。另以2026Q1实际及未来</a:t>
            </a:r>
            <a:endParaRPr lang="en-US" sz="1800" dirty="0"/>
          </a:p>
          <a:p>
            <a:pPr indent="0" marL="0">
              <a:lnSpc>
                <a:spcPct val="100000"/>
              </a:lnSpc>
              <a:buNone/>
            </a:pPr>
            <a:r>
              <a:rPr lang="en-US" sz="1800" dirty="0">
                <a:solidFill>
                  <a:srgbClr val="1F2933"/>
                </a:solidFill>
              </a:rPr>
              <a:t>经营、收现、税款和融资预算贯穿预测：Q1减值强度延续时，</a:t>
            </a:r>
            <a:endParaRPr lang="en-US" sz="1800" dirty="0"/>
          </a:p>
          <a:p>
            <a:pPr indent="0" marL="0">
              <a:lnSpc>
                <a:spcPct val="100000"/>
              </a:lnSpc>
              <a:buNone/>
            </a:pPr>
            <a:r>
              <a:rPr lang="en-US" sz="1800" dirty="0">
                <a:solidFill>
                  <a:srgbClr val="1F2933"/>
                </a:solidFill>
              </a:rPr>
              <a:t>材料不涨价的金额适配结果为F3，材料上涨5%为F4，分别</a:t>
            </a:r>
            <a:endParaRPr lang="en-US" sz="1800" dirty="0"/>
          </a:p>
          <a:p>
            <a:pPr indent="0" marL="0">
              <a:lnSpc>
                <a:spcPct val="100000"/>
              </a:lnSpc>
              <a:buNone/>
            </a:pPr>
            <a:r>
              <a:rPr lang="en-US" sz="1800" dirty="0">
                <a:solidFill>
                  <a:srgbClr val="1F2933"/>
                </a:solidFill>
              </a:rPr>
              <a:t>对应条件矩阵A和BBB+；这些预测分支不构成已证实改善或评</a:t>
            </a:r>
            <a:endParaRPr lang="en-US" sz="1800" dirty="0"/>
          </a:p>
          <a:p>
            <a:pPr indent="0" marL="0">
              <a:lnSpc>
                <a:spcPct val="100000"/>
              </a:lnSpc>
              <a:buNone/>
            </a:pPr>
            <a:r>
              <a:rPr lang="en-US" sz="1800" dirty="0">
                <a:solidFill>
                  <a:srgbClr val="1F2933"/>
                </a:solidFill>
              </a:rPr>
              <a:t>级调整。实际付款日前可调度资金、用途和合同条件未验证，不</a:t>
            </a:r>
            <a:endParaRPr lang="en-US" sz="1800" dirty="0"/>
          </a:p>
          <a:p>
            <a:pPr indent="0" marL="0">
              <a:lnSpc>
                <a:spcPct val="100000"/>
              </a:lnSpc>
              <a:buNone/>
            </a:pPr>
            <a:r>
              <a:rPr lang="en-US" sz="1800" dirty="0">
                <a:solidFill>
                  <a:srgbClr val="1F2933"/>
                </a:solidFill>
              </a:rPr>
              <a:t>发布无条件唯一等级。</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材料+5%及Q1减值延续条件：2026 EBITDA</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3.54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材料+5%及Q1减值延续条件：2026净利润</a:t>
            </a:r>
            <a:endParaRPr lang="en-US" sz="11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-1.28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材料+5%及Q1减值延续条件：2026经营现金流</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2.37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材料+5%及Q1减值延续条件：2026末全部债务</a:t>
            </a:r>
            <a:endParaRPr lang="en-US" sz="10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45.08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历史同定义年度比率先30/70加权再分档，财务代表值</a:t>
            </a:r>
            <a:endParaRPr lang="en-US" sz="1800" dirty="0"/>
          </a:p>
          <a:p>
            <a:pPr indent="0" marL="0">
              <a:lnSpc>
                <a:spcPct val="100000"/>
              </a:lnSpc>
              <a:buNone/>
            </a:pPr>
            <a:r>
              <a:rPr lang="en-US" sz="1800" dirty="0">
                <a:solidFill>
                  <a:srgbClr val="1F2933"/>
                </a:solidFill>
              </a:rPr>
              <a:t>3.74 分，金额先加权对照3.74 分；两者均F4。固定</a:t>
            </a:r>
            <a:endParaRPr lang="en-US" sz="1800" dirty="0"/>
          </a:p>
          <a:p>
            <a:pPr indent="0" marL="0">
              <a:lnSpc>
                <a:spcPct val="100000"/>
              </a:lnSpc>
              <a:buNone/>
            </a:pPr>
            <a:r>
              <a:rPr lang="en-US" sz="1800" dirty="0">
                <a:solidFill>
                  <a:srgbClr val="1F2933"/>
                </a:solidFill>
              </a:rPr>
              <a:t>定性判断的量化档内范围[3.46 分,4.01 分)跨F5</a:t>
            </a:r>
            <a:endParaRPr lang="en-US" sz="1800" dirty="0"/>
          </a:p>
          <a:p>
            <a:pPr indent="0" marL="0">
              <a:lnSpc>
                <a:spcPct val="100000"/>
              </a:lnSpc>
              <a:buNone/>
            </a:pPr>
            <a:r>
              <a:rPr lang="en-US" sz="1800" dirty="0">
                <a:solidFill>
                  <a:srgbClr val="1F2933"/>
                </a:solidFill>
              </a:rPr>
              <a:t>/F4。未来条件链采用2024/25/26的20/30/</a:t>
            </a:r>
            <a:endParaRPr lang="en-US" sz="1800" dirty="0"/>
          </a:p>
          <a:p>
            <a:pPr indent="0" marL="0">
              <a:lnSpc>
                <a:spcPct val="100000"/>
              </a:lnSpc>
              <a:buNone/>
            </a:pPr>
            <a:r>
              <a:rPr lang="en-US" sz="1800" dirty="0">
                <a:solidFill>
                  <a:srgbClr val="1F2933"/>
                </a:solidFill>
              </a:rPr>
              <a:t>50金额适配，并列年度比率对照；Q1减值及材料5%时，</a:t>
            </a:r>
            <a:endParaRPr lang="en-US" sz="1800" dirty="0"/>
          </a:p>
          <a:p>
            <a:pPr indent="0" marL="0">
              <a:lnSpc>
                <a:spcPct val="100000"/>
              </a:lnSpc>
              <a:buNone/>
            </a:pPr>
            <a:r>
              <a:rPr lang="en-US" sz="1800" dirty="0">
                <a:solidFill>
                  <a:srgbClr val="1F2933"/>
                </a:solidFill>
              </a:rPr>
              <a:t>2026 EBITDA3.54 亿元人民币、净利润</a:t>
            </a:r>
            <a:endParaRPr lang="en-US" sz="1800" dirty="0"/>
          </a:p>
          <a:p>
            <a:pPr indent="0" marL="0">
              <a:lnSpc>
                <a:spcPct val="100000"/>
              </a:lnSpc>
              <a:buNone/>
            </a:pPr>
            <a:r>
              <a:rPr lang="en-US" sz="1800" dirty="0">
                <a:solidFill>
                  <a:srgbClr val="1F2933"/>
                </a:solidFill>
              </a:rPr>
              <a:t>-1.28 亿元人民币、CFO2.37 亿元人民币、末债</a:t>
            </a:r>
            <a:endParaRPr lang="en-US" sz="1800" dirty="0"/>
          </a:p>
          <a:p>
            <a:pPr indent="0" marL="0">
              <a:lnSpc>
                <a:spcPct val="100000"/>
              </a:lnSpc>
              <a:buNone/>
            </a:pPr>
            <a:r>
              <a:rPr lang="en-US" sz="1800" dirty="0">
                <a:solidFill>
                  <a:srgbClr val="1F2933"/>
                </a:solidFill>
              </a:rPr>
              <a:t>45.08 亿元人民币，至2027H1累计新融资12.34</a:t>
            </a:r>
            <a:endParaRPr lang="en-US" sz="1800" dirty="0"/>
          </a:p>
          <a:p>
            <a:pPr indent="0" marL="0">
              <a:lnSpc>
                <a:spcPct val="100000"/>
              </a:lnSpc>
              <a:buNone/>
            </a:pPr>
            <a:r>
              <a:rPr lang="en-US" sz="1800" dirty="0">
                <a:solidFill>
                  <a:srgbClr val="1F2933"/>
                </a:solidFill>
              </a:rPr>
              <a:t> 亿元人民币。历史与预测方法适配分列；47/10.8亿元额</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材料+5%及Q1减值延续条件：2027H1累计新增贷款</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12.34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度不当提款，集团现金不等于发行人A，资金条件失败时退出常态</a:t>
            </a:r>
            <a:endParaRPr lang="en-US" sz="1800" dirty="0"/>
          </a:p>
          <a:p>
            <a:pPr indent="0" marL="0">
              <a:lnSpc>
                <a:spcPct val="100000"/>
              </a:lnSpc>
              <a:buNone/>
            </a:pPr>
            <a:r>
              <a:rPr lang="en-US" sz="1800" dirty="0">
                <a:solidFill>
                  <a:srgbClr val="1F2933"/>
                </a:solidFill>
              </a:rPr>
              <a:t>矩阵。</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本次量化档内下界已落F5；若有依据的择分或完整可比三年/</a:t>
            </a:r>
            <a:endParaRPr lang="en-US" sz="1800" dirty="0"/>
          </a:p>
          <a:p>
            <a:pPr indent="0" marL="0">
              <a:lnSpc>
                <a:spcPct val="100000"/>
              </a:lnSpc>
              <a:buNone/>
            </a:pPr>
            <a:r>
              <a:rPr lang="en-US" sz="1800" dirty="0">
                <a:solidFill>
                  <a:srgbClr val="1F2933"/>
                </a:solidFill>
              </a:rPr>
              <a:t>前瞻证据支持F5，则按已列C/F5分支重评。中点代表值支持</a:t>
            </a:r>
            <a:endParaRPr lang="en-US" sz="1800" dirty="0"/>
          </a:p>
          <a:p>
            <a:pPr indent="0" marL="0">
              <a:lnSpc>
                <a:spcPct val="100000"/>
              </a:lnSpc>
              <a:buNone/>
            </a:pPr>
            <a:r>
              <a:rPr lang="en-US" sz="1800" dirty="0">
                <a:solidFill>
                  <a:srgbClr val="1F2933"/>
                </a:solidFill>
              </a:rPr>
              <a:t>F4的研究建议，但不能以条件性文字代替缺失三年及定性判断的</a:t>
            </a:r>
            <a:endParaRPr lang="en-US" sz="1800" dirty="0"/>
          </a:p>
          <a:p>
            <a:pPr indent="0" marL="0">
              <a:lnSpc>
                <a:spcPct val="100000"/>
              </a:lnSpc>
              <a:buNone/>
            </a:pPr>
            <a:r>
              <a:rPr lang="en-US" sz="1800" dirty="0">
                <a:solidFill>
                  <a:srgbClr val="1F2933"/>
                </a:solidFill>
              </a:rPr>
              <a:t>核验。</a:t>
            </a:r>
            <a:endParaRPr lang="en-US" sz="1800" dirty="0"/>
          </a:p>
          <a:p>
            <a:pPr indent="0" marL="0">
              <a:lnSpc>
                <a:spcPct val="100000"/>
              </a:lnSpc>
              <a:buNone/>
            </a:pPr>
            <a:r>
              <a:rPr lang="en-US" sz="1800" dirty="0">
                <a:solidFill>
                  <a:srgbClr val="1F2933"/>
                </a:solidFill>
              </a:rPr>
              <a:t>无保留审计及季度盈利、银行新增借款支持持续经营，但不能单独</a:t>
            </a:r>
            <a:endParaRPr lang="en-US" sz="1800" dirty="0"/>
          </a:p>
          <a:p>
            <a:pPr indent="0" marL="0">
              <a:lnSpc>
                <a:spcPct val="100000"/>
              </a:lnSpc>
              <a:buNone/>
            </a:pPr>
            <a:r>
              <a:rPr lang="en-US" sz="1800" dirty="0">
                <a:solidFill>
                  <a:srgbClr val="1F2933"/>
                </a:solidFill>
              </a:rPr>
              <a:t>排除现金或合同限制。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a:p>
            <a:pPr indent="0" marL="0">
              <a:lnSpc>
                <a:spcPct val="100000"/>
              </a:lnSpc>
              <a:buNone/>
            </a:pPr>
            <a:r>
              <a:rPr lang="en-US" sz="1800" dirty="0">
                <a:solidFill>
                  <a:srgbClr val="1F2933"/>
                </a:solidFill>
              </a:rPr>
              <a:t>审计师认为2025-12-31所有重大方面财务报告内部控制</a:t>
            </a:r>
            <a:endParaRPr lang="en-US" sz="1800" dirty="0"/>
          </a:p>
          <a:p>
            <a:pPr indent="0" marL="0">
              <a:lnSpc>
                <a:spcPct val="100000"/>
              </a:lnSpc>
              <a:buNone/>
            </a:pPr>
            <a:r>
              <a:rPr lang="en-US" sz="1800" dirty="0">
                <a:solidFill>
                  <a:srgbClr val="1F2933"/>
                </a:solidFill>
              </a:rPr>
              <a:t>有效，签发2026-04-23；强调内控固有限制，不覆盖</a:t>
            </a:r>
            <a:endParaRPr lang="en-US" sz="1800" dirty="0"/>
          </a:p>
          <a:p>
            <a:pPr indent="0" marL="0">
              <a:lnSpc>
                <a:spcPct val="100000"/>
              </a:lnSpc>
              <a:buNone/>
            </a:pPr>
            <a:r>
              <a:rPr lang="en-US" sz="1800" dirty="0">
                <a:solidFill>
                  <a:srgbClr val="1F2933"/>
                </a:solidFill>
              </a:rPr>
              <a:t>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若更新事实使经营D、财务仍F4，研究分支为BB+；经营C而</a:t>
            </a:r>
            <a:endParaRPr lang="en-US" sz="1800" dirty="0"/>
          </a:p>
          <a:p>
            <a:pPr indent="0" marL="0">
              <a:lnSpc>
                <a:spcPct val="100000"/>
              </a:lnSpc>
              <a:buNone/>
            </a:pPr>
            <a:r>
              <a:rPr lang="en-US" sz="1800" dirty="0">
                <a:solidFill>
                  <a:srgbClr val="1F2933"/>
                </a:solidFill>
              </a:rPr>
              <a:t>财务F5为BBB-；两者同时恶化为BB。若证实近期无法按约</a:t>
            </a:r>
            <a:endParaRPr lang="en-US" sz="1800" dirty="0"/>
          </a:p>
          <a:p>
            <a:pPr indent="0" marL="0">
              <a:lnSpc>
                <a:spcPct val="100000"/>
              </a:lnSpc>
              <a:buNone/>
            </a:pPr>
            <a:r>
              <a:rPr lang="en-US" sz="1800" dirty="0">
                <a:solidFill>
                  <a:srgbClr val="1F2933"/>
                </a:solidFill>
              </a:rPr>
              <a:t>付款，立即退出上述常态分支，不能只保留负面展望。 须先核实</a:t>
            </a:r>
            <a:endParaRPr lang="en-US" sz="1800" dirty="0"/>
          </a:p>
          <a:p>
            <a:pPr indent="0" marL="0">
              <a:lnSpc>
                <a:spcPct val="100000"/>
              </a:lnSpc>
              <a:buNone/>
            </a:pPr>
            <a:r>
              <a:rPr lang="en-US" sz="1800" dirty="0">
                <a:solidFill>
                  <a:srgbClr val="1F2933"/>
                </a:solidFill>
              </a:rPr>
              <a:t>Δ_A、Δ_H及Γ并重跑全部时点和营运缓冲；零调整选点未</a:t>
            </a:r>
            <a:endParaRPr lang="en-US" sz="1800" dirty="0"/>
          </a:p>
          <a:p>
            <a:pPr indent="0" marL="0">
              <a:lnSpc>
                <a:spcPct val="100000"/>
              </a:lnSpc>
              <a:buNone/>
            </a:pPr>
            <a:r>
              <a:rPr lang="en-US" sz="1800" dirty="0">
                <a:solidFill>
                  <a:srgbClr val="1F2933"/>
                </a:solidFill>
              </a:rPr>
              <a:t>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同季利息/补助收益、公开锚定当期税及Q1减值延续条件下，</a:t>
            </a:r>
            <a:endParaRPr lang="en-US" sz="1800" dirty="0"/>
          </a:p>
          <a:p>
            <a:pPr indent="0" marL="0">
              <a:lnSpc>
                <a:spcPct val="100000"/>
              </a:lnSpc>
              <a:buNone/>
            </a:pPr>
            <a:r>
              <a:rPr lang="en-US" sz="1800" dirty="0">
                <a:solidFill>
                  <a:srgbClr val="1F2933"/>
                </a:solidFill>
              </a:rPr>
              <a:t>材料+5%使2026 EBITDA3.53735亿元、净利</a:t>
            </a:r>
            <a:endParaRPr lang="en-US" sz="1800" dirty="0"/>
          </a:p>
          <a:p>
            <a:pPr indent="0" marL="0">
              <a:lnSpc>
                <a:spcPct val="100000"/>
              </a:lnSpc>
              <a:buNone/>
            </a:pPr>
            <a:r>
              <a:rPr lang="en-US" sz="1800" dirty="0">
                <a:solidFill>
                  <a:srgbClr val="1F2933"/>
                </a:solidFill>
              </a:rPr>
              <a:t>−1.27943亿元、CFO2.36903亿元、末债</a:t>
            </a:r>
            <a:endParaRPr lang="en-US" sz="1800" dirty="0"/>
          </a:p>
          <a:p>
            <a:pPr indent="0" marL="0">
              <a:lnSpc>
                <a:spcPct val="100000"/>
              </a:lnSpc>
              <a:buNone/>
            </a:pPr>
            <a:r>
              <a:rPr lang="en-US" sz="1800" dirty="0">
                <a:solidFill>
                  <a:srgbClr val="1F2933"/>
                </a:solidFill>
              </a:rPr>
              <a:t>45.08299亿元；2027H1累计新借12.34238</a:t>
            </a:r>
            <a:endParaRPr lang="en-US" sz="1800" dirty="0"/>
          </a:p>
          <a:p>
            <a:pPr indent="0" marL="0">
              <a:lnSpc>
                <a:spcPct val="100000"/>
              </a:lnSpc>
              <a:buNone/>
            </a:pPr>
            <a:r>
              <a:rPr lang="en-US" sz="1800" dirty="0">
                <a:solidFill>
                  <a:srgbClr val="1F2933"/>
                </a:solidFill>
              </a:rPr>
              <a:t>亿元。材料冲击相对同基准使财务分4.61625/F3→</a:t>
            </a:r>
            <a:endParaRPr lang="en-US" sz="1800" dirty="0"/>
          </a:p>
          <a:p>
            <a:pPr indent="0" marL="0">
              <a:lnSpc>
                <a:spcPct val="100000"/>
              </a:lnSpc>
              <a:buNone/>
            </a:pPr>
            <a:r>
              <a:rPr lang="en-US" sz="1800" dirty="0">
                <a:solidFill>
                  <a:srgbClr val="1F2933"/>
                </a:solidFill>
              </a:rPr>
              <a:t>4.36625/F4，杠杆跨20和25两个阈值。</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材料+5%及Q1减值延续条件：2026 EBITDA</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3.54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材料+5%及Q1减值延续条件：2026经营现金流</a:t>
            </a:r>
            <a:endParaRPr lang="en-US" sz="10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2.37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材料+5%及Q1减值延续条件：2026末全部债务</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45.08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年报材料成本×收入预算×5%→增量采购/80%当季付款/</a:t>
            </a:r>
            <a:endParaRPr lang="en-US" sz="1800" dirty="0"/>
          </a:p>
          <a:p>
            <a:pPr indent="0" marL="0">
              <a:lnSpc>
                <a:spcPct val="100000"/>
              </a:lnSpc>
              <a:buNone/>
            </a:pPr>
            <a:r>
              <a:rPr lang="en-US" sz="1800" dirty="0">
                <a:solidFill>
                  <a:srgbClr val="1F2933"/>
                </a:solidFill>
              </a:rPr>
              <a:t>20%应付→CFO与15天底线→期初融资和本季利息循环→</a:t>
            </a:r>
            <a:endParaRPr lang="en-US" sz="1800" dirty="0"/>
          </a:p>
          <a:p>
            <a:pPr indent="0" marL="0">
              <a:lnSpc>
                <a:spcPct val="100000"/>
              </a:lnSpc>
              <a:buNone/>
            </a:pPr>
            <a:r>
              <a:rPr lang="en-US" sz="1800" dirty="0">
                <a:solidFill>
                  <a:srgbClr val="1F2933"/>
                </a:solidFill>
              </a:rPr>
              <a:t>利润/债务/权益→20/30/50研究适配财务因子；材料</a:t>
            </a:r>
            <a:endParaRPr lang="en-US" sz="1800" dirty="0"/>
          </a:p>
          <a:p>
            <a:pPr indent="0" marL="0">
              <a:lnSpc>
                <a:spcPct val="100000"/>
              </a:lnSpc>
              <a:buNone/>
            </a:pPr>
            <a:r>
              <a:rPr lang="en-US" sz="1800" dirty="0">
                <a:solidFill>
                  <a:srgbClr val="1F2933"/>
                </a:solidFill>
              </a:rPr>
              <a:t>冲击只计一次。 利息/补助现金与收益对应、未知其他收現</a:t>
            </a:r>
            <a:endParaRPr lang="en-US" sz="1800" dirty="0"/>
          </a:p>
          <a:p>
            <a:pPr indent="0" marL="0">
              <a:lnSpc>
                <a:spcPct val="100000"/>
              </a:lnSpc>
              <a:buNone/>
            </a:pPr>
            <a:r>
              <a:rPr lang="en-US" sz="1800" dirty="0">
                <a:solidFill>
                  <a:srgbClr val="1F2933"/>
                </a:solidFill>
              </a:rPr>
              <a:t>剔除；回收单列期初账面池；当期税计提及支付通过应交税滚动，</a:t>
            </a:r>
            <a:endParaRPr lang="en-US" sz="1800" dirty="0"/>
          </a:p>
          <a:p>
            <a:pPr indent="0" marL="0">
              <a:lnSpc>
                <a:spcPct val="100000"/>
              </a:lnSpc>
              <a:buNone/>
            </a:pPr>
            <a:r>
              <a:rPr lang="en-US" sz="1800" dirty="0">
                <a:solidFill>
                  <a:srgbClr val="1F2933"/>
                </a:solidFill>
              </a:rPr>
              <a:t>历史现金税先排除代理份额再替换。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2025减值强度延续、材料5%时，2026 EBITDA</a:t>
            </a:r>
            <a:endParaRPr lang="en-US" sz="1800" dirty="0"/>
          </a:p>
          <a:p>
            <a:pPr indent="0" marL="0">
              <a:lnSpc>
                <a:spcPct val="100000"/>
              </a:lnSpc>
              <a:buNone/>
            </a:pPr>
            <a:r>
              <a:rPr lang="en-US" sz="1800" dirty="0">
                <a:solidFill>
                  <a:srgbClr val="1F2933"/>
                </a:solidFill>
              </a:rPr>
              <a:t>−0.71357亿元、净亏5.53036亿元，财务分</a:t>
            </a:r>
            <a:endParaRPr lang="en-US" sz="1800" dirty="0"/>
          </a:p>
          <a:p>
            <a:pPr indent="0" marL="0">
              <a:lnSpc>
                <a:spcPct val="100000"/>
              </a:lnSpc>
              <a:buNone/>
            </a:pPr>
            <a:r>
              <a:rPr lang="en-US" sz="1800" dirty="0">
                <a:solidFill>
                  <a:srgbClr val="1F2933"/>
                </a:solidFill>
              </a:rPr>
              <a:t>3.68875/F4。</a:t>
            </a:r>
            <a:endParaRPr lang="en-US" sz="1800" dirty="0"/>
          </a:p>
          <a:p>
            <a:pPr indent="0" marL="0">
              <a:lnSpc>
                <a:spcPct val="100000"/>
              </a:lnSpc>
              <a:buNone/>
            </a:pPr>
            <a:r>
              <a:rPr lang="en-US" sz="1800" dirty="0">
                <a:solidFill>
                  <a:srgbClr val="1F2933"/>
                </a:solidFill>
              </a:rPr>
              <a:t>VAT全递延需累计新借12.58118亿元；当期税同季支付</a:t>
            </a:r>
            <a:endParaRPr lang="en-US" sz="1800" dirty="0"/>
          </a:p>
          <a:p>
            <a:pPr indent="0" marL="0">
              <a:lnSpc>
                <a:spcPct val="100000"/>
              </a:lnSpc>
              <a:buNone/>
            </a:pPr>
            <a:r>
              <a:rPr lang="en-US" sz="1800" dirty="0">
                <a:solidFill>
                  <a:srgbClr val="1F2933"/>
                </a:solidFill>
              </a:rPr>
              <a:t>12.49497亿元；未来利息补助均不发生12.89331</a:t>
            </a:r>
            <a:endParaRPr lang="en-US" sz="1800" dirty="0"/>
          </a:p>
          <a:p>
            <a:pPr indent="0" marL="0">
              <a:lnSpc>
                <a:spcPct val="100000"/>
              </a:lnSpc>
              <a:buNone/>
            </a:pPr>
            <a:r>
              <a:rPr lang="en-US" sz="1800" dirty="0">
                <a:solidFill>
                  <a:srgbClr val="1F2933"/>
                </a:solidFill>
              </a:rPr>
              <a:t>亿元。</a:t>
            </a:r>
            <a:endParaRPr lang="en-US" sz="1800" dirty="0"/>
          </a:p>
          <a:p>
            <a:pPr indent="0" marL="0">
              <a:lnSpc>
                <a:spcPct val="100000"/>
              </a:lnSpc>
              <a:buNone/>
            </a:pPr>
            <a:r>
              <a:rPr lang="en-US" sz="1800" dirty="0">
                <a:solidFill>
                  <a:srgbClr val="1F2933"/>
                </a:solidFill>
              </a:rPr>
              <a:t>年度比率先加权保留；零分母与混合正负EBITDA未决不伪造</a:t>
            </a:r>
            <a:endParaRPr lang="en-US" sz="1800" dirty="0"/>
          </a:p>
          <a:p>
            <a:pPr indent="0" marL="0">
              <a:lnSpc>
                <a:spcPct val="100000"/>
              </a:lnSpc>
              <a:buNone/>
            </a:pPr>
            <a:r>
              <a:rPr lang="en-US" sz="1800" dirty="0">
                <a:solidFill>
                  <a:srgbClr val="1F2933"/>
                </a:solidFill>
              </a:rPr>
              <a:t>唯一杠杆或利用带符号均值抵销负担。</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收入/采购价格、减值回收、税额抵扣、贷款条件与期限改变，须</a:t>
            </a:r>
            <a:endParaRPr lang="en-US" sz="1800" dirty="0"/>
          </a:p>
          <a:p>
            <a:pPr indent="0" marL="0">
              <a:lnSpc>
                <a:spcPct val="100000"/>
              </a:lnSpc>
              <a:buNone/>
            </a:pPr>
            <a:r>
              <a:rPr lang="en-US" sz="1800" dirty="0">
                <a:solidFill>
                  <a:srgbClr val="1F2933"/>
                </a:solidFill>
              </a:rPr>
              <a:t>重跑同链；经营资产独立周转预测和真实可调用资金仍待核。</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按需融资成立与融资</a:t>
            </a:r>
            <a:endParaRPr lang="en-US" sz="2200" dirty="0"/>
          </a:p>
          <a:p>
            <a:pPr indent="0" marL="0">
              <a:lnSpc>
                <a:spcPct val="100000"/>
              </a:lnSpc>
              <a:buNone/>
            </a:pPr>
            <a:r>
              <a:rPr lang="en-US" sz="2200" b="1" dirty="0">
                <a:solidFill>
                  <a:srgbClr val="213B45"/>
                </a:solidFill>
              </a:rPr>
              <a:t>上限失败须分别进入主体债项建议</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累计新增融资仅5亿元时，2027-03-31首次不能满足</a:t>
            </a:r>
            <a:endParaRPr lang="en-US" sz="1800" dirty="0"/>
          </a:p>
          <a:p>
            <a:pPr indent="0" marL="0">
              <a:lnSpc>
                <a:spcPct val="100000"/>
              </a:lnSpc>
              <a:buNone/>
            </a:pPr>
            <a:r>
              <a:rPr lang="en-US" sz="1800" dirty="0">
                <a:solidFill>
                  <a:srgbClr val="1F2933"/>
                </a:solidFill>
              </a:rPr>
              <a:t>经营底线和用途准备，缺口3.59975亿元。按需到位、三年</a:t>
            </a:r>
            <a:endParaRPr lang="en-US" sz="1800" dirty="0"/>
          </a:p>
          <a:p>
            <a:pPr indent="0" marL="0">
              <a:lnSpc>
                <a:spcPct val="100000"/>
              </a:lnSpc>
              <a:buNone/>
            </a:pPr>
            <a:r>
              <a:rPr lang="en-US" sz="1800" dirty="0">
                <a:solidFill>
                  <a:srgbClr val="1F2933"/>
                </a:solidFill>
              </a:rPr>
              <a:t>期新贷均为条件；材料5%矩阵保留BBB+主体及转债分支、无</a:t>
            </a:r>
            <a:endParaRPr lang="en-US" sz="1800" dirty="0"/>
          </a:p>
          <a:p>
            <a:pPr indent="0" marL="0">
              <a:lnSpc>
                <a:spcPct val="100000"/>
              </a:lnSpc>
              <a:buNone/>
            </a:pPr>
            <a:r>
              <a:rPr lang="en-US" sz="1800" dirty="0">
                <a:solidFill>
                  <a:srgbClr val="1F2933"/>
                </a:solidFill>
              </a:rPr>
              <a:t>涨价强分支为A，实际发行人A及支付覆盖仍为空，不能由条件</a:t>
            </a:r>
            <a:endParaRPr lang="en-US" sz="1800" dirty="0"/>
          </a:p>
          <a:p>
            <a:pPr indent="0" marL="0">
              <a:lnSpc>
                <a:spcPct val="100000"/>
              </a:lnSpc>
              <a:buNone/>
            </a:pPr>
            <a:r>
              <a:rPr lang="en-US" sz="1800" dirty="0">
                <a:solidFill>
                  <a:srgbClr val="1F2933"/>
                </a:solidFill>
              </a:rPr>
              <a:t>结果认定真实评级调整。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旧债账面清偿预算、现金息和债券票息与经营流同表；每季求F=</a:t>
            </a:r>
            <a:endParaRPr lang="en-US" sz="1800" dirty="0"/>
          </a:p>
          <a:p>
            <a:pPr indent="0" marL="0">
              <a:lnSpc>
                <a:spcPct val="100000"/>
              </a:lnSpc>
              <a:buNone/>
            </a:pPr>
            <a:r>
              <a:rPr lang="en-US" sz="1800" dirty="0">
                <a:solidFill>
                  <a:srgbClr val="1F2933"/>
                </a:solidFill>
              </a:rPr>
              <a:t>(底线+用途准备−无新提款期末现金)/(1−当期新借款利息</a:t>
            </a:r>
            <a:endParaRPr lang="en-US" sz="1800" dirty="0"/>
          </a:p>
          <a:p>
            <a:pPr indent="0" marL="0">
              <a:lnSpc>
                <a:spcPct val="100000"/>
              </a:lnSpc>
              <a:buNone/>
            </a:pPr>
            <a:r>
              <a:rPr lang="en-US" sz="1800" dirty="0">
                <a:solidFill>
                  <a:srgbClr val="1F2933"/>
                </a:solidFill>
              </a:rPr>
              <a:t>率)，受限融资不足则停止，不继续以自动贷款补平。</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材料+5%及Q1减值延续条件：2027H1累计新增贷款</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12.34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按需融资成立与融资</a:t>
            </a:r>
            <a:endParaRPr lang="en-US" sz="2200" dirty="0"/>
          </a:p>
          <a:p>
            <a:pPr indent="0" marL="0">
              <a:lnSpc>
                <a:spcPct val="100000"/>
              </a:lnSpc>
              <a:buNone/>
            </a:pPr>
            <a:r>
              <a:rPr lang="en-US" sz="2200" b="1" dirty="0">
                <a:solidFill>
                  <a:srgbClr val="213B45"/>
                </a:solidFill>
              </a:rPr>
              <a:t>上限失败须分别进入主体债项建议</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真实合同清偿与账面预算不同会改变提款时点及金额。</a:t>
            </a:r>
            <a:endParaRPr lang="en-US" sz="1800" dirty="0"/>
          </a:p>
          <a:p>
            <a:pPr indent="0" marL="0">
              <a:lnSpc>
                <a:spcPct val="100000"/>
              </a:lnSpc>
              <a:buNone/>
            </a:pPr>
            <a:r>
              <a:rPr lang="en-US" sz="1800" dirty="0">
                <a:solidFill>
                  <a:srgbClr val="1F2933"/>
                </a:solidFill>
              </a:rPr>
              <a:t>U/P、Δ_A/Δ_H/Γ、X、发行人A改变均可能改变日期</a:t>
            </a:r>
            <a:endParaRPr lang="en-US" sz="1800" dirty="0"/>
          </a:p>
          <a:p>
            <a:pPr indent="0" marL="0">
              <a:lnSpc>
                <a:spcPct val="100000"/>
              </a:lnSpc>
              <a:buNone/>
            </a:pPr>
            <a:r>
              <a:rPr lang="en-US" sz="1800" dirty="0">
                <a:solidFill>
                  <a:srgbClr val="1F2933"/>
                </a:solidFill>
              </a:rPr>
              <a:t>判断；均不预填为事实。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取得按法人和银行拆分的额度确认、提款及资金调拨、合同到期及</a:t>
            </a:r>
            <a:endParaRPr lang="en-US" sz="1800" dirty="0"/>
          </a:p>
          <a:p>
            <a:pPr indent="0" marL="0">
              <a:lnSpc>
                <a:spcPct val="100000"/>
              </a:lnSpc>
              <a:buNone/>
            </a:pPr>
            <a:r>
              <a:rPr lang="en-US" sz="1800" dirty="0">
                <a:solidFill>
                  <a:srgbClr val="1F2933"/>
                </a:solidFill>
              </a:rPr>
              <a:t>用途恢复证据后，用同一经营情景重跑；47亿元与10.8亿元</a:t>
            </a:r>
            <a:endParaRPr lang="en-US" sz="1800" dirty="0"/>
          </a:p>
          <a:p>
            <a:pPr indent="0" marL="0">
              <a:lnSpc>
                <a:spcPct val="100000"/>
              </a:lnSpc>
              <a:buNone/>
            </a:pPr>
            <a:r>
              <a:rPr lang="en-US" sz="1800" dirty="0">
                <a:solidFill>
                  <a:srgbClr val="1F2933"/>
                </a:solidFill>
              </a:rPr>
              <a:t>未用额度不能替代确认。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ks_econ_e_q1 / ks_credit_e_facilities / ks_a_e_ar 等；完整原文与位置见本演示文稿来源附页及备注</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历史建议及前瞻经营融资条件：章节指标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材料+5%及Q1减值延续条件：2026末权益</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38.66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母公司年末现金减短借及一年内非流动账面代理后余量1.05 亿元人民币，不能证明完整短期覆盖；</a:t>
            </a:r>
            <a:endParaRPr lang="en-US" sz="1800" dirty="0"/>
          </a:p>
          <a:p>
            <a:pPr indent="0" marL="0">
              <a:lnSpc>
                <a:spcPct val="100000"/>
              </a:lnSpc>
              <a:buNone/>
            </a:pPr>
            <a:r>
              <a:rPr lang="en-US" sz="1800" dirty="0">
                <a:solidFill>
                  <a:srgbClr val="1F2933"/>
                </a:solidFill>
              </a:rPr>
              <a:t>与固定本金未来到期价的静态差额为-12.24 亿元人民币。后者说明未来需产现、上划或融资的量</a:t>
            </a:r>
            <a:endParaRPr lang="en-US" sz="1800" dirty="0"/>
          </a:p>
          <a:p>
            <a:pPr indent="0" marL="0">
              <a:lnSpc>
                <a:spcPct val="100000"/>
              </a:lnSpc>
              <a:buNone/>
            </a:pPr>
            <a:r>
              <a:rPr lang="en-US" sz="1800" dirty="0">
                <a:solidFill>
                  <a:srgbClr val="1F2933"/>
                </a:solidFill>
              </a:rPr>
              <a:t>级，并非债券在本年到期或已经发生缺口。缺一季末母公司表，集团一季现金不替代。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发行人自身经营现金为负，投资收益现金不等于每年可重复的全部子公司分红。集团内票据及往来在合并</a:t>
            </a:r>
            <a:endParaRPr lang="en-US" sz="1800" dirty="0"/>
          </a:p>
          <a:p>
            <a:pPr indent="0" marL="0">
              <a:lnSpc>
                <a:spcPct val="100000"/>
              </a:lnSpc>
              <a:buNone/>
            </a:pPr>
            <a:r>
              <a:rPr lang="en-US" sz="1800" dirty="0">
                <a:solidFill>
                  <a:srgbClr val="1F2933"/>
                </a:solidFill>
              </a:rPr>
              <a:t>层抵销，但现金移转仍依赖对手现金、合法决策、少数股东权益、融资约束和实际到账。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子公司分红或往来回收能改善母公司资金，但不能按合并余额自动推算。</a:t>
            </a:r>
            <a:endParaRPr lang="en-US" sz="1800" dirty="0"/>
          </a:p>
          <a:p>
            <a:pPr indent="0" marL="0">
              <a:lnSpc>
                <a:spcPct val="100000"/>
              </a:lnSpc>
              <a:buNone/>
            </a:pPr>
            <a:r>
              <a:rPr lang="en-US" sz="1800" dirty="0">
                <a:solidFill>
                  <a:srgbClr val="1F2933"/>
                </a:solidFill>
              </a:rPr>
              <a:t>债券未来转换可能降低现金本金，须等真实转股事实确认，不能预先免偿。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母公司取得投资收益现金：5.21 亿元人民币</a:t>
            </a:r>
            <a:endParaRPr lang="en-US" sz="1800" dirty="0"/>
          </a:p>
          <a:p>
            <a:pPr indent="0" marL="0">
              <a:lnSpc>
                <a:spcPct val="100000"/>
              </a:lnSpc>
              <a:buNone/>
            </a:pPr>
            <a:r>
              <a:rPr lang="en-US" sz="1800" dirty="0">
                <a:solidFill>
                  <a:srgbClr val="1F2933"/>
                </a:solidFill>
              </a:rPr>
              <a:t>本年期初、综合收益、所有者投入、分配、专项储备及其他滚动；同控对期初比较及资本公积的影响需</a:t>
            </a:r>
            <a:endParaRPr lang="en-US" sz="1800" dirty="0"/>
          </a:p>
          <a:p>
            <a:pPr indent="0" marL="0">
              <a:lnSpc>
                <a:spcPct val="100000"/>
              </a:lnSpc>
              <a:buNone/>
            </a:pPr>
            <a:r>
              <a:rPr lang="en-US" sz="1800" dirty="0">
                <a:solidFill>
                  <a:srgbClr val="1F2933"/>
                </a:solidFill>
              </a:rPr>
              <a:t>分栏。</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取得主要子公司的可分配现金、债务和用途限制、上划决议及实际到账后，重建发行人月度来源用途；若</a:t>
            </a:r>
            <a:endParaRPr lang="en-US" sz="1800" dirty="0"/>
          </a:p>
          <a:p>
            <a:pPr indent="0" marL="0">
              <a:lnSpc>
                <a:spcPct val="100000"/>
              </a:lnSpc>
              <a:buNone/>
            </a:pPr>
            <a:r>
              <a:rPr lang="en-US" sz="1800" dirty="0">
                <a:solidFill>
                  <a:srgbClr val="1F2933"/>
                </a:solidFill>
              </a:rPr>
              <a:t>可上划路径受阻且本部不足，主体与直接债项结论须同步下调。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基准不计额外支持增益。自然人控制及对特定银行义务的保证未证明本债或全部偿债需要有及时支持；</a:t>
            </a:r>
            <a:endParaRPr lang="en-US" sz="1800" dirty="0"/>
          </a:p>
          <a:p>
            <a:pPr indent="0" marL="0">
              <a:lnSpc>
                <a:spcPct val="100000"/>
              </a:lnSpc>
              <a:buNone/>
            </a:pPr>
            <a:r>
              <a:rPr lang="en-US" sz="1800" dirty="0">
                <a:solidFill>
                  <a:srgbClr val="1F2933"/>
                </a:solidFill>
              </a:rPr>
              <a:t>普通政府补助未证明困难时救助。该选择是现有证据下的研究处理，不是“民企无支持”或未来不会支持</a:t>
            </a:r>
            <a:endParaRPr lang="en-US" sz="1800" dirty="0"/>
          </a:p>
          <a:p>
            <a:pPr indent="0" marL="0">
              <a:lnSpc>
                <a:spcPct val="100000"/>
              </a:lnSpc>
              <a:buNone/>
            </a:pPr>
            <a:r>
              <a:rPr lang="en-US" sz="1800" dirty="0">
                <a:solidFill>
                  <a:srgbClr val="1F2933"/>
                </a:solidFill>
              </a:rPr>
              <a:t>的事实判断。</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政府路径分别核持股/控制、地方重要性、违约声誉影响、成本收益和支持历史：已知自然人控制、可</a:t>
            </a:r>
            <a:endParaRPr lang="en-US" sz="1800" dirty="0"/>
          </a:p>
          <a:p>
            <a:pPr indent="0" marL="0">
              <a:lnSpc>
                <a:spcPct val="100000"/>
              </a:lnSpc>
              <a:buNone/>
            </a:pPr>
            <a:r>
              <a:rPr lang="en-US" sz="1800" dirty="0">
                <a:solidFill>
                  <a:srgbClr val="1F2933"/>
                </a:solidFill>
              </a:rPr>
              <a:t>替代竞争及普通补助，未识别具体救助方、独立财力及承诺。企业法人股东分支不能机械套自然人；个人</a:t>
            </a:r>
            <a:endParaRPr lang="en-US" sz="1800" dirty="0"/>
          </a:p>
          <a:p>
            <a:pPr indent="0" marL="0">
              <a:lnSpc>
                <a:spcPct val="100000"/>
              </a:lnSpc>
              <a:buNone/>
            </a:pPr>
            <a:r>
              <a:rPr lang="en-US" sz="1800" dirty="0">
                <a:solidFill>
                  <a:srgbClr val="1F2933"/>
                </a:solidFill>
              </a:rPr>
              <a:t>保证有具体对象和财力限制。支持可能性不能与能力分开，也不能把多项潜在支持累加。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地方就业、技术或项目重要性可能增加协助意愿，但需具体规模和可执行资金支持。</a:t>
            </a:r>
            <a:endParaRPr lang="en-US" sz="1800" dirty="0"/>
          </a:p>
          <a:p>
            <a:pPr indent="0" marL="0">
              <a:lnSpc>
                <a:spcPct val="100000"/>
              </a:lnSpc>
              <a:buNone/>
            </a:pPr>
            <a:r>
              <a:rPr lang="en-US" sz="1800" dirty="0">
                <a:solidFill>
                  <a:srgbClr val="1F2933"/>
                </a:solidFill>
              </a:rPr>
              <a:t>股东可投入资金，但股权质押、已有保证和未核个人资源使支持额度未定。</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关联方提供保证不等于已承诺注资；经销商保证与对子公司保证区分；2025同控收购向控制人付款。</a:t>
            </a:r>
            <a:endParaRPr lang="en-US" sz="1800" dirty="0"/>
          </a:p>
          <a:p>
            <a:pPr indent="0" marL="0">
              <a:lnSpc>
                <a:spcPct val="100000"/>
              </a:lnSpc>
              <a:buNone/>
            </a:pPr>
            <a:r>
              <a:rPr lang="en-US" sz="1800" dirty="0">
                <a:solidFill>
                  <a:srgbClr val="1F2933"/>
                </a:solidFill>
              </a:rPr>
              <a:t>正文无重大关联交易不等于无任何关联交易。</a:t>
            </a:r>
            <a:endParaRPr lang="en-US" sz="1800" dirty="0"/>
          </a:p>
          <a:p>
            <a:pPr indent="0" marL="0">
              <a:lnSpc>
                <a:spcPct val="100000"/>
              </a:lnSpc>
              <a:buNone/>
            </a:pPr>
            <a:r>
              <a:rPr lang="en-US" sz="1800" dirty="0">
                <a:solidFill>
                  <a:srgbClr val="1F2933"/>
                </a:solidFill>
              </a:rPr>
              <a:t>拟分配现金股利为期后计划；单一经营分部并不表示不同产品/区域现金风险一致；抵债资产后续变现需</a:t>
            </a:r>
            <a:endParaRPr lang="en-US" sz="1800" dirty="0"/>
          </a:p>
          <a:p>
            <a:pPr indent="0" marL="0">
              <a:lnSpc>
                <a:spcPct val="100000"/>
              </a:lnSpc>
              <a:buNone/>
            </a:pPr>
            <a:r>
              <a:rPr lang="en-US" sz="1800" dirty="0">
                <a:solidFill>
                  <a:srgbClr val="1F2933"/>
                </a:solidFill>
              </a:rPr>
              <a:t>外部证据。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取得具体支持方独立偿债能力、合法决策、覆盖义务、付款触发及到账时间，再按同一支持方法重做</a:t>
            </a:r>
            <a:endParaRPr lang="en-US" sz="1800" dirty="0"/>
          </a:p>
          <a:p>
            <a:pPr indent="0" marL="0">
              <a:lnSpc>
                <a:spcPct val="100000"/>
              </a:lnSpc>
              <a:buNone/>
            </a:pPr>
            <a:r>
              <a:rPr lang="en-US" sz="1800" dirty="0">
                <a:solidFill>
                  <a:srgbClr val="1F2933"/>
                </a:solidFill>
              </a:rPr>
              <a:t>提升；不把普通授信或既有补助重新加成一档。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未来投资及基金承诺、ESG、表外义务、信用记录与其他事项逐项保留。当前研究不在已反映的亏损、</a:t>
            </a:r>
            <a:endParaRPr lang="en-US" sz="1800" dirty="0"/>
          </a:p>
          <a:p>
            <a:pPr indent="0" marL="0">
              <a:lnSpc>
                <a:spcPct val="100000"/>
              </a:lnSpc>
              <a:buNone/>
            </a:pPr>
            <a:r>
              <a:rPr lang="en-US" sz="1800" dirty="0">
                <a:solidFill>
                  <a:srgbClr val="1F2933"/>
                </a:solidFill>
              </a:rPr>
              <a:t>资产质量和治理弱项之外再机械扣档；持续承诺的具体后果和用途恢复若形成未覆盖的近期付款或不可</a:t>
            </a:r>
            <a:endParaRPr lang="en-US" sz="1800" dirty="0"/>
          </a:p>
          <a:p>
            <a:pPr indent="0" marL="0">
              <a:lnSpc>
                <a:spcPct val="100000"/>
              </a:lnSpc>
              <a:buNone/>
            </a:pPr>
            <a:r>
              <a:rPr lang="en-US" sz="1800" dirty="0">
                <a:solidFill>
                  <a:srgbClr val="1F2933"/>
                </a:solidFill>
              </a:rPr>
              <a:t>调度约束，基准评级条件即失效，必须重新分析。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项目延期和基金调用影响前瞻资本需求；污染/事故、劳工质量披露只代表公司声明和制度，未有监管</a:t>
            </a:r>
            <a:endParaRPr lang="en-US" sz="1800" dirty="0"/>
          </a:p>
          <a:p>
            <a:pPr indent="0" marL="0">
              <a:lnSpc>
                <a:spcPct val="100000"/>
              </a:lnSpc>
              <a:buNone/>
            </a:pPr>
            <a:r>
              <a:rPr lang="en-US" sz="1800" dirty="0">
                <a:solidFill>
                  <a:srgbClr val="1F2933"/>
                </a:solidFill>
              </a:rPr>
              <a:t>数据证明风险不重大。担保需与基础债务去重，实际代偿须计入现金。已知付息并不证明所有借款/贸易</a:t>
            </a:r>
            <a:endParaRPr lang="en-US" sz="1800" dirty="0"/>
          </a:p>
          <a:p>
            <a:pPr indent="0" marL="0">
              <a:lnSpc>
                <a:spcPct val="100000"/>
              </a:lnSpc>
              <a:buNone/>
            </a:pPr>
            <a:r>
              <a:rPr lang="en-US" sz="1800" dirty="0">
                <a:solidFill>
                  <a:srgbClr val="1F2933"/>
                </a:solidFill>
              </a:rPr>
              <a:t>义务正常；原件两项小额/项目差异需核原因，不能自动转成舞弊分。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整改、投资收缩或真实回款改善可以减轻增量风险，但只有实施证据才能纳入。</a:t>
            </a:r>
            <a:endParaRPr lang="en-US" sz="1800" dirty="0"/>
          </a:p>
          <a:p>
            <a:pPr indent="0" marL="0">
              <a:lnSpc>
                <a:spcPct val="100000"/>
              </a:lnSpc>
              <a:buNone/>
            </a:pPr>
            <a:r>
              <a:rPr lang="en-US" sz="1800" dirty="0">
                <a:solidFill>
                  <a:srgbClr val="1F2933"/>
                </a:solidFill>
              </a:rPr>
              <a:t>新的监管处罚、质量赔偿或已到期代偿可能同时削弱现金与融资渠道，不能只在治理文字中描述。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 第100页明确财报审计意见不涵盖年报其他信息，亦不对其发表鉴证结论；审计师称就其他信息</a:t>
            </a:r>
            <a:endParaRPr lang="en-US" sz="1800" dirty="0"/>
          </a:p>
          <a:p>
            <a:pPr indent="0" marL="0">
              <a:lnSpc>
                <a:spcPct val="100000"/>
              </a:lnSpc>
              <a:buNone/>
            </a:pPr>
            <a:r>
              <a:rPr lang="en-US" sz="1800" dirty="0">
                <a:solidFill>
                  <a:srgbClr val="1F2933"/>
                </a:solidFill>
              </a:rPr>
              <a:t>无事项需报告，不等于对第95页未来偿债安排作出保证。</a:t>
            </a:r>
            <a:endParaRPr lang="en-US" sz="1800" dirty="0"/>
          </a:p>
          <a:p>
            <a:pPr indent="0" marL="0">
              <a:lnSpc>
                <a:spcPct val="100000"/>
              </a:lnSpc>
              <a:buNone/>
            </a:pPr>
            <a:r>
              <a:rPr lang="en-US" sz="1800" dirty="0">
                <a:solidFill>
                  <a:srgbClr val="1F2933"/>
                </a:solidFill>
              </a:rPr>
              <a:t>审计师认为2025-12-31所有重大方面财务报告内部控制有效，签发2026-04-23；</a:t>
            </a:r>
            <a:endParaRPr lang="en-US" sz="1800" dirty="0"/>
          </a:p>
          <a:p>
            <a:pPr indent="0" marL="0">
              <a:lnSpc>
                <a:spcPct val="100000"/>
              </a:lnSpc>
              <a:buNone/>
            </a:pPr>
            <a:r>
              <a:rPr lang="en-US" sz="1800" dirty="0">
                <a:solidFill>
                  <a:srgbClr val="1F2933"/>
                </a:solidFill>
              </a:rPr>
              <a:t>强调内控固有限制，不覆盖未来控制效果。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新事实先量化对现金、资产和基础因素的影响，再识别未被反映的增量风险；若需个体档差，说明具体</a:t>
            </a:r>
            <a:endParaRPr lang="en-US" sz="1800" dirty="0"/>
          </a:p>
          <a:p>
            <a:pPr indent="0" marL="0">
              <a:lnSpc>
                <a:spcPct val="100000"/>
              </a:lnSpc>
              <a:buNone/>
            </a:pPr>
            <a:r>
              <a:rPr lang="en-US" sz="1800" dirty="0">
                <a:solidFill>
                  <a:srgbClr val="1F2933"/>
                </a:solidFill>
              </a:rPr>
              <a:t>传导及不重复计入依据。不能把所有未知事项直接当中性已核实。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发行人可调度额A_t必须覆盖发行人自身付款、最低营运余额和发行人承担的用途恢复额，减去届时</a:t>
            </a:r>
            <a:endParaRPr lang="en-US" sz="1800" dirty="0"/>
          </a:p>
          <a:p>
            <a:pPr indent="0" marL="0">
              <a:lnSpc>
                <a:spcPct val="100000"/>
              </a:lnSpc>
              <a:buNone/>
            </a:pPr>
            <a:r>
              <a:rPr lang="en-US" sz="1800" dirty="0">
                <a:solidFill>
                  <a:srgbClr val="1F2933"/>
                </a:solidFill>
              </a:rPr>
              <a:t>已到账融资；A_t、母公司付款预算、可上划子公司余额与上划限制未取得，均保留未知。已知</a:t>
            </a:r>
            <a:endParaRPr lang="en-US" sz="1800" dirty="0"/>
          </a:p>
          <a:p>
            <a:pPr indent="0" marL="0">
              <a:lnSpc>
                <a:spcPct val="100000"/>
              </a:lnSpc>
              <a:buNone/>
            </a:pPr>
            <a:r>
              <a:rPr lang="en-US" sz="1800" dirty="0">
                <a:solidFill>
                  <a:srgbClr val="1F2933"/>
                </a:solidFill>
              </a:rPr>
              <a:t>2025H1母公司现金10.87亿元只是历史快照。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集团G_t容量是外部融资需求的合并研究边界；子公司自身营运、债务、利润分配条件和监管/合同</a:t>
            </a:r>
            <a:endParaRPr lang="en-US" sz="1800" dirty="0"/>
          </a:p>
          <a:p>
            <a:pPr indent="0" marL="0">
              <a:lnSpc>
                <a:spcPct val="100000"/>
              </a:lnSpc>
              <a:buNone/>
            </a:pPr>
            <a:r>
              <a:rPr lang="en-US" sz="1800" dirty="0">
                <a:solidFill>
                  <a:srgbClr val="1F2933"/>
                </a:solidFill>
              </a:rPr>
              <a:t>限制使其不能自动上划。附加用途限制还可能改变CCE分类，不能由账面货币总额断言自由现金。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取得可执行现金归集协议、董事会批准、真实银行到账与子公司自身支付后的剩余资金，可将相应金额计</a:t>
            </a:r>
            <a:endParaRPr lang="en-US" sz="1800" dirty="0"/>
          </a:p>
          <a:p>
            <a:pPr indent="0" marL="0">
              <a:lnSpc>
                <a:spcPct val="100000"/>
              </a:lnSpc>
              <a:buNone/>
            </a:pPr>
            <a:r>
              <a:rPr lang="en-US" sz="1800" dirty="0">
                <a:solidFill>
                  <a:srgbClr val="1F2933"/>
                </a:solidFill>
              </a:rPr>
              <a:t>入A_t。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仅当A_t+已到账融资≥自身付款+自身最低营运余额+用途恢复额，且此前无付款断点时，该日发行</a:t>
            </a:r>
            <a:endParaRPr lang="en-US" sz="1800" dirty="0"/>
          </a:p>
          <a:p>
            <a:pPr indent="0" marL="0">
              <a:lnSpc>
                <a:spcPct val="100000"/>
              </a:lnSpc>
              <a:buNone/>
            </a:pPr>
            <a:r>
              <a:rPr lang="en-US" sz="1800" dirty="0">
                <a:solidFill>
                  <a:srgbClr val="1F2933"/>
                </a:solidFill>
              </a:rPr>
              <a:t>人分支才闭合。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负面展望反映一年内的行业需求、回收、用途与融资压力。历史</a:t>
            </a:r>
            <a:endParaRPr lang="en-US" sz="1800" dirty="0"/>
          </a:p>
          <a:p>
            <a:pPr indent="0" marL="0">
              <a:lnSpc>
                <a:spcPct val="100000"/>
              </a:lnSpc>
              <a:buNone/>
            </a:pPr>
            <a:r>
              <a:rPr lang="en-US" sz="1800" dirty="0">
                <a:solidFill>
                  <a:srgbClr val="1F2933"/>
                </a:solidFill>
              </a:rPr>
              <a:t>固定定性量化区间跨F5/F4，上端未达F3；未来经营融资的</a:t>
            </a:r>
            <a:endParaRPr lang="en-US" sz="1800" dirty="0"/>
          </a:p>
          <a:p>
            <a:pPr indent="0" marL="0">
              <a:lnSpc>
                <a:spcPct val="100000"/>
              </a:lnSpc>
              <a:buNone/>
            </a:pPr>
            <a:r>
              <a:rPr lang="en-US" sz="1800" dirty="0">
                <a:solidFill>
                  <a:srgbClr val="1F2933"/>
                </a:solidFill>
              </a:rPr>
              <a:t>无材料涨价分支可得C/F3及A矩阵值，材料5%分支为C/</a:t>
            </a:r>
            <a:endParaRPr lang="en-US" sz="1800" dirty="0"/>
          </a:p>
          <a:p>
            <a:pPr indent="0" marL="0">
              <a:lnSpc>
                <a:spcPct val="100000"/>
              </a:lnSpc>
              <a:buNone/>
            </a:pPr>
            <a:r>
              <a:rPr lang="en-US" sz="1800" dirty="0">
                <a:solidFill>
                  <a:srgbClr val="1F2933"/>
                </a:solidFill>
              </a:rPr>
              <a:t>F4及BBB+，均未证明实际持续改善。只有经营现金兑现、</a:t>
            </a:r>
            <a:endParaRPr lang="en-US" sz="1800" dirty="0"/>
          </a:p>
          <a:p>
            <a:pPr indent="0" marL="0">
              <a:lnSpc>
                <a:spcPct val="100000"/>
              </a:lnSpc>
              <a:buNone/>
            </a:pPr>
            <a:r>
              <a:rPr lang="en-US" sz="1800" dirty="0">
                <a:solidFill>
                  <a:srgbClr val="1F2933"/>
                </a:solidFill>
              </a:rPr>
              <a:t>发行人资金及合同问题解决后才讨论实际上调；若付款条件失败</a:t>
            </a:r>
            <a:endParaRPr lang="en-US" sz="1800" dirty="0"/>
          </a:p>
          <a:p>
            <a:pPr indent="0" marL="0">
              <a:lnSpc>
                <a:spcPct val="100000"/>
              </a:lnSpc>
              <a:buNone/>
            </a:pPr>
            <a:r>
              <a:rPr lang="en-US" sz="1800" dirty="0">
                <a:solidFill>
                  <a:srgbClr val="1F2933"/>
                </a:solidFill>
              </a:rPr>
              <a:t>立即重评。经营D/F4、C/F5、D/F5的既有变化分支</a:t>
            </a:r>
            <a:endParaRPr lang="en-US" sz="1800" dirty="0"/>
          </a:p>
          <a:p>
            <a:pPr indent="0" marL="0">
              <a:lnSpc>
                <a:spcPct val="100000"/>
              </a:lnSpc>
              <a:buNone/>
            </a:pPr>
            <a:r>
              <a:rPr lang="en-US" sz="1800" dirty="0">
                <a:solidFill>
                  <a:srgbClr val="1F2933"/>
                </a:solidFill>
              </a:rPr>
              <a:t>继续保留。</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固定定性判断的量化档内合成下界（含）</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3.46 分</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固定定性判断的量化档内合成上确界（不含）</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4.01 分</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跟踪先更新月度银行现金、实际用途占用、母公司到期表和持续</a:t>
            </a:r>
            <a:endParaRPr lang="en-US" sz="1800" dirty="0"/>
          </a:p>
          <a:p>
            <a:pPr indent="0" marL="0">
              <a:lnSpc>
                <a:spcPct val="100000"/>
              </a:lnSpc>
              <a:buNone/>
            </a:pPr>
            <a:r>
              <a:rPr lang="en-US" sz="1800" dirty="0">
                <a:solidFill>
                  <a:srgbClr val="1F2933"/>
                </a:solidFill>
              </a:rPr>
              <a:t>承诺解释，再更新半年度/年度亏损、应收回收、订单及融资。</a:t>
            </a:r>
            <a:endParaRPr lang="en-US" sz="1800" dirty="0"/>
          </a:p>
          <a:p>
            <a:pPr indent="0" marL="0">
              <a:lnSpc>
                <a:spcPct val="100000"/>
              </a:lnSpc>
              <a:buNone/>
            </a:pPr>
            <a:r>
              <a:rPr lang="en-US" sz="1800" dirty="0">
                <a:solidFill>
                  <a:srgbClr val="1F2933"/>
                </a:solidFill>
              </a:rPr>
              <a:t>三年完整重述和更可靠预测会改变加权依据；对应结果应重算而非</a:t>
            </a:r>
            <a:endParaRPr lang="en-US" sz="1800" dirty="0"/>
          </a:p>
          <a:p>
            <a:pPr indent="0" marL="0">
              <a:lnSpc>
                <a:spcPct val="100000"/>
              </a:lnSpc>
              <a:buNone/>
            </a:pPr>
            <a:r>
              <a:rPr lang="en-US" sz="1800" dirty="0">
                <a:solidFill>
                  <a:srgbClr val="1F2933"/>
                </a:solidFill>
              </a:rPr>
              <a:t>沿用此次分数。没有设置后台监控、没有真实委员会投票。 临时</a:t>
            </a:r>
            <a:endParaRPr lang="en-US" sz="1800" dirty="0"/>
          </a:p>
          <a:p>
            <a:pPr indent="0" marL="0">
              <a:lnSpc>
                <a:spcPct val="100000"/>
              </a:lnSpc>
              <a:buNone/>
            </a:pPr>
            <a:r>
              <a:rPr lang="en-US" sz="1800" dirty="0">
                <a:solidFill>
                  <a:srgbClr val="1F2933"/>
                </a:solidFill>
              </a:rPr>
              <a:t>补流按2027-01-09十二个月边界及更早项目需要核查；</a:t>
            </a:r>
            <a:endParaRPr lang="en-US" sz="1800" dirty="0"/>
          </a:p>
          <a:p>
            <a:pPr indent="0" marL="0">
              <a:lnSpc>
                <a:spcPct val="100000"/>
              </a:lnSpc>
              <a:buNone/>
            </a:pPr>
            <a:r>
              <a:rPr lang="en-US" sz="1800" dirty="0">
                <a:solidFill>
                  <a:srgbClr val="1F2933"/>
                </a:solidFill>
              </a:rPr>
              <a:t>延伸至2027年6月的条件资金容量须代入实际还本、其他净</a:t>
            </a:r>
            <a:endParaRPr lang="en-US" sz="1800" dirty="0"/>
          </a:p>
          <a:p>
            <a:pPr indent="0" marL="0">
              <a:lnSpc>
                <a:spcPct val="100000"/>
              </a:lnSpc>
              <a:buNone/>
            </a:pPr>
            <a:r>
              <a:rPr lang="en-US" sz="1800" dirty="0">
                <a:solidFill>
                  <a:srgbClr val="1F2933"/>
                </a:solidFill>
              </a:rPr>
              <a:t>用途、项目耗用和用途占用，再检验发行人可调度资金及可落实</a:t>
            </a:r>
            <a:endParaRPr lang="en-US" sz="1800" dirty="0"/>
          </a:p>
          <a:p>
            <a:pPr indent="0" marL="0">
              <a:lnSpc>
                <a:spcPct val="100000"/>
              </a:lnSpc>
              <a:buNone/>
            </a:pPr>
            <a:r>
              <a:rPr lang="en-US" sz="1800" dirty="0">
                <a:solidFill>
                  <a:srgbClr val="1F2933"/>
                </a:solidFill>
              </a:rPr>
              <a:t>融资。 优先关闭10.8/47亿元额度冲突、年末39户保证</a:t>
            </a:r>
            <a:endParaRPr lang="en-US" sz="1800" dirty="0"/>
          </a:p>
          <a:p>
            <a:pPr indent="0" marL="0">
              <a:lnSpc>
                <a:spcPct val="100000"/>
              </a:lnSpc>
              <a:buNone/>
            </a:pPr>
            <a:r>
              <a:rPr lang="en-US" sz="1800" dirty="0">
                <a:solidFill>
                  <a:srgbClr val="1F2933"/>
                </a:solidFill>
              </a:rPr>
              <a:t>至三月及六月的存续滚动，并核保证支持的实际收现和期后追偿。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季度业绩改善可使展望转稳，但需要完整期间现金而不只是利润。</a:t>
            </a:r>
            <a:endParaRPr lang="en-US" sz="1800" dirty="0"/>
          </a:p>
          <a:p>
            <a:pPr indent="0" marL="0">
              <a:lnSpc>
                <a:spcPct val="100000"/>
              </a:lnSpc>
              <a:buNone/>
            </a:pPr>
            <a:r>
              <a:rPr lang="en-US" sz="1800" dirty="0">
                <a:solidFill>
                  <a:srgbClr val="1F2933"/>
                </a:solidFill>
              </a:rPr>
              <a:t>正式解释若证明承诺无新增现金后果，会关闭该项不确定性，其他</a:t>
            </a:r>
            <a:endParaRPr lang="en-US" sz="1800" dirty="0"/>
          </a:p>
          <a:p>
            <a:pPr indent="0" marL="0">
              <a:lnSpc>
                <a:spcPct val="100000"/>
              </a:lnSpc>
              <a:buNone/>
            </a:pPr>
            <a:r>
              <a:rPr lang="en-US" sz="1800" dirty="0">
                <a:solidFill>
                  <a:srgbClr val="1F2933"/>
                </a:solidFill>
              </a:rPr>
              <a:t>经营财务风险仍需重评。</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按本研究截止日安排下一次检查于下一份实际半年度披露及任何</a:t>
            </a:r>
            <a:endParaRPr lang="en-US" sz="1800" dirty="0"/>
          </a:p>
          <a:p>
            <a:pPr indent="0" marL="0">
              <a:lnSpc>
                <a:spcPct val="100000"/>
              </a:lnSpc>
              <a:buNone/>
            </a:pPr>
            <a:r>
              <a:rPr lang="en-US" sz="1800" dirty="0">
                <a:solidFill>
                  <a:srgbClr val="1F2933"/>
                </a:solidFill>
              </a:rPr>
              <a:t>提前到期、用途变更或支持事件；若已发生应立即反映的偿付</a:t>
            </a:r>
            <a:endParaRPr lang="en-US" sz="1800" dirty="0"/>
          </a:p>
          <a:p>
            <a:pPr indent="0" marL="0">
              <a:lnSpc>
                <a:spcPct val="100000"/>
              </a:lnSpc>
              <a:buNone/>
            </a:pPr>
            <a:r>
              <a:rPr lang="en-US" sz="1800" dirty="0">
                <a:solidFill>
                  <a:srgbClr val="1F2933"/>
                </a:solidFill>
              </a:rPr>
              <a:t>问题，不等待下一年度或用展望推迟调整。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现金季节锚的范围桥尚未闭合；以下数字仅为Δ_A=Δ_H=Γ=0条件参照。账龄拉长和房地产工程</a:t>
            </a:r>
            <a:endParaRPr lang="en-US" sz="1800" dirty="0"/>
          </a:p>
          <a:p>
            <a:pPr indent="0" marL="0">
              <a:lnSpc>
                <a:spcPct val="100000"/>
              </a:lnSpc>
              <a:buNone/>
            </a:pPr>
            <a:r>
              <a:rPr lang="en-US" sz="1800" dirty="0">
                <a:solidFill>
                  <a:srgbClr val="1F2933"/>
                </a:solidFill>
              </a:rPr>
              <a:t>旧款风险支持测试收款继续延后；将预计销售收款的5%延至2027-06-30后且窗内不追收，使</a:t>
            </a:r>
            <a:endParaRPr lang="en-US" sz="1800" dirty="0"/>
          </a:p>
          <a:p>
            <a:pPr indent="0" marL="0">
              <a:lnSpc>
                <a:spcPct val="100000"/>
              </a:lnSpc>
              <a:buNone/>
            </a:pPr>
            <a:r>
              <a:rPr lang="en-US" sz="1800" dirty="0">
                <a:solidFill>
                  <a:srgbClr val="1F2933"/>
                </a:solidFill>
              </a:rPr>
              <a:t>2026全年条件CFO从396253333.07元降至209386514.78元，并提高延伸</a:t>
            </a:r>
            <a:endParaRPr lang="en-US" sz="1800" dirty="0"/>
          </a:p>
          <a:p>
            <a:pPr indent="0" marL="0">
              <a:lnSpc>
                <a:spcPct val="100000"/>
              </a:lnSpc>
              <a:buNone/>
            </a:pPr>
            <a:r>
              <a:rPr lang="en-US" sz="1800" dirty="0">
                <a:solidFill>
                  <a:srgbClr val="1F2933"/>
                </a:solidFill>
              </a:rPr>
              <a:t>期资金缺口。此为时点敏感性，不是5%违约概率、永久坏账或利润预测。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历史应收风险→预计销售收款延期→CFO下降→用途恢复后营运容量缩小→付款日前新融资需求增加；</a:t>
            </a:r>
            <a:endParaRPr lang="en-US" sz="1800" dirty="0"/>
          </a:p>
          <a:p>
            <a:pPr indent="0" marL="0">
              <a:lnSpc>
                <a:spcPct val="100000"/>
              </a:lnSpc>
              <a:buNone/>
            </a:pPr>
            <a:r>
              <a:rPr lang="en-US" sz="1800" dirty="0">
                <a:solidFill>
                  <a:srgbClr val="1F2933"/>
                </a:solidFill>
              </a:rPr>
              <a:t>贷款若取得，其新利息和本金必须反馈进下一期现金路径。 未闭合的范围调整同时改变预计毛收款、</a:t>
            </a:r>
            <a:endParaRPr lang="en-US" sz="1800" dirty="0"/>
          </a:p>
          <a:p>
            <a:pPr indent="0" marL="0">
              <a:lnSpc>
                <a:spcPct val="100000"/>
              </a:lnSpc>
              <a:buNone/>
            </a:pPr>
            <a:r>
              <a:rPr lang="en-US" sz="1800" dirty="0">
                <a:solidFill>
                  <a:srgbClr val="1F2933"/>
                </a:solidFill>
              </a:rPr>
              <a:t>付款和压力金额；先按版本桥重算，不能用净CFO相同消去毛额调整。 净额约束下不同毛收付折减</a:t>
            </a:r>
            <a:endParaRPr lang="en-US" sz="1800" dirty="0"/>
          </a:p>
          <a:p>
            <a:pPr indent="0" marL="0">
              <a:lnSpc>
                <a:spcPct val="100000"/>
              </a:lnSpc>
              <a:buNone/>
            </a:pPr>
            <a:r>
              <a:rPr lang="en-US" sz="1800" dirty="0">
                <a:solidFill>
                  <a:srgbClr val="1F2933"/>
                </a:solidFill>
              </a:rPr>
              <a:t>系数仍产生现金影响；实际延期金额随调整后的客户收款重算，当前压力额不是同口径已验证金额。 回</a:t>
            </a:r>
            <a:endParaRPr lang="en-US" sz="1800" dirty="0"/>
          </a:p>
          <a:p>
            <a:pPr indent="0" marL="0">
              <a:lnSpc>
                <a:spcPct val="100000"/>
              </a:lnSpc>
              <a:buNone/>
            </a:pPr>
            <a:r>
              <a:rPr lang="en-US" sz="1800" dirty="0">
                <a:solidFill>
                  <a:srgbClr val="1F2933"/>
                </a:solidFill>
              </a:rPr>
              <a:t>款时点敏感性自身不直接改变损益；材料涨价条件链另从成本、采购/AP和现金出发，完整反馈新增</a:t>
            </a:r>
            <a:endParaRPr lang="en-US" sz="1800" dirty="0"/>
          </a:p>
          <a:p>
            <a:pPr indent="0" marL="0">
              <a:lnSpc>
                <a:spcPct val="100000"/>
              </a:lnSpc>
              <a:buNone/>
            </a:pPr>
            <a:r>
              <a:rPr lang="en-US" sz="1800" dirty="0">
                <a:solidFill>
                  <a:srgbClr val="1F2933"/>
                </a:solidFill>
              </a:rPr>
              <a:t>融资、利息、未来利润权益及因素，见ks_econ_f_chain。</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在同一有证据业务链上，延期收款先降低CFO及自由现金容量，再增加必须在付款日前取得的新融资；</a:t>
            </a:r>
            <a:endParaRPr lang="en-US" sz="1800" dirty="0"/>
          </a:p>
          <a:p>
            <a:pPr indent="0" marL="0">
              <a:lnSpc>
                <a:spcPct val="100000"/>
              </a:lnSpc>
              <a:buNone/>
            </a:pPr>
            <a:r>
              <a:rPr lang="en-US" sz="1800" dirty="0">
                <a:solidFill>
                  <a:srgbClr val="1F2933"/>
                </a:solidFill>
              </a:rPr>
              <a:t>不得只将定性分数调低半分。</a:t>
            </a:r>
            <a:endParaRPr lang="en-US" sz="1800" dirty="0"/>
          </a:p>
          <a:p>
            <a:pPr indent="0" marL="0">
              <a:lnSpc>
                <a:spcPct val="100000"/>
              </a:lnSpc>
              <a:buNone/>
            </a:pPr>
            <a:r>
              <a:rPr lang="en-US" sz="1800" dirty="0">
                <a:solidFill>
                  <a:srgbClr val="1F2933"/>
                </a:solidFill>
              </a:rPr>
              <a:t>如果所需资金由无条件可提取授信或合法上划实际落实，并持续满足U、M和逐笔债务，支持原BBB+</a:t>
            </a:r>
            <a:endParaRPr lang="en-US" sz="1800" dirty="0"/>
          </a:p>
          <a:p>
            <a:pPr indent="0" marL="0">
              <a:lnSpc>
                <a:spcPct val="100000"/>
              </a:lnSpc>
              <a:buNone/>
            </a:pPr>
            <a:r>
              <a:rPr lang="en-US" sz="1800" dirty="0">
                <a:solidFill>
                  <a:srgbClr val="1F2933"/>
                </a:solidFill>
              </a:rPr>
              <a:t>/负面条件建议继续作为研究分支；不构成上调证据。</a:t>
            </a:r>
            <a:endParaRPr lang="en-US" sz="1800" dirty="0"/>
          </a:p>
          <a:p>
            <a:pPr indent="0" marL="0">
              <a:lnSpc>
                <a:spcPct val="100000"/>
              </a:lnSpc>
              <a:buNone/>
            </a:pPr>
            <a:r>
              <a:rPr lang="en-US" sz="1800" dirty="0">
                <a:solidFill>
                  <a:srgbClr val="1F2933"/>
                </a:solidFill>
              </a:rPr>
              <a:t>如缺口不能由届时确定可得来源覆盖，或临时补流到期恢复用途挤占必要经营付款，原建议的付款覆盖</a:t>
            </a:r>
            <a:endParaRPr lang="en-US" sz="1800" dirty="0"/>
          </a:p>
          <a:p>
            <a:pPr indent="0" marL="0">
              <a:lnSpc>
                <a:spcPct val="100000"/>
              </a:lnSpc>
              <a:buNone/>
            </a:pPr>
            <a:r>
              <a:rPr lang="en-US" sz="1800" dirty="0">
                <a:solidFill>
                  <a:srgbClr val="1F2933"/>
                </a:solidFill>
              </a:rPr>
              <a:t>前提失效，需就流动性重大弱化作个体调整/重评；若证实无法按期付款，退出常态矩阵，不用负面展望</a:t>
            </a:r>
            <a:endParaRPr lang="en-US" sz="1800" dirty="0"/>
          </a:p>
          <a:p>
            <a:pPr indent="0" marL="0">
              <a:lnSpc>
                <a:spcPct val="100000"/>
              </a:lnSpc>
              <a:buNone/>
            </a:pPr>
            <a:r>
              <a:rPr lang="en-US" sz="1800" dirty="0">
                <a:solidFill>
                  <a:srgbClr val="1F2933"/>
                </a:solidFill>
              </a:rPr>
              <a:t>代替支付风险判断。</a:t>
            </a:r>
            <a:endParaRPr lang="en-US" sz="1800" dirty="0"/>
          </a:p>
          <a:p>
            <a:pPr indent="0" marL="0">
              <a:lnSpc>
                <a:spcPct val="100000"/>
              </a:lnSpc>
              <a:buNone/>
            </a:pPr>
            <a:r>
              <a:rPr lang="en-US" sz="1800" dirty="0">
                <a:solidFill>
                  <a:srgbClr val="1F2933"/>
                </a:solidFill>
              </a:rPr>
              <a:t>本压力是收款时点风险，不自动降低EBITDA或提高违约损失；补融资若以债务取得，后续利息和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本金会继续压缩容量。只有新的全年可比盈利、资本及现金短债输入重算支持F5时，才进入原C/F5</a:t>
            </a:r>
            <a:endParaRPr lang="en-US" sz="1800" dirty="0"/>
          </a:p>
          <a:p>
            <a:pPr indent="0" marL="0">
              <a:lnSpc>
                <a:spcPct val="100000"/>
              </a:lnSpc>
              <a:buNone/>
            </a:pPr>
            <a:r>
              <a:rPr lang="en-US" sz="1800" dirty="0">
                <a:solidFill>
                  <a:srgbClr val="1F2933"/>
                </a:solidFill>
              </a:rPr>
              <a:t>→BBB-分支；季度CFO不能直接映射F5。</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已运行全年条件损益与债务预测；其他资产独立周转、真实合同到期、发行人可调度资金及Δ_A/</a:t>
            </a:r>
            <a:endParaRPr lang="en-US" sz="1800" dirty="0"/>
          </a:p>
          <a:p>
            <a:pPr indent="0" marL="0">
              <a:lnSpc>
                <a:spcPct val="100000"/>
              </a:lnSpc>
              <a:buNone/>
            </a:pPr>
            <a:r>
              <a:rPr lang="en-US" sz="1800" dirty="0">
                <a:solidFill>
                  <a:srgbClr val="1F2933"/>
                </a:solidFill>
              </a:rPr>
              <a:t>Δ_H/Γ仍未核实。须按证据更新同一经营、税款、现金和融资链，不从半年CFO或任意半分变动</a:t>
            </a:r>
            <a:endParaRPr lang="en-US" sz="1800" dirty="0"/>
          </a:p>
          <a:p>
            <a:pPr indent="0" marL="0">
              <a:lnSpc>
                <a:spcPct val="100000"/>
              </a:lnSpc>
              <a:buNone/>
            </a:pPr>
            <a:r>
              <a:rPr lang="en-US" sz="1800" dirty="0">
                <a:solidFill>
                  <a:srgbClr val="1F2933"/>
                </a:solidFill>
              </a:rPr>
              <a:t>直接推出评级级差。回款恢复且支付前提获证可研究展望稳定；付款前提失败须重评。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资产质量和再融资共同相邻评分不支持唯一中心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资产质量下调有应收准备27.50%→36.17%、3年以上23.78%→32.56%及抵债</a:t>
            </a:r>
            <a:endParaRPr lang="en-US" sz="1800" dirty="0"/>
          </a:p>
          <a:p>
            <a:pPr indent="0" marL="0">
              <a:lnSpc>
                <a:spcPct val="100000"/>
              </a:lnSpc>
              <a:buNone/>
            </a:pPr>
            <a:r>
              <a:rPr lang="en-US" sz="1800" dirty="0">
                <a:solidFill>
                  <a:srgbClr val="1F2933"/>
                </a:solidFill>
              </a:rPr>
              <a:t>房产5.31→7.86亿元支持；但没有官方自动数值门槛。再融资中心5/4.5受同日未用额度</a:t>
            </a:r>
            <a:endParaRPr lang="en-US" sz="1800" dirty="0"/>
          </a:p>
          <a:p>
            <a:pPr indent="0" marL="0">
              <a:lnSpc>
                <a:spcPct val="100000"/>
              </a:lnSpc>
              <a:buNone/>
            </a:pPr>
            <a:r>
              <a:rPr lang="en-US" sz="1800" dirty="0">
                <a:solidFill>
                  <a:srgbClr val="1F2933"/>
                </a:solidFill>
              </a:rPr>
              <a:t>冲突与附条件可得性限制，保留未选定。两项各±0.5，历史中心财务分3.62375/</a:t>
            </a:r>
            <a:endParaRPr lang="en-US" sz="1800" dirty="0"/>
          </a:p>
          <a:p>
            <a:pPr indent="0" marL="0">
              <a:lnSpc>
                <a:spcPct val="100000"/>
              </a:lnSpc>
              <a:buNone/>
            </a:pPr>
            <a:r>
              <a:rPr lang="en-US" sz="1800" dirty="0">
                <a:solidFill>
                  <a:srgbClr val="1F2933"/>
                </a:solidFill>
              </a:rPr>
              <a:t>3.73625/3.84875均F4，叠加量化档内取值的联合范围[</a:t>
            </a:r>
            <a:endParaRPr lang="en-US" sz="1800" dirty="0"/>
          </a:p>
          <a:p>
            <a:pPr indent="0" marL="0">
              <a:lnSpc>
                <a:spcPct val="100000"/>
              </a:lnSpc>
              <a:buNone/>
            </a:pPr>
            <a:r>
              <a:rPr lang="en-US" sz="1800" dirty="0">
                <a:solidFill>
                  <a:srgbClr val="1F2933"/>
                </a:solidFill>
              </a:rPr>
              <a:t>3.34875,4.12375)跨F5/F4。</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两项权重10%和12.5%，共同±0.5使财务分±0.1125；Q1减值无涨价分支</a:t>
            </a:r>
            <a:endParaRPr lang="en-US" sz="1800" dirty="0"/>
          </a:p>
          <a:p>
            <a:pPr indent="0" marL="0">
              <a:lnSpc>
                <a:spcPct val="100000"/>
              </a:lnSpc>
              <a:buNone/>
            </a:pPr>
            <a:r>
              <a:rPr lang="en-US" sz="1800" dirty="0">
                <a:solidFill>
                  <a:srgbClr val="1F2933"/>
                </a:solidFill>
              </a:rPr>
              <a:t>4.50375/4.61625/4.72875均F3，材料5%为4.25375/</a:t>
            </a:r>
            <a:endParaRPr lang="en-US" sz="1800" dirty="0"/>
          </a:p>
          <a:p>
            <a:pPr indent="0" marL="0">
              <a:lnSpc>
                <a:spcPct val="100000"/>
              </a:lnSpc>
              <a:buNone/>
            </a:pPr>
            <a:r>
              <a:rPr lang="en-US" sz="1800" dirty="0">
                <a:solidFill>
                  <a:srgbClr val="1F2933"/>
                </a:solidFill>
              </a:rPr>
              <a:t>4.36625/4.47875均F4。历史联合区间及全部9格另列。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ks_credit_e_facilities / ks_r_e_finance 等；完整原文与位置见本演示文稿来源附页及备注</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资产质量和再融资共同相邻评分不支持唯一中心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资产回收与银行可用额度获证支持时可选偏强相邻分支；准备不足、抵债房产/税资产变现弱或融资受限</a:t>
            </a:r>
            <a:endParaRPr lang="en-US" sz="1800" dirty="0"/>
          </a:p>
          <a:p>
            <a:pPr indent="0" marL="0">
              <a:lnSpc>
                <a:spcPct val="100000"/>
              </a:lnSpc>
              <a:buNone/>
            </a:pPr>
            <a:r>
              <a:rPr lang="en-US" sz="1800" dirty="0">
                <a:solidFill>
                  <a:srgbClr val="1F2933"/>
                </a:solidFill>
              </a:rPr>
              <a:t>则偏弱。</a:t>
            </a:r>
            <a:endParaRPr lang="en-US" sz="1800" dirty="0"/>
          </a:p>
          <a:p>
            <a:pPr indent="0" marL="0">
              <a:lnSpc>
                <a:spcPct val="100000"/>
              </a:lnSpc>
              <a:buNone/>
            </a:pPr>
            <a:r>
              <a:rPr lang="en-US" sz="1800" dirty="0">
                <a:solidFill>
                  <a:srgbClr val="1F2933"/>
                </a:solidFill>
              </a:rPr>
              <a:t>仅见净应收和受限资产下降不足以证明资产改善；额度未使用不等于无条件可提款。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取得实际回收/减值充分性与银行确认后再选定分支；在此之前不以中心评级替代判断区间。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ks_credit_e_facilities / ks_r_e_finance 等；完整原文与位置见本演示文稿来源附页及备注</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评级敏感性及跟踪：章节指标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40</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指标先加权后分档的财务研究分</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3.74 分</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同控收购使重述摘要与原报表不同。重述收入依次为79.44 亿元人民币、68.29 亿元人民</a:t>
            </a:r>
            <a:endParaRPr lang="en-US" sz="1800" dirty="0"/>
          </a:p>
          <a:p>
            <a:pPr indent="0" marL="0">
              <a:lnSpc>
                <a:spcPct val="100000"/>
              </a:lnSpc>
              <a:buNone/>
            </a:pPr>
            <a:r>
              <a:rPr lang="en-US" sz="1800" dirty="0">
                <a:solidFill>
                  <a:srgbClr val="1F2933"/>
                </a:solidFill>
              </a:rPr>
              <a:t>币、60.44 亿元人民币；重述扣非持续为负。完整重述历史负债、利息和折旧仍缺，原口径对照不</a:t>
            </a:r>
            <a:endParaRPr lang="en-US" sz="1800" dirty="0"/>
          </a:p>
          <a:p>
            <a:pPr indent="0" marL="0">
              <a:lnSpc>
                <a:spcPct val="100000"/>
              </a:lnSpc>
              <a:buNone/>
            </a:pPr>
            <a:r>
              <a:rPr lang="en-US" sz="1800" dirty="0">
                <a:solidFill>
                  <a:srgbClr val="1F2933"/>
                </a:solidFill>
              </a:rPr>
              <a:t>混入同口径评级输入。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横琴的金融资产与融资现金影响权益、利润、现金；丰泽失控后恢复控制和保理出表亦影响跨年可比性。</a:t>
            </a:r>
            <a:endParaRPr lang="en-US" sz="1800" dirty="0"/>
          </a:p>
          <a:p>
            <a:pPr indent="0" marL="0">
              <a:lnSpc>
                <a:spcPct val="100000"/>
              </a:lnSpc>
              <a:buNone/>
            </a:pPr>
            <a:r>
              <a:rPr lang="en-US" sz="1800" dirty="0">
                <a:solidFill>
                  <a:srgbClr val="1F2933"/>
                </a:solidFill>
              </a:rPr>
              <a:t> 原2023CF类别桥-6,326.31 万元人民币未含独立披露的投资性房地产折旧</a:t>
            </a:r>
            <a:endParaRPr lang="en-US" sz="1800" dirty="0"/>
          </a:p>
          <a:p>
            <a:pPr indent="0" marL="0">
              <a:lnSpc>
                <a:spcPct val="100000"/>
              </a:lnSpc>
              <a:buNone/>
            </a:pPr>
            <a:r>
              <a:rPr lang="en-US" sz="1800" dirty="0">
                <a:solidFill>
                  <a:srgbClr val="1F2933"/>
                </a:solidFill>
              </a:rPr>
              <a:t>488.02 万元人民币，完整DA桥为-5,838.29 万元人民币。两者均保留原范围，不补</a:t>
            </a:r>
            <a:endParaRPr lang="en-US" sz="1800" dirty="0"/>
          </a:p>
          <a:p>
            <a:pPr indent="0" marL="0">
              <a:lnSpc>
                <a:spcPct val="100000"/>
              </a:lnSpc>
              <a:buNone/>
            </a:pPr>
            <a:r>
              <a:rPr lang="en-US" sz="1800" dirty="0">
                <a:solidFill>
                  <a:srgbClr val="1F2933"/>
                </a:solidFill>
              </a:rPr>
              <a:t>最新同控三年盈利输入；2024/2025的CF折旧行已含该项，不再重复加回。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同控追溯使表面同比变化包含范围重置；同一企业原报告与重述比较不是两个可自由拼接的数据源。</a:t>
            </a:r>
            <a:endParaRPr lang="en-US" sz="1800" dirty="0"/>
          </a:p>
          <a:p>
            <a:pPr indent="0" marL="0">
              <a:lnSpc>
                <a:spcPct val="100000"/>
              </a:lnSpc>
              <a:buNone/>
            </a:pPr>
            <a:r>
              <a:rPr lang="en-US" sz="1800" dirty="0">
                <a:solidFill>
                  <a:srgbClr val="1F2933"/>
                </a:solidFill>
              </a:rPr>
              <a:t>丰泽控制变化和保理出表也可能改变现金及资产结构，不能把所有变化归因于横琴。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取得重述调整表后先重建同口径期初和历史指标，再判断变化是否跨越因素档位；仅补齐摘要利润不足以</a:t>
            </a:r>
            <a:endParaRPr lang="en-US" sz="1800" dirty="0"/>
          </a:p>
          <a:p>
            <a:pPr indent="0" marL="0">
              <a:lnSpc>
                <a:spcPct val="100000"/>
              </a:lnSpc>
              <a:buNone/>
            </a:pPr>
            <a:r>
              <a:rPr lang="en-US" sz="1800" dirty="0">
                <a:solidFill>
                  <a:srgbClr val="1F2933"/>
                </a:solidFill>
              </a:rPr>
              <a:t>关闭债务及周转分母。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财报和内控意见提供有限层次支持；自评未认定重大/重要缺陷，募集金报告却披露混用与整改。正反</a:t>
            </a:r>
            <a:endParaRPr lang="en-US" sz="1800" dirty="0"/>
          </a:p>
          <a:p>
            <a:pPr indent="0" marL="0">
              <a:lnSpc>
                <a:spcPct val="100000"/>
              </a:lnSpc>
              <a:buNone/>
            </a:pPr>
            <a:r>
              <a:rPr lang="en-US" sz="1800" dirty="0">
                <a:solidFill>
                  <a:srgbClr val="1F2933"/>
                </a:solidFill>
              </a:rPr>
              <a:t>证据同时保留，未认定舞弊或所有控制无效。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控制结论有重大性和时点边界，不能替代余额可回收、可用现金或条款执行验证；亏损净利定量标准及整</a:t>
            </a:r>
            <a:endParaRPr lang="en-US" sz="1800" dirty="0"/>
          </a:p>
          <a:p>
            <a:pPr indent="0" marL="0">
              <a:lnSpc>
                <a:spcPct val="100000"/>
              </a:lnSpc>
              <a:buNone/>
            </a:pPr>
            <a:r>
              <a:rPr lang="en-US" sz="1800" dirty="0">
                <a:solidFill>
                  <a:srgbClr val="1F2933"/>
                </a:solidFill>
              </a:rPr>
              <a:t>改时点尚需澄清。</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无保留内控意见与公开披露的特定资金管理问题可同时存在，差别可能来自重大性、评价时点和整改。</a:t>
            </a:r>
            <a:endParaRPr lang="en-US" sz="1800" dirty="0"/>
          </a:p>
          <a:p>
            <a:pPr indent="0" marL="0">
              <a:lnSpc>
                <a:spcPct val="100000"/>
              </a:lnSpc>
              <a:buNone/>
            </a:pPr>
            <a:r>
              <a:rPr lang="en-US" sz="1800" dirty="0">
                <a:solidFill>
                  <a:srgbClr val="1F2933"/>
                </a:solidFill>
              </a:rPr>
              <a:t>自评使用亏损期净利润作为定量参照的执行细节尚未验证，不能只凭标准文字推定结论无效。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取得缺陷评价、重要性基准实际应用、整改日期及整改后银行流程测试证据后，重新判断资金治理影响；</a:t>
            </a:r>
            <a:endParaRPr lang="en-US" sz="1800" dirty="0"/>
          </a:p>
          <a:p>
            <a:pPr indent="0" marL="0">
              <a:lnSpc>
                <a:spcPct val="100000"/>
              </a:lnSpc>
              <a:buNone/>
            </a:pPr>
            <a:r>
              <a:rPr lang="en-US" sz="1800" dirty="0">
                <a:solidFill>
                  <a:srgbClr val="1F2933"/>
                </a:solidFill>
              </a:rPr>
              <a:t>本研究不把原审计意见当自身控制测试。</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年末未归还12.75 亿元人民币；公告次年初旧轮已归还13.00 亿元人民币，并批准新一轮</a:t>
            </a:r>
            <a:endParaRPr lang="en-US" sz="1800" dirty="0"/>
          </a:p>
          <a:p>
            <a:pPr indent="0" marL="0">
              <a:lnSpc>
                <a:spcPct val="100000"/>
              </a:lnSpc>
              <a:buNone/>
            </a:pPr>
            <a:r>
              <a:rPr lang="en-US" sz="1800" dirty="0">
                <a:solidFill>
                  <a:srgbClr val="1F2933"/>
                </a:solidFill>
              </a:rPr>
              <a:t>上限13.00 亿元人民币。时点疑点已由公告澄清，授权上限不等于六月实际占用。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仍需关注一般户混用期间用途追踪、专户整改执行及研究截止日占用；不能以续作代表永久资本，也不能</a:t>
            </a:r>
            <a:endParaRPr lang="en-US" sz="1800" dirty="0"/>
          </a:p>
          <a:p>
            <a:pPr indent="0" marL="0">
              <a:lnSpc>
                <a:spcPct val="100000"/>
              </a:lnSpc>
              <a:buNone/>
            </a:pPr>
            <a:r>
              <a:rPr lang="en-US" sz="1800" dirty="0">
                <a:solidFill>
                  <a:srgbClr val="1F2933"/>
                </a:solidFill>
              </a:rPr>
              <a:t>将归还额倒填年末。</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公告证实旧轮归还并获新授权，可解释不同报告时点的余额，不构成旧轮长期未归还的证据。</a:t>
            </a:r>
            <a:endParaRPr lang="en-US" sz="1800" dirty="0"/>
          </a:p>
          <a:p>
            <a:pPr indent="0" marL="0">
              <a:lnSpc>
                <a:spcPct val="100000"/>
              </a:lnSpc>
              <a:buNone/>
            </a:pPr>
            <a:r>
              <a:rPr lang="en-US" sz="1800" dirty="0">
                <a:solidFill>
                  <a:srgbClr val="1F2933"/>
                </a:solidFill>
              </a:rPr>
              <a:t>新授权可能未全额使用，也可能部分重新投入经营；上限和实际占用不能互换。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以截止日实际占用和用途流水确认应恢复额度、时间及项目需求，并验证混用问题整改执行；已公开的旧</a:t>
            </a:r>
            <a:endParaRPr lang="en-US" sz="1800" dirty="0"/>
          </a:p>
          <a:p>
            <a:pPr indent="0" marL="0">
              <a:lnSpc>
                <a:spcPct val="100000"/>
              </a:lnSpc>
              <a:buNone/>
            </a:pPr>
            <a:r>
              <a:rPr lang="en-US" sz="1800" dirty="0">
                <a:solidFill>
                  <a:srgbClr val="1F2933"/>
                </a:solidFill>
              </a:rPr>
              <a:t>轮归还时点不再重复请求。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原现金补充表保证金小计不是全部限制资金。原货币资金减CCE可与完整受限金额闭合，同控现金新增</a:t>
            </a:r>
            <a:endParaRPr lang="en-US" sz="1800" dirty="0"/>
          </a:p>
          <a:p>
            <a:pPr indent="0" marL="0">
              <a:lnSpc>
                <a:spcPct val="100000"/>
              </a:lnSpc>
              <a:buNone/>
            </a:pPr>
            <a:r>
              <a:rPr lang="en-US" sz="1800" dirty="0">
                <a:solidFill>
                  <a:srgbClr val="1F2933"/>
                </a:solidFill>
              </a:rPr>
              <a:t>亦闭合；未据此宣称大额现金重分类。</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原补充表未逐项列出的差额与后续比较列定存质押、冻结和专用款一致。资金可支配性分析应用完整受限</a:t>
            </a:r>
            <a:endParaRPr lang="en-US" sz="1800" dirty="0"/>
          </a:p>
          <a:p>
            <a:pPr indent="0" marL="0">
              <a:lnSpc>
                <a:spcPct val="100000"/>
              </a:lnSpc>
              <a:buNone/>
            </a:pPr>
            <a:r>
              <a:rPr lang="en-US" sz="1800" dirty="0">
                <a:solidFill>
                  <a:srgbClr val="1F2933"/>
                </a:solidFill>
              </a:rPr>
              <a:t>金额，再核实际用途限制。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原补充资料可能只列保证金，而完整受限附注包含质押定存、冻结和专用款，支持披露范围不全的解释。</a:t>
            </a:r>
            <a:endParaRPr lang="en-US" sz="1800" dirty="0"/>
          </a:p>
          <a:p>
            <a:pPr indent="0" marL="0">
              <a:lnSpc>
                <a:spcPct val="100000"/>
              </a:lnSpc>
              <a:buNone/>
            </a:pPr>
            <a:r>
              <a:rPr lang="en-US" sz="1800" dirty="0">
                <a:solidFill>
                  <a:srgbClr val="1F2933"/>
                </a:solidFill>
              </a:rPr>
              <a:t>同控现金增加是另一个范围变动，不能与未列明受限资金金额混作现金重分类。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若原公司现金定义说明或银行限制文件证明不同列报边界，应按该证据更新历史桥；目前原始货币资金、</a:t>
            </a:r>
            <a:endParaRPr lang="en-US" sz="1800" dirty="0"/>
          </a:p>
          <a:p>
            <a:pPr indent="0" marL="0">
              <a:lnSpc>
                <a:spcPct val="100000"/>
              </a:lnSpc>
              <a:buNone/>
            </a:pPr>
            <a:r>
              <a:rPr lang="en-US" sz="1800" dirty="0">
                <a:solidFill>
                  <a:srgbClr val="1F2933"/>
                </a:solidFill>
              </a:rPr>
              <a:t>CCE和完整限制金额的关系已闭合。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不能直接形成。2026Q1比较列沿用原Q1八项现金数，没有给出同控重述毛分项。H1与年报又</a:t>
            </a:r>
            <a:endParaRPr lang="en-US" sz="1800" dirty="0"/>
          </a:p>
          <a:p>
            <a:pPr indent="0" marL="0">
              <a:lnSpc>
                <a:spcPct val="100000"/>
              </a:lnSpc>
              <a:buNone/>
            </a:pPr>
            <a:r>
              <a:rPr lang="en-US" sz="1800" dirty="0">
                <a:solidFill>
                  <a:srgbClr val="1F2933"/>
                </a:solidFill>
              </a:rPr>
              <a:t>分别列2025-05-31和2025-06-16为横琴逸东合并日，并列不同合并日现金和合并前</a:t>
            </a:r>
            <a:endParaRPr lang="en-US" sz="1800" dirty="0"/>
          </a:p>
          <a:p>
            <a:pPr indent="0" marL="0">
              <a:lnSpc>
                <a:spcPct val="100000"/>
              </a:lnSpc>
              <a:buNone/>
            </a:pPr>
            <a:r>
              <a:rPr lang="en-US" sz="1800" dirty="0">
                <a:solidFill>
                  <a:srgbClr val="1F2933"/>
                </a:solidFill>
              </a:rPr>
              <a:t>利润。真实Q2毛额和按年报口径4–12月毛额均保留null；已披露Q2净CFO独立引用。 </a:t>
            </a:r>
            <a:endParaRPr lang="en-US" sz="1800" dirty="0"/>
          </a:p>
          <a:p>
            <a:pPr indent="0" marL="0">
              <a:lnSpc>
                <a:spcPct val="100000"/>
              </a:lnSpc>
              <a:buNone/>
            </a:pPr>
            <a:r>
              <a:rPr lang="en-US" sz="1800" dirty="0">
                <a:solidFill>
                  <a:srgbClr val="1F2933"/>
                </a:solidFill>
              </a:rPr>
              <a:t>Δ_A与Δ_H分别未知；顺控保理等持续范围变动另记Γ。年报Q1净CFO一致仅约束Δ_A净额为</a:t>
            </a:r>
            <a:endParaRPr lang="en-US" sz="1800" dirty="0"/>
          </a:p>
          <a:p>
            <a:pPr indent="0" marL="0">
              <a:lnSpc>
                <a:spcPct val="100000"/>
              </a:lnSpc>
              <a:buNone/>
            </a:pPr>
            <a:r>
              <a:rPr lang="en-US" sz="1800" dirty="0">
                <a:solidFill>
                  <a:srgbClr val="1F2933"/>
                </a:solidFill>
              </a:rPr>
              <a:t>0，H版还须保留κ_H2；毛额桥仍未闭合。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Δ_H和Δ_A分别吸收对应版本对原Q1的同控、内部抵销及分类调整；期初现金差额是存量，不能当</a:t>
            </a:r>
            <a:endParaRPr lang="en-US" sz="1800" dirty="0"/>
          </a:p>
          <a:p>
            <a:pPr indent="0" marL="0">
              <a:lnSpc>
                <a:spcPct val="100000"/>
              </a:lnSpc>
              <a:buNone/>
            </a:pPr>
            <a:r>
              <a:rPr lang="en-US" sz="1800" dirty="0">
                <a:solidFill>
                  <a:srgbClr val="1F2933"/>
                </a:solidFill>
              </a:rPr>
              <a:t>流量。11月30日顺控保理丧控及新设/注销还影响2025至前瞻持续经营范围。年度和季度净额</a:t>
            </a:r>
            <a:endParaRPr lang="en-US" sz="1800" dirty="0"/>
          </a:p>
          <a:p>
            <a:pPr indent="0" marL="0">
              <a:lnSpc>
                <a:spcPct val="100000"/>
              </a:lnSpc>
              <a:buNone/>
            </a:pPr>
            <a:r>
              <a:rPr lang="en-US" sz="1800" dirty="0">
                <a:solidFill>
                  <a:srgbClr val="1F2933"/>
                </a:solidFill>
              </a:rPr>
              <a:t>即使勾稽，也不证明每项收付毛额为零调整。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可执行替代是保留年报直接披露的季度净CFO为事实，毛额仅给出Δ_H=Δ_A=0的明示条件分支</a:t>
            </a:r>
            <a:endParaRPr lang="en-US" sz="1800" dirty="0"/>
          </a:p>
          <a:p>
            <a:pPr indent="0" marL="0">
              <a:lnSpc>
                <a:spcPct val="100000"/>
              </a:lnSpc>
              <a:buNone/>
            </a:pPr>
            <a:r>
              <a:rPr lang="en-US" sz="1800" dirty="0">
                <a:solidFill>
                  <a:srgbClr val="1F2933"/>
                </a:solidFill>
              </a:rPr>
              <a:t>及未知调整传播；不得把机械差额升级为真实季度现金。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 第100页明确财报审计意见不涵盖年报其他信息，亦不对其发表鉴证结论；审计师称就其他信息</a:t>
            </a:r>
            <a:endParaRPr lang="en-US" sz="1800" dirty="0"/>
          </a:p>
          <a:p>
            <a:pPr indent="0" marL="0">
              <a:lnSpc>
                <a:spcPct val="100000"/>
              </a:lnSpc>
              <a:buNone/>
            </a:pPr>
            <a:r>
              <a:rPr lang="en-US" sz="1800" dirty="0">
                <a:solidFill>
                  <a:srgbClr val="1F2933"/>
                </a:solidFill>
              </a:rPr>
              <a:t>无事项需报告，不等于对第95页未来偿债安排作出保证。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取得截至2026-06-30已可形成的按季度、主体及抵销项目的重述桥，并解释两个合并日及金额</a:t>
            </a:r>
            <a:endParaRPr lang="en-US" sz="1800" dirty="0"/>
          </a:p>
          <a:p>
            <a:pPr indent="0" marL="0">
              <a:lnSpc>
                <a:spcPct val="100000"/>
              </a:lnSpc>
              <a:buNone/>
            </a:pPr>
            <a:r>
              <a:rPr lang="en-US" sz="1800" dirty="0">
                <a:solidFill>
                  <a:srgbClr val="1F2933"/>
                </a:solidFill>
              </a:rPr>
              <a:t>差异后，方可关闭相应范围分支；若仅提供净CFO对账，毛额分支仍开放。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收入同比-11.49%，毛利率24.20%，施工毛利率6.25%。总毛利14.63 亿元人民</a:t>
            </a:r>
            <a:endParaRPr lang="en-US" sz="1800" dirty="0"/>
          </a:p>
          <a:p>
            <a:pPr indent="0" marL="0">
              <a:lnSpc>
                <a:spcPct val="100000"/>
              </a:lnSpc>
              <a:buNone/>
            </a:pPr>
            <a:r>
              <a:rPr lang="en-US" sz="1800" dirty="0">
                <a:solidFill>
                  <a:srgbClr val="1F2933"/>
                </a:solidFill>
              </a:rPr>
              <a:t>币低于上期14.87 亿元人民币；材料降本不能完全抵消收入收缩及工程压力。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价格、原材料成本和结构都会影响毛利；销量下降、工程成本刚性、费用和减值共同决定利润，不由单一</a:t>
            </a:r>
            <a:endParaRPr lang="en-US" sz="1800" dirty="0"/>
          </a:p>
          <a:p>
            <a:pPr indent="0" marL="0">
              <a:lnSpc>
                <a:spcPct val="100000"/>
              </a:lnSpc>
              <a:buNone/>
            </a:pPr>
            <a:r>
              <a:rPr lang="en-US" sz="1800" dirty="0">
                <a:solidFill>
                  <a:srgbClr val="1F2933"/>
                </a:solidFill>
              </a:rPr>
              <a:t>毛利率推断信用改善。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主动退出信用质量较低客户可解释部分销量和收入下降，需以客户退出、售价及回款证据区别于竞争力</a:t>
            </a:r>
            <a:endParaRPr lang="en-US" sz="1800" dirty="0"/>
          </a:p>
          <a:p>
            <a:pPr indent="0" marL="0">
              <a:lnSpc>
                <a:spcPct val="100000"/>
              </a:lnSpc>
              <a:buNone/>
            </a:pPr>
            <a:r>
              <a:rPr lang="en-US" sz="1800" dirty="0">
                <a:solidFill>
                  <a:srgbClr val="1F2933"/>
                </a:solidFill>
              </a:rPr>
              <a:t>下滑。</a:t>
            </a:r>
            <a:endParaRPr lang="en-US" sz="1800" dirty="0"/>
          </a:p>
          <a:p>
            <a:pPr indent="0" marL="0">
              <a:lnSpc>
                <a:spcPct val="100000"/>
              </a:lnSpc>
              <a:buNone/>
            </a:pPr>
            <a:r>
              <a:rPr lang="en-US" sz="1800" dirty="0">
                <a:solidFill>
                  <a:srgbClr val="1F2933"/>
                </a:solidFill>
              </a:rPr>
              <a:t>原料价格下行与产品结构改善都能抬升毛利率；收入下降时毛利率上升仍可伴随毛利额减少。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摘要因同一控制下收购横琴逸东公司调整往年；列示2023重述后收入、归母净利、扣非净利、</a:t>
            </a:r>
            <a:endParaRPr lang="en-US" sz="1800" dirty="0"/>
          </a:p>
          <a:p>
            <a:pPr indent="0" marL="0">
              <a:lnSpc>
                <a:spcPct val="100000"/>
              </a:lnSpc>
              <a:buNone/>
            </a:pPr>
            <a:r>
              <a:rPr lang="en-US" sz="1800" dirty="0">
                <a:solidFill>
                  <a:srgbClr val="1F2933"/>
                </a:solidFill>
              </a:rPr>
              <a:t>CFO、资产及归母权益，不列全部四表。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取得同产品数量、售价、采购成本和客户退出桥后重新分解毛利额；只有收入、回款和毛利同时可持续</a:t>
            </a:r>
            <a:endParaRPr lang="en-US" sz="1800" dirty="0"/>
          </a:p>
          <a:p>
            <a:pPr indent="0" marL="0">
              <a:lnSpc>
                <a:spcPct val="100000"/>
              </a:lnSpc>
              <a:buNone/>
            </a:pPr>
            <a:r>
              <a:rPr lang="en-US" sz="1800" dirty="0">
                <a:solidFill>
                  <a:srgbClr val="1F2933"/>
                </a:solidFill>
              </a:rPr>
              <a:t>改善，才支持上调经营评价。</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净亏损-5.48 亿元人民币，信用与资产损失合计7.87 亿元人民币，会计EBITDA</a:t>
            </a:r>
            <a:endParaRPr lang="en-US" sz="1800" dirty="0"/>
          </a:p>
          <a:p>
            <a:pPr indent="0" marL="0">
              <a:lnSpc>
                <a:spcPct val="100000"/>
              </a:lnSpc>
              <a:buNone/>
            </a:pPr>
            <a:r>
              <a:rPr lang="en-US" sz="1800" dirty="0">
                <a:solidFill>
                  <a:srgbClr val="1F2933"/>
                </a:solidFill>
              </a:rPr>
              <a:t>-2.11 亿元人民币。归母利润较2024年减少5.71 亿元人民币，其中扣非恶化3.28 </a:t>
            </a:r>
            <a:endParaRPr lang="en-US" sz="1800" dirty="0"/>
          </a:p>
          <a:p>
            <a:pPr indent="0" marL="0">
              <a:lnSpc>
                <a:spcPct val="100000"/>
              </a:lnSpc>
              <a:buNone/>
            </a:pPr>
            <a:r>
              <a:rPr lang="en-US" sz="1800" dirty="0">
                <a:solidFill>
                  <a:srgbClr val="1F2933"/>
                </a:solidFill>
              </a:rPr>
              <a:t>亿元人民币、非经常支持减少2.43 亿元人民币，后者占42.51%；不能把恶化全部归于当期</a:t>
            </a:r>
            <a:endParaRPr lang="en-US" sz="1800" dirty="0"/>
          </a:p>
          <a:p>
            <a:pPr indent="0" marL="0">
              <a:lnSpc>
                <a:spcPct val="100000"/>
              </a:lnSpc>
              <a:buNone/>
            </a:pPr>
            <a:r>
              <a:rPr lang="en-US" sz="1800" dirty="0">
                <a:solidFill>
                  <a:srgbClr val="1F2933"/>
                </a:solidFill>
              </a:rPr>
              <a:t>一次性损失。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公司归母非经常损益从2.97 亿元人民币降至5,444.23 万元人民币，逐项保留税与少数</a:t>
            </a:r>
            <a:endParaRPr lang="en-US" sz="1800" dirty="0"/>
          </a:p>
          <a:p>
            <a:pPr indent="0" marL="0">
              <a:lnSpc>
                <a:spcPct val="100000"/>
              </a:lnSpc>
              <a:buNone/>
            </a:pPr>
            <a:r>
              <a:rPr lang="en-US" sz="1800" dirty="0">
                <a:solidFill>
                  <a:srgbClr val="1F2933"/>
                </a:solidFill>
              </a:rPr>
              <a:t>股东影响；扣非归母从-2.62 亿元人民币恶化至-5.90 亿元人民币。金融资产公允价值及</a:t>
            </a:r>
            <a:endParaRPr lang="en-US" sz="1800" dirty="0"/>
          </a:p>
          <a:p>
            <a:pPr indent="0" marL="0">
              <a:lnSpc>
                <a:spcPct val="100000"/>
              </a:lnSpc>
              <a:buNone/>
            </a:pPr>
            <a:r>
              <a:rPr lang="en-US" sz="1800" dirty="0">
                <a:solidFill>
                  <a:srgbClr val="1F2933"/>
                </a:solidFill>
              </a:rPr>
              <a:t>处置损益从1.77 亿元人民币降至203.41 万元人民币，单项应收转回从1.37 亿元人民</a:t>
            </a:r>
            <a:endParaRPr lang="en-US" sz="1800" dirty="0"/>
          </a:p>
          <a:p>
            <a:pPr indent="0" marL="0">
              <a:lnSpc>
                <a:spcPct val="100000"/>
              </a:lnSpc>
              <a:buNone/>
            </a:pPr>
            <a:r>
              <a:rPr lang="en-US" sz="1800" dirty="0">
                <a:solidFill>
                  <a:srgbClr val="1F2933"/>
                </a:solidFill>
              </a:rPr>
              <a:t>币降至7,987.08 万元人民币。前者不等同公允价值变动科目，后者须核现金回收、抵债或估计</a:t>
            </a:r>
            <a:endParaRPr lang="en-US" sz="1800" dirty="0"/>
          </a:p>
          <a:p>
            <a:pPr indent="0" marL="0">
              <a:lnSpc>
                <a:spcPct val="100000"/>
              </a:lnSpc>
              <a:buNone/>
            </a:pPr>
            <a:r>
              <a:rPr lang="en-US" sz="1800" dirty="0">
                <a:solidFill>
                  <a:srgbClr val="1F2933"/>
                </a:solidFill>
              </a:rPr>
              <a:t>变更，非经常分类本身不证明现金收回。两项2024税前收益合计占原会计EBITDA72.51</a:t>
            </a:r>
            <a:endParaRPr lang="en-US" sz="1800" dirty="0"/>
          </a:p>
          <a:p>
            <a:pPr indent="0" marL="0">
              <a:lnSpc>
                <a:spcPct val="100000"/>
              </a:lnSpc>
              <a:buNone/>
            </a:pPr>
            <a:r>
              <a:rPr lang="en-US" sz="1800" dirty="0">
                <a:solidFill>
                  <a:srgbClr val="1F2933"/>
                </a:solidFill>
              </a:rPr>
              <a:t>%；仅对称扣除这两项，2024/2025 EBITDA为1.19 亿元人民币/-2.93 亿</a:t>
            </a:r>
            <a:endParaRPr lang="en-US" sz="1800" dirty="0"/>
          </a:p>
          <a:p>
            <a:pPr indent="0" marL="0">
              <a:lnSpc>
                <a:spcPct val="100000"/>
              </a:lnSpc>
              <a:buNone/>
            </a:pPr>
            <a:r>
              <a:rPr lang="en-US" sz="1800" dirty="0">
                <a:solidFill>
                  <a:srgbClr val="1F2933"/>
                </a:solidFill>
              </a:rPr>
              <a:t>元人民币，税前利润为-2.68 亿元人民币/-6.74 亿元人民币。这是局部依赖敏感性，并未</a:t>
            </a:r>
            <a:endParaRPr lang="en-US" sz="1800" dirty="0"/>
          </a:p>
          <a:p>
            <a:pPr indent="0" marL="0">
              <a:lnSpc>
                <a:spcPct val="100000"/>
              </a:lnSpc>
              <a:buNone/>
            </a:pPr>
            <a:r>
              <a:rPr lang="en-US" sz="1800" dirty="0">
                <a:solidFill>
                  <a:srgbClr val="1F2933"/>
                </a:solidFill>
              </a:rPr>
              <a:t>对政府补助、处置损失、重组和其他项目逐项作经济正常化，也未替换官方评级指标；已列负项不因只挑</a:t>
            </a:r>
            <a:endParaRPr lang="en-US" sz="1800" dirty="0"/>
          </a:p>
          <a:p>
            <a:pPr indent="0" marL="0">
              <a:lnSpc>
                <a:spcPct val="100000"/>
              </a:lnSpc>
              <a:buNone/>
            </a:pPr>
            <a:r>
              <a:rPr lang="en-US" sz="1800" dirty="0">
                <a:solidFill>
                  <a:srgbClr val="1F2933"/>
                </a:solidFill>
              </a:rPr>
              <a:t>正收益而被忽略。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集中确认历史客户损失会使当期亏损高于现金支出，但持续发生的信用成本不能自动全额加回。</a:t>
            </a:r>
            <a:endParaRPr lang="en-US" sz="1800" dirty="0"/>
          </a:p>
          <a:p>
            <a:pPr indent="0" marL="0">
              <a:lnSpc>
                <a:spcPct val="100000"/>
              </a:lnSpc>
              <a:buNone/>
            </a:pPr>
            <a:r>
              <a:rPr lang="en-US" sz="1800" dirty="0">
                <a:solidFill>
                  <a:srgbClr val="1F2933"/>
                </a:solidFill>
              </a:rPr>
              <a:t>应收转回可能来自真实收款，也可能来自抵债及估计变化；须逐笔对应现金、资产接收和准备滚动后</a:t>
            </a:r>
            <a:endParaRPr lang="en-US" sz="1800" dirty="0"/>
          </a:p>
          <a:p>
            <a:pPr indent="0" marL="0">
              <a:lnSpc>
                <a:spcPct val="100000"/>
              </a:lnSpc>
              <a:buNone/>
            </a:pPr>
            <a:r>
              <a:rPr lang="en-US" sz="1800" dirty="0">
                <a:solidFill>
                  <a:srgbClr val="1F2933"/>
                </a:solidFill>
              </a:rPr>
              <a:t>判断。</a:t>
            </a:r>
            <a:endParaRPr lang="en-US" sz="1800" dirty="0"/>
          </a:p>
          <a:p>
            <a:pPr indent="0" marL="0">
              <a:lnSpc>
                <a:spcPct val="100000"/>
              </a:lnSpc>
              <a:buNone/>
            </a:pPr>
            <a:r>
              <a:rPr lang="en-US" sz="1800" dirty="0">
                <a:solidFill>
                  <a:srgbClr val="1F2933"/>
                </a:solidFill>
              </a:rPr>
              <a:t>资产处置及债务重组损失也应按经济性质对称审查；公司扣非口径、分析者正常化和机构偿债收益定义</a:t>
            </a:r>
            <a:endParaRPr lang="en-US" sz="1800" dirty="0"/>
          </a:p>
          <a:p>
            <a:pPr indent="0" marL="0">
              <a:lnSpc>
                <a:spcPct val="100000"/>
              </a:lnSpc>
              <a:buNone/>
            </a:pPr>
            <a:r>
              <a:rPr lang="en-US" sz="1800" dirty="0">
                <a:solidFill>
                  <a:srgbClr val="1F2933"/>
                </a:solidFill>
              </a:rPr>
              <a:t>分别保留。</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单项应收减值准备转回：7,987.08 万元人民币</a:t>
            </a:r>
            <a:endParaRPr lang="en-US" sz="1800" dirty="0"/>
          </a:p>
          <a:p>
            <a:pPr indent="0" marL="0">
              <a:lnSpc>
                <a:spcPct val="100000"/>
              </a:lnSpc>
              <a:buNone/>
            </a:pPr>
            <a:r>
              <a:rPr lang="en-US" sz="1800" dirty="0">
                <a:solidFill>
                  <a:srgbClr val="1F2933"/>
                </a:solidFill>
              </a:rPr>
              <a:t>非流动资产处置损益：-872.67 万元人民币</a:t>
            </a:r>
            <a:endParaRPr lang="en-US" sz="1800" dirty="0"/>
          </a:p>
          <a:p>
            <a:pPr indent="0" marL="0">
              <a:lnSpc>
                <a:spcPct val="100000"/>
              </a:lnSpc>
              <a:buNone/>
            </a:pPr>
            <a:r>
              <a:rPr lang="en-US" sz="1800" dirty="0">
                <a:solidFill>
                  <a:srgbClr val="1F2933"/>
                </a:solidFill>
              </a:rPr>
              <a:t>债务重组损益：-869.14 万元人民币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按客户和年度拆分新增损失、实际回收及转回依据；把金融资产损益对应到处置现金与剩余估值敞口，对</a:t>
            </a:r>
            <a:endParaRPr lang="en-US" sz="1800" dirty="0"/>
          </a:p>
          <a:p>
            <a:pPr indent="0" marL="0">
              <a:lnSpc>
                <a:spcPct val="100000"/>
              </a:lnSpc>
              <a:buNone/>
            </a:pPr>
            <a:r>
              <a:rPr lang="en-US" sz="1800" dirty="0">
                <a:solidFill>
                  <a:srgbClr val="1F2933"/>
                </a:solidFill>
              </a:rPr>
              <a:t>持续补助和负向非经常项目作同等核查。证明常态经营收益和现金覆盖利息及必要投入后再改善盈利</a:t>
            </a:r>
            <a:endParaRPr lang="en-US" sz="1800" dirty="0"/>
          </a:p>
          <a:p>
            <a:pPr indent="0" marL="0">
              <a:lnSpc>
                <a:spcPct val="100000"/>
              </a:lnSpc>
              <a:buNone/>
            </a:pPr>
            <a:r>
              <a:rPr lang="en-US" sz="1800" dirty="0">
                <a:solidFill>
                  <a:srgbClr val="1F2933"/>
                </a:solidFill>
              </a:rPr>
              <a:t>判断；仅观察2024正EBITDA或2025转回收益不足以成立。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应收原值51.61 亿元人民币，准备率36.17%，三年以上占比32.56%；净额下降含新增</a:t>
            </a:r>
            <a:endParaRPr lang="en-US" sz="1800" dirty="0"/>
          </a:p>
          <a:p>
            <a:pPr indent="0" marL="0">
              <a:lnSpc>
                <a:spcPct val="100000"/>
              </a:lnSpc>
              <a:buNone/>
            </a:pPr>
            <a:r>
              <a:rPr lang="en-US" sz="1800" dirty="0">
                <a:solidFill>
                  <a:srgbClr val="1F2933"/>
                </a:solidFill>
              </a:rPr>
              <a:t>准备、核销及抵债，经营应收现金调节仍为-5.64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分层账龄、违约概率/回收率与抵债估值共同影响净资产和利润；需客户逐笔期后收现与重组执行证据。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净应收下降可能来自现金回款，也可能主要来自新增准备、核销、债务重组及范围变化。</a:t>
            </a:r>
            <a:endParaRPr lang="en-US" sz="1800" dirty="0"/>
          </a:p>
          <a:p>
            <a:pPr indent="0" marL="0">
              <a:lnSpc>
                <a:spcPct val="100000"/>
              </a:lnSpc>
              <a:buNone/>
            </a:pPr>
            <a:r>
              <a:rPr lang="en-US" sz="1800" dirty="0">
                <a:solidFill>
                  <a:srgbClr val="1F2933"/>
                </a:solidFill>
              </a:rPr>
              <a:t>账龄延长不必然全额违约，但单项高准备客户和以物抵债改变回收期限。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应收净额绝对变化：-7.78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取得逐笔期后现金回收、第三方确认、债务重组执行和ECL参数后，重估损失覆盖、回收速度和资产</a:t>
            </a:r>
            <a:endParaRPr lang="en-US" sz="1800" dirty="0"/>
          </a:p>
          <a:p>
            <a:pPr indent="0" marL="0">
              <a:lnSpc>
                <a:spcPct val="100000"/>
              </a:lnSpc>
              <a:buNone/>
            </a:pPr>
            <a:r>
              <a:rPr lang="en-US" sz="1800" dirty="0">
                <a:solidFill>
                  <a:srgbClr val="1F2933"/>
                </a:solidFill>
              </a:rPr>
              <a:t>可用性。</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其他应收准备2.86 亿元人民币；中天盈债务重组款1.18 亿元人民币对应准备</a:t>
            </a:r>
            <a:endParaRPr lang="en-US" sz="1800" dirty="0"/>
          </a:p>
          <a:p>
            <a:pPr indent="0" marL="0">
              <a:lnSpc>
                <a:spcPct val="100000"/>
              </a:lnSpc>
              <a:buNone/>
            </a:pPr>
            <a:r>
              <a:rPr lang="en-US" sz="1800" dirty="0">
                <a:solidFill>
                  <a:srgbClr val="1F2933"/>
                </a:solidFill>
              </a:rPr>
              <a:t>9,404.00 万元人民币。不能将相关应收与关联人保证互相抵销。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保证金、暂付款和重组款具有不同回收路径；关联关系及第三阶段风险使期后收款和担保品可执行性更</a:t>
            </a:r>
            <a:endParaRPr lang="en-US" sz="1800" dirty="0"/>
          </a:p>
          <a:p>
            <a:pPr indent="0" marL="0">
              <a:lnSpc>
                <a:spcPct val="100000"/>
              </a:lnSpc>
              <a:buNone/>
            </a:pPr>
            <a:r>
              <a:rPr lang="en-US" sz="1800" dirty="0">
                <a:solidFill>
                  <a:srgbClr val="1F2933"/>
                </a:solidFill>
              </a:rPr>
              <a:t>重要。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重组款可能以折价非现金资产而非银行款收回，收回名义债权不等于恢复等额流动性。</a:t>
            </a:r>
            <a:endParaRPr lang="en-US" sz="1800" dirty="0"/>
          </a:p>
          <a:p>
            <a:pPr indent="0" marL="0">
              <a:lnSpc>
                <a:spcPct val="100000"/>
              </a:lnSpc>
              <a:buNone/>
            </a:pPr>
            <a:r>
              <a:rPr lang="en-US" sz="1800" dirty="0">
                <a:solidFill>
                  <a:srgbClr val="1F2933"/>
                </a:solidFill>
              </a:rPr>
              <a:t>关联保证可能有经济价值，但缺少保证人财力、可执行性和付款期限时不能冲减应收损失。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取得已交割权属、真实期后到账及担保人的独立资源证明后，逐笔更新回收额与时点；资产转让协议签署</a:t>
            </a:r>
            <a:endParaRPr lang="en-US" sz="1800" dirty="0"/>
          </a:p>
          <a:p>
            <a:pPr indent="0" marL="0">
              <a:lnSpc>
                <a:spcPct val="100000"/>
              </a:lnSpc>
              <a:buNone/>
            </a:pPr>
            <a:r>
              <a:rPr lang="en-US" sz="1800" dirty="0">
                <a:solidFill>
                  <a:srgbClr val="1F2933"/>
                </a:solidFill>
              </a:rPr>
              <a:t>不等于收到现金。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流动合同资产净额3.91 亿元人民币，长期质保等8,383.77 万元人民币。收入依据客户</a:t>
            </a:r>
            <a:endParaRPr lang="en-US" sz="1800" dirty="0"/>
          </a:p>
          <a:p>
            <a:pPr indent="0" marL="0">
              <a:lnSpc>
                <a:spcPct val="100000"/>
              </a:lnSpc>
              <a:buNone/>
            </a:pPr>
            <a:r>
              <a:rPr lang="en-US" sz="1800" dirty="0">
                <a:solidFill>
                  <a:srgbClr val="1F2933"/>
                </a:solidFill>
              </a:rPr>
              <a:t>确认工程量；无条件应收、合同资产和预提返利分列，不能用订单叙述替代结算证据。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工程量验收、总收入与预计成本调整、返利估计及质保期都可能改变毛利及回款；未执行工程现场或截止</a:t>
            </a:r>
            <a:endParaRPr lang="en-US" sz="1800" dirty="0"/>
          </a:p>
          <a:p>
            <a:pPr indent="0" marL="0">
              <a:lnSpc>
                <a:spcPct val="100000"/>
              </a:lnSpc>
              <a:buNone/>
            </a:pPr>
            <a:r>
              <a:rPr lang="en-US" sz="1800" dirty="0">
                <a:solidFill>
                  <a:srgbClr val="1F2933"/>
                </a:solidFill>
              </a:rPr>
              <a:t>测试。</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工程收入确认与结算条款会造成正常的合同资产形成，期末合同资产本身不能证明提前确认。</a:t>
            </a:r>
            <a:endParaRPr lang="en-US" sz="1800" dirty="0"/>
          </a:p>
          <a:p>
            <a:pPr indent="0" marL="0">
              <a:lnSpc>
                <a:spcPct val="100000"/>
              </a:lnSpc>
              <a:buNone/>
            </a:pPr>
            <a:r>
              <a:rPr lang="en-US" sz="1800" dirty="0">
                <a:solidFill>
                  <a:srgbClr val="1F2933"/>
                </a:solidFill>
              </a:rPr>
              <a:t>工程变更、质保及预计总成本下调也可能推迟损失确认，需检查其审批、客户认可和期后结算。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将主要工程履约进度、客户签认、合同总价及最新预计成本逐项桥接，复核期后结算及退款后，区分正常</a:t>
            </a:r>
            <a:endParaRPr lang="en-US" sz="1800" dirty="0"/>
          </a:p>
          <a:p>
            <a:pPr indent="0" marL="0">
              <a:lnSpc>
                <a:spcPct val="100000"/>
              </a:lnSpc>
              <a:buNone/>
            </a:pPr>
            <a:r>
              <a:rPr lang="en-US" sz="1800" dirty="0">
                <a:solidFill>
                  <a:srgbClr val="1F2933"/>
                </a:solidFill>
              </a:rPr>
              <a:t>结算周期与减值或收入截止问题。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抵债房产等净额7.86 亿元人民币；融创债转股权益价值2,459.20 万元人民币，相关减值</a:t>
            </a:r>
            <a:endParaRPr lang="en-US" sz="1800" dirty="0"/>
          </a:p>
          <a:p>
            <a:pPr indent="0" marL="0">
              <a:lnSpc>
                <a:spcPct val="100000"/>
              </a:lnSpc>
              <a:buNone/>
            </a:pPr>
            <a:r>
              <a:rPr lang="en-US" sz="1800" dirty="0">
                <a:solidFill>
                  <a:srgbClr val="1F2933"/>
                </a:solidFill>
              </a:rPr>
              <a:t>和重组损失分开列。净应收、合同、抵债和其他应收合计占资产39.48%。</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非现金重组改变资产形态和损失时点，后续变现受权属、销售价格和交割制约；不将该资产池当作短期偿</a:t>
            </a:r>
            <a:endParaRPr lang="en-US" sz="1800" dirty="0"/>
          </a:p>
          <a:p>
            <a:pPr indent="0" marL="0">
              <a:lnSpc>
                <a:spcPct val="100000"/>
              </a:lnSpc>
              <a:buNone/>
            </a:pPr>
            <a:r>
              <a:rPr lang="en-US" sz="1800" dirty="0">
                <a:solidFill>
                  <a:srgbClr val="1F2933"/>
                </a:solidFill>
              </a:rPr>
              <a:t>债现金。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以物抵债可能比继续持有无担保应收更有利，但价值改善取决于交割、权属和真实售价。</a:t>
            </a:r>
            <a:endParaRPr lang="en-US" sz="1800" dirty="0"/>
          </a:p>
          <a:p>
            <a:pPr indent="0" marL="0">
              <a:lnSpc>
                <a:spcPct val="100000"/>
              </a:lnSpc>
              <a:buNone/>
            </a:pPr>
            <a:r>
              <a:rPr lang="en-US" sz="1800" dirty="0">
                <a:solidFill>
                  <a:srgbClr val="1F2933"/>
                </a:solidFill>
              </a:rPr>
              <a:t>债转股后的公允价值可波动且出售受限，不能按转换时账面金额承诺回款。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取得可执行产权、抵押查询、独立交易价格、处置成本和实际到账后才计入偿债资源；用途或权利未解锁</a:t>
            </a:r>
            <a:endParaRPr lang="en-US" sz="1800" dirty="0"/>
          </a:p>
          <a:p>
            <a:pPr indent="0" marL="0">
              <a:lnSpc>
                <a:spcPct val="100000"/>
              </a:lnSpc>
              <a:buNone/>
            </a:pPr>
            <a:r>
              <a:rPr lang="en-US" sz="1800" dirty="0">
                <a:solidFill>
                  <a:srgbClr val="1F2933"/>
                </a:solidFill>
              </a:rPr>
              <a:t>时继续排除即时现金。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存货准备4,338.43 万元人民币，闲置PPE净额5,583.11 万元人民币；在建、无证</a:t>
            </a:r>
            <a:endParaRPr lang="en-US" sz="1800" dirty="0"/>
          </a:p>
          <a:p>
            <a:pPr indent="0" marL="0">
              <a:lnSpc>
                <a:spcPct val="100000"/>
              </a:lnSpc>
              <a:buNone/>
            </a:pPr>
            <a:r>
              <a:rPr lang="en-US" sz="1800" dirty="0">
                <a:solidFill>
                  <a:srgbClr val="1F2933"/>
                </a:solidFill>
              </a:rPr>
              <a:t>房产、商誉和抵债资产需分别检验现金产生能力。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存货NRV、固定资产使用年限/残值、闲置持续折旧、现金产出单元和商誉预测会影响利润及权益；未</a:t>
            </a:r>
            <a:endParaRPr lang="en-US" sz="1800" dirty="0"/>
          </a:p>
          <a:p>
            <a:pPr indent="0" marL="0">
              <a:lnSpc>
                <a:spcPct val="100000"/>
              </a:lnSpc>
              <a:buNone/>
            </a:pPr>
            <a:r>
              <a:rPr lang="en-US" sz="1800" dirty="0">
                <a:solidFill>
                  <a:srgbClr val="1F2933"/>
                </a:solidFill>
              </a:rPr>
              <a:t>获得资产级估值和现金流头寸。</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闲置产线可能为周期性检修或备产，不能仅凭暂时闲置认定永久减值。</a:t>
            </a:r>
            <a:endParaRPr lang="en-US" sz="1800" dirty="0"/>
          </a:p>
          <a:p>
            <a:pPr indent="0" marL="0">
              <a:lnSpc>
                <a:spcPct val="100000"/>
              </a:lnSpc>
              <a:buNone/>
            </a:pPr>
            <a:r>
              <a:rPr lang="en-US" sz="1800" dirty="0">
                <a:solidFill>
                  <a:srgbClr val="1F2933"/>
                </a:solidFill>
              </a:rPr>
              <a:t>低利用率、持续亏损或募投延期也可能说明需求与原投资假设脱节，应以产线现金流而非总收入增长推定</a:t>
            </a:r>
            <a:endParaRPr lang="en-US" sz="1800" dirty="0"/>
          </a:p>
          <a:p>
            <a:pPr indent="0" marL="0">
              <a:lnSpc>
                <a:spcPct val="100000"/>
              </a:lnSpc>
              <a:buNone/>
            </a:pPr>
            <a:r>
              <a:rPr lang="en-US" sz="1800" dirty="0">
                <a:solidFill>
                  <a:srgbClr val="1F2933"/>
                </a:solidFill>
              </a:rPr>
              <a:t>可收回金额。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逐产线取得产能、利用率、订单、维护支出、处置报价及权属证据，并用实际经营偏差检验现金产出单元</a:t>
            </a:r>
            <a:endParaRPr lang="en-US" sz="1800" dirty="0"/>
          </a:p>
          <a:p>
            <a:pPr indent="0" marL="0">
              <a:lnSpc>
                <a:spcPct val="100000"/>
              </a:lnSpc>
              <a:buNone/>
            </a:pPr>
            <a:r>
              <a:rPr lang="en-US" sz="1800" dirty="0">
                <a:solidFill>
                  <a:srgbClr val="1F2933"/>
                </a:solidFill>
              </a:rPr>
              <a:t>预测；验证后重估减值和未来资本需求。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原表期初、增加和其他减少重算3,132.58 万元人民币，期末披露4,417.84 万元人民</a:t>
            </a:r>
            <a:endParaRPr lang="en-US" sz="1800" dirty="0"/>
          </a:p>
          <a:p>
            <a:pPr indent="0" marL="0">
              <a:lnSpc>
                <a:spcPct val="100000"/>
              </a:lnSpc>
              <a:buNone/>
            </a:pPr>
            <a:r>
              <a:rPr lang="en-US" sz="1800" dirty="0">
                <a:solidFill>
                  <a:srgbClr val="1F2933"/>
                </a:solidFill>
              </a:rPr>
              <a:t>币。独立图像阅读仍未闭合，保留未解释差额；没有擅自调平或认定财报整体错报。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可能是重要项目表列示、范围或重复列项，需逐笔转固/减值/支出桥才能确定会计影响。</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其他减少可能在重要项目表重复列示，或与期末余额存在范围差异；原页本身不能唯一判定。</a:t>
            </a:r>
            <a:endParaRPr lang="en-US" sz="1800" dirty="0"/>
          </a:p>
          <a:p>
            <a:pPr indent="0" marL="0">
              <a:lnSpc>
                <a:spcPct val="100000"/>
              </a:lnSpc>
              <a:buNone/>
            </a:pPr>
            <a:r>
              <a:rPr lang="en-US" sz="1800" dirty="0">
                <a:solidFill>
                  <a:srgbClr val="1F2933"/>
                </a:solidFill>
              </a:rPr>
              <a:t>也可能是资本化、转固或明细汇总错误；须与总账、验收及项目支出对照后判定。</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取得滁州项目逐笔期初、增加、转固、其他减少和期末桥，定位差额对应的会计科目、期间及是否影响</a:t>
            </a:r>
            <a:endParaRPr lang="en-US" sz="1800" dirty="0"/>
          </a:p>
          <a:p>
            <a:pPr indent="0" marL="0">
              <a:lnSpc>
                <a:spcPct val="100000"/>
              </a:lnSpc>
              <a:buNone/>
            </a:pPr>
            <a:r>
              <a:rPr lang="en-US" sz="1800" dirty="0">
                <a:solidFill>
                  <a:srgbClr val="1F2933"/>
                </a:solidFill>
              </a:rPr>
              <a:t>本期损益，再撤回或确认疑点。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列报DTA（抵销后）5.03 亿元人民币占总权益12.41%；DTA减DTL净税资产4.66</a:t>
            </a:r>
            <a:endParaRPr lang="en-US" sz="1800" dirty="0"/>
          </a:p>
          <a:p>
            <a:pPr indent="0" marL="0">
              <a:lnSpc>
                <a:spcPct val="100000"/>
              </a:lnSpc>
              <a:buNone/>
            </a:pPr>
            <a:r>
              <a:rPr lang="en-US" sz="1800" dirty="0">
                <a:solidFill>
                  <a:srgbClr val="1F2933"/>
                </a:solidFill>
              </a:rPr>
              <a:t> 亿元人民币占总权益11.51%，两种口径不能混用。减值及亏损DTA占抵销前DTA80.11</a:t>
            </a:r>
            <a:endParaRPr lang="en-US" sz="1800" dirty="0"/>
          </a:p>
          <a:p>
            <a:pPr indent="0" marL="0">
              <a:lnSpc>
                <a:spcPct val="100000"/>
              </a:lnSpc>
              <a:buNone/>
            </a:pPr>
            <a:r>
              <a:rPr lang="en-US" sz="1800" dirty="0">
                <a:solidFill>
                  <a:srgbClr val="1F2933"/>
                </a:solidFill>
              </a:rPr>
              <a:t>%。当期递延税收益1.03 亿元人民币缓冲亏损；仅剔除该收益并保留当期税费，合并净利润展示为</a:t>
            </a:r>
            <a:endParaRPr lang="en-US" sz="1800" dirty="0"/>
          </a:p>
          <a:p>
            <a:pPr indent="0" marL="0">
              <a:lnSpc>
                <a:spcPct val="100000"/>
              </a:lnSpc>
              <a:buNone/>
            </a:pPr>
            <a:r>
              <a:rPr lang="en-US" sz="1800" dirty="0">
                <a:solidFill>
                  <a:srgbClr val="1F2933"/>
                </a:solidFill>
              </a:rPr>
              <a:t>-6.51 亿元人民币，不代表现金流入。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减值DTA增加7,302.10 万元人民币、亏损DTA增加3,772.57 万元人民币，合计</a:t>
            </a:r>
            <a:endParaRPr lang="en-US" sz="1800" dirty="0"/>
          </a:p>
          <a:p>
            <a:pPr indent="0" marL="0">
              <a:lnSpc>
                <a:spcPct val="100000"/>
              </a:lnSpc>
              <a:buNone/>
            </a:pPr>
            <a:r>
              <a:rPr lang="en-US" sz="1800" dirty="0">
                <a:solidFill>
                  <a:srgbClr val="1F2933"/>
                </a:solidFill>
              </a:rPr>
              <a:t>1.11 亿元人民币，加其余类别净变化-1,787.41 万元人民币形成抵销前DTA增加</a:t>
            </a:r>
            <a:endParaRPr lang="en-US" sz="1800" dirty="0"/>
          </a:p>
          <a:p>
            <a:pPr indent="0" marL="0">
              <a:lnSpc>
                <a:spcPct val="100000"/>
              </a:lnSpc>
              <a:buNone/>
            </a:pPr>
            <a:r>
              <a:rPr lang="en-US" sz="1800" dirty="0">
                <a:solidFill>
                  <a:srgbClr val="1F2933"/>
                </a:solidFill>
              </a:rPr>
              <a:t>9,287.27 万元人民币。两类期末DTA合计4.30 亿元人民币；已确认亏损</a:t>
            </a:r>
            <a:endParaRPr lang="en-US" sz="1800" dirty="0"/>
          </a:p>
          <a:p>
            <a:pPr indent="0" marL="0">
              <a:lnSpc>
                <a:spcPct val="100000"/>
              </a:lnSpc>
              <a:buNone/>
            </a:pPr>
            <a:r>
              <a:rPr lang="en-US" sz="1800" dirty="0">
                <a:solidFill>
                  <a:srgbClr val="1F2933"/>
                </a:solidFill>
              </a:rPr>
              <a:t>DTA7,146.12 万元人民币对应亏损税基4.42 亿元人民币。CAS18要求按纳税主体</a:t>
            </a:r>
            <a:endParaRPr lang="en-US" sz="1800" dirty="0"/>
          </a:p>
          <a:p>
            <a:pPr indent="0" marL="0">
              <a:lnSpc>
                <a:spcPct val="100000"/>
              </a:lnSpc>
              <a:buNone/>
            </a:pPr>
            <a:r>
              <a:rPr lang="en-US" sz="1800" dirty="0">
                <a:solidFill>
                  <a:srgbClr val="1F2933"/>
                </a:solidFill>
              </a:rPr>
              <a:t>可用应税利润、期限及适用税率确认和复核。未确认差异与亏损3.88 亿元人民币是税基，不能直接</a:t>
            </a:r>
            <a:endParaRPr lang="en-US" sz="1800" dirty="0"/>
          </a:p>
          <a:p>
            <a:pPr indent="0" marL="0">
              <a:lnSpc>
                <a:spcPct val="100000"/>
              </a:lnSpc>
              <a:buNone/>
            </a:pPr>
            <a:r>
              <a:rPr lang="en-US" sz="1800" dirty="0">
                <a:solidFill>
                  <a:srgbClr val="1F2933"/>
                </a:solidFill>
              </a:rPr>
              <a:t>当DTA减记额；年报第189—190页的到期表仅列未确认亏损，不能替代已确认亏损期限。损益递</a:t>
            </a:r>
            <a:endParaRPr lang="en-US" sz="1800" dirty="0"/>
          </a:p>
          <a:p>
            <a:pPr indent="0" marL="0">
              <a:lnSpc>
                <a:spcPct val="100000"/>
              </a:lnSpc>
              <a:buNone/>
            </a:pPr>
            <a:r>
              <a:rPr lang="en-US" sz="1800" dirty="0">
                <a:solidFill>
                  <a:srgbClr val="1F2933"/>
                </a:solidFill>
              </a:rPr>
              <a:t>延税收益含多类DTA与DTL变动，不能全部归于亏损DTA。</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部分可抵扣差异可由同一纳税主体未来应税利润及应税暂时性差异转回支持；合并亏损本身不证明全部</a:t>
            </a:r>
            <a:endParaRPr lang="en-US" sz="1800" dirty="0"/>
          </a:p>
          <a:p>
            <a:pPr indent="0" marL="0">
              <a:lnSpc>
                <a:spcPct val="100000"/>
              </a:lnSpc>
              <a:buNone/>
            </a:pPr>
            <a:r>
              <a:rPr lang="en-US" sz="1800" dirty="0">
                <a:solidFill>
                  <a:srgbClr val="1F2933"/>
                </a:solidFill>
              </a:rPr>
              <a:t>DTA失效。</a:t>
            </a:r>
            <a:endParaRPr lang="en-US" sz="1800" dirty="0"/>
          </a:p>
          <a:p>
            <a:pPr indent="0" marL="0">
              <a:lnSpc>
                <a:spcPct val="100000"/>
              </a:lnSpc>
              <a:buNone/>
            </a:pPr>
            <a:r>
              <a:rPr lang="en-US" sz="1800" dirty="0">
                <a:solidFill>
                  <a:srgbClr val="1F2933"/>
                </a:solidFill>
              </a:rPr>
              <a:t>集团内其他主体盈利不能未经税法依据抵扣亏损，同一未来应税利润不能在多类DTA中重复使用。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当期所得税费用：5,838.66 万元人民币</a:t>
            </a:r>
            <a:endParaRPr lang="en-US" sz="1800" dirty="0"/>
          </a:p>
          <a:p>
            <a:pPr indent="0" marL="0">
              <a:lnSpc>
                <a:spcPct val="100000"/>
              </a:lnSpc>
              <a:buNone/>
            </a:pPr>
            <a:r>
              <a:rPr lang="en-US" sz="1800" dirty="0">
                <a:solidFill>
                  <a:srgbClr val="1F2933"/>
                </a:solidFill>
              </a:rPr>
              <a:t>未确认DTA的差异和亏损：3.88 亿元人民币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取得分主体、税区、亏损发生及到期年度、差异转回和抵扣限制后，若可用应税利润不足，则重估相关</a:t>
            </a:r>
            <a:endParaRPr lang="en-US" sz="1800" dirty="0"/>
          </a:p>
          <a:p>
            <a:pPr indent="0" marL="0">
              <a:lnSpc>
                <a:spcPct val="100000"/>
              </a:lnSpc>
              <a:buNone/>
            </a:pPr>
            <a:r>
              <a:rPr lang="en-US" sz="1800" dirty="0">
                <a:solidFill>
                  <a:srgbClr val="1F2933"/>
                </a:solidFill>
              </a:rPr>
              <a:t>DTA；亏损DTA占总权益1.76%。经证实需减记时相应降低损益和权益，不再追加一次假定税</a:t>
            </a:r>
            <a:endParaRPr lang="en-US" sz="1800" dirty="0"/>
          </a:p>
          <a:p>
            <a:pPr indent="0" marL="0">
              <a:lnSpc>
                <a:spcPct val="100000"/>
              </a:lnSpc>
              <a:buNone/>
            </a:pPr>
            <a:r>
              <a:rPr lang="en-US" sz="1800" dirty="0">
                <a:solidFill>
                  <a:srgbClr val="1F2933"/>
                </a:solidFill>
              </a:rPr>
              <a:t>盾；按选用信用方法评价资本缓冲，并与减值情景去重。未落实的税资产不进入可调度现金，不能据税</a:t>
            </a:r>
            <a:endParaRPr lang="en-US" sz="1800" dirty="0"/>
          </a:p>
          <a:p>
            <a:pPr indent="0" marL="0">
              <a:lnSpc>
                <a:spcPct val="100000"/>
              </a:lnSpc>
              <a:buNone/>
            </a:pPr>
            <a:r>
              <a:rPr lang="en-US" sz="1800" dirty="0">
                <a:solidFill>
                  <a:srgbClr val="1F2933"/>
                </a:solidFill>
              </a:rPr>
              <a:t>收益上调偿债能力。</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净税资产增加9,635.29 万元人民币，损益递延税收益1.03 亿元人民币，相差</a:t>
            </a:r>
            <a:endParaRPr lang="en-US" sz="1800" dirty="0"/>
          </a:p>
          <a:p>
            <a:pPr indent="0" marL="0">
              <a:lnSpc>
                <a:spcPct val="100000"/>
              </a:lnSpc>
              <a:buNone/>
            </a:pPr>
            <a:r>
              <a:rPr lang="en-US" sz="1800" dirty="0">
                <a:solidFill>
                  <a:srgbClr val="1F2933"/>
                </a:solidFill>
              </a:rPr>
              <a:t>643.27 万元人民币。可转债权益相关DTL期末余额643.27 万元人民币支持候选权益</a:t>
            </a:r>
            <a:endParaRPr lang="en-US" sz="1800" dirty="0"/>
          </a:p>
          <a:p>
            <a:pPr indent="0" marL="0">
              <a:lnSpc>
                <a:spcPct val="100000"/>
              </a:lnSpc>
              <a:buNone/>
            </a:pPr>
            <a:r>
              <a:rPr lang="en-US" sz="1800" dirty="0">
                <a:solidFill>
                  <a:srgbClr val="1F2933"/>
                </a:solidFill>
              </a:rPr>
              <a:t>解释，尚不是已证实当期权益流量；候选桥剩余32.48 元人民币未关闭，该微小差额本身不构成</a:t>
            </a:r>
            <a:endParaRPr lang="en-US" sz="1800" dirty="0"/>
          </a:p>
          <a:p>
            <a:pPr indent="0" marL="0">
              <a:lnSpc>
                <a:spcPct val="100000"/>
              </a:lnSpc>
              <a:buNone/>
            </a:pPr>
            <a:r>
              <a:rPr lang="en-US" sz="1800" dirty="0">
                <a:solidFill>
                  <a:srgbClr val="1F2933"/>
                </a:solidFill>
              </a:rPr>
              <a:t>重大信用风险。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期初DTA减DTL为3.70 亿元人民币，期末为4.66 亿元人民币。按期初加损益税收益、减</a:t>
            </a:r>
            <a:endParaRPr lang="en-US" sz="1800" dirty="0"/>
          </a:p>
          <a:p>
            <a:pPr indent="0" marL="0">
              <a:lnSpc>
                <a:spcPct val="100000"/>
              </a:lnSpc>
              <a:buNone/>
            </a:pPr>
            <a:r>
              <a:rPr lang="en-US" sz="1800" dirty="0">
                <a:solidFill>
                  <a:srgbClr val="1F2933"/>
                </a:solidFill>
              </a:rPr>
              <a:t>期末可转债权益DTL余额作候选比较，得到4.66 亿元人民币。第189页该DTL期初栏为</a:t>
            </a:r>
            <a:endParaRPr lang="en-US" sz="1800" dirty="0"/>
          </a:p>
          <a:p>
            <a:pPr indent="0" marL="0">
              <a:lnSpc>
                <a:spcPct val="100000"/>
              </a:lnSpc>
              <a:buNone/>
            </a:pPr>
            <a:r>
              <a:rPr lang="en-US" sz="1800" dirty="0">
                <a:solidFill>
                  <a:srgbClr val="1F2933"/>
                </a:solidFill>
              </a:rPr>
              <a:t>空白，不填零；第196页其他权益工具减少643.30 万元人民币含转股等可能成分，不全额视为</a:t>
            </a:r>
            <a:endParaRPr lang="en-US" sz="1800" dirty="0"/>
          </a:p>
          <a:p>
            <a:pPr indent="0" marL="0">
              <a:lnSpc>
                <a:spcPct val="100000"/>
              </a:lnSpc>
              <a:buNone/>
            </a:pPr>
            <a:r>
              <a:rPr lang="en-US" sz="1800" dirty="0">
                <a:solidFill>
                  <a:srgbClr val="1F2933"/>
                </a:solidFill>
              </a:rPr>
              <a:t>税项。CAS18第21—22条及CSRC会计类第5号5-8支持权益相关初始税项计权益、后续折</a:t>
            </a:r>
            <a:endParaRPr lang="en-US" sz="1800" dirty="0"/>
          </a:p>
          <a:p>
            <a:pPr indent="0" marL="0">
              <a:lnSpc>
                <a:spcPct val="100000"/>
              </a:lnSpc>
              <a:buNone/>
            </a:pPr>
            <a:r>
              <a:rPr lang="en-US" sz="1800" dirty="0">
                <a:solidFill>
                  <a:srgbClr val="1F2933"/>
                </a:solidFill>
              </a:rPr>
              <a:t>价摊销税项计损益；可转债2023年发行，公开披露未说明本期新增列示DTL的过渡分录，不定性为</a:t>
            </a:r>
            <a:endParaRPr lang="en-US" sz="1800" dirty="0"/>
          </a:p>
          <a:p>
            <a:pPr indent="0" marL="0">
              <a:lnSpc>
                <a:spcPct val="100000"/>
              </a:lnSpc>
              <a:buNone/>
            </a:pPr>
            <a:r>
              <a:rPr lang="en-US" sz="1800" dirty="0">
                <a:solidFill>
                  <a:srgbClr val="1F2933"/>
                </a:solidFill>
              </a:rPr>
              <a:t>新发行、政策变更或前期差错。现金流补充资料税调整-9,635.29 万元人民币与损益递延税</a:t>
            </a:r>
            <a:endParaRPr lang="en-US" sz="1800" dirty="0"/>
          </a:p>
          <a:p>
            <a:pPr indent="0" marL="0">
              <a:lnSpc>
                <a:spcPct val="100000"/>
              </a:lnSpc>
              <a:buNone/>
            </a:pPr>
            <a:r>
              <a:rPr lang="en-US" sz="1800" dirty="0">
                <a:solidFill>
                  <a:srgbClr val="1F2933"/>
                </a:solidFill>
              </a:rPr>
              <a:t>费用相差643.27 万元人民币；其他1,731.19 万元人民币无税项拆分，不能倒填差额或</a:t>
            </a:r>
            <a:endParaRPr lang="en-US" sz="1800" dirty="0"/>
          </a:p>
          <a:p>
            <a:pPr indent="0" marL="0">
              <a:lnSpc>
                <a:spcPct val="100000"/>
              </a:lnSpc>
              <a:buNone/>
            </a:pPr>
            <a:r>
              <a:rPr lang="en-US" sz="1800" dirty="0">
                <a:solidFill>
                  <a:srgbClr val="1F2933"/>
                </a:solidFill>
              </a:rPr>
              <a:t>直接改动报告CFO。</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权益相关税项是有公开金额和规则支持的主要候选解释；完整流量还需核转股、合并范围和外币折算等</a:t>
            </a:r>
            <a:endParaRPr lang="en-US" sz="1800" dirty="0"/>
          </a:p>
          <a:p>
            <a:pPr indent="0" marL="0">
              <a:lnSpc>
                <a:spcPct val="100000"/>
              </a:lnSpc>
              <a:buNone/>
            </a:pPr>
            <a:r>
              <a:rPr lang="en-US" sz="1800" dirty="0">
                <a:solidFill>
                  <a:srgbClr val="1F2933"/>
                </a:solidFill>
              </a:rPr>
              <a:t>实际分录。</a:t>
            </a:r>
            <a:endParaRPr lang="en-US" sz="1800" dirty="0"/>
          </a:p>
          <a:p>
            <a:pPr indent="0" marL="0">
              <a:lnSpc>
                <a:spcPct val="100000"/>
              </a:lnSpc>
              <a:buNone/>
            </a:pPr>
            <a:r>
              <a:rPr lang="en-US" sz="1800" dirty="0">
                <a:solidFill>
                  <a:srgbClr val="1F2933"/>
                </a:solidFill>
              </a:rPr>
              <a:t>候选余额接近差额不能证明税项流量已全部归属；也不能据此认定报表重大错报或CFO应调整。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其他权益工具本期减少：643.30 万元人民币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取得当期权益税额、期初至期末DTL滚动和转股分录，并与现金流其他项税拆分核对后，可明确精确</a:t>
            </a:r>
            <a:endParaRPr lang="en-US" sz="1800" dirty="0"/>
          </a:p>
          <a:p>
            <a:pPr indent="0" marL="0">
              <a:lnSpc>
                <a:spcPct val="100000"/>
              </a:lnSpc>
              <a:buNone/>
            </a:pPr>
            <a:r>
              <a:rPr lang="en-US" sz="1800" dirty="0">
                <a:solidFill>
                  <a:srgbClr val="1F2933"/>
                </a:solidFill>
              </a:rPr>
              <a:t>归属；剩余差额按真实来源解释。资产可实现性另按重大DTA余额评价，不因微小尾差未解释而改变</a:t>
            </a:r>
            <a:endParaRPr lang="en-US" sz="1800" dirty="0"/>
          </a:p>
          <a:p>
            <a:pPr indent="0" marL="0">
              <a:lnSpc>
                <a:spcPct val="100000"/>
              </a:lnSpc>
              <a:buNone/>
            </a:pPr>
            <a:r>
              <a:rPr lang="en-US" sz="1800" dirty="0">
                <a:solidFill>
                  <a:srgbClr val="1F2933"/>
                </a:solidFill>
              </a:rPr>
              <a:t>信用判断。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按原负号滚动未闭合；“其他”若表示冲回减少项可以解释差异。两次读取均保留原负号；未把小额列示</a:t>
            </a:r>
            <a:endParaRPr lang="en-US" sz="1800" dirty="0"/>
          </a:p>
          <a:p>
            <a:pPr indent="0" marL="0">
              <a:lnSpc>
                <a:spcPct val="100000"/>
              </a:lnSpc>
              <a:buNone/>
            </a:pPr>
            <a:r>
              <a:rPr lang="en-US" sz="1800" dirty="0">
                <a:solidFill>
                  <a:srgbClr val="1F2933"/>
                </a:solidFill>
              </a:rPr>
              <a:t>差异扩展为全报错报。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金额重要性与资产回收风险是不同问题；该差异不改变信用减值大额风险的事实。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原表“其他”负号若实际表示冲回原减少项，可以在符号语义上解释差额。</a:t>
            </a:r>
            <a:endParaRPr lang="en-US" sz="1800" dirty="0"/>
          </a:p>
          <a:p>
            <a:pPr indent="0" marL="0">
              <a:lnSpc>
                <a:spcPct val="100000"/>
              </a:lnSpc>
              <a:buNone/>
            </a:pPr>
            <a:r>
              <a:rPr lang="en-US" sz="1800" dirty="0">
                <a:solidFill>
                  <a:srgbClr val="1F2933"/>
                </a:solidFill>
              </a:rPr>
              <a:t>表格符号或汇总也可能存在小额披露错误，现有原页不足以选定一种解释。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取得该“其他”事项的凭证方向与对应准备变动，并使完整滚动可追溯闭合；确认金额后仍独立评估重大</a:t>
            </a:r>
            <a:endParaRPr lang="en-US" sz="1800" dirty="0"/>
          </a:p>
          <a:p>
            <a:pPr indent="0" marL="0">
              <a:lnSpc>
                <a:spcPct val="100000"/>
              </a:lnSpc>
              <a:buNone/>
            </a:pPr>
            <a:r>
              <a:rPr lang="en-US" sz="1800" dirty="0">
                <a:solidFill>
                  <a:srgbClr val="1F2933"/>
                </a:solidFill>
              </a:rPr>
              <a:t>客户回收风险。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货币资金23.19 亿元人民币，受限7.12 亿元人民币，现金等价物16.08 亿元人民币。</a:t>
            </a:r>
            <a:endParaRPr lang="en-US" sz="1800" dirty="0"/>
          </a:p>
          <a:p>
            <a:pPr indent="0" marL="0">
              <a:lnSpc>
                <a:spcPct val="100000"/>
              </a:lnSpc>
              <a:buNone/>
            </a:pPr>
            <a:r>
              <a:rPr lang="en-US" sz="1800" dirty="0">
                <a:solidFill>
                  <a:srgbClr val="1F2933"/>
                </a:solidFill>
              </a:rPr>
              <a:t>后者也未核实全部无用途限制；理财、公允价值补偿资产及抵债房产不加入基础现金。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质押、冻结、保证金与募集金专户/临时补流有不同约束；仅依据账面资金会高估流动性。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现金等价物按准则可随时支付，不等于合同用途完全不受限。</a:t>
            </a:r>
            <a:endParaRPr lang="en-US" sz="1800" dirty="0"/>
          </a:p>
          <a:p>
            <a:pPr indent="0" marL="0">
              <a:lnSpc>
                <a:spcPct val="100000"/>
              </a:lnSpc>
              <a:buNone/>
            </a:pPr>
            <a:r>
              <a:rPr lang="en-US" sz="1800" dirty="0">
                <a:solidFill>
                  <a:srgbClr val="1F2933"/>
                </a:solidFill>
              </a:rPr>
              <a:t>理财或银行承兑票据可能流动性较好，但须区分到期、质押、受限和补偿应收成分。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确认银行函证、全部账户用途及理财/票据变现条件后，修订自由现金和现金类短债覆盖。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年报未用银行借款额度10.80 亿元人民币，跟踪报告同称</a:t>
            </a:r>
            <a:endParaRPr lang="en-US" sz="1800" dirty="0"/>
          </a:p>
          <a:p>
            <a:pPr indent="0" marL="0">
              <a:lnSpc>
                <a:spcPct val="100000"/>
              </a:lnSpc>
              <a:buNone/>
            </a:pPr>
            <a:r>
              <a:rPr lang="en-US" sz="1800" dirty="0">
                <a:solidFill>
                  <a:srgbClr val="1F2933"/>
                </a:solidFill>
              </a:rPr>
              <a:t>2025年底的银行授信总额73.00 亿元人民币、未用</a:t>
            </a:r>
            <a:endParaRPr lang="en-US" sz="1800" dirty="0"/>
          </a:p>
          <a:p>
            <a:pPr indent="0" marL="0">
              <a:lnSpc>
                <a:spcPct val="100000"/>
              </a:lnSpc>
              <a:buNone/>
            </a:pPr>
            <a:r>
              <a:rPr lang="en-US" sz="1800" dirty="0">
                <a:solidFill>
                  <a:srgbClr val="1F2933"/>
                </a:solidFill>
              </a:rPr>
              <a:t>47.00 亿元人民币。未用披露名义差额36.20 亿元</a:t>
            </a:r>
            <a:endParaRPr lang="en-US" sz="1800" dirty="0"/>
          </a:p>
          <a:p>
            <a:pPr indent="0" marL="0">
              <a:lnSpc>
                <a:spcPct val="100000"/>
              </a:lnSpc>
              <a:buNone/>
            </a:pPr>
            <a:r>
              <a:rPr lang="en-US" sz="1800" dirty="0">
                <a:solidFill>
                  <a:srgbClr val="1F2933"/>
                </a:solidFill>
              </a:rPr>
              <a:t>人民币，尚未解释。两来源用词不同只是待核线索，不能据此称</a:t>
            </a:r>
            <a:endParaRPr lang="en-US" sz="1800" dirty="0"/>
          </a:p>
          <a:p>
            <a:pPr indent="0" marL="0">
              <a:lnSpc>
                <a:spcPct val="100000"/>
              </a:lnSpc>
              <a:buNone/>
            </a:pPr>
            <a:r>
              <a:rPr lang="en-US" sz="1800" dirty="0">
                <a:solidFill>
                  <a:srgbClr val="1F2933"/>
                </a:solidFill>
              </a:rPr>
              <a:t>口径已对齐，任何一项也未作为已落实现金计入。</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年报未使用银行借款额度</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跟踪报告未使用银行授信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47.00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两来源未用额度名义差额（口径未调齐）</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36.20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按同一法人、银行及产品对应总额、已用、未用、共享或循环额</a:t>
            </a:r>
            <a:endParaRPr lang="en-US" sz="1800" dirty="0"/>
          </a:p>
          <a:p>
            <a:pPr indent="0" marL="0">
              <a:lnSpc>
                <a:spcPct val="100000"/>
              </a:lnSpc>
              <a:buNone/>
            </a:pPr>
            <a:r>
              <a:rPr lang="en-US" sz="1800" dirty="0">
                <a:solidFill>
                  <a:srgbClr val="1F2933"/>
                </a:solidFill>
              </a:rPr>
              <a:t>度，核抵质押、保证金、财务约束、提款前提、撤销权和有效期，</a:t>
            </a:r>
            <a:endParaRPr lang="en-US" sz="1800" dirty="0"/>
          </a:p>
          <a:p>
            <a:pPr indent="0" marL="0">
              <a:lnSpc>
                <a:spcPct val="100000"/>
              </a:lnSpc>
              <a:buNone/>
            </a:pPr>
            <a:r>
              <a:rPr lang="en-US" sz="1800" dirty="0">
                <a:solidFill>
                  <a:srgbClr val="1F2933"/>
                </a:solidFill>
              </a:rPr>
              <a:t>再将真正可用金额匹配付款日。综合授信可能包含票据、保函或</a:t>
            </a:r>
            <a:endParaRPr lang="en-US" sz="1800" dirty="0"/>
          </a:p>
          <a:p>
            <a:pPr indent="0" marL="0">
              <a:lnSpc>
                <a:spcPct val="100000"/>
              </a:lnSpc>
              <a:buNone/>
            </a:pPr>
            <a:r>
              <a:rPr lang="en-US" sz="1800" dirty="0">
                <a:solidFill>
                  <a:srgbClr val="1F2933"/>
                </a:solidFill>
              </a:rPr>
              <a:t>其他产品，年报借款额度也可能有不同总体；这些是候选解释，</a:t>
            </a:r>
            <a:endParaRPr lang="en-US" sz="1800" dirty="0"/>
          </a:p>
          <a:p>
            <a:pPr indent="0" marL="0">
              <a:lnSpc>
                <a:spcPct val="100000"/>
              </a:lnSpc>
              <a:buNone/>
            </a:pPr>
            <a:r>
              <a:rPr lang="en-US" sz="1800" dirty="0">
                <a:solidFill>
                  <a:srgbClr val="1F2933"/>
                </a:solidFill>
              </a:rPr>
              <a:t>不是已查明原因。现有再融资研究分5.0/4.5及加权</a:t>
            </a:r>
            <a:endParaRPr lang="en-US" sz="1800" dirty="0"/>
          </a:p>
          <a:p>
            <a:pPr indent="0" marL="0">
              <a:lnSpc>
                <a:spcPct val="100000"/>
              </a:lnSpc>
              <a:buNone/>
            </a:pPr>
            <a:r>
              <a:rPr lang="en-US" sz="1800" dirty="0">
                <a:solidFill>
                  <a:srgbClr val="1F2933"/>
                </a:solidFill>
              </a:rPr>
              <a:t>4.65仅保留为原条件分支，金额冲突未关闭前不能证明这一赋</a:t>
            </a:r>
            <a:endParaRPr lang="en-US" sz="1800" dirty="0"/>
          </a:p>
          <a:p>
            <a:pPr indent="0" marL="0">
              <a:lnSpc>
                <a:spcPct val="100000"/>
              </a:lnSpc>
              <a:buNone/>
            </a:pPr>
            <a:r>
              <a:rPr lang="en-US" sz="1800" dirty="0">
                <a:solidFill>
                  <a:srgbClr val="1F2933"/>
                </a:solidFill>
              </a:rPr>
              <a:t>值或BBB+资金前提充分，也不因缺资料任意另给分。 年报第</a:t>
            </a:r>
            <a:endParaRPr lang="en-US" sz="1800" dirty="0"/>
          </a:p>
          <a:p>
            <a:pPr indent="0" marL="0">
              <a:lnSpc>
                <a:spcPct val="100000"/>
              </a:lnSpc>
              <a:buNone/>
            </a:pPr>
            <a:r>
              <a:rPr lang="en-US" sz="1800" dirty="0">
                <a:solidFill>
                  <a:srgbClr val="1F2933"/>
                </a:solidFill>
              </a:rPr>
              <a:t>95页管理层称授信充足、可快速融资且自有资金及融资足以偿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付；这与已披露季度融资形成支持线索，但未解决两个额度总体及</a:t>
            </a:r>
            <a:endParaRPr lang="en-US" sz="1800" dirty="0"/>
          </a:p>
          <a:p>
            <a:pPr indent="0" marL="0">
              <a:lnSpc>
                <a:spcPct val="100000"/>
              </a:lnSpc>
              <a:buNone/>
            </a:pPr>
            <a:r>
              <a:rPr lang="en-US" sz="1800" dirty="0">
                <a:solidFill>
                  <a:srgbClr val="1F2933"/>
                </a:solidFill>
              </a:rPr>
              <a:t>合同可提用条件的差异。</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一季度实际新增借款证明当季有融资发生，但不能证明六月以后的</a:t>
            </a:r>
            <a:endParaRPr lang="en-US" sz="1800" dirty="0"/>
          </a:p>
          <a:p>
            <a:pPr indent="0" marL="0">
              <a:lnSpc>
                <a:spcPct val="100000"/>
              </a:lnSpc>
              <a:buNone/>
            </a:pPr>
            <a:r>
              <a:rPr lang="en-US" sz="1800" dirty="0">
                <a:solidFill>
                  <a:srgbClr val="1F2933"/>
                </a:solidFill>
              </a:rPr>
              <a:t>未用额度、提款条件或母公司付款能力。</a:t>
            </a:r>
            <a:endParaRPr lang="en-US" sz="1800" dirty="0"/>
          </a:p>
          <a:p>
            <a:pPr indent="0" marL="0">
              <a:lnSpc>
                <a:spcPct val="100000"/>
              </a:lnSpc>
              <a:buNone/>
            </a:pPr>
            <a:r>
              <a:rPr lang="en-US" sz="1800" dirty="0">
                <a:solidFill>
                  <a:srgbClr val="1F2933"/>
                </a:solidFill>
              </a:rPr>
              <a:t>若合同总体差异完整解释差额且足额资源可按时提用，可支持融资</a:t>
            </a:r>
            <a:endParaRPr lang="en-US" sz="1800" dirty="0"/>
          </a:p>
          <a:p>
            <a:pPr indent="0" marL="0">
              <a:lnSpc>
                <a:spcPct val="100000"/>
              </a:lnSpc>
              <a:buNone/>
            </a:pPr>
            <a:r>
              <a:rPr lang="en-US" sz="1800" dirty="0">
                <a:solidFill>
                  <a:srgbClr val="1F2933"/>
                </a:solidFill>
              </a:rPr>
              <a:t>能力；若主要是可撤销、受限或非现金产品，则应降低可依赖融资</a:t>
            </a:r>
            <a:endParaRPr lang="en-US" sz="1800" dirty="0"/>
          </a:p>
          <a:p>
            <a:pPr indent="0" marL="0">
              <a:lnSpc>
                <a:spcPct val="100000"/>
              </a:lnSpc>
              <a:buNone/>
            </a:pPr>
            <a:r>
              <a:rPr lang="en-US" sz="1800" dirty="0">
                <a:solidFill>
                  <a:srgbClr val="1F2933"/>
                </a:solidFill>
              </a:rPr>
              <a:t>并重新评估因素和资金前提。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a:p>
            <a:pPr indent="0" marL="0">
              <a:lnSpc>
                <a:spcPct val="100000"/>
              </a:lnSpc>
              <a:buNone/>
            </a:pPr>
            <a:r>
              <a:rPr lang="en-US" sz="1800" dirty="0">
                <a:solidFill>
                  <a:srgbClr val="1F2933"/>
                </a:solidFill>
              </a:rPr>
              <a:t>第93—94页发行与挂牌、无担保、面值变动及转股价与既有债</a:t>
            </a:r>
            <a:endParaRPr lang="en-US" sz="1800" dirty="0"/>
          </a:p>
          <a:p>
            <a:pPr indent="0" marL="0">
              <a:lnSpc>
                <a:spcPct val="100000"/>
              </a:lnSpc>
              <a:buNone/>
            </a:pPr>
            <a:r>
              <a:rPr lang="en-US" sz="1800" dirty="0">
                <a:solidFill>
                  <a:srgbClr val="1F2933"/>
                </a:solidFill>
              </a:rPr>
              <a:t>项记录一致。第95页管理层称综合授信充足、融资快速有效、内</a:t>
            </a:r>
            <a:endParaRPr lang="en-US" sz="1800" dirty="0"/>
          </a:p>
          <a:p>
            <a:pPr indent="0" marL="0">
              <a:lnSpc>
                <a:spcPct val="100000"/>
              </a:lnSpc>
              <a:buNone/>
            </a:pPr>
            <a:r>
              <a:rPr lang="en-US" sz="1800" dirty="0">
                <a:solidFill>
                  <a:srgbClr val="1F2933"/>
                </a:solidFill>
              </a:rPr>
              <a:t>生经营现金稳定、募投实施提升盈利，遇回售、赎回或到期可通过</a:t>
            </a:r>
            <a:endParaRPr lang="en-US" sz="1800" dirty="0"/>
          </a:p>
          <a:p>
            <a:pPr indent="0" marL="0">
              <a:lnSpc>
                <a:spcPct val="100000"/>
              </a:lnSpc>
              <a:buNone/>
            </a:pPr>
            <a:r>
              <a:rPr lang="en-US" sz="1800" dirty="0">
                <a:solidFill>
                  <a:srgbClr val="1F2933"/>
                </a:solidFill>
              </a:rPr>
              <a:t>自有资金及融资支付本息；同时将大额亏损主要归因于减值并称对</a:t>
            </a:r>
            <a:endParaRPr lang="en-US" sz="1800" dirty="0"/>
          </a:p>
          <a:p>
            <a:pPr indent="0" marL="0">
              <a:lnSpc>
                <a:spcPct val="100000"/>
              </a:lnSpc>
              <a:buNone/>
            </a:pPr>
            <a:r>
              <a:rPr lang="en-US" sz="1800" dirty="0">
                <a:solidFill>
                  <a:srgbClr val="1F2933"/>
                </a:solidFill>
              </a:rPr>
              <a:t>生产经营无重大影响。年末除债券外有息债逾期项列不适用，报告</a:t>
            </a:r>
            <a:endParaRPr lang="en-US" sz="1800" dirty="0"/>
          </a:p>
          <a:p>
            <a:pPr indent="0" marL="0">
              <a:lnSpc>
                <a:spcPct val="100000"/>
              </a:lnSpc>
              <a:buNone/>
            </a:pPr>
            <a:r>
              <a:rPr lang="en-US" sz="1800" dirty="0">
                <a:solidFill>
                  <a:srgbClr val="1F2933"/>
                </a:solidFill>
              </a:rPr>
              <a:t>期违反规章制度项列否。这是管理层陈述，尚未以银行、合同和</a:t>
            </a:r>
            <a:endParaRPr lang="en-US" sz="1800" dirty="0"/>
          </a:p>
          <a:p>
            <a:pPr indent="0" marL="0">
              <a:lnSpc>
                <a:spcPct val="100000"/>
              </a:lnSpc>
              <a:buNone/>
            </a:pPr>
            <a:r>
              <a:rPr lang="en-US" sz="1800" dirty="0">
                <a:solidFill>
                  <a:srgbClr val="1F2933"/>
                </a:solidFill>
              </a:rPr>
              <a:t>项目现金逐笔验证；无担保不表示没有发行人付款责任。 第五项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标题为亏损超过上年末净资产10%，正文列归母净利润</a:t>
            </a:r>
            <a:endParaRPr lang="en-US" sz="1800" dirty="0"/>
          </a:p>
          <a:p>
            <a:pPr indent="0" marL="0">
              <a:lnSpc>
                <a:spcPct val="100000"/>
              </a:lnSpc>
              <a:buNone/>
            </a:pPr>
            <a:r>
              <a:rPr lang="en-US" sz="1800" dirty="0">
                <a:solidFill>
                  <a:srgbClr val="1F2933"/>
                </a:solidFill>
              </a:rPr>
              <a:t>-535,342,762.09元、占2025年末公司净资产</a:t>
            </a:r>
            <a:endParaRPr lang="en-US" sz="1800" dirty="0"/>
          </a:p>
          <a:p>
            <a:pPr indent="0" marL="0">
              <a:lnSpc>
                <a:spcPct val="100000"/>
              </a:lnSpc>
              <a:buNone/>
            </a:pPr>
            <a:r>
              <a:rPr lang="en-US" sz="1800" dirty="0">
                <a:solidFill>
                  <a:srgbClr val="1F2933"/>
                </a:solidFill>
              </a:rPr>
              <a:t>13.49%；正文期间与标题不同，且公司净资产未在该行明示</a:t>
            </a:r>
            <a:endParaRPr lang="en-US" sz="1800" dirty="0"/>
          </a:p>
          <a:p>
            <a:pPr indent="0" marL="0">
              <a:lnSpc>
                <a:spcPct val="100000"/>
              </a:lnSpc>
              <a:buNone/>
            </a:pPr>
            <a:r>
              <a:rPr lang="en-US" sz="1800" dirty="0">
                <a:solidFill>
                  <a:srgbClr val="1F2933"/>
                </a:solidFill>
              </a:rPr>
              <a:t>归母/总权益。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取得两个披露总体的逐项桥及银行直接证据，列明每个付款日已</a:t>
            </a:r>
            <a:endParaRPr lang="en-US" sz="1800" dirty="0"/>
          </a:p>
          <a:p>
            <a:pPr indent="0" marL="0">
              <a:lnSpc>
                <a:spcPct val="100000"/>
              </a:lnSpc>
              <a:buNone/>
            </a:pPr>
            <a:r>
              <a:rPr lang="en-US" sz="1800" dirty="0">
                <a:solidFill>
                  <a:srgbClr val="1F2933"/>
                </a:solidFill>
              </a:rPr>
              <a:t>承诺可提金额、条件满足状态和现金所在法人；仍未解释部分排除</a:t>
            </a:r>
            <a:endParaRPr lang="en-US" sz="1800" dirty="0"/>
          </a:p>
          <a:p>
            <a:pPr indent="0" marL="0">
              <a:lnSpc>
                <a:spcPct val="100000"/>
              </a:lnSpc>
              <a:buNone/>
            </a:pPr>
            <a:r>
              <a:rPr lang="en-US" sz="1800" dirty="0">
                <a:solidFill>
                  <a:srgbClr val="1F2933"/>
                </a:solidFill>
              </a:rPr>
              <a:t>已落实来源。以核实结果更新再融资因素及资金情景；先检查付款</a:t>
            </a:r>
            <a:endParaRPr lang="en-US" sz="1800" dirty="0"/>
          </a:p>
          <a:p>
            <a:pPr indent="0" marL="0">
              <a:lnSpc>
                <a:spcPct val="100000"/>
              </a:lnSpc>
              <a:buNone/>
            </a:pPr>
            <a:r>
              <a:rPr lang="en-US" sz="1800" dirty="0">
                <a:solidFill>
                  <a:srgbClr val="1F2933"/>
                </a:solidFill>
              </a:rPr>
              <a:t>前提是否失效，再决定等级和展望，不沿用4.65作为已证实</a:t>
            </a:r>
            <a:endParaRPr lang="en-US" sz="1800" dirty="0"/>
          </a:p>
          <a:p>
            <a:pPr indent="0" marL="0">
              <a:lnSpc>
                <a:spcPct val="100000"/>
              </a:lnSpc>
              <a:buNone/>
            </a:pPr>
            <a:r>
              <a:rPr lang="en-US" sz="1800" dirty="0">
                <a:solidFill>
                  <a:srgbClr val="1F2933"/>
                </a:solidFill>
              </a:rPr>
              <a:t>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全年CFO3.20 亿元人民币，扣现金资本开支后1.47 亿元人民币，再扣已分红后-2.41</a:t>
            </a:r>
            <a:endParaRPr lang="en-US" sz="1800" dirty="0"/>
          </a:p>
          <a:p>
            <a:pPr indent="0" marL="0">
              <a:lnSpc>
                <a:spcPct val="100000"/>
              </a:lnSpc>
              <a:buNone/>
            </a:pPr>
            <a:r>
              <a:rPr lang="en-US" sz="1800" dirty="0">
                <a:solidFill>
                  <a:srgbClr val="1F2933"/>
                </a:solidFill>
              </a:rPr>
              <a:t> 亿元人民币。末季贡献11.44 亿元人民币，期间现金波动明显。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间接桥中大额非现金减值并不产生现金；经营性应付项目合计形成正向调节，但其贡献同比减少。尚未</a:t>
            </a:r>
            <a:endParaRPr lang="en-US" sz="1800" dirty="0"/>
          </a:p>
          <a:p>
            <a:pPr indent="0" marL="0">
              <a:lnSpc>
                <a:spcPct val="100000"/>
              </a:lnSpc>
              <a:buNone/>
            </a:pPr>
            <a:r>
              <a:rPr lang="en-US" sz="1800" dirty="0">
                <a:solidFill>
                  <a:srgbClr val="1F2933"/>
                </a:solidFill>
              </a:rPr>
              <a:t>取得组成、结算、非现金及范围变动的分解，不能将该合计或保证金收付直接归因为供应商融资或客户</a:t>
            </a:r>
            <a:endParaRPr lang="en-US" sz="1800" dirty="0"/>
          </a:p>
          <a:p>
            <a:pPr indent="0" marL="0">
              <a:lnSpc>
                <a:spcPct val="100000"/>
              </a:lnSpc>
              <a:buNone/>
            </a:pPr>
            <a:r>
              <a:rPr lang="en-US" sz="1800" dirty="0">
                <a:solidFill>
                  <a:srgbClr val="1F2933"/>
                </a:solidFill>
              </a:rPr>
              <a:t>押金提供现金。全年正值仍须结合前三季流出和融资依赖判断。 经销商被担保贷款按公开安排用于付</a:t>
            </a:r>
            <a:endParaRPr lang="en-US" sz="1800" dirty="0"/>
          </a:p>
          <a:p>
            <a:pPr indent="0" marL="0">
              <a:lnSpc>
                <a:spcPct val="100000"/>
              </a:lnSpc>
              <a:buNone/>
            </a:pPr>
            <a:r>
              <a:rPr lang="en-US" sz="1800" dirty="0">
                <a:solidFill>
                  <a:srgbClr val="1F2933"/>
                </a:solidFill>
              </a:rPr>
              <a:t>公司货款，跟踪报告称主要用于年底前结清应付；需核真实保证支持收现流量及可持续性。年末担保余额</a:t>
            </a:r>
            <a:endParaRPr lang="en-US" sz="1800" dirty="0"/>
          </a:p>
          <a:p>
            <a:pPr indent="0" marL="0">
              <a:lnSpc>
                <a:spcPct val="100000"/>
              </a:lnSpc>
              <a:buNone/>
            </a:pPr>
            <a:r>
              <a:rPr lang="en-US" sz="1800" dirty="0">
                <a:solidFill>
                  <a:srgbClr val="1F2933"/>
                </a:solidFill>
              </a:rPr>
              <a:t>不是年度收现流量，不能直接扣减CFO。</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利润至经营现金的改善可能由非现金信用损失加回形成，不能把加回项目视为经营盈利恢复。</a:t>
            </a:r>
            <a:endParaRPr lang="en-US" sz="1800" dirty="0"/>
          </a:p>
          <a:p>
            <a:pPr indent="0" marL="0">
              <a:lnSpc>
                <a:spcPct val="100000"/>
              </a:lnSpc>
              <a:buNone/>
            </a:pPr>
            <a:r>
              <a:rPr lang="en-US" sz="1800" dirty="0">
                <a:solidFill>
                  <a:srgbClr val="1F2933"/>
                </a:solidFill>
              </a:rPr>
              <a:t>应收净额下降也可能由核销和抵债形成；年末集中收款与下一季现金流出并存时，全年正经营现金不能</a:t>
            </a:r>
            <a:endParaRPr lang="en-US" sz="1800" dirty="0"/>
          </a:p>
          <a:p>
            <a:pPr indent="0" marL="0">
              <a:lnSpc>
                <a:spcPct val="100000"/>
              </a:lnSpc>
              <a:buNone/>
            </a:pPr>
            <a:r>
              <a:rPr lang="en-US" sz="1800" dirty="0">
                <a:solidFill>
                  <a:srgbClr val="1F2933"/>
                </a:solidFill>
              </a:rPr>
              <a:t>证明期内无缺口。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公告披露实际担保总额19,710.32，集团内12,055.21，集团外经销商</a:t>
            </a:r>
            <a:endParaRPr lang="en-US" sz="1800" dirty="0"/>
          </a:p>
          <a:p>
            <a:pPr indent="0" marL="0">
              <a:lnSpc>
                <a:spcPct val="100000"/>
              </a:lnSpc>
              <a:buNone/>
            </a:pPr>
            <a:r>
              <a:rPr lang="en-US" sz="1800" dirty="0">
                <a:solidFill>
                  <a:srgbClr val="1F2933"/>
                </a:solidFill>
              </a:rPr>
              <a:t>7,655.11；并声明无逾期、涉诉担保或因担保判决败诉承担损失。日期为三月末，未说明年末前</a:t>
            </a:r>
            <a:endParaRPr lang="en-US" sz="1800" dirty="0"/>
          </a:p>
          <a:p>
            <a:pPr indent="0" marL="0">
              <a:lnSpc>
                <a:spcPct val="100000"/>
              </a:lnSpc>
              <a:buNone/>
            </a:pPr>
            <a:r>
              <a:rPr lang="en-US" sz="1800" dirty="0">
                <a:solidFill>
                  <a:srgbClr val="1F2933"/>
                </a:solidFill>
              </a:rPr>
              <a:t>十笔分别解除、展期或代偿情况，也未披露六月存续余额。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取得按客户的季度及月度银行收现、非现金重组和供应商付款桥，并证明现金覆盖利息、必要资本投入和</a:t>
            </a:r>
            <a:endParaRPr lang="en-US" sz="1800" dirty="0"/>
          </a:p>
          <a:p>
            <a:pPr indent="0" marL="0">
              <a:lnSpc>
                <a:spcPct val="100000"/>
              </a:lnSpc>
              <a:buNone/>
            </a:pPr>
            <a:r>
              <a:rPr lang="en-US" sz="1800" dirty="0">
                <a:solidFill>
                  <a:srgbClr val="1F2933"/>
                </a:solidFill>
              </a:rPr>
              <a:t>分红后仍有余量，才提高现金生成质量判断。 将经销银行放款与本公司收款逐笔匹配，并与保证余额</a:t>
            </a:r>
            <a:endParaRPr lang="en-US" sz="1800" dirty="0"/>
          </a:p>
          <a:p>
            <a:pPr indent="0" marL="0">
              <a:lnSpc>
                <a:spcPct val="100000"/>
              </a:lnSpc>
              <a:buNone/>
            </a:pPr>
            <a:r>
              <a:rPr lang="en-US" sz="1800" dirty="0">
                <a:solidFill>
                  <a:srgbClr val="1F2933"/>
                </a:solidFill>
              </a:rPr>
              <a:t>滚动/逾期情况联查，才能辨别可持续经营回款和依赖保证续作的收现。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含票据及其他借款的广义债务52.73 亿元人民币，债务资本</a:t>
            </a:r>
            <a:endParaRPr lang="en-US" sz="1800" dirty="0"/>
          </a:p>
          <a:p>
            <a:pPr indent="0" marL="0">
              <a:lnSpc>
                <a:spcPct val="100000"/>
              </a:lnSpc>
              <a:buNone/>
            </a:pPr>
            <a:r>
              <a:rPr lang="en-US" sz="1800" dirty="0">
                <a:solidFill>
                  <a:srgbClr val="1F2933"/>
                </a:solidFill>
              </a:rPr>
              <a:t>化率56.55%，现金/短期债0.57 倍。转债摊余成本、</a:t>
            </a:r>
            <a:endParaRPr lang="en-US" sz="1800" dirty="0"/>
          </a:p>
          <a:p>
            <a:pPr indent="0" marL="0">
              <a:lnSpc>
                <a:spcPct val="100000"/>
              </a:lnSpc>
              <a:buNone/>
            </a:pPr>
            <a:r>
              <a:rPr lang="en-US" sz="1800" dirty="0">
                <a:solidFill>
                  <a:srgbClr val="1F2933"/>
                </a:solidFill>
              </a:rPr>
              <a:t>租赁及非现金融资需纳入；预计质量负债从利息债中剔开。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利润与权益缩水会抵消债务名义下降。利息含资本化</a:t>
            </a:r>
            <a:endParaRPr lang="en-US" sz="1800" dirty="0"/>
          </a:p>
          <a:p>
            <a:pPr indent="0" marL="0">
              <a:lnSpc>
                <a:spcPct val="100000"/>
              </a:lnSpc>
              <a:buNone/>
            </a:pPr>
            <a:r>
              <a:rPr lang="en-US" sz="1800" dirty="0">
                <a:solidFill>
                  <a:srgbClr val="1F2933"/>
                </a:solidFill>
              </a:rPr>
              <a:t>2,735.06 万元人民币，现金还本额不等同借款账面</a:t>
            </a:r>
            <a:endParaRPr lang="en-US" sz="1800" dirty="0"/>
          </a:p>
          <a:p>
            <a:pPr indent="0" marL="0">
              <a:lnSpc>
                <a:spcPct val="100000"/>
              </a:lnSpc>
              <a:buNone/>
            </a:pPr>
            <a:r>
              <a:rPr lang="en-US" sz="1800" dirty="0">
                <a:solidFill>
                  <a:srgbClr val="1F2933"/>
                </a:solidFill>
              </a:rPr>
              <a:t>变动。未折现合同期限表含经营负债，不能直接当作有息债。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0.57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56.55%</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借款或应付票据减少可能来自现金清偿，也可能来自重分类、票据</a:t>
            </a:r>
            <a:endParaRPr lang="en-US" sz="1800" dirty="0"/>
          </a:p>
          <a:p>
            <a:pPr indent="0" marL="0">
              <a:lnSpc>
                <a:spcPct val="100000"/>
              </a:lnSpc>
              <a:buNone/>
            </a:pPr>
            <a:r>
              <a:rPr lang="en-US" sz="1800" dirty="0">
                <a:solidFill>
                  <a:srgbClr val="1F2933"/>
                </a:solidFill>
              </a:rPr>
              <a:t>结算或并表范围变化。</a:t>
            </a:r>
            <a:endParaRPr lang="en-US" sz="1800" dirty="0"/>
          </a:p>
          <a:p>
            <a:pPr indent="0" marL="0">
              <a:lnSpc>
                <a:spcPct val="100000"/>
              </a:lnSpc>
              <a:buNone/>
            </a:pPr>
            <a:r>
              <a:rPr lang="en-US" sz="1800" dirty="0">
                <a:solidFill>
                  <a:srgbClr val="1F2933"/>
                </a:solidFill>
              </a:rPr>
              <a:t>未终止确认背书票据仍有追索风险；是否属于融资债务要与对应</a:t>
            </a:r>
            <a:endParaRPr lang="en-US" sz="1800" dirty="0"/>
          </a:p>
          <a:p>
            <a:pPr indent="0" marL="0">
              <a:lnSpc>
                <a:spcPct val="100000"/>
              </a:lnSpc>
              <a:buNone/>
            </a:pPr>
            <a:r>
              <a:rPr lang="en-US" sz="1800" dirty="0">
                <a:solidFill>
                  <a:srgbClr val="1F2933"/>
                </a:solidFill>
              </a:rPr>
              <a:t>其他流动负债核对，不能重复加已计入项目。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拿到账面至合同本金的逐笔调节、债权人和到期日，并确认背书</a:t>
            </a:r>
            <a:endParaRPr lang="en-US" sz="1800" dirty="0"/>
          </a:p>
          <a:p>
            <a:pPr indent="0" marL="0">
              <a:lnSpc>
                <a:spcPct val="100000"/>
              </a:lnSpc>
              <a:buNone/>
            </a:pPr>
            <a:r>
              <a:rPr lang="en-US" sz="1800" dirty="0">
                <a:solidFill>
                  <a:srgbClr val="1F2933"/>
                </a:solidFill>
              </a:rPr>
              <a:t>追索及供应商融资性质后重算债务、短债覆盖和融资缺口。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ks_a_e_liabs / ks_a_e_debtorroll / ks_a_e_maturity 等；完整原文与位置见本演示文稿来源附页及备注</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发行人2025/2024 EBITDA全部债务比分别为</a:t>
            </a:r>
            <a:endParaRPr lang="en-US" sz="1800" dirty="0"/>
          </a:p>
          <a:p>
            <a:pPr indent="0" marL="0">
              <a:lnSpc>
                <a:spcPct val="100000"/>
              </a:lnSpc>
              <a:buNone/>
            </a:pPr>
            <a:r>
              <a:rPr lang="en-US" sz="1800" dirty="0">
                <a:solidFill>
                  <a:srgbClr val="1F2933"/>
                </a:solidFill>
              </a:rPr>
              <a:t>-2.53%、4.78%，EBITDA利息保障分别为</a:t>
            </a:r>
            <a:endParaRPr lang="en-US" sz="1800" dirty="0"/>
          </a:p>
          <a:p>
            <a:pPr indent="0" marL="0">
              <a:lnSpc>
                <a:spcPct val="100000"/>
              </a:lnSpc>
              <a:buNone/>
            </a:pPr>
            <a:r>
              <a:rPr lang="en-US" sz="1800" dirty="0">
                <a:solidFill>
                  <a:srgbClr val="1F2933"/>
                </a:solidFill>
              </a:rPr>
              <a:t>-2.12 倍、4.00 倍。研究2025 EBITDA/</a:t>
            </a:r>
            <a:endParaRPr lang="en-US" sz="1800" dirty="0"/>
          </a:p>
          <a:p>
            <a:pPr indent="0" marL="0">
              <a:lnSpc>
                <a:spcPct val="100000"/>
              </a:lnSpc>
              <a:buNone/>
            </a:pPr>
            <a:r>
              <a:rPr lang="en-US" sz="1800" dirty="0">
                <a:solidFill>
                  <a:srgbClr val="1F2933"/>
                </a:solidFill>
              </a:rPr>
              <a:t>广义利息债为-4.00%，EBITDA/全部利息为</a:t>
            </a:r>
            <a:endParaRPr lang="en-US" sz="1800" dirty="0"/>
          </a:p>
          <a:p>
            <a:pPr indent="0" marL="0">
              <a:lnSpc>
                <a:spcPct val="100000"/>
              </a:lnSpc>
              <a:buNone/>
            </a:pPr>
            <a:r>
              <a:rPr lang="en-US" sz="1800" dirty="0">
                <a:solidFill>
                  <a:srgbClr val="1F2933"/>
                </a:solidFill>
              </a:rPr>
              <a:t>-1.66 倍；差异需先核定义，不能据指标名称互相替换。</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倍</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-1.66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发行人披露EBITDA全部债务比</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-2.53%</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发行人披露EBITDA全部债务比</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4.78%</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ks_a_e_indirect / ks_a_e_is / ks_a_e_revenue 等；完整原文与位置见本演示文稿来源附页及备注</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用既有金额计算，2025/2024 EBITDA/总负债为</a:t>
            </a:r>
            <a:endParaRPr lang="en-US" sz="1800" dirty="0"/>
          </a:p>
          <a:p>
            <a:pPr indent="0" marL="0">
              <a:lnSpc>
                <a:spcPct val="100000"/>
              </a:lnSpc>
              <a:buNone/>
            </a:pPr>
            <a:r>
              <a:rPr lang="en-US" sz="1800" dirty="0">
                <a:solidFill>
                  <a:srgbClr val="1F2933"/>
                </a:solidFill>
              </a:rPr>
              <a:t>-2.53%、4.78%，EBITDA/费用化利息为</a:t>
            </a:r>
            <a:endParaRPr lang="en-US" sz="1800" dirty="0"/>
          </a:p>
          <a:p>
            <a:pPr indent="0" marL="0">
              <a:lnSpc>
                <a:spcPct val="100000"/>
              </a:lnSpc>
              <a:buNone/>
            </a:pPr>
            <a:r>
              <a:rPr lang="en-US" sz="1800" dirty="0">
                <a:solidFill>
                  <a:srgbClr val="1F2933"/>
                </a:solidFill>
              </a:rPr>
              <a:t>-2.12 倍、4.00 倍，EBIT/费用化利息为</a:t>
            </a:r>
            <a:endParaRPr lang="en-US" sz="1800" dirty="0"/>
          </a:p>
          <a:p>
            <a:pPr indent="0" marL="0">
              <a:lnSpc>
                <a:spcPct val="100000"/>
              </a:lnSpc>
              <a:buNone/>
            </a:pPr>
            <a:r>
              <a:rPr lang="en-US" sz="1800" dirty="0">
                <a:solidFill>
                  <a:srgbClr val="1F2933"/>
                </a:solidFill>
              </a:rPr>
              <a:t>-4.95 倍、1.43 倍，舍入后分别与发行人对应指标</a:t>
            </a:r>
            <a:endParaRPr lang="en-US" sz="1800" dirty="0"/>
          </a:p>
          <a:p>
            <a:pPr indent="0" marL="0">
              <a:lnSpc>
                <a:spcPct val="100000"/>
              </a:lnSpc>
              <a:buNone/>
            </a:pPr>
            <a:r>
              <a:rPr lang="en-US" sz="1800" dirty="0">
                <a:solidFill>
                  <a:srgbClr val="1F2933"/>
                </a:solidFill>
              </a:rPr>
              <a:t>一致。这是候选分母的一致性解释，不是公司公式已获确认。现金</a:t>
            </a:r>
            <a:endParaRPr lang="en-US" sz="1800" dirty="0"/>
          </a:p>
          <a:p>
            <a:pPr indent="0" marL="0">
              <a:lnSpc>
                <a:spcPct val="100000"/>
              </a:lnSpc>
              <a:buNone/>
            </a:pPr>
            <a:r>
              <a:rPr lang="en-US" sz="1800" dirty="0">
                <a:solidFill>
                  <a:srgbClr val="1F2933"/>
                </a:solidFill>
              </a:rPr>
              <a:t>利息保障10.73 倍及两年偿还/付息率原值保留，未用合计</a:t>
            </a:r>
            <a:endParaRPr lang="en-US" sz="1800" dirty="0"/>
          </a:p>
          <a:p>
            <a:pPr indent="0" marL="0">
              <a:lnSpc>
                <a:spcPct val="100000"/>
              </a:lnSpc>
              <a:buNone/>
            </a:pPr>
            <a:r>
              <a:rPr lang="en-US" sz="1800" dirty="0">
                <a:solidFill>
                  <a:srgbClr val="1F2933"/>
                </a:solidFill>
              </a:rPr>
              <a:t>利息现金、分红现金或某一应计利息拼出相同结果。负盈利与报告</a:t>
            </a:r>
            <a:endParaRPr lang="en-US" sz="1800" dirty="0"/>
          </a:p>
          <a:p>
            <a:pPr indent="0" marL="0">
              <a:lnSpc>
                <a:spcPct val="100000"/>
              </a:lnSpc>
              <a:buNone/>
            </a:pPr>
            <a:r>
              <a:rPr lang="en-US" sz="1800" dirty="0">
                <a:solidFill>
                  <a:srgbClr val="1F2933"/>
                </a:solidFill>
              </a:rPr>
              <a:t>期偿付完成可以并存，历史偿付率不证明未来付款资金充足。 同</a:t>
            </a:r>
            <a:endParaRPr lang="en-US" sz="1800" dirty="0"/>
          </a:p>
          <a:p>
            <a:pPr indent="0" marL="0">
              <a:lnSpc>
                <a:spcPct val="100000"/>
              </a:lnSpc>
              <a:buNone/>
            </a:pPr>
            <a:r>
              <a:rPr lang="en-US" sz="1800" dirty="0">
                <a:solidFill>
                  <a:srgbClr val="1F2933"/>
                </a:solidFill>
              </a:rPr>
              <a:t>页亏损比例原文13.49%与本期亏损/期末归母权益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发行人披露现金利息保障倍数</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10.73 倍</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发行人披露EBITDA利息保障倍数</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-2.12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发行人披露EBITDA利息保障倍数</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4.00 倍</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发行人披露归母亏损占2025年末净资产比例</a:t>
            </a:r>
            <a:endParaRPr lang="en-US" sz="11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13.49%</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ks_a_e_bond_metrics / ks_a_e_bond_repayment_claim / ks_a_e_external_rating_2025 等；完整原文与位置见本演示文稿来源附</a:t>
            </a:r>
            <a:endParaRPr lang="en-US" sz="800" dirty="0"/>
          </a:p>
          <a:p>
            <a:pPr indent="0" marL="0">
              <a:lnSpc>
                <a:spcPct val="100000"/>
              </a:lnSpc>
              <a:buNone/>
            </a:pPr>
            <a:r>
              <a:rPr lang="en-US" sz="800" dirty="0">
                <a:solidFill>
                  <a:srgbClr val="586874"/>
                </a:solidFill>
              </a:rPr>
              <a:t>页及备注</a:t>
            </a:r>
            <a:endParaRPr lang="en-US" sz="8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13.49%舍入一致；期末总权益对照为13.21%，标题上</a:t>
            </a:r>
            <a:endParaRPr lang="en-US" sz="1800" dirty="0"/>
          </a:p>
          <a:p>
            <a:pPr indent="0" marL="0">
              <a:lnSpc>
                <a:spcPct val="100000"/>
              </a:lnSpc>
              <a:buNone/>
            </a:pPr>
            <a:r>
              <a:rPr lang="en-US" sz="1800" dirty="0">
                <a:solidFill>
                  <a:srgbClr val="1F2933"/>
                </a:solidFill>
              </a:rPr>
              <a:t>年末口径的归母/总权益对照为10.74%、10.57%。两</a:t>
            </a:r>
            <a:endParaRPr lang="en-US" sz="1800" dirty="0"/>
          </a:p>
          <a:p>
            <a:pPr indent="0" marL="0">
              <a:lnSpc>
                <a:spcPct val="100000"/>
              </a:lnSpc>
              <a:buNone/>
            </a:pPr>
            <a:r>
              <a:rPr lang="en-US" sz="1800" dirty="0">
                <a:solidFill>
                  <a:srgbClr val="1F2933"/>
                </a:solidFill>
              </a:rPr>
              <a:t>种期初口径均超过标题10%门槛，但不能用期末比例冒充期初</a:t>
            </a:r>
            <a:endParaRPr lang="en-US" sz="1800" dirty="0"/>
          </a:p>
          <a:p>
            <a:pPr indent="0" marL="0">
              <a:lnSpc>
                <a:spcPct val="100000"/>
              </a:lnSpc>
              <a:buNone/>
            </a:pPr>
            <a:r>
              <a:rPr lang="en-US" sz="1800" dirty="0">
                <a:solidFill>
                  <a:srgbClr val="1F2933"/>
                </a:solidFill>
              </a:rPr>
              <a:t>比例；原文期间和权益范围说明仍需澄清，不据此认定亏损金额</a:t>
            </a:r>
            <a:endParaRPr lang="en-US" sz="1800" dirty="0"/>
          </a:p>
          <a:p>
            <a:pPr indent="0" marL="0">
              <a:lnSpc>
                <a:spcPct val="100000"/>
              </a:lnSpc>
              <a:buNone/>
            </a:pPr>
            <a:r>
              <a:rPr lang="en-US" sz="1800" dirty="0">
                <a:solidFill>
                  <a:srgbClr val="1F2933"/>
                </a:solidFill>
              </a:rPr>
              <a:t>错误。</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本期归母亏损金额/期末归母权益</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13.49%</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本期归母亏损金额/期末总权益</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13.21%</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本期归母亏损金额/期初归母权益</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10.74%</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本期归母亏损金额/期初总权益</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10.57%</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 / ks_a_e_bond_metrics 等；完整原文与位置见本演示文稿来源附页及备注</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公司指标可能采用总负债或不同利息定义，亦可能有未列调节；</a:t>
            </a:r>
            <a:endParaRPr lang="en-US" sz="1800" dirty="0"/>
          </a:p>
          <a:p>
            <a:pPr indent="0" marL="0">
              <a:lnSpc>
                <a:spcPct val="100000"/>
              </a:lnSpc>
              <a:buNone/>
            </a:pPr>
            <a:r>
              <a:rPr lang="en-US" sz="1800" dirty="0">
                <a:solidFill>
                  <a:srgbClr val="1F2933"/>
                </a:solidFill>
              </a:rPr>
              <a:t>相同舍入结果不足以在这些解释中唯一择一。</a:t>
            </a:r>
            <a:endParaRPr lang="en-US" sz="1800" dirty="0"/>
          </a:p>
          <a:p>
            <a:pPr indent="0" marL="0">
              <a:lnSpc>
                <a:spcPct val="100000"/>
              </a:lnSpc>
              <a:buNone/>
            </a:pPr>
            <a:r>
              <a:rPr lang="en-US" sz="1800" dirty="0">
                <a:solidFill>
                  <a:srgbClr val="1F2933"/>
                </a:solidFill>
              </a:rPr>
              <a:t>年报另引述的2025年外部AA/稳定与本次条件研究建议</a:t>
            </a:r>
            <a:endParaRPr lang="en-US" sz="1800" dirty="0"/>
          </a:p>
          <a:p>
            <a:pPr indent="0" marL="0">
              <a:lnSpc>
                <a:spcPct val="100000"/>
              </a:lnSpc>
              <a:buNone/>
            </a:pPr>
            <a:r>
              <a:rPr lang="en-US" sz="1800" dirty="0">
                <a:solidFill>
                  <a:srgbClr val="1F2933"/>
                </a:solidFill>
              </a:rPr>
              <a:t>分开；不以该外部等级消除当前资金、历史口径及持续承诺限制。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 / ks_a_e_external_rating_2025 / ks_a_e_bs 等；完整原文与位置见本演示文稿来源附页及备注</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取得公司指标计算表、全部债务/利息组成及贷款偿付总体后，逐</a:t>
            </a:r>
            <a:endParaRPr lang="en-US" sz="1800" dirty="0"/>
          </a:p>
          <a:p>
            <a:pPr indent="0" marL="0">
              <a:lnSpc>
                <a:spcPct val="100000"/>
              </a:lnSpc>
              <a:buNone/>
            </a:pPr>
            <a:r>
              <a:rPr lang="en-US" sz="1800" dirty="0">
                <a:solidFill>
                  <a:srgbClr val="1F2933"/>
                </a:solidFill>
              </a:rPr>
              <a:t>项桥接至研究口径并解释差异；若涉及实际债务漏项、资金受限或</a:t>
            </a:r>
            <a:endParaRPr lang="en-US" sz="1800" dirty="0"/>
          </a:p>
          <a:p>
            <a:pPr indent="0" marL="0">
              <a:lnSpc>
                <a:spcPct val="100000"/>
              </a:lnSpc>
              <a:buNone/>
            </a:pPr>
            <a:r>
              <a:rPr lang="en-US" sz="1800" dirty="0">
                <a:solidFill>
                  <a:srgbClr val="1F2933"/>
                </a:solidFill>
              </a:rPr>
              <a:t>逾期，再更新对应因素和付款情景。仅完成舍入对照不变更既有</a:t>
            </a:r>
            <a:endParaRPr lang="en-US" sz="1800" dirty="0"/>
          </a:p>
          <a:p>
            <a:pPr indent="0" marL="0">
              <a:lnSpc>
                <a:spcPct val="100000"/>
              </a:lnSpc>
              <a:buNone/>
            </a:pPr>
            <a:r>
              <a:rPr lang="en-US" sz="1800" dirty="0">
                <a:solidFill>
                  <a:srgbClr val="1F2933"/>
                </a:solidFill>
              </a:rPr>
              <a:t>条件等级。</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 / ks_a_e_external_rating_2025 / ks_a_e_bs 等；完整原文与位置见本演示文稿来源附页及备注</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安排总额4.60 亿元人民币，已入短借2.83 亿元人民币，余AP1.77 亿元人民币。若</a:t>
            </a:r>
            <a:endParaRPr lang="en-US" sz="1800" dirty="0"/>
          </a:p>
          <a:p>
            <a:pPr indent="0" marL="0">
              <a:lnSpc>
                <a:spcPct val="100000"/>
              </a:lnSpc>
              <a:buNone/>
            </a:pPr>
            <a:r>
              <a:rPr lang="en-US" sz="1800" dirty="0">
                <a:solidFill>
                  <a:srgbClr val="1F2933"/>
                </a:solidFill>
              </a:rPr>
              <a:t>AP部分全部视为融资，债务为54.51 亿元人民币，资本化比率57.36%；属于有条件</a:t>
            </a:r>
            <a:endParaRPr lang="en-US" sz="1800" dirty="0"/>
          </a:p>
          <a:p>
            <a:pPr indent="0" marL="0">
              <a:lnSpc>
                <a:spcPct val="100000"/>
              </a:lnSpc>
              <a:buNone/>
            </a:pPr>
            <a:r>
              <a:rPr lang="en-US" sz="1800" dirty="0">
                <a:solidFill>
                  <a:srgbClr val="1F2933"/>
                </a:solidFill>
              </a:rPr>
              <a:t>敏感性。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付款期延长、平台支付和AP转借款改变融资依赖；已入借款部分不能再加一次，非现金转项不能计作</a:t>
            </a:r>
            <a:endParaRPr lang="en-US" sz="1800" dirty="0"/>
          </a:p>
          <a:p>
            <a:pPr indent="0" marL="0">
              <a:lnSpc>
                <a:spcPct val="100000"/>
              </a:lnSpc>
              <a:buNone/>
            </a:pPr>
            <a:r>
              <a:rPr lang="en-US" sz="1800" dirty="0">
                <a:solidFill>
                  <a:srgbClr val="1F2933"/>
                </a:solidFill>
              </a:rPr>
              <a:t>CFO收现。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AP部分可能仍是正常采购信用，也可能因融资方介入和账期延长而具有借款实质。</a:t>
            </a:r>
            <a:endParaRPr lang="en-US" sz="1800" dirty="0"/>
          </a:p>
          <a:p>
            <a:pPr indent="0" marL="0">
              <a:lnSpc>
                <a:spcPct val="100000"/>
              </a:lnSpc>
              <a:buNone/>
            </a:pPr>
            <a:r>
              <a:rPr lang="en-US" sz="1800" dirty="0">
                <a:solidFill>
                  <a:srgbClr val="1F2933"/>
                </a:solidFill>
              </a:rPr>
              <a:t>短借已包含平台融资，不能因供应商已收款再加同一债务。</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取得融资协议、付款展期和追索安排后确定AP部分重分类；核对银行流水后再调整现金流。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母公司盈利1.41 亿元人民币但CFO-7.32 亿元人民币；投资收益4.51 亿元人民币及</a:t>
            </a:r>
            <a:endParaRPr lang="en-US" sz="1800" dirty="0"/>
          </a:p>
          <a:p>
            <a:pPr indent="0" marL="0">
              <a:lnSpc>
                <a:spcPct val="100000"/>
              </a:lnSpc>
              <a:buNone/>
            </a:pPr>
            <a:r>
              <a:rPr lang="en-US" sz="1800" dirty="0">
                <a:solidFill>
                  <a:srgbClr val="1F2933"/>
                </a:solidFill>
              </a:rPr>
              <a:t>巨额集团往来影响现金。母公司权益表期初另追溯78.57 万元人民币已单列桥接。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子公司分红能力、资金归集、限制性条款与集团内部往来可回收性决定现金上划；合并报表抵销无法证明</a:t>
            </a:r>
            <a:endParaRPr lang="en-US" sz="1800" dirty="0"/>
          </a:p>
          <a:p>
            <a:pPr indent="0" marL="0">
              <a:lnSpc>
                <a:spcPct val="100000"/>
              </a:lnSpc>
              <a:buNone/>
            </a:pPr>
            <a:r>
              <a:rPr lang="en-US" sz="1800" dirty="0">
                <a:solidFill>
                  <a:srgbClr val="1F2933"/>
                </a:solidFill>
              </a:rPr>
              <a:t>母公司可自由调动全部现金。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母公司负CFO可能因内部往来结算时点，不必然反映合并外部经营恶化。</a:t>
            </a:r>
            <a:endParaRPr lang="en-US" sz="1800" dirty="0"/>
          </a:p>
          <a:p>
            <a:pPr indent="0" marL="0">
              <a:lnSpc>
                <a:spcPct val="100000"/>
              </a:lnSpc>
              <a:buNone/>
            </a:pPr>
            <a:r>
              <a:rPr lang="en-US" sz="1800" dirty="0">
                <a:solidFill>
                  <a:srgbClr val="1F2933"/>
                </a:solidFill>
              </a:rPr>
              <a:t>子公司分红可支持母公司，但若受股权、契约或流动性约束，账面投资收益不足以覆盖偿债。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取得母公司债务到期表、子公司上划决议与现金到账、资金归集合同及往来可回收证据后判断发行主体</a:t>
            </a:r>
            <a:endParaRPr lang="en-US" sz="1800" dirty="0"/>
          </a:p>
          <a:p>
            <a:pPr indent="0" marL="0">
              <a:lnSpc>
                <a:spcPct val="100000"/>
              </a:lnSpc>
              <a:buNone/>
            </a:pPr>
            <a:r>
              <a:rPr lang="en-US" sz="1800" dirty="0">
                <a:solidFill>
                  <a:srgbClr val="1F2933"/>
                </a:solidFill>
              </a:rPr>
              <a:t>资源。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同控收购支付8,200.00 万元人民币，顺控保理出表带出净现金1.15 亿元人民币；少数</a:t>
            </a:r>
            <a:endParaRPr lang="en-US" sz="1800" dirty="0"/>
          </a:p>
          <a:p>
            <a:pPr indent="0" marL="0">
              <a:lnSpc>
                <a:spcPct val="100000"/>
              </a:lnSpc>
              <a:buNone/>
            </a:pPr>
            <a:r>
              <a:rPr lang="en-US" sz="1800" dirty="0">
                <a:solidFill>
                  <a:srgbClr val="1F2933"/>
                </a:solidFill>
              </a:rPr>
              <a:t>权益收购、金融资产重估和基金承诺分别处理。</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同控并非经营收益，出表现金减少不同于资本开支，剩余权益估值与可支配资金不同；基金未实缴承诺</a:t>
            </a:r>
            <a:endParaRPr lang="en-US" sz="1800" dirty="0"/>
          </a:p>
          <a:p>
            <a:pPr indent="0" marL="0">
              <a:lnSpc>
                <a:spcPct val="100000"/>
              </a:lnSpc>
              <a:buNone/>
            </a:pPr>
            <a:r>
              <a:rPr lang="en-US" sz="1800" dirty="0">
                <a:solidFill>
                  <a:srgbClr val="1F2933"/>
                </a:solidFill>
              </a:rPr>
              <a:t>可能形成未来资金需求。</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处置子公司带出现金与取得处置价款属于不同现金方向，不能仅看净投资现金推断投资回报。</a:t>
            </a:r>
            <a:endParaRPr lang="en-US" sz="1800" dirty="0"/>
          </a:p>
          <a:p>
            <a:pPr indent="0" marL="0">
              <a:lnSpc>
                <a:spcPct val="100000"/>
              </a:lnSpc>
              <a:buNone/>
            </a:pPr>
            <a:r>
              <a:rPr lang="en-US" sz="1800" dirty="0">
                <a:solidFill>
                  <a:srgbClr val="1F2933"/>
                </a:solidFill>
              </a:rPr>
              <a:t>同控收购对价、公允价值重估及少数股东交易不都进入损益；权益变动不能用现金分红或融资现金倒挤。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取得交割协议、付款/收款、剩余股权估值和基金实际实缴及资本调用计划后，更新权益、未来支出和</a:t>
            </a:r>
            <a:endParaRPr lang="en-US" sz="1800" dirty="0"/>
          </a:p>
          <a:p>
            <a:pPr indent="0" marL="0">
              <a:lnSpc>
                <a:spcPct val="100000"/>
              </a:lnSpc>
              <a:buNone/>
            </a:pPr>
            <a:r>
              <a:rPr lang="en-US" sz="1800" dirty="0">
                <a:solidFill>
                  <a:srgbClr val="1F2933"/>
                </a:solidFill>
              </a:rPr>
              <a:t>集团现金分配。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年末集团外经销担保1.60 亿元人民币；前十笔1.23 亿</a:t>
            </a:r>
            <a:endParaRPr lang="en-US" sz="1800" dirty="0"/>
          </a:p>
          <a:p>
            <a:pPr indent="0" marL="0">
              <a:lnSpc>
                <a:spcPct val="100000"/>
              </a:lnSpc>
              <a:buNone/>
            </a:pPr>
            <a:r>
              <a:rPr lang="en-US" sz="1800" dirty="0">
                <a:solidFill>
                  <a:srgbClr val="1F2933"/>
                </a:solidFill>
              </a:rPr>
              <a:t>元人民币、占77.08%，其中原表七笔六月担保到期金额</a:t>
            </a:r>
            <a:endParaRPr lang="en-US" sz="1800" dirty="0"/>
          </a:p>
          <a:p>
            <a:pPr indent="0" marL="0">
              <a:lnSpc>
                <a:spcPct val="100000"/>
              </a:lnSpc>
              <a:buNone/>
            </a:pPr>
            <a:r>
              <a:rPr lang="en-US" sz="1800" dirty="0">
                <a:solidFill>
                  <a:srgbClr val="1F2933"/>
                </a:solidFill>
              </a:rPr>
              <a:t>1.04 亿元人民币。三月末公告实际集团外余额降至</a:t>
            </a:r>
            <a:endParaRPr lang="en-US" sz="1800" dirty="0"/>
          </a:p>
          <a:p>
            <a:pPr indent="0" marL="0">
              <a:lnSpc>
                <a:spcPct val="100000"/>
              </a:lnSpc>
              <a:buNone/>
            </a:pPr>
            <a:r>
              <a:rPr lang="en-US" sz="1800" dirty="0">
                <a:solidFill>
                  <a:srgbClr val="1F2933"/>
                </a:solidFill>
              </a:rPr>
              <a:t>7,655.11 万元人民币，降幅52.18%；集团内</a:t>
            </a:r>
            <a:endParaRPr lang="en-US" sz="1800" dirty="0"/>
          </a:p>
          <a:p>
            <a:pPr indent="0" marL="0">
              <a:lnSpc>
                <a:spcPct val="100000"/>
              </a:lnSpc>
              <a:buNone/>
            </a:pPr>
            <a:r>
              <a:rPr lang="en-US" sz="1800" dirty="0">
                <a:solidFill>
                  <a:srgbClr val="1F2933"/>
                </a:solidFill>
              </a:rPr>
              <a:t>1.21 亿元人民币另列。余额下降是反证，不证明前十笔已逐</a:t>
            </a:r>
            <a:endParaRPr lang="en-US" sz="1800" dirty="0"/>
          </a:p>
          <a:p>
            <a:pPr indent="0" marL="0">
              <a:lnSpc>
                <a:spcPct val="100000"/>
              </a:lnSpc>
              <a:buNone/>
            </a:pPr>
            <a:r>
              <a:rPr lang="en-US" sz="1800" dirty="0">
                <a:solidFill>
                  <a:srgbClr val="1F2933"/>
                </a:solidFill>
              </a:rPr>
              <a:t>笔解除或截至六月仍无风险。</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年末前十笔经销担保合计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原表七笔六月担保到期金额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1.04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三月末集团外经销商实际担保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7,655.11 万元人民币</a:t>
            </a:r>
            <a:endParaRPr lang="en-US" sz="17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原表“担保到期日”不是公司代偿日；39户需从年末经新增、续</a:t>
            </a:r>
            <a:endParaRPr lang="en-US" sz="1800" dirty="0"/>
          </a:p>
          <a:p>
            <a:pPr indent="0" marL="0">
              <a:lnSpc>
                <a:spcPct val="100000"/>
              </a:lnSpc>
              <a:buNone/>
            </a:pPr>
            <a:r>
              <a:rPr lang="en-US" sz="1800" dirty="0">
                <a:solidFill>
                  <a:srgbClr val="1F2933"/>
                </a:solidFill>
              </a:rPr>
              <a:t>期、偿还、解除和代偿分别桥至三月末及六月。经销贷款按披露</a:t>
            </a:r>
            <a:endParaRPr lang="en-US" sz="1800" dirty="0"/>
          </a:p>
          <a:p>
            <a:pPr indent="0" marL="0">
              <a:lnSpc>
                <a:spcPct val="100000"/>
              </a:lnSpc>
              <a:buNone/>
            </a:pPr>
            <a:r>
              <a:rPr lang="en-US" sz="1800" dirty="0">
                <a:solidFill>
                  <a:srgbClr val="1F2933"/>
                </a:solidFill>
              </a:rPr>
              <a:t>用于付公司货款，年底结清应付可能改善收现却留下保证责任：</a:t>
            </a:r>
            <a:endParaRPr lang="en-US" sz="1800" dirty="0"/>
          </a:p>
          <a:p>
            <a:pPr indent="0" marL="0">
              <a:lnSpc>
                <a:spcPct val="100000"/>
              </a:lnSpc>
              <a:buNone/>
            </a:pPr>
            <a:r>
              <a:rPr lang="en-US" sz="1800" dirty="0">
                <a:solidFill>
                  <a:srgbClr val="1F2933"/>
                </a:solidFill>
              </a:rPr>
              <a:t>同一客户压力可同时削弱销售/收款并触发代偿。不得将年末存量</a:t>
            </a:r>
            <a:endParaRPr lang="en-US" sz="1800" dirty="0"/>
          </a:p>
          <a:p>
            <a:pPr indent="0" marL="0">
              <a:lnSpc>
                <a:spcPct val="100000"/>
              </a:lnSpc>
              <a:buNone/>
            </a:pPr>
            <a:r>
              <a:rPr lang="en-US" sz="1800" dirty="0">
                <a:solidFill>
                  <a:srgbClr val="1F2933"/>
                </a:solidFill>
              </a:rPr>
              <a:t>直接从CFO扣除。2026-016新增审批3.60 亿元</a:t>
            </a:r>
            <a:endParaRPr lang="en-US" sz="1800" dirty="0"/>
          </a:p>
          <a:p>
            <a:pPr indent="0" marL="0">
              <a:lnSpc>
                <a:spcPct val="100000"/>
              </a:lnSpc>
              <a:buNone/>
            </a:pPr>
            <a:r>
              <a:rPr lang="en-US" sz="1800" dirty="0">
                <a:solidFill>
                  <a:srgbClr val="1F2933"/>
                </a:solidFill>
              </a:rPr>
              <a:t>人民币但协议未签，不是已发生义务或确定融资。已开保函</a:t>
            </a:r>
            <a:endParaRPr lang="en-US" sz="1800" dirty="0"/>
          </a:p>
          <a:p>
            <a:pPr indent="0" marL="0">
              <a:lnSpc>
                <a:spcPct val="100000"/>
              </a:lnSpc>
              <a:buNone/>
            </a:pPr>
            <a:r>
              <a:rPr lang="en-US" sz="1800" dirty="0">
                <a:solidFill>
                  <a:srgbClr val="1F2933"/>
                </a:solidFill>
              </a:rPr>
              <a:t>1.66 亿元人民币、诉讼及质保义务仍单列；集团内保证与并</a:t>
            </a:r>
            <a:endParaRPr lang="en-US" sz="1800" dirty="0"/>
          </a:p>
          <a:p>
            <a:pPr indent="0" marL="0">
              <a:lnSpc>
                <a:spcPct val="100000"/>
              </a:lnSpc>
              <a:buNone/>
            </a:pPr>
            <a:r>
              <a:rPr lang="en-US" sz="1800" dirty="0">
                <a:solidFill>
                  <a:srgbClr val="1F2933"/>
                </a:solidFill>
              </a:rPr>
              <a:t>表基础债务去重。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三月末实际余额下降且公司声明无逾期、涉诉及败诉代偿，有利于</a:t>
            </a:r>
            <a:endParaRPr lang="en-US" sz="1800" dirty="0"/>
          </a:p>
          <a:p>
            <a:pPr indent="0" marL="0">
              <a:lnSpc>
                <a:spcPct val="100000"/>
              </a:lnSpc>
              <a:buNone/>
            </a:pPr>
            <a:r>
              <a:rPr lang="en-US" sz="1800" dirty="0">
                <a:solidFill>
                  <a:srgbClr val="1F2933"/>
                </a:solidFill>
              </a:rPr>
              <a:t>风险判断；它未说明逐户变化原因或六月状态。</a:t>
            </a:r>
            <a:endParaRPr lang="en-US" sz="1800" dirty="0"/>
          </a:p>
          <a:p>
            <a:pPr indent="0" marL="0">
              <a:lnSpc>
                <a:spcPct val="100000"/>
              </a:lnSpc>
              <a:buNone/>
            </a:pPr>
            <a:r>
              <a:rPr lang="en-US" sz="1800" dirty="0">
                <a:solidFill>
                  <a:srgbClr val="1F2933"/>
                </a:solidFill>
              </a:rPr>
              <a:t>反担保可能有回收价值，但需核权属、顺位、可执行性及时间；先</a:t>
            </a:r>
            <a:endParaRPr lang="en-US" sz="1800" dirty="0"/>
          </a:p>
          <a:p>
            <a:pPr indent="0" marL="0">
              <a:lnSpc>
                <a:spcPct val="100000"/>
              </a:lnSpc>
              <a:buNone/>
            </a:pPr>
            <a:r>
              <a:rPr lang="en-US" sz="1800" dirty="0">
                <a:solidFill>
                  <a:srgbClr val="1F2933"/>
                </a:solidFill>
              </a:rPr>
              <a:t>列发行人毛付款，再列有依据的追偿，不能抵销当天现金。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公告披露实际担保总额19,710.32，集团内</a:t>
            </a:r>
            <a:endParaRPr lang="en-US" sz="1800" dirty="0"/>
          </a:p>
          <a:p>
            <a:pPr indent="0" marL="0">
              <a:lnSpc>
                <a:spcPct val="100000"/>
              </a:lnSpc>
              <a:buNone/>
            </a:pPr>
            <a:r>
              <a:rPr lang="en-US" sz="1800" dirty="0">
                <a:solidFill>
                  <a:srgbClr val="1F2933"/>
                </a:solidFill>
              </a:rPr>
              <a:t>12,055.21，集团外经销商7,655.11；并声明无</a:t>
            </a:r>
            <a:endParaRPr lang="en-US" sz="1800" dirty="0"/>
          </a:p>
          <a:p>
            <a:pPr indent="0" marL="0">
              <a:lnSpc>
                <a:spcPct val="100000"/>
              </a:lnSpc>
              <a:buNone/>
            </a:pPr>
            <a:r>
              <a:rPr lang="en-US" sz="1800" dirty="0">
                <a:solidFill>
                  <a:srgbClr val="1F2933"/>
                </a:solidFill>
              </a:rPr>
              <a:t>逾期、涉诉担保或因担保判决败诉承担损失。日期为三月末，未</a:t>
            </a:r>
            <a:endParaRPr lang="en-US" sz="1800" dirty="0"/>
          </a:p>
          <a:p>
            <a:pPr indent="0" marL="0">
              <a:lnSpc>
                <a:spcPct val="100000"/>
              </a:lnSpc>
              <a:buNone/>
            </a:pPr>
            <a:r>
              <a:rPr lang="en-US" sz="1800" dirty="0">
                <a:solidFill>
                  <a:srgbClr val="1F2933"/>
                </a:solidFill>
              </a:rPr>
              <a:t>说明年末前十笔分别解除、展期或代偿情况，也未披露六月存续余</a:t>
            </a:r>
            <a:endParaRPr lang="en-US" sz="1800" dirty="0"/>
          </a:p>
          <a:p>
            <a:pPr indent="0" marL="0">
              <a:lnSpc>
                <a:spcPct val="100000"/>
              </a:lnSpc>
              <a:buNone/>
            </a:pPr>
            <a:r>
              <a:rPr lang="en-US" sz="1800" dirty="0">
                <a:solidFill>
                  <a:srgbClr val="1F2933"/>
                </a:solidFill>
              </a:rPr>
              <a:t>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全查原表前十笔及新增、展期、逾期、追偿和代偿事项；取得其余</a:t>
            </a:r>
            <a:endParaRPr lang="en-US" sz="1800" dirty="0"/>
          </a:p>
          <a:p>
            <a:pPr indent="0" marL="0">
              <a:lnSpc>
                <a:spcPct val="100000"/>
              </a:lnSpc>
              <a:buNone/>
            </a:pPr>
            <a:r>
              <a:rPr lang="en-US" sz="1800" dirty="0">
                <a:solidFill>
                  <a:srgbClr val="1F2933"/>
                </a:solidFill>
              </a:rPr>
              <a:t>29户完整台账并核全量滚动，不能外推。把贷款放款—客户付款</a:t>
            </a:r>
            <a:endParaRPr lang="en-US" sz="1800" dirty="0"/>
          </a:p>
          <a:p>
            <a:pPr indent="0" marL="0">
              <a:lnSpc>
                <a:spcPct val="100000"/>
              </a:lnSpc>
              <a:buNone/>
            </a:pPr>
            <a:r>
              <a:rPr lang="en-US" sz="1800" dirty="0">
                <a:solidFill>
                  <a:srgbClr val="1F2933"/>
                </a:solidFill>
              </a:rPr>
              <a:t>—发票/应收结算和实际保证状态逐户连接，区分新销售、旧款</a:t>
            </a:r>
            <a:endParaRPr lang="en-US" sz="1800" dirty="0"/>
          </a:p>
          <a:p>
            <a:pPr indent="0" marL="0">
              <a:lnSpc>
                <a:spcPct val="100000"/>
              </a:lnSpc>
              <a:buNone/>
            </a:pPr>
            <a:r>
              <a:rPr lang="en-US" sz="1800" dirty="0">
                <a:solidFill>
                  <a:srgbClr val="1F2933"/>
                </a:solidFill>
              </a:rPr>
              <a:t>回收、预收与借新还旧；将净增或有损失与实际现金时点分别进入</a:t>
            </a:r>
            <a:endParaRPr lang="en-US" sz="1800" dirty="0"/>
          </a:p>
          <a:p>
            <a:pPr indent="0" marL="0">
              <a:lnSpc>
                <a:spcPct val="100000"/>
              </a:lnSpc>
              <a:buNone/>
            </a:pPr>
            <a:r>
              <a:rPr lang="en-US" sz="1800" dirty="0">
                <a:solidFill>
                  <a:srgbClr val="1F2933"/>
                </a:solidFill>
              </a:rPr>
              <a:t>资产/现金质量、融资及个体调整，消除与回款和已并表债务重复</a:t>
            </a:r>
            <a:endParaRPr lang="en-US" sz="1800" dirty="0"/>
          </a:p>
          <a:p>
            <a:pPr indent="0" marL="0">
              <a:lnSpc>
                <a:spcPct val="100000"/>
              </a:lnSpc>
              <a:buNone/>
            </a:pPr>
            <a:r>
              <a:rPr lang="en-US" sz="1800" dirty="0">
                <a:solidFill>
                  <a:srgbClr val="1F2933"/>
                </a:solidFill>
              </a:rPr>
              <a:t>计算。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110</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60.46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32.95 亿元人民币</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28.06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29.91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22.79 亿元人民币</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0.91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111</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0.81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0.71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4.34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1.20 倍</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1.24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ks_a_e_arf / ks_a_e_bs / ks_a_e_cash 等；完整原文与位置见本演示文稿来源附页及备注</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112</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54.40%</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5.21%</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6.06%</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140.36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132.72 亿元人民币</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1.11%</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113</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-3.71%</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21.14%</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23.44%</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130.28 days</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发行人披露流动比率</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1.40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 / ks_a_e_old 等；完整原文与位置见本演示文稿来源附页及备注</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114</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发行人披露流动比率</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1.62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发行人披露资产负债率</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67.32%</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发行人披露资产负债率</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64.18%</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发行人披露速动比率</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1.26 倍</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发行人披露速动比率</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1.47 倍</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发行人披露利息保障倍数</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-4.95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ks_a_e_bond_metrics；完整原文与位置见本演示文稿来源附页及备注</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115</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发行人披露利息保障倍数</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1.43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发行人披露现金利息保障倍数</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7.92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发行人披露贷款偿还率</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发行人披露贷款偿还率</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发行人披露利息偿付率</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发行人披露利息偿付率</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ks_a_e_bond_metrics；完整原文与位置见本演示文稿来源附页及备注</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现金季节锚的范围桥尚未闭合；以下数字仅为Δ_A=Δ_H=Γ=0条件参照。从三月末实际集团现金</a:t>
            </a:r>
            <a:endParaRPr lang="en-US" sz="1800" dirty="0"/>
          </a:p>
          <a:p>
            <a:pPr indent="0" marL="0">
              <a:lnSpc>
                <a:spcPct val="100000"/>
              </a:lnSpc>
              <a:buNone/>
            </a:pPr>
            <a:r>
              <a:rPr lang="en-US" sz="1800" dirty="0">
                <a:solidFill>
                  <a:srgbClr val="1F2933"/>
                </a:solidFill>
              </a:rPr>
              <a:t>接续的无新增融资模型中，基准季度低点1.44 亿元人民币，恶化低点-3.38 亿元人民币；</a:t>
            </a:r>
            <a:endParaRPr lang="en-US" sz="1800" dirty="0"/>
          </a:p>
          <a:p>
            <a:pPr indent="0" marL="0">
              <a:lnSpc>
                <a:spcPct val="100000"/>
              </a:lnSpc>
              <a:buNone/>
            </a:pPr>
            <a:r>
              <a:rPr lang="en-US" sz="1800" dirty="0">
                <a:solidFill>
                  <a:srgbClr val="1F2933"/>
                </a:solidFill>
              </a:rPr>
              <a:t>基准再少收4.88%客户现金即触及季度末零现金。基准另预留用途资金后低点-5.06 亿元人民</a:t>
            </a:r>
            <a:endParaRPr lang="en-US" sz="1800" dirty="0"/>
          </a:p>
          <a:p>
            <a:pPr indent="0" marL="0">
              <a:lnSpc>
                <a:spcPct val="100000"/>
              </a:lnSpc>
              <a:buNone/>
            </a:pPr>
            <a:r>
              <a:rPr lang="en-US" sz="1800" dirty="0">
                <a:solidFill>
                  <a:srgbClr val="1F2933"/>
                </a:solidFill>
              </a:rPr>
              <a:t>币。这些是条件值，不能替代六月实际数或月内、母公司支付证明。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经营采购和票据结算在CFO内只扣一次；融资本金和现金利息另扣，未把非现金AP转借款再扣为</a:t>
            </a:r>
            <a:endParaRPr lang="en-US" sz="1800" dirty="0"/>
          </a:p>
          <a:p>
            <a:pPr indent="0" marL="0">
              <a:lnSpc>
                <a:spcPct val="100000"/>
              </a:lnSpc>
              <a:buNone/>
            </a:pPr>
            <a:r>
              <a:rPr lang="en-US" sz="1800" dirty="0">
                <a:solidFill>
                  <a:srgbClr val="1F2933"/>
                </a:solidFill>
              </a:rPr>
              <a:t>现金。募集金恢复用途是现金限制敏感性，不是新增外部债本金。负数后续行只显示未融资缺口，晚收款</a:t>
            </a:r>
            <a:endParaRPr lang="en-US" sz="1800" dirty="0"/>
          </a:p>
          <a:p>
            <a:pPr indent="0" marL="0">
              <a:lnSpc>
                <a:spcPct val="100000"/>
              </a:lnSpc>
              <a:buNone/>
            </a:pPr>
            <a:r>
              <a:rPr lang="en-US" sz="1800" dirty="0">
                <a:solidFill>
                  <a:srgbClr val="1F2933"/>
                </a:solidFill>
              </a:rPr>
              <a:t>不能抹去先前支付失败。 2027-01-09用途恢复另有静态事件桥；一年展望的季节性延伸见</a:t>
            </a:r>
            <a:endParaRPr lang="en-US" sz="1800" dirty="0"/>
          </a:p>
          <a:p>
            <a:pPr indent="0" marL="0">
              <a:lnSpc>
                <a:spcPct val="100000"/>
              </a:lnSpc>
              <a:buNone/>
            </a:pPr>
            <a:r>
              <a:rPr lang="en-US" sz="1800" dirty="0">
                <a:solidFill>
                  <a:srgbClr val="1F2933"/>
                </a:solidFill>
              </a:rPr>
              <a:t>ks_horizon_q_base及回款延期分支。它们单列未知D/X/P/U、营运缓冲及发行</a:t>
            </a:r>
            <a:endParaRPr lang="en-US" sz="1800" dirty="0"/>
          </a:p>
          <a:p>
            <a:pPr indent="0" marL="0">
              <a:lnSpc>
                <a:spcPct val="100000"/>
              </a:lnSpc>
              <a:buNone/>
            </a:pPr>
            <a:r>
              <a:rPr lang="en-US" sz="1800" dirty="0">
                <a:solidFill>
                  <a:srgbClr val="1F2933"/>
                </a:solidFill>
              </a:rPr>
              <a:t>人资金条件，不与原用途预留叠扣，也不证明实际连续付款覆盖。 年报未用银行借款10.8亿元与</a:t>
            </a:r>
            <a:endParaRPr lang="en-US" sz="1800" dirty="0"/>
          </a:p>
          <a:p>
            <a:pPr indent="0" marL="0">
              <a:lnSpc>
                <a:spcPct val="100000"/>
              </a:lnSpc>
              <a:buNone/>
            </a:pPr>
            <a:r>
              <a:rPr lang="en-US" sz="1800" dirty="0">
                <a:solidFill>
                  <a:srgbClr val="1F2933"/>
                </a:solidFill>
              </a:rPr>
              <a:t>跟踪报告未用授信47亿元的冲突另见ks_credit_find_facilities，尚未</a:t>
            </a:r>
            <a:endParaRPr lang="en-US" sz="1800" dirty="0"/>
          </a:p>
          <a:p>
            <a:pPr indent="0" marL="0">
              <a:lnSpc>
                <a:spcPct val="100000"/>
              </a:lnSpc>
              <a:buNone/>
            </a:pPr>
            <a:r>
              <a:rPr lang="en-US" sz="1800" dirty="0">
                <a:solidFill>
                  <a:srgbClr val="1F2933"/>
                </a:solidFill>
              </a:rPr>
              <a:t>形成银行合同桥；不能以额度披露或现有再融资4.65研究分证明付款资金已落实。 该诊断保留无</a:t>
            </a:r>
            <a:endParaRPr lang="en-US" sz="1800" dirty="0"/>
          </a:p>
          <a:p>
            <a:pPr indent="0" marL="0">
              <a:lnSpc>
                <a:spcPct val="100000"/>
              </a:lnSpc>
              <a:buNone/>
            </a:pPr>
            <a:r>
              <a:rPr lang="en-US" sz="1800" dirty="0">
                <a:solidFill>
                  <a:srgbClr val="1F2933"/>
                </a:solidFill>
              </a:rPr>
              <a:t>新增融资路径；完整经营、税款、提款与新增利息的条件反馈见ks_econ_f_chain和</a:t>
            </a:r>
            <a:endParaRPr lang="en-US" sz="1800" dirty="0"/>
          </a:p>
          <a:p>
            <a:pPr indent="0" marL="0">
              <a:lnSpc>
                <a:spcPct val="100000"/>
              </a:lnSpc>
              <a:buNone/>
            </a:pPr>
            <a:r>
              <a:rPr lang="en-US" sz="1800" dirty="0">
                <a:solidFill>
                  <a:srgbClr val="1F2933"/>
                </a:solidFill>
              </a:rPr>
              <a:t>ks_econ_f_funding，两套金额不直接拼接或择优。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银行续贷、资产变现或真实现金上划可能补足缺口，但须有可执行额度、条件和时点。</a:t>
            </a:r>
            <a:endParaRPr lang="en-US" sz="1800" dirty="0"/>
          </a:p>
          <a:p>
            <a:pPr indent="0" marL="0">
              <a:lnSpc>
                <a:spcPct val="100000"/>
              </a:lnSpc>
              <a:buNone/>
            </a:pPr>
            <a:r>
              <a:rPr lang="en-US" sz="1800" dirty="0">
                <a:solidFill>
                  <a:srgbClr val="1F2933"/>
                </a:solidFill>
              </a:rPr>
              <a:t>实际采购、建设支出或回款季节性可能不同于研究假设，需用实际付款台账替换。</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a:p>
            <a:pPr indent="0" marL="0">
              <a:lnSpc>
                <a:spcPct val="100000"/>
              </a:lnSpc>
              <a:buNone/>
            </a:pPr>
            <a:r>
              <a:rPr lang="en-US" sz="1800" dirty="0">
                <a:solidFill>
                  <a:srgbClr val="1F2933"/>
                </a:solidFill>
              </a:rPr>
              <a:t>未使用授信、短期偿付期限及风险敞口；未折现现金流含经营性负债，与会计账面有息债不等额。授信可</a:t>
            </a:r>
            <a:endParaRPr lang="en-US" sz="1800" dirty="0"/>
          </a:p>
          <a:p>
            <a:pPr indent="0" marL="0">
              <a:lnSpc>
                <a:spcPct val="100000"/>
              </a:lnSpc>
              <a:buNone/>
            </a:pPr>
            <a:r>
              <a:rPr lang="en-US" sz="1800" dirty="0">
                <a:solidFill>
                  <a:srgbClr val="1F2933"/>
                </a:solidFill>
              </a:rPr>
              <a:t>提条件未核验。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若现金短缺由已落实融资或可合法延后支出覆盖，重跑现金表并判断是否足以维持BBB+；若缺口在已</a:t>
            </a:r>
            <a:endParaRPr lang="en-US" sz="1800" dirty="0"/>
          </a:p>
          <a:p>
            <a:pPr indent="0" marL="0">
              <a:lnSpc>
                <a:spcPct val="100000"/>
              </a:lnSpc>
              <a:buNone/>
            </a:pPr>
            <a:r>
              <a:rPr lang="en-US" sz="1800" dirty="0">
                <a:solidFill>
                  <a:srgbClr val="1F2933"/>
                </a:solidFill>
              </a:rPr>
              <a:t>核实付款日仍存在，先确认具体偿付事件并重定主体及受影响债项。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=0条件参照。不能。在未扣未知2027到期本金及其他净支出</a:t>
            </a:r>
            <a:endParaRPr lang="en-US" sz="1800" dirty="0"/>
          </a:p>
          <a:p>
            <a:pPr indent="0" marL="0">
              <a:lnSpc>
                <a:spcPct val="100000"/>
              </a:lnSpc>
              <a:buNone/>
            </a:pPr>
            <a:r>
              <a:rPr lang="en-US" sz="1800" dirty="0">
                <a:solidFill>
                  <a:srgbClr val="1F2933"/>
                </a:solidFill>
              </a:rPr>
              <a:t>前，基准2027六月末集团资金池仅2.73 亿元人民币。</a:t>
            </a:r>
            <a:endParaRPr lang="en-US" sz="1800" dirty="0"/>
          </a:p>
          <a:p>
            <a:pPr indent="0" marL="0">
              <a:lnSpc>
                <a:spcPct val="100000"/>
              </a:lnSpc>
              <a:buNone/>
            </a:pPr>
            <a:r>
              <a:rPr lang="en-US" sz="1800" dirty="0">
                <a:solidFill>
                  <a:srgbClr val="1F2933"/>
                </a:solidFill>
              </a:rPr>
              <a:t>恢复6.5亿元用途并保留15日经营缓冲时，累计融资需求截距</a:t>
            </a:r>
            <a:endParaRPr lang="en-US" sz="1800" dirty="0"/>
          </a:p>
          <a:p>
            <a:pPr indent="0" marL="0">
              <a:lnSpc>
                <a:spcPct val="100000"/>
              </a:lnSpc>
              <a:buNone/>
            </a:pPr>
            <a:r>
              <a:rPr lang="en-US" sz="1800" dirty="0">
                <a:solidFill>
                  <a:srgbClr val="1F2933"/>
                </a:solidFill>
              </a:rPr>
              <a:t>为6.89 亿元人民币；实际融资需求须代入D、X、P及实际</a:t>
            </a:r>
            <a:endParaRPr lang="en-US" sz="1800" dirty="0"/>
          </a:p>
          <a:p>
            <a:pPr indent="0" marL="0">
              <a:lnSpc>
                <a:spcPct val="100000"/>
              </a:lnSpc>
              <a:buNone/>
            </a:pPr>
            <a:r>
              <a:rPr lang="en-US" sz="1800" dirty="0">
                <a:solidFill>
                  <a:srgbClr val="1F2933"/>
                </a:solidFill>
              </a:rPr>
              <a:t>占用U重算，不能称该截距为已证实缺口。</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Δ_A=Δ_H=Γ=0条件下2027六月末未核债务及其他收支</a:t>
            </a:r>
            <a:endParaRPr lang="en-US" sz="800" dirty="0"/>
          </a:p>
          <a:p>
            <a:pPr indent="0" marL="0">
              <a:lnSpc>
                <a:spcPct val="100000"/>
              </a:lnSpc>
              <a:buNone/>
            </a:pPr>
            <a:r>
              <a:rPr lang="en-US" sz="800" dirty="0">
                <a:solidFill>
                  <a:srgbClr val="213B45"/>
                </a:solidFill>
              </a:rPr>
              <a:t>扣除前集团模拟资金池</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Δ_A=Δ_H=Γ=0条件下恢复6.5亿元用途、15日缓冲下</a:t>
            </a:r>
            <a:endParaRPr lang="en-US" sz="800" dirty="0"/>
          </a:p>
          <a:p>
            <a:pPr indent="0" marL="0">
              <a:lnSpc>
                <a:spcPct val="100000"/>
              </a:lnSpc>
              <a:buNone/>
            </a:pPr>
            <a:r>
              <a:rPr lang="en-US" sz="800" dirty="0">
                <a:solidFill>
                  <a:srgbClr val="213B45"/>
                </a:solidFill>
              </a:rPr>
              <a:t>累计融资需求截距</a:t>
            </a:r>
            <a:endParaRPr lang="en-US" sz="8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6.89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年末回款后的上半年经营消耗、资本开支、利息和用途隔离继续</a:t>
            </a:r>
            <a:endParaRPr lang="en-US" sz="1800" dirty="0"/>
          </a:p>
          <a:p>
            <a:pPr indent="0" marL="0">
              <a:lnSpc>
                <a:spcPct val="100000"/>
              </a:lnSpc>
              <a:buNone/>
            </a:pPr>
            <a:r>
              <a:rPr lang="en-US" sz="1800" dirty="0">
                <a:solidFill>
                  <a:srgbClr val="1F2933"/>
                </a:solidFill>
              </a:rPr>
              <a:t>占用资源。Q1复制最近同季原表；Q2毛分项仍缺同控桥，所列</a:t>
            </a:r>
            <a:endParaRPr lang="en-US" sz="1800" dirty="0"/>
          </a:p>
          <a:p>
            <a:pPr indent="0" marL="0">
              <a:lnSpc>
                <a:spcPct val="100000"/>
              </a:lnSpc>
              <a:buNone/>
            </a:pPr>
            <a:r>
              <a:rPr lang="en-US" sz="1800" dirty="0">
                <a:solidFill>
                  <a:srgbClr val="1F2933"/>
                </a:solidFill>
              </a:rPr>
              <a:t>金额只在Δ_H=0时成立。Δ_A同时影响承接的2026年末</a:t>
            </a:r>
            <a:endParaRPr lang="en-US" sz="1800" dirty="0"/>
          </a:p>
          <a:p>
            <a:pPr indent="0" marL="0">
              <a:lnSpc>
                <a:spcPct val="100000"/>
              </a:lnSpc>
              <a:buNone/>
            </a:pPr>
            <a:r>
              <a:rPr lang="en-US" sz="1800" dirty="0">
                <a:solidFill>
                  <a:srgbClr val="1F2933"/>
                </a:solidFill>
              </a:rPr>
              <a:t>余额。实际融资需求在范围调整及D/X/P/U未代入前为</a:t>
            </a:r>
            <a:endParaRPr lang="en-US" sz="1800" dirty="0"/>
          </a:p>
          <a:p>
            <a:pPr indent="0" marL="0">
              <a:lnSpc>
                <a:spcPct val="100000"/>
              </a:lnSpc>
              <a:buNone/>
            </a:pPr>
            <a:r>
              <a:rPr lang="en-US" sz="1800" dirty="0">
                <a:solidFill>
                  <a:srgbClr val="1F2933"/>
                </a:solidFill>
              </a:rPr>
              <a:t>null。 该截距保留D/X等未代入的现金容量诊断；经营</a:t>
            </a:r>
            <a:endParaRPr lang="en-US" sz="1800" dirty="0"/>
          </a:p>
          <a:p>
            <a:pPr indent="0" marL="0">
              <a:lnSpc>
                <a:spcPct val="100000"/>
              </a:lnSpc>
              <a:buNone/>
            </a:pPr>
            <a:r>
              <a:rPr lang="en-US" sz="1800" dirty="0">
                <a:solidFill>
                  <a:srgbClr val="1F2933"/>
                </a:solidFill>
              </a:rPr>
              <a:t>融资链另列账面清偿预算及新增贷款利息循环，不能把两者当同</a:t>
            </a:r>
            <a:endParaRPr lang="en-US" sz="1800" dirty="0"/>
          </a:p>
          <a:p>
            <a:pPr indent="0" marL="0">
              <a:lnSpc>
                <a:spcPct val="100000"/>
              </a:lnSpc>
              <a:buNone/>
            </a:pPr>
            <a:r>
              <a:rPr lang="en-US" sz="1800" dirty="0">
                <a:solidFill>
                  <a:srgbClr val="1F2933"/>
                </a:solidFill>
              </a:rPr>
              <a:t>假设融资需要比较或相加。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融资承诺落实、回款提前或可证明项目专户资金按用途支付可改善</a:t>
            </a:r>
            <a:endParaRPr lang="en-US" sz="1800" dirty="0"/>
          </a:p>
          <a:p>
            <a:pPr indent="0" marL="0">
              <a:lnSpc>
                <a:spcPct val="100000"/>
              </a:lnSpc>
              <a:buNone/>
            </a:pPr>
            <a:r>
              <a:rPr lang="en-US" sz="1800" dirty="0">
                <a:solidFill>
                  <a:srgbClr val="1F2933"/>
                </a:solidFill>
              </a:rPr>
              <a:t>容量；必须按到款日及用途逐笔确认。</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取得Δ_H、Δ_A及持续经营范围桥、真实D/X/P/U和</a:t>
            </a:r>
            <a:endParaRPr lang="en-US" sz="1800" dirty="0"/>
          </a:p>
          <a:p>
            <a:pPr indent="0" marL="0">
              <a:lnSpc>
                <a:spcPct val="100000"/>
              </a:lnSpc>
              <a:buNone/>
            </a:pPr>
            <a:r>
              <a:rPr lang="en-US" sz="1800" dirty="0">
                <a:solidFill>
                  <a:srgbClr val="1F2933"/>
                </a:solidFill>
              </a:rPr>
              <a:t>逐日预算后按同一公式更新；未取得前不能据旧数值证明评级资金</a:t>
            </a:r>
            <a:endParaRPr lang="en-US" sz="1800" dirty="0"/>
          </a:p>
          <a:p>
            <a:pPr indent="0" marL="0">
              <a:lnSpc>
                <a:spcPct val="100000"/>
              </a:lnSpc>
              <a:buNone/>
            </a:pPr>
            <a:r>
              <a:rPr lang="en-US" sz="1800" dirty="0">
                <a:solidFill>
                  <a:srgbClr val="1F2933"/>
                </a:solidFill>
              </a:rPr>
              <a:t>前提。若任一付款日已核实资源不足且无已落实来源，原BBB+</a:t>
            </a:r>
            <a:endParaRPr lang="en-US" sz="1800" dirty="0"/>
          </a:p>
          <a:p>
            <a:pPr indent="0" marL="0">
              <a:lnSpc>
                <a:spcPct val="100000"/>
              </a:lnSpc>
              <a:buNone/>
            </a:pPr>
            <a:r>
              <a:rPr lang="en-US" sz="1800" dirty="0">
                <a:solidFill>
                  <a:srgbClr val="1F2933"/>
                </a:solidFill>
              </a:rPr>
              <a:t>/负面的付款覆盖前提失效。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a:t>
            </a:r>
            <a:endParaRPr lang="en-US" sz="1800" dirty="0"/>
          </a:p>
          <a:p>
            <a:pPr indent="0" marL="0">
              <a:lnSpc>
                <a:spcPct val="100000"/>
              </a:lnSpc>
              <a:buNone/>
            </a:pPr>
            <a:r>
              <a:rPr lang="en-US" sz="1800" dirty="0">
                <a:solidFill>
                  <a:srgbClr val="1F2933"/>
                </a:solidFill>
              </a:rPr>
              <a:t>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现金季节锚的范围桥尚未闭合；以下数字仅为Δ_A=Δ_H=Γ=0条件参照。账龄拉长和房地产工程</a:t>
            </a:r>
            <a:endParaRPr lang="en-US" sz="1800" dirty="0"/>
          </a:p>
          <a:p>
            <a:pPr indent="0" marL="0">
              <a:lnSpc>
                <a:spcPct val="100000"/>
              </a:lnSpc>
              <a:buNone/>
            </a:pPr>
            <a:r>
              <a:rPr lang="en-US" sz="1800" dirty="0">
                <a:solidFill>
                  <a:srgbClr val="1F2933"/>
                </a:solidFill>
              </a:rPr>
              <a:t>旧款风险支持测试收款继续延后；将预计销售收款的5%延至2027-06-30后且窗内不追收，使</a:t>
            </a:r>
            <a:endParaRPr lang="en-US" sz="1800" dirty="0"/>
          </a:p>
          <a:p>
            <a:pPr indent="0" marL="0">
              <a:lnSpc>
                <a:spcPct val="100000"/>
              </a:lnSpc>
              <a:buNone/>
            </a:pPr>
            <a:r>
              <a:rPr lang="en-US" sz="1800" dirty="0">
                <a:solidFill>
                  <a:srgbClr val="1F2933"/>
                </a:solidFill>
              </a:rPr>
              <a:t>2026全年条件CFO从396253333.07元降至209386514.78元，并提高延伸</a:t>
            </a:r>
            <a:endParaRPr lang="en-US" sz="1800" dirty="0"/>
          </a:p>
          <a:p>
            <a:pPr indent="0" marL="0">
              <a:lnSpc>
                <a:spcPct val="100000"/>
              </a:lnSpc>
              <a:buNone/>
            </a:pPr>
            <a:r>
              <a:rPr lang="en-US" sz="1800" dirty="0">
                <a:solidFill>
                  <a:srgbClr val="1F2933"/>
                </a:solidFill>
              </a:rPr>
              <a:t>期资金缺口。此为时点敏感性，不是5%违约概率、永久坏账或利润预测。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历史应收风险→预计销售收款延期→CFO下降→用途恢复后营运容量缩小→付款日前新融资需求增加；</a:t>
            </a:r>
            <a:endParaRPr lang="en-US" sz="1800" dirty="0"/>
          </a:p>
          <a:p>
            <a:pPr indent="0" marL="0">
              <a:lnSpc>
                <a:spcPct val="100000"/>
              </a:lnSpc>
              <a:buNone/>
            </a:pPr>
            <a:r>
              <a:rPr lang="en-US" sz="1800" dirty="0">
                <a:solidFill>
                  <a:srgbClr val="1F2933"/>
                </a:solidFill>
              </a:rPr>
              <a:t>贷款若取得，其新利息和本金必须反馈进下一期现金路径。 未闭合的范围调整同时改变预计毛收款、</a:t>
            </a:r>
            <a:endParaRPr lang="en-US" sz="1800" dirty="0"/>
          </a:p>
          <a:p>
            <a:pPr indent="0" marL="0">
              <a:lnSpc>
                <a:spcPct val="100000"/>
              </a:lnSpc>
              <a:buNone/>
            </a:pPr>
            <a:r>
              <a:rPr lang="en-US" sz="1800" dirty="0">
                <a:solidFill>
                  <a:srgbClr val="1F2933"/>
                </a:solidFill>
              </a:rPr>
              <a:t>付款和压力金额；先按版本桥重算，不能用净CFO相同消去毛额调整。 净额约束下不同毛收付折减</a:t>
            </a:r>
            <a:endParaRPr lang="en-US" sz="1800" dirty="0"/>
          </a:p>
          <a:p>
            <a:pPr indent="0" marL="0">
              <a:lnSpc>
                <a:spcPct val="100000"/>
              </a:lnSpc>
              <a:buNone/>
            </a:pPr>
            <a:r>
              <a:rPr lang="en-US" sz="1800" dirty="0">
                <a:solidFill>
                  <a:srgbClr val="1F2933"/>
                </a:solidFill>
              </a:rPr>
              <a:t>系数仍产生现金影响；实际延期金额随调整后的客户收款重算，当前压力额不是同口径已验证金额。 回</a:t>
            </a:r>
            <a:endParaRPr lang="en-US" sz="1800" dirty="0"/>
          </a:p>
          <a:p>
            <a:pPr indent="0" marL="0">
              <a:lnSpc>
                <a:spcPct val="100000"/>
              </a:lnSpc>
              <a:buNone/>
            </a:pPr>
            <a:r>
              <a:rPr lang="en-US" sz="1800" dirty="0">
                <a:solidFill>
                  <a:srgbClr val="1F2933"/>
                </a:solidFill>
              </a:rPr>
              <a:t>款时点敏感性自身不直接改变损益；材料涨价条件链另从成本、采购/AP和现金出发，完整反馈新增</a:t>
            </a:r>
            <a:endParaRPr lang="en-US" sz="1800" dirty="0"/>
          </a:p>
          <a:p>
            <a:pPr indent="0" marL="0">
              <a:lnSpc>
                <a:spcPct val="100000"/>
              </a:lnSpc>
              <a:buNone/>
            </a:pPr>
            <a:r>
              <a:rPr lang="en-US" sz="1800" dirty="0">
                <a:solidFill>
                  <a:srgbClr val="1F2933"/>
                </a:solidFill>
              </a:rPr>
              <a:t>融资、利息、未来利润权益及因素，见ks_econ_f_chain。</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在同一有证据业务链上，延期收款先降低CFO及自由现金容量，再增加必须在付款日前取得的新融资；</a:t>
            </a:r>
            <a:endParaRPr lang="en-US" sz="1800" dirty="0"/>
          </a:p>
          <a:p>
            <a:pPr indent="0" marL="0">
              <a:lnSpc>
                <a:spcPct val="100000"/>
              </a:lnSpc>
              <a:buNone/>
            </a:pPr>
            <a:r>
              <a:rPr lang="en-US" sz="1800" dirty="0">
                <a:solidFill>
                  <a:srgbClr val="1F2933"/>
                </a:solidFill>
              </a:rPr>
              <a:t>不得只将定性分数调低半分。</a:t>
            </a:r>
            <a:endParaRPr lang="en-US" sz="1800" dirty="0"/>
          </a:p>
          <a:p>
            <a:pPr indent="0" marL="0">
              <a:lnSpc>
                <a:spcPct val="100000"/>
              </a:lnSpc>
              <a:buNone/>
            </a:pPr>
            <a:r>
              <a:rPr lang="en-US" sz="1800" dirty="0">
                <a:solidFill>
                  <a:srgbClr val="1F2933"/>
                </a:solidFill>
              </a:rPr>
              <a:t>如果所需资金由无条件可提取授信或合法上划实际落实，并持续满足U、M和逐笔债务，支持原BBB+</a:t>
            </a:r>
            <a:endParaRPr lang="en-US" sz="1800" dirty="0"/>
          </a:p>
          <a:p>
            <a:pPr indent="0" marL="0">
              <a:lnSpc>
                <a:spcPct val="100000"/>
              </a:lnSpc>
              <a:buNone/>
            </a:pPr>
            <a:r>
              <a:rPr lang="en-US" sz="1800" dirty="0">
                <a:solidFill>
                  <a:srgbClr val="1F2933"/>
                </a:solidFill>
              </a:rPr>
              <a:t>/负面条件建议继续作为研究分支；不构成上调证据。</a:t>
            </a:r>
            <a:endParaRPr lang="en-US" sz="1800" dirty="0"/>
          </a:p>
          <a:p>
            <a:pPr indent="0" marL="0">
              <a:lnSpc>
                <a:spcPct val="100000"/>
              </a:lnSpc>
              <a:buNone/>
            </a:pPr>
            <a:r>
              <a:rPr lang="en-US" sz="1800" dirty="0">
                <a:solidFill>
                  <a:srgbClr val="1F2933"/>
                </a:solidFill>
              </a:rPr>
              <a:t>如缺口不能由届时确定可得来源覆盖，或临时补流到期恢复用途挤占必要经营付款，原建议的付款覆盖</a:t>
            </a:r>
            <a:endParaRPr lang="en-US" sz="1800" dirty="0"/>
          </a:p>
          <a:p>
            <a:pPr indent="0" marL="0">
              <a:lnSpc>
                <a:spcPct val="100000"/>
              </a:lnSpc>
              <a:buNone/>
            </a:pPr>
            <a:r>
              <a:rPr lang="en-US" sz="1800" dirty="0">
                <a:solidFill>
                  <a:srgbClr val="1F2933"/>
                </a:solidFill>
              </a:rPr>
              <a:t>前提失效，需就流动性重大弱化作个体调整/重评；若证实无法按期付款，退出常态矩阵，不用负面展望</a:t>
            </a:r>
            <a:endParaRPr lang="en-US" sz="1800" dirty="0"/>
          </a:p>
          <a:p>
            <a:pPr indent="0" marL="0">
              <a:lnSpc>
                <a:spcPct val="100000"/>
              </a:lnSpc>
              <a:buNone/>
            </a:pPr>
            <a:r>
              <a:rPr lang="en-US" sz="1800" dirty="0">
                <a:solidFill>
                  <a:srgbClr val="1F2933"/>
                </a:solidFill>
              </a:rPr>
              <a:t>代替支付风险判断。</a:t>
            </a:r>
            <a:endParaRPr lang="en-US" sz="1800" dirty="0"/>
          </a:p>
          <a:p>
            <a:pPr indent="0" marL="0">
              <a:lnSpc>
                <a:spcPct val="100000"/>
              </a:lnSpc>
              <a:buNone/>
            </a:pPr>
            <a:r>
              <a:rPr lang="en-US" sz="1800" dirty="0">
                <a:solidFill>
                  <a:srgbClr val="1F2933"/>
                </a:solidFill>
              </a:rPr>
              <a:t>本压力是收款时点风险，不自动降低EBITDA或提高违约损失；补融资若以债务取得，后续利息和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本金会继续压缩容量。只有新的全年可比盈利、资本及现金短债输入重算支持F5时，才进入原C/F5</a:t>
            </a:r>
            <a:endParaRPr lang="en-US" sz="1800" dirty="0"/>
          </a:p>
          <a:p>
            <a:pPr indent="0" marL="0">
              <a:lnSpc>
                <a:spcPct val="100000"/>
              </a:lnSpc>
              <a:buNone/>
            </a:pPr>
            <a:r>
              <a:rPr lang="en-US" sz="1800" dirty="0">
                <a:solidFill>
                  <a:srgbClr val="1F2933"/>
                </a:solidFill>
              </a:rPr>
              <a:t>→BBB-分支；季度CFO不能直接映射F5。</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已运行全年条件损益与债务预测；其他资产独立周转、真实合同到期、发行人可调度资金及Δ_A/</a:t>
            </a:r>
            <a:endParaRPr lang="en-US" sz="1800" dirty="0"/>
          </a:p>
          <a:p>
            <a:pPr indent="0" marL="0">
              <a:lnSpc>
                <a:spcPct val="100000"/>
              </a:lnSpc>
              <a:buNone/>
            </a:pPr>
            <a:r>
              <a:rPr lang="en-US" sz="1800" dirty="0">
                <a:solidFill>
                  <a:srgbClr val="1F2933"/>
                </a:solidFill>
              </a:rPr>
              <a:t>Δ_H/Γ仍未核实。须按证据更新同一经营、税款、现金和融资链，不从半年CFO或任意半分变动</a:t>
            </a:r>
            <a:endParaRPr lang="en-US" sz="1800" dirty="0"/>
          </a:p>
          <a:p>
            <a:pPr indent="0" marL="0">
              <a:lnSpc>
                <a:spcPct val="100000"/>
              </a:lnSpc>
              <a:buNone/>
            </a:pPr>
            <a:r>
              <a:rPr lang="en-US" sz="1800" dirty="0">
                <a:solidFill>
                  <a:srgbClr val="1F2933"/>
                </a:solidFill>
              </a:rPr>
              <a:t>直接推出评级级差。回款恢复且支付前提获证可研究展望稳定；付款前提失败须重评。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现金时点与未代入合同参数的截距对照：章节指标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129</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Δ_A=Δ_H=Γ=0条件下恢复6.5亿元用途、15日缓冲下累计融资需求截距</a:t>
            </a:r>
            <a:endParaRPr lang="en-US" sz="10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10.30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未经审计Q1归母利润6,355.24 万元人民币、毛利率27.51%，CFO仍</a:t>
            </a:r>
            <a:endParaRPr lang="en-US" sz="1800" dirty="0"/>
          </a:p>
          <a:p>
            <a:pPr indent="0" marL="0">
              <a:lnSpc>
                <a:spcPct val="100000"/>
              </a:lnSpc>
              <a:buNone/>
            </a:pPr>
            <a:r>
              <a:rPr lang="en-US" sz="1800" dirty="0">
                <a:solidFill>
                  <a:srgbClr val="1F2933"/>
                </a:solidFill>
              </a:rPr>
              <a:t>-5,518.29 万元人民币。季度现金年初桥闭合；信用减值继续且缺完整债务及受限现金附注，</a:t>
            </a:r>
            <a:endParaRPr lang="en-US" sz="1800" dirty="0"/>
          </a:p>
          <a:p>
            <a:pPr indent="0" marL="0">
              <a:lnSpc>
                <a:spcPct val="100000"/>
              </a:lnSpc>
              <a:buNone/>
            </a:pPr>
            <a:r>
              <a:rPr lang="en-US" sz="1800" dirty="0">
                <a:solidFill>
                  <a:srgbClr val="1F2933"/>
                </a:solidFill>
              </a:rPr>
              <a:t>不按一季乘四替换全年。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季节性、原材料预付、银行长短债置换和年度末集中减值会令季度盈利与全年偿债能力不同；部分上年</a:t>
            </a:r>
            <a:endParaRPr lang="en-US" sz="1800" dirty="0"/>
          </a:p>
          <a:p>
            <a:pPr indent="0" marL="0">
              <a:lnSpc>
                <a:spcPct val="100000"/>
              </a:lnSpc>
              <a:buNone/>
            </a:pPr>
            <a:r>
              <a:rPr lang="en-US" sz="1800" dirty="0">
                <a:solidFill>
                  <a:srgbClr val="1F2933"/>
                </a:solidFill>
              </a:rPr>
              <a:t>季度比较仍是原披露范围。解释19号实施未披露重大影响。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季节性收付款和提前采购可以使季度利润与经营现金方向不同；不能直接把改善同比推广至全年。</a:t>
            </a:r>
            <a:endParaRPr lang="en-US" sz="1800" dirty="0"/>
          </a:p>
          <a:p>
            <a:pPr indent="0" marL="0">
              <a:lnSpc>
                <a:spcPct val="100000"/>
              </a:lnSpc>
              <a:buNone/>
            </a:pPr>
            <a:r>
              <a:rPr lang="en-US" sz="1800" dirty="0">
                <a:solidFill>
                  <a:srgbClr val="1F2933"/>
                </a:solidFill>
              </a:rPr>
              <a:t>季度表尚缺完整利息、受限现金和同控可比明细，短期借款增加也可能是期限置换而非净融资能力增强。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取得半年度完整附注后，用原年度及一季度桥拆出季节性、范围、应收回款与新债；持续现金改善且债务</a:t>
            </a:r>
            <a:endParaRPr lang="en-US" sz="1800" dirty="0"/>
          </a:p>
          <a:p>
            <a:pPr indent="0" marL="0">
              <a:lnSpc>
                <a:spcPct val="100000"/>
              </a:lnSpc>
              <a:buNone/>
            </a:pPr>
            <a:r>
              <a:rPr lang="en-US" sz="1800" dirty="0">
                <a:solidFill>
                  <a:srgbClr val="1F2933"/>
                </a:solidFill>
              </a:rPr>
              <a:t>到期与资金用途匹配才支持提高判断。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科顺全国网络、研发和工程经验支持较强细分竞争力；规模明显小</a:t>
            </a:r>
            <a:endParaRPr lang="en-US" sz="1800" dirty="0"/>
          </a:p>
          <a:p>
            <a:pPr indent="0" marL="0">
              <a:lnSpc>
                <a:spcPct val="100000"/>
              </a:lnSpc>
              <a:buNone/>
            </a:pPr>
            <a:r>
              <a:rPr lang="en-US" sz="1800" dirty="0">
                <a:solidFill>
                  <a:srgbClr val="1F2933"/>
                </a:solidFill>
              </a:rPr>
              <a:t>于东方雨虹，不能给出未经核实的全国市场份额。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科顺防水材料收入46.60 亿元人民币，东方雨虹同名分类</a:t>
            </a:r>
            <a:endParaRPr lang="en-US" sz="1800" dirty="0"/>
          </a:p>
          <a:p>
            <a:pPr indent="0" marL="0">
              <a:lnSpc>
                <a:spcPct val="100000"/>
              </a:lnSpc>
              <a:buNone/>
            </a:pPr>
            <a:r>
              <a:rPr lang="en-US" sz="1800" dirty="0">
                <a:solidFill>
                  <a:srgbClr val="1F2933"/>
                </a:solidFill>
              </a:rPr>
              <a:t>191.72 亿元人民币；科顺/北新卷材收入分别30.72</a:t>
            </a:r>
            <a:endParaRPr lang="en-US" sz="1800" dirty="0"/>
          </a:p>
          <a:p>
            <a:pPr indent="0" marL="0">
              <a:lnSpc>
                <a:spcPct val="100000"/>
              </a:lnSpc>
              <a:buNone/>
            </a:pPr>
            <a:r>
              <a:rPr lang="en-US" sz="1800" dirty="0">
                <a:solidFill>
                  <a:srgbClr val="1F2933"/>
                </a:solidFill>
              </a:rPr>
              <a:t> 亿元人民币和33.14 亿元人民币，分类及并购口径不同。</a:t>
            </a:r>
            <a:endParaRPr lang="en-US" sz="1800" dirty="0"/>
          </a:p>
          <a:p>
            <a:pPr indent="0" marL="0">
              <a:lnSpc>
                <a:spcPct val="100000"/>
              </a:lnSpc>
              <a:buNone/>
            </a:pPr>
            <a:r>
              <a:rPr lang="en-US" sz="1800" dirty="0">
                <a:solidFill>
                  <a:srgbClr val="1F2933"/>
                </a:solidFill>
              </a:rPr>
              <a:t>市场地位研究中心4.00 分（六分制研究刻度）、相邻</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刻度）；这是分析者判断。</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2025防水材料收入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46.60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主动压缩高风险客户也可导致收入下滑，不能只解释为份额丧失。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2025年营业收入6044124793.41元；防水材料</a:t>
            </a:r>
            <a:endParaRPr lang="en-US" sz="1800" dirty="0"/>
          </a:p>
          <a:p>
            <a:pPr indent="0" marL="0">
              <a:lnSpc>
                <a:spcPct val="100000"/>
              </a:lnSpc>
              <a:buNone/>
            </a:pPr>
            <a:r>
              <a:rPr lang="en-US" sz="1800" dirty="0">
                <a:solidFill>
                  <a:srgbClr val="1F2933"/>
                </a:solidFill>
              </a:rPr>
              <a:t>收入4659529919.68元，占77.09%；防水工程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若可核实活跃渠道、同口径销量份额和多期间收款质量共同改善，</a:t>
            </a:r>
            <a:endParaRPr lang="en-US" sz="1800" dirty="0"/>
          </a:p>
          <a:p>
            <a:pPr indent="0" marL="0">
              <a:lnSpc>
                <a:spcPct val="100000"/>
              </a:lnSpc>
              <a:buNone/>
            </a:pPr>
            <a:r>
              <a:rPr lang="en-US" sz="1800" dirty="0">
                <a:solidFill>
                  <a:srgbClr val="1F2933"/>
                </a:solidFill>
              </a:rPr>
              <a:t>可上移判断；若主要渠道失效或相对同业持续衰退则下移。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研发、全国制造与渠道可缓冲竞争，石化原料和客户账期限制产业链控制，不能把套保等同完全对冲。</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研发投入2.53 亿元人民币、人员378.00 人、有效专利908.00 项；材料成本直接</a:t>
            </a:r>
            <a:endParaRPr lang="en-US" sz="1800" dirty="0"/>
          </a:p>
          <a:p>
            <a:pPr indent="0" marL="0">
              <a:lnSpc>
                <a:spcPct val="100000"/>
              </a:lnSpc>
              <a:buNone/>
            </a:pPr>
            <a:r>
              <a:rPr lang="en-US" sz="1800" dirty="0">
                <a:solidFill>
                  <a:srgbClr val="1F2933"/>
                </a:solidFill>
              </a:rPr>
              <a:t>材料占84.12%，最大客户占11.63%。核心资源研究中心4.00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分（六分制研究刻度））；产业链控制中心3.00 分</a:t>
            </a:r>
            <a:endParaRPr lang="en-US" sz="1800" dirty="0"/>
          </a:p>
          <a:p>
            <a:pPr indent="0" marL="0">
              <a:lnSpc>
                <a:spcPct val="100000"/>
              </a:lnSpc>
              <a:buNone/>
            </a:pPr>
            <a:r>
              <a:rPr lang="en-US" sz="1800" dirty="0">
                <a:solidFill>
                  <a:srgbClr val="1F2933"/>
                </a:solidFill>
              </a:rPr>
              <a:t>（六分制研究刻度）（2.50 分（六分制研究刻度）至3.50 分（六分制研究刻度））。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预付锁价可降低采购不确定性，也可能只是把价格风险转为资金占用。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2026Q1未经审计收入1455542440.54元，同比4.34%；扣非归母净利润</a:t>
            </a:r>
            <a:endParaRPr lang="en-US" sz="1800" dirty="0"/>
          </a:p>
          <a:p>
            <a:pPr indent="0" marL="0">
              <a:lnSpc>
                <a:spcPct val="100000"/>
              </a:lnSpc>
              <a:buNone/>
            </a:pPr>
            <a:r>
              <a:rPr lang="en-US" sz="1800" dirty="0">
                <a:solidFill>
                  <a:srgbClr val="1F2933"/>
                </a:solidFill>
              </a:rPr>
              <a:t>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a:t>
            </a:r>
            <a:endParaRPr lang="en-US" sz="1800" dirty="0"/>
          </a:p>
          <a:p>
            <a:pPr indent="0" marL="0">
              <a:lnSpc>
                <a:spcPct val="100000"/>
              </a:lnSpc>
              <a:buNone/>
            </a:pPr>
            <a:r>
              <a:rPr lang="en-US" sz="1800" dirty="0">
                <a:solidFill>
                  <a:srgbClr val="1F2933"/>
                </a:solidFill>
              </a:rPr>
              <a:t>182790599.40元；信用减值损失5068.35万元，解释为部分应收账龄延长。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若获得产能利用率、单位成本、价格转嫁和客户账期的连续改善证据，可提高判断；若预付/赊销占用</a:t>
            </a:r>
            <a:endParaRPr lang="en-US" sz="1800" dirty="0"/>
          </a:p>
          <a:p>
            <a:pPr indent="0" marL="0">
              <a:lnSpc>
                <a:spcPct val="100000"/>
              </a:lnSpc>
              <a:buNone/>
            </a:pPr>
            <a:r>
              <a:rPr lang="en-US" sz="1800" dirty="0">
                <a:solidFill>
                  <a:srgbClr val="1F2933"/>
                </a:solidFill>
              </a:rPr>
              <a:t>增大则下调。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多渠道、多场景具有协同基础，已实现收入仍主要来自境内防水，</a:t>
            </a:r>
            <a:endParaRPr lang="en-US" sz="1800" dirty="0"/>
          </a:p>
          <a:p>
            <a:pPr indent="0" marL="0">
              <a:lnSpc>
                <a:spcPct val="100000"/>
              </a:lnSpc>
              <a:buNone/>
            </a:pPr>
            <a:r>
              <a:rPr lang="en-US" sz="1800" dirty="0">
                <a:solidFill>
                  <a:srgbClr val="1F2933"/>
                </a:solidFill>
              </a:rPr>
              <a:t>海外和新材料计划尚不能视为成熟的周期分散。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材料加工程收入占95.03%，境内占96.77%、境外占</a:t>
            </a:r>
            <a:endParaRPr lang="en-US" sz="1800" dirty="0"/>
          </a:p>
          <a:p>
            <a:pPr indent="0" marL="0">
              <a:lnSpc>
                <a:spcPct val="100000"/>
              </a:lnSpc>
              <a:buNone/>
            </a:pPr>
            <a:r>
              <a:rPr lang="en-US" sz="1800" dirty="0">
                <a:solidFill>
                  <a:srgbClr val="1F2933"/>
                </a:solidFill>
              </a:rPr>
              <a:t>3.23%；多元协同研究中心3.00 分（六分制研究</a:t>
            </a:r>
            <a:endParaRPr lang="en-US" sz="1800" dirty="0"/>
          </a:p>
          <a:p>
            <a:pPr indent="0" marL="0">
              <a:lnSpc>
                <a:spcPct val="100000"/>
              </a:lnSpc>
              <a:buNone/>
            </a:pPr>
            <a:r>
              <a:rPr lang="en-US" sz="1800" dirty="0">
                <a:solidFill>
                  <a:srgbClr val="1F2933"/>
                </a:solidFill>
              </a:rPr>
              <a:t>刻度），相邻2.50 分（六分制研究刻度）至3.50 分（</a:t>
            </a:r>
            <a:endParaRPr lang="en-US" sz="1800" dirty="0"/>
          </a:p>
          <a:p>
            <a:pPr indent="0" marL="0">
              <a:lnSpc>
                <a:spcPct val="100000"/>
              </a:lnSpc>
              <a:buNone/>
            </a:pPr>
            <a:r>
              <a:rPr lang="en-US" sz="1800" dirty="0">
                <a:solidFill>
                  <a:srgbClr val="1F2933"/>
                </a:solidFill>
              </a:rPr>
              <a:t>六分制研究刻度）。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防水材料及工程收入合计占比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95.03%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境内收入占比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96.77%</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境外收入占比</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3.23%</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即便产品类别多，若采购者、工程需求和资金来源相同，相关性仍</a:t>
            </a:r>
            <a:endParaRPr lang="en-US" sz="1800" dirty="0"/>
          </a:p>
          <a:p>
            <a:pPr indent="0" marL="0">
              <a:lnSpc>
                <a:spcPct val="100000"/>
              </a:lnSpc>
              <a:buNone/>
            </a:pPr>
            <a:r>
              <a:rPr lang="en-US" sz="1800" dirty="0">
                <a:solidFill>
                  <a:srgbClr val="1F2933"/>
                </a:solidFill>
              </a:rPr>
              <a:t>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东方雨虹2025年合并收入27578652775.30元；</a:t>
            </a:r>
            <a:endParaRPr lang="en-US" sz="1800" dirty="0"/>
          </a:p>
          <a:p>
            <a:pPr indent="0" marL="0">
              <a:lnSpc>
                <a:spcPct val="100000"/>
              </a:lnSpc>
              <a:buNone/>
            </a:pPr>
            <a:r>
              <a:rPr lang="en-US" sz="1800" dirty="0">
                <a:solidFill>
                  <a:srgbClr val="1F2933"/>
                </a:solidFill>
              </a:rPr>
              <a:t>防水材料19171975964.82元，同比-6.97%；</a:t>
            </a:r>
            <a:endParaRPr lang="en-US" sz="1800" dirty="0"/>
          </a:p>
          <a:p>
            <a:pPr indent="0" marL="0">
              <a:lnSpc>
                <a:spcPct val="100000"/>
              </a:lnSpc>
              <a:buNone/>
            </a:pPr>
            <a:r>
              <a:rPr lang="en-US" sz="1800" dirty="0">
                <a:solidFill>
                  <a:srgbClr val="1F2933"/>
                </a:solidFill>
              </a:rPr>
              <a:t>卷材11361297695.00元，毛利22.15%；零售</a:t>
            </a:r>
            <a:endParaRPr lang="en-US" sz="1800" dirty="0"/>
          </a:p>
          <a:p>
            <a:pPr indent="0" marL="0">
              <a:lnSpc>
                <a:spcPct val="100000"/>
              </a:lnSpc>
              <a:buNone/>
            </a:pPr>
            <a:r>
              <a:rPr lang="en-US" sz="1800" dirty="0">
                <a:solidFill>
                  <a:srgbClr val="1F2933"/>
                </a:solidFill>
              </a:rPr>
              <a:t>渠道收入占36.06%，工程渠道48.15%。</a:t>
            </a:r>
            <a:endParaRPr lang="en-US" sz="1800" dirty="0"/>
          </a:p>
          <a:p>
            <a:pPr indent="0" marL="0">
              <a:lnSpc>
                <a:spcPct val="100000"/>
              </a:lnSpc>
              <a:buNone/>
            </a:pPr>
            <a:r>
              <a:rPr lang="en-US" sz="1800" dirty="0">
                <a:solidFill>
                  <a:srgbClr val="1F2933"/>
                </a:solidFill>
              </a:rPr>
              <a:t>北新2025年合并收入25280261918.22元；防水</a:t>
            </a:r>
            <a:endParaRPr lang="en-US" sz="1800" dirty="0"/>
          </a:p>
          <a:p>
            <a:pPr indent="0" marL="0">
              <a:lnSpc>
                <a:spcPct val="100000"/>
              </a:lnSpc>
              <a:buNone/>
            </a:pPr>
            <a:r>
              <a:rPr lang="en-US" sz="1800" dirty="0">
                <a:solidFill>
                  <a:srgbClr val="1F2933"/>
                </a:solidFill>
              </a:rPr>
              <a:t>建材4785663502.02元，同比3.33%；防水卷材</a:t>
            </a:r>
            <a:endParaRPr lang="en-US" sz="1800" dirty="0"/>
          </a:p>
          <a:p>
            <a:pPr indent="0" marL="0">
              <a:lnSpc>
                <a:spcPct val="100000"/>
              </a:lnSpc>
              <a:buNone/>
            </a:pPr>
            <a:r>
              <a:rPr lang="en-US" sz="1800" dirty="0">
                <a:solidFill>
                  <a:srgbClr val="1F2933"/>
                </a:solidFill>
              </a:rPr>
              <a:t>3313717663.38元，毛利17.26%；卷材产能</a:t>
            </a:r>
            <a:endParaRPr lang="en-US" sz="1800" dirty="0"/>
          </a:p>
          <a:p>
            <a:pPr indent="0" marL="0">
              <a:lnSpc>
                <a:spcPct val="100000"/>
              </a:lnSpc>
              <a:buNone/>
            </a:pPr>
            <a:r>
              <a:rPr lang="en-US" sz="1800" dirty="0">
                <a:solidFill>
                  <a:srgbClr val="1F2933"/>
                </a:solidFill>
              </a:rPr>
              <a:t>4.85亿平方米，利用率53.17%；防水涂料产能</a:t>
            </a:r>
            <a:endParaRPr lang="en-US" sz="1800" dirty="0"/>
          </a:p>
          <a:p>
            <a:pPr indent="0" marL="0">
              <a:lnSpc>
                <a:spcPct val="100000"/>
              </a:lnSpc>
              <a:buNone/>
            </a:pPr>
            <a:r>
              <a:rPr lang="en-US" sz="1800" dirty="0">
                <a:solidFill>
                  <a:srgbClr val="1F2933"/>
                </a:solidFill>
              </a:rPr>
              <a:t>142.84万吨，利用率59.92%；披露重组远大洪雨。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若海外、零售和非房渠道形成独立且持续的收入/现金流分表，</a:t>
            </a:r>
            <a:endParaRPr lang="en-US" sz="1800" dirty="0"/>
          </a:p>
          <a:p>
            <a:pPr indent="0" marL="0">
              <a:lnSpc>
                <a:spcPct val="100000"/>
              </a:lnSpc>
              <a:buNone/>
            </a:pPr>
            <a:r>
              <a:rPr lang="en-US" sz="1800" dirty="0">
                <a:solidFill>
                  <a:srgbClr val="1F2933"/>
                </a:solidFill>
              </a:rPr>
              <a:t>判断上移；仅项目新闻或规划不改变结论。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经营结构、竞争与资源：章节指标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142</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2025防水工程收入</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10.84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ks_b_e_structure；完整原文与位置见本演示文稿来源附页及备注</a:t>
            </a:r>
            <a:endParaRPr lang="en-US" sz="9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治理框架和审计意见提供正面证据，但募集资金曾与一般资金混用，不能仅凭制度声明给予很强管理执行</a:t>
            </a:r>
            <a:endParaRPr lang="en-US" sz="1800" dirty="0"/>
          </a:p>
          <a:p>
            <a:pPr indent="0" marL="0">
              <a:lnSpc>
                <a:spcPct val="100000"/>
              </a:lnSpc>
              <a:buNone/>
            </a:pPr>
            <a:r>
              <a:rPr lang="en-US" sz="1800" dirty="0">
                <a:solidFill>
                  <a:srgbClr val="1F2933"/>
                </a:solidFill>
              </a:rPr>
              <a:t>判断；整改降低后果，不抹去原缺口。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两名控制人合计持股31.45%，不是全部一致行动人持股。董事7.00 人、独董3.00 人；</a:t>
            </a:r>
            <a:endParaRPr lang="en-US" sz="1800" dirty="0"/>
          </a:p>
          <a:p>
            <a:pPr indent="0" marL="0">
              <a:lnSpc>
                <a:spcPct val="100000"/>
              </a:lnSpc>
              <a:buNone/>
            </a:pPr>
            <a:r>
              <a:rPr lang="en-US" sz="1800" dirty="0">
                <a:solidFill>
                  <a:srgbClr val="1F2933"/>
                </a:solidFill>
              </a:rPr>
              <a:t>控制人所持股份质押比例分别49.95%和56.72%。法人治理研究中心4.00 分（六分制</a:t>
            </a:r>
            <a:endParaRPr lang="en-US" sz="1800" dirty="0"/>
          </a:p>
          <a:p>
            <a:pPr indent="0" marL="0">
              <a:lnSpc>
                <a:spcPct val="100000"/>
              </a:lnSpc>
              <a:buNone/>
            </a:pPr>
            <a:r>
              <a:rPr lang="en-US" sz="1800" dirty="0">
                <a:solidFill>
                  <a:srgbClr val="1F2933"/>
                </a:solidFill>
              </a:rPr>
              <a:t>研究刻度）（3.50 分（六分制研究刻度）至4.50 分（六分制研究刻度））；管理执行中心</a:t>
            </a:r>
            <a:endParaRPr lang="en-US" sz="1800" dirty="0"/>
          </a:p>
          <a:p>
            <a:pPr indent="0" marL="0">
              <a:lnSpc>
                <a:spcPct val="100000"/>
              </a:lnSpc>
              <a:buNone/>
            </a:pPr>
            <a:r>
              <a:rPr lang="en-US" sz="1800" dirty="0">
                <a:solidFill>
                  <a:srgbClr val="1F2933"/>
                </a:solidFill>
              </a:rPr>
              <a:t>3.00 分（六分制研究刻度）（2.50 分（六分制研究刻度）至3.50 分（六分制研究</a:t>
            </a:r>
            <a:endParaRPr lang="en-US" sz="1800" dirty="0"/>
          </a:p>
          <a:p>
            <a:pPr indent="0" marL="0">
              <a:lnSpc>
                <a:spcPct val="100000"/>
              </a:lnSpc>
              <a:buNone/>
            </a:pPr>
            <a:r>
              <a:rPr lang="en-US" sz="1800" dirty="0">
                <a:solidFill>
                  <a:srgbClr val="1F2933"/>
                </a:solidFill>
              </a:rPr>
              <a:t>刻度））。主要将账户问题计入执行，避免同一事项在治理与调整项重复全额扣分。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年末、归还日及报告出具日状态不同，不应由余额变化推定矛盾或造假。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截至2026-01-06，旧一轮实际用于临时补流的130000万元全部归还专户，使用不超过原</a:t>
            </a:r>
            <a:endParaRPr lang="en-US" sz="1800" dirty="0"/>
          </a:p>
          <a:p>
            <a:pPr indent="0" marL="0">
              <a:lnSpc>
                <a:spcPct val="100000"/>
              </a:lnSpc>
              <a:buNone/>
            </a:pPr>
            <a:r>
              <a:rPr lang="en-US" sz="1800" dirty="0">
                <a:solidFill>
                  <a:srgbClr val="1F2933"/>
                </a:solidFill>
              </a:rPr>
              <a:t>批准12个月。</a:t>
            </a:r>
            <a:endParaRPr lang="en-US" sz="1800" dirty="0"/>
          </a:p>
          <a:p>
            <a:pPr indent="0" marL="0">
              <a:lnSpc>
                <a:spcPct val="100000"/>
              </a:lnSpc>
              <a:buNone/>
            </a:pPr>
            <a:r>
              <a:rPr lang="en-US" sz="1800" dirty="0">
                <a:solidFill>
                  <a:srgbClr val="1F2933"/>
                </a:solidFill>
              </a:rPr>
              <a:t>2026-01-09董事会批准新一轮不超过130000万元临时补流、最长12个月、募投需要即</a:t>
            </a:r>
            <a:endParaRPr lang="en-US" sz="1800" dirty="0"/>
          </a:p>
          <a:p>
            <a:pPr indent="0" marL="0">
              <a:lnSpc>
                <a:spcPct val="100000"/>
              </a:lnSpc>
              <a:buNone/>
            </a:pPr>
            <a:r>
              <a:rPr lang="en-US" sz="1800" dirty="0">
                <a:solidFill>
                  <a:srgbClr val="1F2933"/>
                </a:solidFill>
              </a:rPr>
              <a:t>归还，仅用于主营生产经营。</a:t>
            </a:r>
            <a:endParaRPr lang="en-US" sz="1800" dirty="0"/>
          </a:p>
          <a:p>
            <a:pPr indent="0" marL="0">
              <a:lnSpc>
                <a:spcPct val="100000"/>
              </a:lnSpc>
              <a:buNone/>
            </a:pPr>
            <a:r>
              <a:rPr lang="en-US" sz="1800" dirty="0">
                <a:solidFill>
                  <a:srgbClr val="1F2933"/>
                </a:solidFill>
              </a:rPr>
              <a:t>2026Q1未经审计收入1455542440.54元，同比4.34%；扣非归母净利润</a:t>
            </a:r>
            <a:endParaRPr lang="en-US" sz="1800" dirty="0"/>
          </a:p>
          <a:p>
            <a:pPr indent="0" marL="0">
              <a:lnSpc>
                <a:spcPct val="100000"/>
              </a:lnSpc>
              <a:buNone/>
            </a:pPr>
            <a:r>
              <a:rPr lang="en-US" sz="1800" dirty="0">
                <a:solidFill>
                  <a:srgbClr val="1F2933"/>
                </a:solidFill>
              </a:rPr>
              <a:t>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a:t>
            </a:r>
            <a:endParaRPr lang="en-US" sz="1800" dirty="0"/>
          </a:p>
          <a:p>
            <a:pPr indent="0" marL="0">
              <a:lnSpc>
                <a:spcPct val="100000"/>
              </a:lnSpc>
              <a:buNone/>
            </a:pPr>
            <a:r>
              <a:rPr lang="en-US" sz="1800" dirty="0">
                <a:solidFill>
                  <a:srgbClr val="1F2933"/>
                </a:solidFill>
              </a:rPr>
              <a:t>182790599.40元；信用减值损失5068.35万元，解释为部分应收账龄延长。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若专户与银行流水证明持续隔离、归还来源和募投用款安排清晰可上移；若混用重复、归还依赖短期滚动</a:t>
            </a:r>
            <a:endParaRPr lang="en-US" sz="1800" dirty="0"/>
          </a:p>
          <a:p>
            <a:pPr indent="0" marL="0">
              <a:lnSpc>
                <a:spcPct val="100000"/>
              </a:lnSpc>
              <a:buNone/>
            </a:pPr>
            <a:r>
              <a:rPr lang="en-US" sz="1800" dirty="0">
                <a:solidFill>
                  <a:srgbClr val="1F2933"/>
                </a:solidFill>
              </a:rPr>
              <a:t>加深则下移。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现金分配高于同期经营净现金，另有长期基金认缴及经销担保；在</a:t>
            </a:r>
            <a:endParaRPr lang="en-US" sz="1800" dirty="0"/>
          </a:p>
          <a:p>
            <a:pPr indent="0" marL="0">
              <a:lnSpc>
                <a:spcPct val="100000"/>
              </a:lnSpc>
              <a:buNone/>
            </a:pPr>
            <a:r>
              <a:rPr lang="en-US" sz="1800" dirty="0">
                <a:solidFill>
                  <a:srgbClr val="1F2933"/>
                </a:solidFill>
              </a:rPr>
              <a:t>回款修复阶段削弱现金余量，属于信用审慎性问题，不直接构成</a:t>
            </a:r>
            <a:endParaRPr lang="en-US" sz="1800" dirty="0"/>
          </a:p>
          <a:p>
            <a:pPr indent="0" marL="0">
              <a:lnSpc>
                <a:spcPct val="100000"/>
              </a:lnSpc>
              <a:buNone/>
            </a:pPr>
            <a:r>
              <a:rPr lang="en-US" sz="1800" dirty="0">
                <a:solidFill>
                  <a:srgbClr val="1F2933"/>
                </a:solidFill>
              </a:rPr>
              <a:t>侵占或违约。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2025实际现金分红合计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3.88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2025现金分红与经营净现金之比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121.54%</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科顺子公司基金认缴</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2.40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对外担保余额不含子公司</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现金分红3.88 亿元人民币，为经营净现金3.20 亿元</a:t>
            </a:r>
            <a:endParaRPr lang="en-US" sz="1800" dirty="0"/>
          </a:p>
          <a:p>
            <a:pPr indent="0" marL="0">
              <a:lnSpc>
                <a:spcPct val="100000"/>
              </a:lnSpc>
              <a:buNone/>
            </a:pPr>
            <a:r>
              <a:rPr lang="en-US" sz="1800" dirty="0">
                <a:solidFill>
                  <a:srgbClr val="1F2933"/>
                </a:solidFill>
              </a:rPr>
              <a:t>人民币的121.54%；基金认缴2.40 亿元人民币、拟存</a:t>
            </a:r>
            <a:endParaRPr lang="en-US" sz="1800" dirty="0"/>
          </a:p>
          <a:p>
            <a:pPr indent="0" marL="0">
              <a:lnSpc>
                <a:spcPct val="100000"/>
              </a:lnSpc>
              <a:buNone/>
            </a:pPr>
            <a:r>
              <a:rPr lang="en-US" sz="1800" dirty="0">
                <a:solidFill>
                  <a:srgbClr val="1F2933"/>
                </a:solidFill>
              </a:rPr>
              <a:t>续8.00 年，经销商等对外担保余额1.60 亿元人民币。</a:t>
            </a:r>
            <a:endParaRPr lang="en-US" sz="1800" dirty="0"/>
          </a:p>
          <a:p>
            <a:pPr indent="0" marL="0">
              <a:lnSpc>
                <a:spcPct val="100000"/>
              </a:lnSpc>
              <a:buNone/>
            </a:pPr>
            <a:r>
              <a:rPr lang="en-US" sz="1800" dirty="0">
                <a:solidFill>
                  <a:srgbClr val="1F2933"/>
                </a:solidFill>
              </a:rPr>
              <a:t>认缴不等于当年已付现金，反担保不消除保证责任。 上述经销</a:t>
            </a:r>
            <a:endParaRPr lang="en-US" sz="1800" dirty="0"/>
          </a:p>
          <a:p>
            <a:pPr indent="0" marL="0">
              <a:lnSpc>
                <a:spcPct val="100000"/>
              </a:lnSpc>
              <a:buNone/>
            </a:pPr>
            <a:r>
              <a:rPr lang="en-US" sz="1800" dirty="0">
                <a:solidFill>
                  <a:srgbClr val="1F2933"/>
                </a:solidFill>
              </a:rPr>
              <a:t>担保为年末数；三月末集团外实际余额降至7,655.11 万</a:t>
            </a:r>
            <a:endParaRPr lang="en-US" sz="1800" dirty="0"/>
          </a:p>
          <a:p>
            <a:pPr indent="0" marL="0">
              <a:lnSpc>
                <a:spcPct val="100000"/>
              </a:lnSpc>
              <a:buNone/>
            </a:pPr>
            <a:r>
              <a:rPr lang="en-US" sz="1800" dirty="0">
                <a:solidFill>
                  <a:srgbClr val="1F2933"/>
                </a:solidFill>
              </a:rPr>
              <a:t>元人民币，不沿用年末存量代表六月。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自有资金投资可带来未来增量能力，但尚无项目盈利与现金退出</a:t>
            </a:r>
            <a:endParaRPr lang="en-US" sz="1800" dirty="0"/>
          </a:p>
          <a:p>
            <a:pPr indent="0" marL="0">
              <a:lnSpc>
                <a:spcPct val="100000"/>
              </a:lnSpc>
              <a:buNone/>
            </a:pPr>
            <a:r>
              <a:rPr lang="en-US" sz="1800" dirty="0">
                <a:solidFill>
                  <a:srgbClr val="1F2933"/>
                </a:solidFill>
              </a:rPr>
              <a:t>记录验证；合法审批不等于风险低。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2025年度权益分派实施公告规定每股现金0.06元、公告</a:t>
            </a:r>
            <a:endParaRPr lang="en-US" sz="1800" dirty="0"/>
          </a:p>
          <a:p>
            <a:pPr indent="0" marL="0">
              <a:lnSpc>
                <a:spcPct val="100000"/>
              </a:lnSpc>
              <a:buNone/>
            </a:pPr>
            <a:r>
              <a:rPr lang="en-US" sz="1800" dirty="0">
                <a:solidFill>
                  <a:srgbClr val="1F2933"/>
                </a:solidFill>
              </a:rPr>
              <a:t>股本1109971693股，2026-05-26除息及代</a:t>
            </a:r>
            <a:endParaRPr lang="en-US" sz="1800" dirty="0"/>
          </a:p>
          <a:p>
            <a:pPr indent="0" marL="0">
              <a:lnSpc>
                <a:spcPct val="100000"/>
              </a:lnSpc>
              <a:buNone/>
            </a:pPr>
            <a:r>
              <a:rPr lang="en-US" sz="1800" dirty="0">
                <a:solidFill>
                  <a:srgbClr val="1F2933"/>
                </a:solidFill>
              </a:rPr>
              <a:t>派。</a:t>
            </a:r>
            <a:endParaRPr lang="en-US" sz="1800" dirty="0"/>
          </a:p>
          <a:p>
            <a:pPr indent="0" marL="0">
              <a:lnSpc>
                <a:spcPct val="100000"/>
              </a:lnSpc>
              <a:buNone/>
            </a:pPr>
            <a:r>
              <a:rPr lang="en-US" sz="1800" dirty="0">
                <a:solidFill>
                  <a:srgbClr val="1F2933"/>
                </a:solidFill>
              </a:rPr>
              <a:t>截至2026-01-06，旧一轮实际用于临时补流的</a:t>
            </a:r>
            <a:endParaRPr lang="en-US" sz="1800" dirty="0"/>
          </a:p>
          <a:p>
            <a:pPr indent="0" marL="0">
              <a:lnSpc>
                <a:spcPct val="100000"/>
              </a:lnSpc>
              <a:buNone/>
            </a:pPr>
            <a:r>
              <a:rPr lang="en-US" sz="1800" dirty="0">
                <a:solidFill>
                  <a:srgbClr val="1F2933"/>
                </a:solidFill>
              </a:rPr>
              <a:t>130000万元全部归还专户，使用不超过原批准12个月。</a:t>
            </a:r>
            <a:endParaRPr lang="en-US" sz="1800" dirty="0"/>
          </a:p>
          <a:p>
            <a:pPr indent="0" marL="0">
              <a:lnSpc>
                <a:spcPct val="100000"/>
              </a:lnSpc>
              <a:buNone/>
            </a:pPr>
            <a:r>
              <a:rPr lang="en-US" sz="1800" dirty="0">
                <a:solidFill>
                  <a:srgbClr val="1F2933"/>
                </a:solidFill>
              </a:rPr>
              <a:t>公告披露实际担保总额19,710.32，集团内</a:t>
            </a:r>
            <a:endParaRPr lang="en-US" sz="1800" dirty="0"/>
          </a:p>
          <a:p>
            <a:pPr indent="0" marL="0">
              <a:lnSpc>
                <a:spcPct val="100000"/>
              </a:lnSpc>
              <a:buNone/>
            </a:pPr>
            <a:r>
              <a:rPr lang="en-US" sz="1800" dirty="0">
                <a:solidFill>
                  <a:srgbClr val="1F2933"/>
                </a:solidFill>
              </a:rPr>
              <a:t>12,055.21，集团外经销商7,655.11；并声明无</a:t>
            </a:r>
            <a:endParaRPr lang="en-US" sz="1800" dirty="0"/>
          </a:p>
          <a:p>
            <a:pPr indent="0" marL="0">
              <a:lnSpc>
                <a:spcPct val="100000"/>
              </a:lnSpc>
              <a:buNone/>
            </a:pPr>
            <a:r>
              <a:rPr lang="en-US" sz="1800" dirty="0">
                <a:solidFill>
                  <a:srgbClr val="1F2933"/>
                </a:solidFill>
              </a:rPr>
              <a:t>逾期、涉诉担保或因担保判决败诉承担损失。日期为三月末，未</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说明年末前十笔分别解除、展期或代偿情况，也未披露六月存续余</a:t>
            </a:r>
            <a:endParaRPr lang="en-US" sz="1800" dirty="0"/>
          </a:p>
          <a:p>
            <a:pPr indent="0" marL="0">
              <a:lnSpc>
                <a:spcPct val="100000"/>
              </a:lnSpc>
              <a:buNone/>
            </a:pPr>
            <a:r>
              <a:rPr lang="en-US" sz="1800" dirty="0">
                <a:solidFill>
                  <a:srgbClr val="1F2933"/>
                </a:solidFill>
              </a:rPr>
              <a:t>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若基金实际支付明显低于承诺且后续分配与现金创造匹配，压力</a:t>
            </a:r>
            <a:endParaRPr lang="en-US" sz="1800" dirty="0"/>
          </a:p>
          <a:p>
            <a:pPr indent="0" marL="0">
              <a:lnSpc>
                <a:spcPct val="100000"/>
              </a:lnSpc>
              <a:buNone/>
            </a:pPr>
            <a:r>
              <a:rPr lang="en-US" sz="1800" dirty="0">
                <a:solidFill>
                  <a:srgbClr val="1F2933"/>
                </a:solidFill>
              </a:rPr>
              <a:t>降低；若基金催缴、经销代偿及募投支出同时发生，压力上升。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基金关联事项状态仍需勾稽</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基金公告明确当时关联关系与审批，年报关联共同投资栏列无；实际签署、实缴、关联身份变化与重大性口径未完全</a:t>
            </a:r>
            <a:endParaRPr lang="en-US" sz="1600" dirty="0"/>
          </a:p>
          <a:p>
            <a:pPr indent="0" marL="0">
              <a:lnSpc>
                <a:spcPct val="100000"/>
              </a:lnSpc>
              <a:buNone/>
            </a:pPr>
            <a:r>
              <a:rPr lang="en-US" sz="1600" dirty="0">
                <a:solidFill>
                  <a:srgbClr val="1F2933"/>
                </a:solidFill>
              </a:rPr>
              <a:t>勾稽，当前仅列待核，不认定虚假披露。</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解释与依据</a:t>
            </a:r>
            <a:endParaRPr lang="en-US" sz="1600" dirty="0"/>
          </a:p>
          <a:p>
            <a:pPr indent="0" marL="0">
              <a:lnSpc>
                <a:spcPct val="100000"/>
              </a:lnSpc>
              <a:buNone/>
            </a:pPr>
            <a:r>
              <a:rPr lang="en-US" sz="1600" dirty="0">
                <a:solidFill>
                  <a:srgbClr val="1F2933"/>
                </a:solidFill>
              </a:rPr>
              <a:t>初次公告为筹设及认缴，年报经营叙述同时提及基金；缺少足够资料区分设立、认缴、实缴及关系变化时点。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其他解释</a:t>
            </a:r>
            <a:endParaRPr lang="en-US" sz="1600" dirty="0"/>
          </a:p>
          <a:p>
            <a:pPr indent="0" marL="0">
              <a:lnSpc>
                <a:spcPct val="100000"/>
              </a:lnSpc>
              <a:buNone/>
            </a:pPr>
            <a:r>
              <a:rPr lang="en-US" sz="1600" dirty="0">
                <a:solidFill>
                  <a:srgbClr val="1F2933"/>
                </a:solidFill>
              </a:rPr>
              <a:t>交易当时关联关系可能因人员任职改变；尚未实缴、报告分类或重大性口径也可能造成差异。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判断改变条件</a:t>
            </a:r>
            <a:endParaRPr lang="en-US" sz="1600" dirty="0"/>
          </a:p>
          <a:p>
            <a:pPr indent="0" marL="0">
              <a:lnSpc>
                <a:spcPct val="100000"/>
              </a:lnSpc>
              <a:buNone/>
            </a:pPr>
            <a:r>
              <a:rPr lang="en-US" sz="1600" dirty="0">
                <a:solidFill>
                  <a:srgbClr val="1F2933"/>
                </a:solidFill>
              </a:rPr>
              <a:t>取得完整基金成立/登记/实缴流水、人员任职变更及年报分类说明后可关闭。</a:t>
            </a:r>
            <a:endParaRPr lang="en-US" sz="16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ks_b_e_fund / ks_b_e_governance；完整原文与位置见本演示文稿来源附页及备注</a:t>
            </a:r>
            <a:endParaRPr lang="en-US"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总量经济仍增长，但房地产开工、投资和资金连续收缩，非房投资</a:t>
            </a:r>
            <a:endParaRPr lang="en-US" sz="1800" dirty="0"/>
          </a:p>
          <a:p>
            <a:pPr indent="0" marL="0">
              <a:lnSpc>
                <a:spcPct val="100000"/>
              </a:lnSpc>
              <a:buNone/>
            </a:pPr>
            <a:r>
              <a:rPr lang="en-US" sz="1800" dirty="0">
                <a:solidFill>
                  <a:srgbClr val="1F2933"/>
                </a:solidFill>
              </a:rPr>
              <a:t>也分化；行业风险偏高，不能由行业下行直接判定本公司违约。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全国2026年1至5月房屋新开工同比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-22.60%</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全国2026年1至5月开发企业到位资金同比</a:t>
            </a:r>
            <a:endParaRPr lang="en-US" sz="11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-19.00%</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ks_b_e_property26 / ks_b_e_gdp26 / ks_b_e_property25 等；完整原文与位置见本演示文稿来源附页及备注</a:t>
            </a:r>
            <a:endParaRPr lang="en-US"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GDP实际同比5.00%；截止日前房地产投资同比</a:t>
            </a:r>
            <a:endParaRPr lang="en-US" sz="1800" dirty="0"/>
          </a:p>
          <a:p>
            <a:pPr indent="0" marL="0">
              <a:lnSpc>
                <a:spcPct val="100000"/>
              </a:lnSpc>
              <a:buNone/>
            </a:pPr>
            <a:r>
              <a:rPr lang="en-US" sz="1800" dirty="0">
                <a:solidFill>
                  <a:srgbClr val="1F2933"/>
                </a:solidFill>
              </a:rPr>
              <a:t>-16.20%、新开工同比-22.60%、到位资金同比</a:t>
            </a:r>
            <a:endParaRPr lang="en-US" sz="1800" dirty="0"/>
          </a:p>
          <a:p>
            <a:pPr indent="0" marL="0">
              <a:lnSpc>
                <a:spcPct val="100000"/>
              </a:lnSpc>
              <a:buNone/>
            </a:pPr>
            <a:r>
              <a:rPr lang="en-US" sz="1800" dirty="0">
                <a:solidFill>
                  <a:srgbClr val="1F2933"/>
                </a:solidFill>
              </a:rPr>
              <a:t>-19.00%；固定投资同比-4.10%、本次口径基建同比</a:t>
            </a:r>
            <a:endParaRPr lang="en-US" sz="1800" dirty="0"/>
          </a:p>
          <a:p>
            <a:pPr indent="0" marL="0">
              <a:lnSpc>
                <a:spcPct val="100000"/>
              </a:lnSpc>
              <a:buNone/>
            </a:pPr>
            <a:r>
              <a:rPr lang="en-US" sz="1800" dirty="0">
                <a:solidFill>
                  <a:srgbClr val="1F2933"/>
                </a:solidFill>
              </a:rPr>
              <a:t>0.60%。宏观研究中心4.00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刻度）），行业研究中心2.50 分（六分制研究刻度）（</a:t>
            </a:r>
            <a:endParaRPr lang="en-US" sz="1800" dirty="0"/>
          </a:p>
          <a:p>
            <a:pPr indent="0" marL="0">
              <a:lnSpc>
                <a:spcPct val="100000"/>
              </a:lnSpc>
              <a:buNone/>
            </a:pPr>
            <a:r>
              <a:rPr lang="en-US" sz="1800" dirty="0">
                <a:solidFill>
                  <a:srgbClr val="1F2933"/>
                </a:solidFill>
              </a:rPr>
              <a:t>2.00 分（六分制研究刻度）至3.00 分（六分制研究</a:t>
            </a:r>
            <a:endParaRPr lang="en-US" sz="1800" dirty="0"/>
          </a:p>
          <a:p>
            <a:pPr indent="0" marL="0">
              <a:lnSpc>
                <a:spcPct val="100000"/>
              </a:lnSpc>
              <a:buNone/>
            </a:pPr>
            <a:r>
              <a:rPr lang="en-US" sz="1800" dirty="0">
                <a:solidFill>
                  <a:srgbClr val="1F2933"/>
                </a:solidFill>
              </a:rPr>
              <a:t>刻度））。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城市更新、质量标准有利于头部企业，但订单兑现和客户付费仍需</a:t>
            </a:r>
            <a:endParaRPr lang="en-US" sz="1800" dirty="0"/>
          </a:p>
          <a:p>
            <a:pPr indent="0" marL="0">
              <a:lnSpc>
                <a:spcPct val="100000"/>
              </a:lnSpc>
              <a:buNone/>
            </a:pPr>
            <a:r>
              <a:rPr lang="en-US" sz="1800" dirty="0">
                <a:solidFill>
                  <a:srgbClr val="1F2933"/>
                </a:solidFill>
              </a:rPr>
              <a:t>验证；不能把政策规模当企业收入。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中央城市更新意见支持既有建筑、老旧小区及地下管网改造，强调</a:t>
            </a:r>
            <a:endParaRPr lang="en-US" sz="1800" dirty="0"/>
          </a:p>
          <a:p>
            <a:pPr indent="0" marL="0">
              <a:lnSpc>
                <a:spcPct val="100000"/>
              </a:lnSpc>
              <a:buNone/>
            </a:pPr>
            <a:r>
              <a:rPr lang="en-US" sz="1800" dirty="0">
                <a:solidFill>
                  <a:srgbClr val="1F2933"/>
                </a:solidFill>
              </a:rPr>
              <a:t>市场运作、持续投融资及控制债务风险。</a:t>
            </a:r>
            <a:endParaRPr lang="en-US" sz="1800" dirty="0"/>
          </a:p>
          <a:p>
            <a:pPr indent="0" marL="0">
              <a:lnSpc>
                <a:spcPct val="100000"/>
              </a:lnSpc>
              <a:buNone/>
            </a:pPr>
            <a:r>
              <a:rPr lang="en-US" sz="1800" dirty="0">
                <a:solidFill>
                  <a:srgbClr val="1F2933"/>
                </a:solidFill>
              </a:rPr>
              <a:t>GB45320-2025建筑防水卷材安全和通用技术规范于</a:t>
            </a:r>
            <a:endParaRPr lang="en-US" sz="1800" dirty="0"/>
          </a:p>
          <a:p>
            <a:pPr indent="0" marL="0">
              <a:lnSpc>
                <a:spcPct val="100000"/>
              </a:lnSpc>
              <a:buNone/>
            </a:pPr>
            <a:r>
              <a:rPr lang="en-US" sz="1800" dirty="0">
                <a:solidFill>
                  <a:srgbClr val="1F2933"/>
                </a:solidFill>
              </a:rPr>
              <a:t>2025-03-28发布、2025-10-01实施。</a:t>
            </a:r>
            <a:endParaRPr lang="en-US" sz="1800" dirty="0"/>
          </a:p>
          <a:p>
            <a:pPr indent="0" marL="0">
              <a:lnSpc>
                <a:spcPct val="100000"/>
              </a:lnSpc>
              <a:buNone/>
            </a:pPr>
            <a:r>
              <a:rPr lang="en-US" sz="1800" dirty="0">
                <a:solidFill>
                  <a:srgbClr val="1F2933"/>
                </a:solidFill>
              </a:rPr>
              <a:t>GB45671-2025建筑防水涂料安全技术规范于2025</a:t>
            </a:r>
            <a:endParaRPr lang="en-US" sz="1800" dirty="0"/>
          </a:p>
          <a:p>
            <a:pPr indent="0" marL="0">
              <a:lnSpc>
                <a:spcPct val="100000"/>
              </a:lnSpc>
              <a:buNone/>
            </a:pPr>
            <a:r>
              <a:rPr lang="en-US" sz="1800" dirty="0">
                <a:solidFill>
                  <a:srgbClr val="1F2933"/>
                </a:solidFill>
              </a:rPr>
              <a:t>-04-25发布、2025-11-01实施。</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若截止后新增披露显示连续需求及资金恢复，可重新判断；本结论</a:t>
            </a:r>
            <a:endParaRPr lang="en-US" sz="1800" dirty="0"/>
          </a:p>
          <a:p>
            <a:pPr indent="0" marL="0">
              <a:lnSpc>
                <a:spcPct val="100000"/>
              </a:lnSpc>
              <a:buNone/>
            </a:pPr>
            <a:r>
              <a:rPr lang="en-US" sz="1800" dirty="0">
                <a:solidFill>
                  <a:srgbClr val="1F2933"/>
                </a:solidFill>
              </a:rPr>
              <a:t>不使用截止日后数据。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未审计季度收入、扣非利润与经营现金表现改善，但经营现金仍为</a:t>
            </a:r>
            <a:endParaRPr lang="en-US" sz="1800" dirty="0"/>
          </a:p>
          <a:p>
            <a:pPr indent="0" marL="0">
              <a:lnSpc>
                <a:spcPct val="100000"/>
              </a:lnSpc>
              <a:buNone/>
            </a:pPr>
            <a:r>
              <a:rPr lang="en-US" sz="1800" dirty="0">
                <a:solidFill>
                  <a:srgbClr val="1F2933"/>
                </a:solidFill>
              </a:rPr>
              <a:t>净流出，应收账龄压力与预付款占用持续；一个季度不能证明全年</a:t>
            </a:r>
            <a:endParaRPr lang="en-US" sz="1800" dirty="0"/>
          </a:p>
          <a:p>
            <a:pPr indent="0" marL="0">
              <a:lnSpc>
                <a:spcPct val="100000"/>
              </a:lnSpc>
              <a:buNone/>
            </a:pPr>
            <a:r>
              <a:rPr lang="en-US" sz="1800" dirty="0">
                <a:solidFill>
                  <a:srgbClr val="1F2933"/>
                </a:solidFill>
              </a:rPr>
              <a:t>或历史坏账已解决。</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季度收入14.56 亿元人民币、同比4.34%；扣非归母净</a:t>
            </a:r>
            <a:endParaRPr lang="en-US" sz="1800" dirty="0"/>
          </a:p>
          <a:p>
            <a:pPr indent="0" marL="0">
              <a:lnSpc>
                <a:spcPct val="100000"/>
              </a:lnSpc>
              <a:buNone/>
            </a:pPr>
            <a:r>
              <a:rPr lang="en-US" sz="1800" dirty="0">
                <a:solidFill>
                  <a:srgbClr val="1F2933"/>
                </a:solidFill>
              </a:rPr>
              <a:t>利润5,110.51 万元人民币、经营现金</a:t>
            </a:r>
            <a:endParaRPr lang="en-US" sz="1800" dirty="0"/>
          </a:p>
          <a:p>
            <a:pPr indent="0" marL="0">
              <a:lnSpc>
                <a:spcPct val="100000"/>
              </a:lnSpc>
              <a:buNone/>
            </a:pPr>
            <a:r>
              <a:rPr lang="en-US" sz="1800" dirty="0">
                <a:solidFill>
                  <a:srgbClr val="1F2933"/>
                </a:solidFill>
              </a:rPr>
              <a:t>-5,518.29 万元人民币、期末预付款3.05 亿元</a:t>
            </a:r>
            <a:endParaRPr lang="en-US" sz="1800" dirty="0"/>
          </a:p>
          <a:p>
            <a:pPr indent="0" marL="0">
              <a:lnSpc>
                <a:spcPct val="100000"/>
              </a:lnSpc>
              <a:buNone/>
            </a:pPr>
            <a:r>
              <a:rPr lang="en-US" sz="1800" dirty="0">
                <a:solidFill>
                  <a:srgbClr val="1F2933"/>
                </a:solidFill>
              </a:rPr>
              <a:t>人民币。 年度报告收现比116.91%并非当年新销售回款</a:t>
            </a:r>
            <a:endParaRPr lang="en-US" sz="1800" dirty="0"/>
          </a:p>
          <a:p>
            <a:pPr indent="0" marL="0">
              <a:lnSpc>
                <a:spcPct val="100000"/>
              </a:lnSpc>
              <a:buNone/>
            </a:pPr>
            <a:r>
              <a:rPr lang="en-US" sz="1800" dirty="0">
                <a:solidFill>
                  <a:srgbClr val="1F2933"/>
                </a:solidFill>
              </a:rPr>
              <a:t>率，包含旧款回收及含税等口径影响。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2026Q1营业收入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14.56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2026Q1经营净现金流</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600" b="1" dirty="0">
                <a:solidFill>
                  <a:srgbClr val="237F72"/>
                </a:solidFill>
              </a:rPr>
              <a:t>-5,518.29 万元人民币</a:t>
            </a:r>
            <a:endParaRPr lang="en-US" sz="16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季节性、收旧款、产品组合、锁价策略均可能解释短期变化，应</a:t>
            </a:r>
            <a:endParaRPr lang="en-US" sz="1800" dirty="0"/>
          </a:p>
          <a:p>
            <a:pPr indent="0" marL="0">
              <a:lnSpc>
                <a:spcPct val="100000"/>
              </a:lnSpc>
              <a:buNone/>
            </a:pPr>
            <a:r>
              <a:rPr lang="en-US" sz="1800" dirty="0">
                <a:solidFill>
                  <a:srgbClr val="1F2933"/>
                </a:solidFill>
              </a:rPr>
              <a:t>分别观察。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2025年营业收入6044124793.41元；防水材料</a:t>
            </a:r>
            <a:endParaRPr lang="en-US" sz="1800" dirty="0"/>
          </a:p>
          <a:p>
            <a:pPr indent="0" marL="0">
              <a:lnSpc>
                <a:spcPct val="100000"/>
              </a:lnSpc>
              <a:buNone/>
            </a:pPr>
            <a:r>
              <a:rPr lang="en-US" sz="1800" dirty="0">
                <a:solidFill>
                  <a:srgbClr val="1F2933"/>
                </a:solidFill>
              </a:rPr>
              <a:t>收入4659529919.68元，占77.09%；防水工程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a:p>
            <a:pPr indent="0" marL="0">
              <a:lnSpc>
                <a:spcPct val="100000"/>
              </a:lnSpc>
              <a:buNone/>
            </a:pPr>
            <a:r>
              <a:rPr lang="en-US" sz="1800" dirty="0">
                <a:solidFill>
                  <a:srgbClr val="1F2933"/>
                </a:solidFill>
              </a:rPr>
              <a:t>2025年经营净现金流319628020.65元；报告收现</a:t>
            </a:r>
            <a:endParaRPr lang="en-US" sz="1800" dirty="0"/>
          </a:p>
          <a:p>
            <a:pPr indent="0" marL="0">
              <a:lnSpc>
                <a:spcPct val="100000"/>
              </a:lnSpc>
              <a:buNone/>
            </a:pPr>
            <a:r>
              <a:rPr lang="en-US" sz="1800" dirty="0">
                <a:solidFill>
                  <a:srgbClr val="1F2933"/>
                </a:solidFill>
              </a:rPr>
              <a:t>比116.91%；防水实物销量同比下降14.63%。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若多个期间的新订单、旧款现金回收和经销/零售分表共同改善，</a:t>
            </a:r>
            <a:endParaRPr lang="en-US" sz="1800" dirty="0"/>
          </a:p>
          <a:p>
            <a:pPr indent="0" marL="0">
              <a:lnSpc>
                <a:spcPct val="100000"/>
              </a:lnSpc>
              <a:buNone/>
            </a:pPr>
            <a:r>
              <a:rPr lang="en-US" sz="1800" dirty="0">
                <a:solidFill>
                  <a:srgbClr val="1F2933"/>
                </a:solidFill>
              </a:rPr>
              <a:t>证据强化；否则保留条件判断。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基准研究收入区间为58.98 亿元人民币至62.88 亿元</a:t>
            </a:r>
            <a:endParaRPr lang="en-US" sz="1800" dirty="0"/>
          </a:p>
          <a:p>
            <a:pPr indent="0" marL="0">
              <a:lnSpc>
                <a:spcPct val="100000"/>
              </a:lnSpc>
              <a:buNone/>
            </a:pPr>
            <a:r>
              <a:rPr lang="en-US" sz="1800" dirty="0">
                <a:solidFill>
                  <a:srgbClr val="1F2933"/>
                </a:solidFill>
              </a:rPr>
              <a:t>人民币；压力区间54.59 亿元人民币至57.91 亿元</a:t>
            </a:r>
            <a:endParaRPr lang="en-US" sz="1800" dirty="0"/>
          </a:p>
          <a:p>
            <a:pPr indent="0" marL="0">
              <a:lnSpc>
                <a:spcPct val="100000"/>
              </a:lnSpc>
              <a:buNone/>
            </a:pPr>
            <a:r>
              <a:rPr lang="en-US" sz="1800" dirty="0">
                <a:solidFill>
                  <a:srgbClr val="1F2933"/>
                </a:solidFill>
              </a:rPr>
              <a:t>人民币。这些是显式分析者假设，不是发行人预测或既定结果，</a:t>
            </a:r>
            <a:endParaRPr lang="en-US" sz="1800" dirty="0"/>
          </a:p>
          <a:p>
            <a:pPr indent="0" marL="0">
              <a:lnSpc>
                <a:spcPct val="100000"/>
              </a:lnSpc>
              <a:buNone/>
            </a:pPr>
            <a:r>
              <a:rPr lang="en-US" sz="1800" dirty="0">
                <a:solidFill>
                  <a:srgbClr val="1F2933"/>
                </a:solidFill>
              </a:rPr>
              <a:t>也不等于信用结论。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54.59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57.91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基准下界2026收入</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58.98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基准上界2026收入</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62.88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用历史境内58.49 亿元人民币与境外1.95 亿元人民币</a:t>
            </a:r>
            <a:endParaRPr lang="en-US" sz="1800" dirty="0"/>
          </a:p>
          <a:p>
            <a:pPr indent="0" marL="0">
              <a:lnSpc>
                <a:spcPct val="100000"/>
              </a:lnSpc>
              <a:buNone/>
            </a:pPr>
            <a:r>
              <a:rPr lang="en-US" sz="1800" dirty="0">
                <a:solidFill>
                  <a:srgbClr val="1F2933"/>
                </a:solidFill>
              </a:rPr>
              <a:t>分别按情景增长再相加。基准境内增长假设-3.00%至</a:t>
            </a:r>
            <a:endParaRPr lang="en-US" sz="1800" dirty="0"/>
          </a:p>
          <a:p>
            <a:pPr indent="0" marL="0">
              <a:lnSpc>
                <a:spcPct val="100000"/>
              </a:lnSpc>
              <a:buNone/>
            </a:pPr>
            <a:r>
              <a:rPr lang="en-US" sz="1800" dirty="0">
                <a:solidFill>
                  <a:srgbClr val="1F2933"/>
                </a:solidFill>
              </a:rPr>
              <a:t>3.00%，境外15.00%至35.00%。改善情景</a:t>
            </a:r>
            <a:endParaRPr lang="en-US" sz="1800" dirty="0"/>
          </a:p>
          <a:p>
            <a:pPr indent="0" marL="0">
              <a:lnSpc>
                <a:spcPct val="100000"/>
              </a:lnSpc>
              <a:buNone/>
            </a:pPr>
            <a:r>
              <a:rPr lang="en-US" sz="1800" dirty="0">
                <a:solidFill>
                  <a:srgbClr val="1F2933"/>
                </a:solidFill>
              </a:rPr>
              <a:t>64.05 亿元人民币至66.00 亿元人民币须渠道订单与</a:t>
            </a:r>
            <a:endParaRPr lang="en-US" sz="1800" dirty="0"/>
          </a:p>
          <a:p>
            <a:pPr indent="0" marL="0">
              <a:lnSpc>
                <a:spcPct val="100000"/>
              </a:lnSpc>
              <a:buNone/>
            </a:pPr>
            <a:r>
              <a:rPr lang="en-US" sz="1800" dirty="0">
                <a:solidFill>
                  <a:srgbClr val="1F2933"/>
                </a:solidFill>
              </a:rPr>
              <a:t>现金共同兑现。</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房地产下行可部分由零售、非房和海外抵消；亦可能因回款和采购</a:t>
            </a:r>
            <a:endParaRPr lang="en-US" sz="1800" dirty="0"/>
          </a:p>
          <a:p>
            <a:pPr indent="0" marL="0">
              <a:lnSpc>
                <a:spcPct val="100000"/>
              </a:lnSpc>
              <a:buNone/>
            </a:pPr>
            <a:r>
              <a:rPr lang="en-US" sz="1800" dirty="0">
                <a:solidFill>
                  <a:srgbClr val="1F2933"/>
                </a:solidFill>
              </a:rPr>
              <a:t>占用使收入增长不产生现金。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64.05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66.00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主要原料包括沥青、膜、聚酯胎基、SBS、聚醚等石化原料；</a:t>
            </a:r>
            <a:endParaRPr lang="en-US" sz="1800" dirty="0"/>
          </a:p>
          <a:p>
            <a:pPr indent="0" marL="0">
              <a:lnSpc>
                <a:spcPct val="100000"/>
              </a:lnSpc>
              <a:buNone/>
            </a:pPr>
            <a:r>
              <a:rPr lang="en-US" sz="1800" dirty="0">
                <a:solidFill>
                  <a:srgbClr val="1F2933"/>
                </a:solidFill>
              </a:rPr>
              <a:t>公司明确对沥青等大宗原料议价能力相对弱；通过集采、储备及套</a:t>
            </a:r>
            <a:endParaRPr lang="en-US" sz="1800" dirty="0"/>
          </a:p>
          <a:p>
            <a:pPr indent="0" marL="0">
              <a:lnSpc>
                <a:spcPct val="100000"/>
              </a:lnSpc>
              <a:buNone/>
            </a:pPr>
            <a:r>
              <a:rPr lang="en-US" sz="1800" dirty="0">
                <a:solidFill>
                  <a:srgbClr val="1F2933"/>
                </a:solidFill>
              </a:rPr>
              <a:t>保缓释价格风险。</a:t>
            </a:r>
            <a:endParaRPr lang="en-US" sz="1800" dirty="0"/>
          </a:p>
          <a:p>
            <a:pPr indent="0" marL="0">
              <a:lnSpc>
                <a:spcPct val="100000"/>
              </a:lnSpc>
              <a:buNone/>
            </a:pPr>
            <a:r>
              <a:rPr lang="en-US" sz="1800" dirty="0">
                <a:solidFill>
                  <a:srgbClr val="1F2933"/>
                </a:solidFill>
              </a:rPr>
              <a:t>2025年经营净现金流319628020.65元；报告收现</a:t>
            </a:r>
            <a:endParaRPr lang="en-US" sz="1800" dirty="0"/>
          </a:p>
          <a:p>
            <a:pPr indent="0" marL="0">
              <a:lnSpc>
                <a:spcPct val="100000"/>
              </a:lnSpc>
              <a:buNone/>
            </a:pPr>
            <a:r>
              <a:rPr lang="en-US" sz="1800" dirty="0">
                <a:solidFill>
                  <a:srgbClr val="1F2933"/>
                </a:solidFill>
              </a:rPr>
              <a:t>比116.91%；防水实物销量同比下降14.63%。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取得渠道收入、实际订单、旧账回款及海外数据后重设地区增长</a:t>
            </a:r>
            <a:endParaRPr lang="en-US" sz="1800" dirty="0"/>
          </a:p>
          <a:p>
            <a:pPr indent="0" marL="0">
              <a:lnSpc>
                <a:spcPct val="100000"/>
              </a:lnSpc>
              <a:buNone/>
            </a:pPr>
            <a:r>
              <a:rPr lang="en-US" sz="1800" dirty="0">
                <a:solidFill>
                  <a:srgbClr val="1F2933"/>
                </a:solidFill>
              </a:rPr>
              <a:t>假设。该地区收入区间只作独立敏感性；经营融资链另采用同季</a:t>
            </a:r>
            <a:endParaRPr lang="en-US" sz="1800" dirty="0"/>
          </a:p>
          <a:p>
            <a:pPr indent="0" marL="0">
              <a:lnSpc>
                <a:spcPct val="100000"/>
              </a:lnSpc>
              <a:buNone/>
            </a:pPr>
            <a:r>
              <a:rPr lang="en-US" sz="1800" dirty="0">
                <a:solidFill>
                  <a:srgbClr val="1F2933"/>
                </a:solidFill>
              </a:rPr>
              <a:t>收入锚×98%并同步现金及成本，不将两套假设混成同一预测。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截至已取得的一季度末，实际未转股面值 21.98 亿元人民</a:t>
            </a:r>
            <a:endParaRPr lang="en-US" sz="1800" dirty="0"/>
          </a:p>
          <a:p>
            <a:pPr indent="0" marL="0">
              <a:lnSpc>
                <a:spcPct val="100000"/>
              </a:lnSpc>
              <a:buNone/>
            </a:pPr>
            <a:r>
              <a:rPr lang="en-US" sz="1800" dirty="0">
                <a:solidFill>
                  <a:srgbClr val="1F2933"/>
                </a:solidFill>
              </a:rPr>
              <a:t>币，占发行额 99.99%。保持该本金且不发生后续转股、</a:t>
            </a:r>
            <a:endParaRPr lang="en-US" sz="1800" dirty="0"/>
          </a:p>
          <a:p>
            <a:pPr indent="0" marL="0">
              <a:lnSpc>
                <a:spcPct val="100000"/>
              </a:lnSpc>
              <a:buNone/>
            </a:pPr>
            <a:r>
              <a:rPr lang="en-US" sz="1800" dirty="0">
                <a:solidFill>
                  <a:srgbClr val="1F2933"/>
                </a:solidFill>
              </a:rPr>
              <a:t>提前行权或加速时，年度合同支付依次为：2026年 </a:t>
            </a:r>
            <a:endParaRPr lang="en-US" sz="1800" dirty="0"/>
          </a:p>
          <a:p>
            <a:pPr indent="0" marL="0">
              <a:lnSpc>
                <a:spcPct val="100000"/>
              </a:lnSpc>
              <a:buNone/>
            </a:pPr>
            <a:r>
              <a:rPr lang="en-US" sz="1800" dirty="0">
                <a:solidFill>
                  <a:srgbClr val="1F2933"/>
                </a:solidFill>
              </a:rPr>
              <a:t>2,197.82 万元人民币、2027年 3,296.73</a:t>
            </a:r>
            <a:endParaRPr lang="en-US" sz="1800" dirty="0"/>
          </a:p>
          <a:p>
            <a:pPr indent="0" marL="0">
              <a:lnSpc>
                <a:spcPct val="100000"/>
              </a:lnSpc>
              <a:buNone/>
            </a:pPr>
            <a:r>
              <a:rPr lang="en-US" sz="1800" dirty="0">
                <a:solidFill>
                  <a:srgbClr val="1F2933"/>
                </a:solidFill>
              </a:rPr>
              <a:t> 万元人民币、2028年 3,956.08 万元人民币、</a:t>
            </a:r>
            <a:endParaRPr lang="en-US" sz="1800" dirty="0"/>
          </a:p>
          <a:p>
            <a:pPr indent="0" marL="0">
              <a:lnSpc>
                <a:spcPct val="100000"/>
              </a:lnSpc>
              <a:buNone/>
            </a:pPr>
            <a:r>
              <a:rPr lang="en-US" sz="1800" dirty="0">
                <a:solidFill>
                  <a:srgbClr val="1F2933"/>
                </a:solidFill>
              </a:rPr>
              <a:t>2029年 25.27 亿元人民币。到期合同倍数 </a:t>
            </a:r>
            <a:endParaRPr lang="en-US" sz="1800" dirty="0"/>
          </a:p>
          <a:p>
            <a:pPr indent="0" marL="0">
              <a:lnSpc>
                <a:spcPct val="100000"/>
              </a:lnSpc>
              <a:buNone/>
            </a:pPr>
            <a:r>
              <a:rPr lang="en-US" sz="1800" dirty="0">
                <a:solidFill>
                  <a:srgbClr val="1F2933"/>
                </a:solidFill>
              </a:rPr>
              <a:t>115.00% 已含最后一期利息；不能再另加末息。</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年末未转股面值</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一季度末未转股面值占发行额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99.99%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2026年固定本金情景合同现金支付</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2,197.82 万元人民币</a:t>
            </a:r>
            <a:endParaRPr lang="en-US" sz="17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未来合计 26.22 亿元人民币，其中到期本金 21.98</a:t>
            </a:r>
            <a:endParaRPr lang="en-US" sz="1800" dirty="0"/>
          </a:p>
          <a:p>
            <a:pPr indent="0" marL="0">
              <a:lnSpc>
                <a:spcPct val="100000"/>
              </a:lnSpc>
              <a:buNone/>
            </a:pPr>
            <a:r>
              <a:rPr lang="en-US" sz="1800" dirty="0">
                <a:solidFill>
                  <a:srgbClr val="1F2933"/>
                </a:solidFill>
              </a:rPr>
              <a:t> 亿元人民币、内含末息 4,395.64 万元人民币、其他</a:t>
            </a:r>
            <a:endParaRPr lang="en-US" sz="1800" dirty="0"/>
          </a:p>
          <a:p>
            <a:pPr indent="0" marL="0">
              <a:lnSpc>
                <a:spcPct val="100000"/>
              </a:lnSpc>
              <a:buNone/>
            </a:pPr>
            <a:r>
              <a:rPr lang="en-US" sz="1800" dirty="0">
                <a:solidFill>
                  <a:srgbClr val="1F2933"/>
                </a:solidFill>
              </a:rPr>
              <a:t>到期溢价 2.86 亿元人民币。每年按合同付息日及顺延规则</a:t>
            </a:r>
            <a:endParaRPr lang="en-US" sz="1800" dirty="0"/>
          </a:p>
          <a:p>
            <a:pPr indent="0" marL="0">
              <a:lnSpc>
                <a:spcPct val="100000"/>
              </a:lnSpc>
              <a:buNone/>
            </a:pPr>
            <a:r>
              <a:rPr lang="en-US" sz="1800" dirty="0">
                <a:solidFill>
                  <a:srgbClr val="1F2933"/>
                </a:solidFill>
              </a:rPr>
              <a:t>确定，付息日后五个交易日内支付，到期在2029-08-03</a:t>
            </a:r>
            <a:endParaRPr lang="en-US" sz="1800" dirty="0"/>
          </a:p>
          <a:p>
            <a:pPr indent="0" marL="0">
              <a:lnSpc>
                <a:spcPct val="100000"/>
              </a:lnSpc>
              <a:buNone/>
            </a:pPr>
            <a:r>
              <a:rPr lang="en-US" sz="1800" dirty="0">
                <a:solidFill>
                  <a:srgbClr val="1F2933"/>
                </a:solidFill>
              </a:rPr>
              <a:t>之后五个交易日内兑付。此为已取证本金起点的条件情景，不是六</a:t>
            </a:r>
            <a:endParaRPr lang="en-US" sz="1800" dirty="0"/>
          </a:p>
          <a:p>
            <a:pPr indent="0" marL="0">
              <a:lnSpc>
                <a:spcPct val="100000"/>
              </a:lnSpc>
              <a:buNone/>
            </a:pPr>
            <a:r>
              <a:rPr lang="en-US" sz="1800" dirty="0">
                <a:solidFill>
                  <a:srgbClr val="1F2933"/>
                </a:solidFill>
              </a:rPr>
              <a:t>月末实际余额或未来转股预测。</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2027年固定本金情景合同现金支付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3,296.73 万元人民币</a:t>
            </a:r>
            <a:endParaRPr lang="en-US" sz="17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2028年固定本金情景合同现金支付</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3,956.08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固定本金情景未来合同现金合计</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26.22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后续转股会减少本金和适用付息本金，但不能在没有股价、意愿和</a:t>
            </a:r>
            <a:endParaRPr lang="en-US" sz="1800" dirty="0"/>
          </a:p>
          <a:p>
            <a:pPr indent="0" marL="0">
              <a:lnSpc>
                <a:spcPct val="100000"/>
              </a:lnSpc>
              <a:buNone/>
            </a:pPr>
            <a:r>
              <a:rPr lang="en-US" sz="1800" dirty="0">
                <a:solidFill>
                  <a:srgbClr val="1F2933"/>
                </a:solidFill>
              </a:rPr>
              <a:t>实际执行证据时预先当作现金来源。</a:t>
            </a:r>
            <a:endParaRPr lang="en-US" sz="1800" dirty="0"/>
          </a:p>
          <a:p>
            <a:pPr indent="0" marL="0">
              <a:lnSpc>
                <a:spcPct val="100000"/>
              </a:lnSpc>
              <a:buNone/>
            </a:pPr>
            <a:r>
              <a:rPr lang="en-US" sz="1800" dirty="0">
                <a:solidFill>
                  <a:srgbClr val="1F2933"/>
                </a:solidFill>
              </a:rPr>
              <a:t>回售、赎回或有效加速可能提前现金需求；相关情景应单独列示，</a:t>
            </a:r>
            <a:endParaRPr lang="en-US" sz="1800" dirty="0"/>
          </a:p>
          <a:p>
            <a:pPr indent="0" marL="0">
              <a:lnSpc>
                <a:spcPct val="100000"/>
              </a:lnSpc>
              <a:buNone/>
            </a:pPr>
            <a:r>
              <a:rPr lang="en-US" sz="1800" dirty="0">
                <a:solidFill>
                  <a:srgbClr val="1F2933"/>
                </a:solidFill>
              </a:rPr>
              <a:t>不能与全期合同现金流重复累计。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一季度已转股面值：8,600.00 元人民币</a:t>
            </a:r>
            <a:endParaRPr lang="en-US" sz="1800" dirty="0"/>
          </a:p>
          <a:p>
            <a:pPr indent="0" marL="0">
              <a:lnSpc>
                <a:spcPct val="100000"/>
              </a:lnSpc>
              <a:buNone/>
            </a:pPr>
            <a:r>
              <a:rPr lang="en-US" sz="1800" dirty="0">
                <a:solidFill>
                  <a:srgbClr val="1F2933"/>
                </a:solidFill>
              </a:rPr>
              <a:t>最后两个计息年度中，任意连续三十个交易日收盘价低于当期转</a:t>
            </a:r>
            <a:endParaRPr lang="en-US" sz="1800" dirty="0"/>
          </a:p>
          <a:p>
            <a:pPr indent="0" marL="0">
              <a:lnSpc>
                <a:spcPct val="100000"/>
              </a:lnSpc>
              <a:buNone/>
            </a:pPr>
            <a:r>
              <a:rPr lang="en-US" sz="1800" dirty="0">
                <a:solidFill>
                  <a:srgbClr val="1F2933"/>
                </a:solidFill>
              </a:rPr>
              <a:t>股价70%，持有人可按面值加应计利息回售；每计息年度首次</a:t>
            </a:r>
            <a:endParaRPr lang="en-US" sz="1800" dirty="0"/>
          </a:p>
          <a:p>
            <a:pPr indent="0" marL="0">
              <a:lnSpc>
                <a:spcPct val="100000"/>
              </a:lnSpc>
              <a:buNone/>
            </a:pPr>
            <a:r>
              <a:rPr lang="en-US" sz="1800" dirty="0">
                <a:solidFill>
                  <a:srgbClr val="1F2933"/>
                </a:solidFill>
              </a:rPr>
              <a:t>触发后按公告申报，不能多次行使部分回售，向下修正转股价则重</a:t>
            </a:r>
            <a:endParaRPr lang="en-US" sz="1800" dirty="0"/>
          </a:p>
          <a:p>
            <a:pPr indent="0" marL="0">
              <a:lnSpc>
                <a:spcPct val="100000"/>
              </a:lnSpc>
              <a:buNone/>
            </a:pPr>
            <a:r>
              <a:rPr lang="en-US" sz="1800" dirty="0">
                <a:solidFill>
                  <a:srgbClr val="1F2933"/>
                </a:solidFill>
              </a:rPr>
              <a:t>算观察期。募集资金投资项目实施发生重大变化且依法被视为或被</a:t>
            </a:r>
            <a:endParaRPr lang="en-US" sz="1800" dirty="0"/>
          </a:p>
          <a:p>
            <a:pPr indent="0" marL="0">
              <a:lnSpc>
                <a:spcPct val="100000"/>
              </a:lnSpc>
              <a:buNone/>
            </a:pPr>
            <a:r>
              <a:rPr lang="en-US" sz="1800" dirty="0">
                <a:solidFill>
                  <a:srgbClr val="1F2933"/>
                </a:solidFill>
              </a:rPr>
              <a:t>监管认定改变用途时，有一次附加回售权。</a:t>
            </a:r>
            <a:endParaRPr lang="en-US" sz="1800" dirty="0"/>
          </a:p>
          <a:p>
            <a:pPr indent="0" marL="0">
              <a:lnSpc>
                <a:spcPct val="100000"/>
              </a:lnSpc>
              <a:buNone/>
            </a:pPr>
            <a:r>
              <a:rPr lang="en-US" sz="1800" dirty="0">
                <a:solidFill>
                  <a:srgbClr val="1F2933"/>
                </a:solidFill>
              </a:rPr>
              <a:t>到期后五个交易日内按票面面值115%赎回未转股债券，含最后</a:t>
            </a:r>
            <a:endParaRPr lang="en-US" sz="1800" dirty="0"/>
          </a:p>
          <a:p>
            <a:pPr indent="0" marL="0">
              <a:lnSpc>
                <a:spcPct val="100000"/>
              </a:lnSpc>
              <a:buNone/>
            </a:pPr>
            <a:r>
              <a:rPr lang="en-US" sz="1800" dirty="0">
                <a:solidFill>
                  <a:srgbClr val="1F2933"/>
                </a:solidFill>
              </a:rPr>
              <a:t>一期利息。转股期内连续三十个交易日至少十五日收盘价不低于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当期转股价130%，或未转股余额不足3000万元，发行人可</a:t>
            </a:r>
            <a:endParaRPr lang="en-US" sz="1800" dirty="0"/>
          </a:p>
          <a:p>
            <a:pPr indent="0" marL="0">
              <a:lnSpc>
                <a:spcPct val="100000"/>
              </a:lnSpc>
              <a:buNone/>
            </a:pPr>
            <a:r>
              <a:rPr lang="en-US" sz="1800" dirty="0">
                <a:solidFill>
                  <a:srgbClr val="1F2933"/>
                </a:solidFill>
              </a:rPr>
              <a:t>按面值加应计利息赎回。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取得截止日内新的有效面值余额或已经执行的转股、赎回、回售及</a:t>
            </a:r>
            <a:endParaRPr lang="en-US" sz="1800" dirty="0"/>
          </a:p>
          <a:p>
            <a:pPr indent="0" marL="0">
              <a:lnSpc>
                <a:spcPct val="100000"/>
              </a:lnSpc>
              <a:buNone/>
            </a:pPr>
            <a:r>
              <a:rPr lang="en-US" sz="1800" dirty="0">
                <a:solidFill>
                  <a:srgbClr val="1F2933"/>
                </a:solidFill>
              </a:rPr>
              <a:t>合同变更后，保留原始日期并重跑现金流情景；现有情景不代表</a:t>
            </a:r>
            <a:endParaRPr lang="en-US" sz="1800" dirty="0"/>
          </a:p>
          <a:p>
            <a:pPr indent="0" marL="0">
              <a:lnSpc>
                <a:spcPct val="100000"/>
              </a:lnSpc>
              <a:buNone/>
            </a:pPr>
            <a:r>
              <a:rPr lang="en-US" sz="1800" dirty="0">
                <a:solidFill>
                  <a:srgbClr val="1F2933"/>
                </a:solidFill>
              </a:rPr>
              <a:t>资金来源已落实。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正式合同115%已进入现有现金时间表，无需追加债务。原项目</a:t>
            </a:r>
            <a:endParaRPr lang="en-US" sz="1800" dirty="0"/>
          </a:p>
          <a:p>
            <a:pPr indent="0" marL="0">
              <a:lnSpc>
                <a:spcPct val="100000"/>
              </a:lnSpc>
              <a:buNone/>
            </a:pPr>
            <a:r>
              <a:rPr lang="en-US" sz="1800" dirty="0">
                <a:solidFill>
                  <a:srgbClr val="1F2933"/>
                </a:solidFill>
              </a:rPr>
              <a:t>T+6测算采用104%比较额，且其中79.48%税前净现金</a:t>
            </a:r>
            <a:endParaRPr lang="en-US" sz="1800" dirty="0"/>
          </a:p>
          <a:p>
            <a:pPr indent="0" marL="0">
              <a:lnSpc>
                <a:spcPct val="100000"/>
              </a:lnSpc>
              <a:buNone/>
            </a:pPr>
            <a:r>
              <a:rPr lang="en-US" sz="1800" dirty="0">
                <a:solidFill>
                  <a:srgbClr val="1F2933"/>
                </a:solidFill>
              </a:rPr>
              <a:t>来自固定资产余值和流动资金终期回收；扣除此两项后的原模型余</a:t>
            </a:r>
            <a:endParaRPr lang="en-US" sz="1800" dirty="0"/>
          </a:p>
          <a:p>
            <a:pPr indent="0" marL="0">
              <a:lnSpc>
                <a:spcPct val="100000"/>
              </a:lnSpc>
              <a:buNone/>
            </a:pPr>
            <a:r>
              <a:rPr lang="en-US" sz="1800" dirty="0">
                <a:solidFill>
                  <a:srgbClr val="1F2933"/>
                </a:solidFill>
              </a:rPr>
              <a:t>额5.02 亿元人民币不是标准经营现金流。该历史项目预测</a:t>
            </a:r>
            <a:endParaRPr lang="en-US" sz="1800" dirty="0"/>
          </a:p>
          <a:p>
            <a:pPr indent="0" marL="0">
              <a:lnSpc>
                <a:spcPct val="100000"/>
              </a:lnSpc>
              <a:buNone/>
            </a:pPr>
            <a:r>
              <a:rPr lang="en-US" sz="1800" dirty="0">
                <a:solidFill>
                  <a:srgbClr val="1F2933"/>
                </a:solidFill>
              </a:rPr>
              <a:t>不能直接列作截止日已落实的母公司偿债资金。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旧T+6税前净现金中终期回收占比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79.48%</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同份文件第14/67页旧预测与第43页最终条款并列。按旧表</a:t>
            </a:r>
            <a:endParaRPr lang="en-US" sz="1800" dirty="0"/>
          </a:p>
          <a:p>
            <a:pPr indent="0" marL="0">
              <a:lnSpc>
                <a:spcPct val="100000"/>
              </a:lnSpc>
              <a:buNone/>
            </a:pPr>
            <a:r>
              <a:rPr lang="en-US" sz="1800" dirty="0">
                <a:solidFill>
                  <a:srgbClr val="1F2933"/>
                </a:solidFill>
              </a:rPr>
              <a:t>满额面值重新套用115%会改变旧表覆盖结论，但既有2026</a:t>
            </a:r>
            <a:endParaRPr lang="en-US" sz="1800" dirty="0"/>
          </a:p>
          <a:p>
            <a:pPr indent="0" marL="0">
              <a:lnSpc>
                <a:spcPct val="100000"/>
              </a:lnSpc>
              <a:buNone/>
            </a:pPr>
            <a:r>
              <a:rPr lang="en-US" sz="1800" dirty="0">
                <a:solidFill>
                  <a:srgbClr val="1F2933"/>
                </a:solidFill>
              </a:rPr>
              <a:t>—2029需求已用115%，不再追加差额。项目末年强行变现</a:t>
            </a:r>
            <a:endParaRPr lang="en-US" sz="1800" dirty="0"/>
          </a:p>
          <a:p>
            <a:pPr indent="0" marL="0">
              <a:lnSpc>
                <a:spcPct val="100000"/>
              </a:lnSpc>
              <a:buNone/>
            </a:pPr>
            <a:r>
              <a:rPr lang="en-US" sz="1800" dirty="0">
                <a:solidFill>
                  <a:srgbClr val="1F2933"/>
                </a:solidFill>
              </a:rPr>
              <a:t>还需税费、权属/抵押与债权顺位、出售成交和营运资金净回收</a:t>
            </a:r>
            <a:endParaRPr lang="en-US" sz="1800" dirty="0"/>
          </a:p>
          <a:p>
            <a:pPr indent="0" marL="0">
              <a:lnSpc>
                <a:spcPct val="100000"/>
              </a:lnSpc>
              <a:buNone/>
            </a:pPr>
            <a:r>
              <a:rPr lang="en-US" sz="1800" dirty="0">
                <a:solidFill>
                  <a:srgbClr val="1F2933"/>
                </a:solidFill>
              </a:rPr>
              <a:t>日期；清算回收不能与同一资产继续经营的现金流重复计算。原表</a:t>
            </a:r>
            <a:endParaRPr lang="en-US" sz="1800" dirty="0"/>
          </a:p>
          <a:p>
            <a:pPr indent="0" marL="0">
              <a:lnSpc>
                <a:spcPct val="100000"/>
              </a:lnSpc>
              <a:buNone/>
            </a:pPr>
            <a:r>
              <a:rPr lang="en-US" sz="1800" dirty="0">
                <a:solidFill>
                  <a:srgbClr val="1F2933"/>
                </a:solidFill>
              </a:rPr>
              <a:t>是税前、项目层及T+6相对期间，不能跳过公司层及付款日的</a:t>
            </a:r>
            <a:endParaRPr lang="en-US" sz="1800" dirty="0"/>
          </a:p>
          <a:p>
            <a:pPr indent="0" marL="0">
              <a:lnSpc>
                <a:spcPct val="100000"/>
              </a:lnSpc>
              <a:buNone/>
            </a:pPr>
            <a:r>
              <a:rPr lang="en-US" sz="1800" dirty="0">
                <a:solidFill>
                  <a:srgbClr val="1F2933"/>
                </a:solidFill>
              </a:rPr>
              <a:t>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原104%可能是募集方案定价前的示意测算沿用，现有资料不足</a:t>
            </a:r>
            <a:endParaRPr lang="en-US" sz="1800" dirty="0"/>
          </a:p>
          <a:p>
            <a:pPr indent="0" marL="0">
              <a:lnSpc>
                <a:spcPct val="100000"/>
              </a:lnSpc>
              <a:buNone/>
            </a:pPr>
            <a:r>
              <a:rPr lang="en-US" sz="1800" dirty="0">
                <a:solidFill>
                  <a:srgbClr val="1F2933"/>
                </a:solidFill>
              </a:rPr>
              <a:t>以判断原因、修订义务或主观意图；正式合同支付价格仍按115</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此前留存项目现金、其他业务产现、可执行融资或真实转股均可能</a:t>
            </a:r>
            <a:endParaRPr lang="en-US" sz="1800" dirty="0"/>
          </a:p>
          <a:p>
            <a:pPr indent="0" marL="0">
              <a:lnSpc>
                <a:spcPct val="100000"/>
              </a:lnSpc>
              <a:buNone/>
            </a:pPr>
            <a:r>
              <a:rPr lang="en-US" sz="1800" dirty="0">
                <a:solidFill>
                  <a:srgbClr val="1F2933"/>
                </a:solidFill>
              </a:rPr>
              <a:t>改变发行人总体覆盖；不能把旧末年单表差额等同集团资金缺口，</a:t>
            </a:r>
            <a:endParaRPr lang="en-US" sz="1800" dirty="0"/>
          </a:p>
          <a:p>
            <a:pPr indent="0" marL="0">
              <a:lnSpc>
                <a:spcPct val="100000"/>
              </a:lnSpc>
              <a:buNone/>
            </a:pPr>
            <a:r>
              <a:rPr lang="en-US" sz="1800" dirty="0">
                <a:solidFill>
                  <a:srgbClr val="1F2933"/>
                </a:solidFill>
              </a:rPr>
              <a:t>也不能先假定这些资源已到账。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取得与最终条款、实际工程节点和截至信息日经营假设一致的逐月</a:t>
            </a:r>
            <a:endParaRPr lang="en-US" sz="1800" dirty="0"/>
          </a:p>
          <a:p>
            <a:pPr indent="0" marL="0">
              <a:lnSpc>
                <a:spcPct val="100000"/>
              </a:lnSpc>
              <a:buNone/>
            </a:pPr>
            <a:r>
              <a:rPr lang="en-US" sz="1800" dirty="0">
                <a:solidFill>
                  <a:srgbClr val="1F2933"/>
                </a:solidFill>
              </a:rPr>
              <a:t>税后项目及发行人来源用途表，完成净可变现及资金上划桥后才</a:t>
            </a:r>
            <a:endParaRPr lang="en-US" sz="1800" dirty="0"/>
          </a:p>
          <a:p>
            <a:pPr indent="0" marL="0">
              <a:lnSpc>
                <a:spcPct val="100000"/>
              </a:lnSpc>
              <a:buNone/>
            </a:pPr>
            <a:r>
              <a:rPr lang="en-US" sz="1800" dirty="0">
                <a:solidFill>
                  <a:srgbClr val="1F2933"/>
                </a:solidFill>
              </a:rPr>
              <a:t>纳入偿债来源。若旧预测从未进入现有量化来源，移除其信用论据</a:t>
            </a:r>
            <a:endParaRPr lang="en-US" sz="1800" dirty="0"/>
          </a:p>
          <a:p>
            <a:pPr indent="0" marL="0">
              <a:lnSpc>
                <a:spcPct val="100000"/>
              </a:lnSpc>
              <a:buNone/>
            </a:pPr>
            <a:r>
              <a:rPr lang="en-US" sz="1800" dirty="0">
                <a:solidFill>
                  <a:srgbClr val="1F2933"/>
                </a:solidFill>
              </a:rPr>
              <a:t>不改变现有现金数值或机械改变档位。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2025末四项建设升级的累计募集投入比例12.63%；未</a:t>
            </a:r>
            <a:endParaRPr lang="en-US" sz="1800" dirty="0"/>
          </a:p>
          <a:p>
            <a:pPr indent="0" marL="0">
              <a:lnSpc>
                <a:spcPct val="100000"/>
              </a:lnSpc>
              <a:buNone/>
            </a:pPr>
            <a:r>
              <a:rPr lang="en-US" sz="1800" dirty="0">
                <a:solidFill>
                  <a:srgbClr val="1F2933"/>
                </a:solidFill>
              </a:rPr>
              <a:t>投入计划额度13.34 亿元人民币不是即期负债。四项预定可</a:t>
            </a:r>
            <a:endParaRPr lang="en-US" sz="1800" dirty="0"/>
          </a:p>
          <a:p>
            <a:pPr indent="0" marL="0">
              <a:lnSpc>
                <a:spcPct val="100000"/>
              </a:lnSpc>
              <a:buNone/>
            </a:pPr>
            <a:r>
              <a:rPr lang="en-US" sz="1800" dirty="0">
                <a:solidFill>
                  <a:srgbClr val="1F2933"/>
                </a:solidFill>
              </a:rPr>
              <a:t>使用日均延至2028-12-31，与2029-08-03</a:t>
            </a:r>
            <a:endParaRPr lang="en-US" sz="1800" dirty="0"/>
          </a:p>
          <a:p>
            <a:pPr indent="0" marL="0">
              <a:lnSpc>
                <a:spcPct val="100000"/>
              </a:lnSpc>
              <a:buNone/>
            </a:pPr>
            <a:r>
              <a:rPr lang="en-US" sz="1800" dirty="0">
                <a:solidFill>
                  <a:srgbClr val="1F2933"/>
                </a:solidFill>
              </a:rPr>
              <a:t>合同到期相隔215个自然日；可使用不等于满产、收款或已获</a:t>
            </a:r>
            <a:endParaRPr lang="en-US" sz="1800" dirty="0"/>
          </a:p>
          <a:p>
            <a:pPr indent="0" marL="0">
              <a:lnSpc>
                <a:spcPct val="100000"/>
              </a:lnSpc>
              <a:buNone/>
            </a:pPr>
            <a:r>
              <a:rPr lang="en-US" sz="1800" dirty="0">
                <a:solidFill>
                  <a:srgbClr val="1F2933"/>
                </a:solidFill>
              </a:rPr>
              <a:t>处置价。2026-01-09新一期临时补流批准不超过12个</a:t>
            </a:r>
            <a:endParaRPr lang="en-US" sz="1800" dirty="0"/>
          </a:p>
          <a:p>
            <a:pPr indent="0" marL="0">
              <a:lnSpc>
                <a:spcPct val="100000"/>
              </a:lnSpc>
              <a:buNone/>
            </a:pPr>
            <a:r>
              <a:rPr lang="en-US" sz="1800" dirty="0">
                <a:solidFill>
                  <a:srgbClr val="1F2933"/>
                </a:solidFill>
              </a:rPr>
              <a:t>月且项目需要时提前归还，不能因项目延期而把该用途义务推迟至</a:t>
            </a:r>
            <a:endParaRPr lang="en-US" sz="1800" dirty="0"/>
          </a:p>
          <a:p>
            <a:pPr indent="0" marL="0">
              <a:lnSpc>
                <a:spcPct val="100000"/>
              </a:lnSpc>
              <a:buNone/>
            </a:pPr>
            <a:r>
              <a:rPr lang="en-US" sz="1800" dirty="0">
                <a:solidFill>
                  <a:srgbClr val="1F2933"/>
                </a:solidFill>
              </a:rPr>
              <a:t>2028年。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四项建设升级的募集资金投入比例</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12.63%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四项未投入的募集资金计划额度</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13.34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需求较弱→放慢投资可减少近期资本支出，却可能使新产能经营回</a:t>
            </a:r>
            <a:endParaRPr lang="en-US" sz="1800" dirty="0"/>
          </a:p>
          <a:p>
            <a:pPr indent="0" marL="0">
              <a:lnSpc>
                <a:spcPct val="100000"/>
              </a:lnSpc>
              <a:buNone/>
            </a:pPr>
            <a:r>
              <a:rPr lang="en-US" sz="1800" dirty="0">
                <a:solidFill>
                  <a:srgbClr val="1F2933"/>
                </a:solidFill>
              </a:rPr>
              <a:t>款晚于债项支付；建设计划恢复→先需资金及营运周转→需将暂时</a:t>
            </a:r>
            <a:endParaRPr lang="en-US" sz="1800" dirty="0"/>
          </a:p>
          <a:p>
            <a:pPr indent="0" marL="0">
              <a:lnSpc>
                <a:spcPct val="100000"/>
              </a:lnSpc>
              <a:buNone/>
            </a:pPr>
            <a:r>
              <a:rPr lang="en-US" sz="1800" dirty="0">
                <a:solidFill>
                  <a:srgbClr val="1F2933"/>
                </a:solidFill>
              </a:rPr>
              <a:t>补流从一般经营资金中恢复用途→先查母公司可调度现金。尚未</a:t>
            </a:r>
            <a:endParaRPr lang="en-US" sz="1800" dirty="0"/>
          </a:p>
          <a:p>
            <a:pPr indent="0" marL="0">
              <a:lnSpc>
                <a:spcPct val="100000"/>
              </a:lnSpc>
              <a:buNone/>
            </a:pPr>
            <a:r>
              <a:rPr lang="en-US" sz="1800" dirty="0">
                <a:solidFill>
                  <a:srgbClr val="1F2933"/>
                </a:solidFill>
              </a:rPr>
              <a:t>投入额度、临时补流恢复用途与债券本金不是三笔可相加的外部</a:t>
            </a:r>
            <a:endParaRPr lang="en-US" sz="1800" dirty="0"/>
          </a:p>
          <a:p>
            <a:pPr indent="0" marL="0">
              <a:lnSpc>
                <a:spcPct val="100000"/>
              </a:lnSpc>
              <a:buNone/>
            </a:pPr>
            <a:r>
              <a:rPr lang="en-US" sz="1800" dirty="0">
                <a:solidFill>
                  <a:srgbClr val="1F2933"/>
                </a:solidFill>
              </a:rPr>
              <a:t>债务。源表38.82%包括永久补流，不能证明项目已接近四成</a:t>
            </a:r>
            <a:endParaRPr lang="en-US" sz="1800" dirty="0"/>
          </a:p>
          <a:p>
            <a:pPr indent="0" marL="0">
              <a:lnSpc>
                <a:spcPct val="100000"/>
              </a:lnSpc>
              <a:buNone/>
            </a:pPr>
            <a:r>
              <a:rPr lang="en-US" sz="1800" dirty="0">
                <a:solidFill>
                  <a:srgbClr val="1F2933"/>
                </a:solidFill>
              </a:rPr>
              <a:t>完工。 年报第95页称募投实施已提升盈利、稳定经营现金及</a:t>
            </a:r>
            <a:endParaRPr lang="en-US" sz="1800" dirty="0"/>
          </a:p>
          <a:p>
            <a:pPr indent="0" marL="0">
              <a:lnSpc>
                <a:spcPct val="100000"/>
              </a:lnSpc>
              <a:buNone/>
            </a:pPr>
            <a:r>
              <a:rPr lang="en-US" sz="1800" dirty="0">
                <a:solidFill>
                  <a:srgbClr val="1F2933"/>
                </a:solidFill>
              </a:rPr>
              <a:t>自有资金和融资可支付回售/赎回/到期本息；与上述实际投入、</a:t>
            </a:r>
            <a:endParaRPr lang="en-US" sz="1800" dirty="0"/>
          </a:p>
          <a:p>
            <a:pPr indent="0" marL="0">
              <a:lnSpc>
                <a:spcPct val="100000"/>
              </a:lnSpc>
              <a:buNone/>
            </a:pPr>
            <a:r>
              <a:rPr lang="en-US" sz="1800" dirty="0">
                <a:solidFill>
                  <a:srgbClr val="1F2933"/>
                </a:solidFill>
              </a:rPr>
              <a:t>延期和资金恢复条件对照，该主张尚不能替代按法人及付款日验证</a:t>
            </a:r>
            <a:endParaRPr lang="en-US" sz="1800" dirty="0"/>
          </a:p>
          <a:p>
            <a:pPr indent="0" marL="0">
              <a:lnSpc>
                <a:spcPct val="100000"/>
              </a:lnSpc>
              <a:buNone/>
            </a:pPr>
            <a:r>
              <a:rPr lang="en-US" sz="1800" dirty="0">
                <a:solidFill>
                  <a:srgbClr val="1F2933"/>
                </a:solidFill>
              </a:rPr>
              <a:t>的偿债来源，投入比例也不能作为项目利润或完工率的反证。 第</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83页四项建设/升级项目当期及累计效益均明列零，是对项目</a:t>
            </a:r>
            <a:endParaRPr lang="en-US" sz="1800" dirty="0"/>
          </a:p>
          <a:p>
            <a:pPr indent="0" marL="0">
              <a:lnSpc>
                <a:spcPct val="100000"/>
              </a:lnSpc>
              <a:buNone/>
            </a:pPr>
            <a:r>
              <a:rPr lang="en-US" sz="1800" dirty="0">
                <a:solidFill>
                  <a:srgbClr val="1F2933"/>
                </a:solidFill>
              </a:rPr>
              <a:t>贡献的直接披露；补流项目及全部资金用途的影响范围不同，不能</a:t>
            </a:r>
            <a:endParaRPr lang="en-US" sz="1800" dirty="0"/>
          </a:p>
          <a:p>
            <a:pPr indent="0" marL="0">
              <a:lnSpc>
                <a:spcPct val="100000"/>
              </a:lnSpc>
              <a:buNone/>
            </a:pPr>
            <a:r>
              <a:rPr lang="en-US" sz="1800" dirty="0">
                <a:solidFill>
                  <a:srgbClr val="1F2933"/>
                </a:solidFill>
              </a:rPr>
              <a:t>据此认定上述总体主张虚假，但新增项目盈利尚未由该表支持。需</a:t>
            </a:r>
            <a:endParaRPr lang="en-US" sz="1800" dirty="0"/>
          </a:p>
          <a:p>
            <a:pPr indent="0" marL="0">
              <a:lnSpc>
                <a:spcPct val="100000"/>
              </a:lnSpc>
              <a:buNone/>
            </a:pPr>
            <a:r>
              <a:rPr lang="en-US" sz="1800" dirty="0">
                <a:solidFill>
                  <a:srgbClr val="1F2933"/>
                </a:solidFill>
              </a:rPr>
              <a:t>说明具体收益、时点及法人并与现金预算衔接。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谨慎减慢建设、保留现有产能及改进自研生产线可能降低过剩产能</a:t>
            </a:r>
            <a:endParaRPr lang="en-US" sz="1800" dirty="0"/>
          </a:p>
          <a:p>
            <a:pPr indent="0" marL="0">
              <a:lnSpc>
                <a:spcPct val="100000"/>
              </a:lnSpc>
              <a:buNone/>
            </a:pPr>
            <a:r>
              <a:rPr lang="en-US" sz="1800" dirty="0">
                <a:solidFill>
                  <a:srgbClr val="1F2933"/>
                </a:solidFill>
              </a:rPr>
              <a:t>和近期现金消耗；项目可行性须由订单、成本及投产证据验证。</a:t>
            </a:r>
            <a:endParaRPr lang="en-US" sz="1800" dirty="0"/>
          </a:p>
          <a:p>
            <a:pPr indent="0" marL="0">
              <a:lnSpc>
                <a:spcPct val="100000"/>
              </a:lnSpc>
              <a:buNone/>
            </a:pPr>
            <a:r>
              <a:rPr lang="en-US" sz="1800" dirty="0">
                <a:solidFill>
                  <a:srgbClr val="1F2933"/>
                </a:solidFill>
              </a:rPr>
              <a:t>需求恢复可能加快建设和回款，但首先要求资金归位、采购付款及</a:t>
            </a:r>
            <a:endParaRPr lang="en-US" sz="1800" dirty="0"/>
          </a:p>
          <a:p>
            <a:pPr indent="0" marL="0">
              <a:lnSpc>
                <a:spcPct val="100000"/>
              </a:lnSpc>
              <a:buNone/>
            </a:pPr>
            <a:r>
              <a:rPr lang="en-US" sz="1800" dirty="0">
                <a:solidFill>
                  <a:srgbClr val="1F2933"/>
                </a:solidFill>
              </a:rPr>
              <a:t>调试；若收款晚于合同付款日，全年或全生命周期盈利不能补救时</a:t>
            </a:r>
            <a:endParaRPr lang="en-US" sz="1800" dirty="0"/>
          </a:p>
          <a:p>
            <a:pPr indent="0" marL="0">
              <a:lnSpc>
                <a:spcPct val="100000"/>
              </a:lnSpc>
              <a:buNone/>
            </a:pPr>
            <a:r>
              <a:rPr lang="en-US" sz="1800" dirty="0">
                <a:solidFill>
                  <a:srgbClr val="1F2933"/>
                </a:solidFill>
              </a:rPr>
              <a:t>点缺口。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2025-04-24批准将安徽滁州、福建三明、重庆长寿扩产</a:t>
            </a:r>
            <a:endParaRPr lang="en-US" sz="1800" dirty="0"/>
          </a:p>
          <a:p>
            <a:pPr indent="0" marL="0">
              <a:lnSpc>
                <a:spcPct val="100000"/>
              </a:lnSpc>
              <a:buNone/>
            </a:pPr>
            <a:r>
              <a:rPr lang="en-US" sz="1800" dirty="0">
                <a:solidFill>
                  <a:srgbClr val="1F2933"/>
                </a:solidFill>
              </a:rPr>
              <a:t>及智能化升级四项预定可使用日期均延至2028-12-31。</a:t>
            </a:r>
            <a:endParaRPr lang="en-US" sz="1800" dirty="0"/>
          </a:p>
          <a:p>
            <a:pPr indent="0" marL="0">
              <a:lnSpc>
                <a:spcPct val="100000"/>
              </a:lnSpc>
              <a:buNone/>
            </a:pPr>
            <a:r>
              <a:rPr lang="en-US" sz="1800" dirty="0">
                <a:solidFill>
                  <a:srgbClr val="1F2933"/>
                </a:solidFill>
              </a:rPr>
              <a:t>披露原因为下游需求/业务增长不及预期及工艺升级；称实施</a:t>
            </a:r>
            <a:endParaRPr lang="en-US" sz="1800" dirty="0"/>
          </a:p>
          <a:p>
            <a:pPr indent="0" marL="0">
              <a:lnSpc>
                <a:spcPct val="100000"/>
              </a:lnSpc>
              <a:buNone/>
            </a:pPr>
            <a:r>
              <a:rPr lang="en-US" sz="1800" dirty="0">
                <a:solidFill>
                  <a:srgbClr val="1F2933"/>
                </a:solidFill>
              </a:rPr>
              <a:t>主体、方式、建设内容、用途及规模未变、项目可行性无重大</a:t>
            </a:r>
            <a:endParaRPr lang="en-US" sz="1800" dirty="0"/>
          </a:p>
          <a:p>
            <a:pPr indent="0" marL="0">
              <a:lnSpc>
                <a:spcPct val="100000"/>
              </a:lnSpc>
              <a:buNone/>
            </a:pPr>
            <a:r>
              <a:rPr lang="en-US" sz="1800" dirty="0">
                <a:solidFill>
                  <a:srgbClr val="1F2933"/>
                </a:solidFill>
              </a:rPr>
              <a:t>变化，不存在变相改变用途。</a:t>
            </a:r>
            <a:endParaRPr lang="en-US" sz="1800" dirty="0"/>
          </a:p>
          <a:p>
            <a:pPr indent="0" marL="0">
              <a:lnSpc>
                <a:spcPct val="100000"/>
              </a:lnSpc>
              <a:buNone/>
            </a:pPr>
            <a:r>
              <a:rPr lang="en-US" sz="1800" dirty="0">
                <a:solidFill>
                  <a:srgbClr val="1F2933"/>
                </a:solidFill>
              </a:rPr>
              <a:t>2025-01-10批准临时补流不超过130000.00万</a:t>
            </a:r>
            <a:endParaRPr lang="en-US" sz="1800" dirty="0"/>
          </a:p>
          <a:p>
            <a:pPr indent="0" marL="0">
              <a:lnSpc>
                <a:spcPct val="100000"/>
              </a:lnSpc>
              <a:buNone/>
            </a:pPr>
            <a:r>
              <a:rPr lang="en-US" sz="1800" dirty="0">
                <a:solidFill>
                  <a:srgbClr val="1F2933"/>
                </a:solidFill>
              </a:rPr>
              <a:t>元、期限不超过十二个月；公司实际使用130000.00万</a:t>
            </a:r>
            <a:endParaRPr lang="en-US" sz="1800" dirty="0"/>
          </a:p>
          <a:p>
            <a:pPr indent="0" marL="0">
              <a:lnSpc>
                <a:spcPct val="100000"/>
              </a:lnSpc>
              <a:buNone/>
            </a:pPr>
            <a:r>
              <a:rPr lang="en-US" sz="1800" dirty="0">
                <a:solidFill>
                  <a:srgbClr val="1F2933"/>
                </a:solidFill>
              </a:rPr>
              <a:t>元，截至2026-01-06已全部归还募集资金专户。该公告</a:t>
            </a:r>
            <a:endParaRPr lang="en-US" sz="1800" dirty="0"/>
          </a:p>
          <a:p>
            <a:pPr indent="0" marL="0">
              <a:lnSpc>
                <a:spcPct val="100000"/>
              </a:lnSpc>
              <a:buNone/>
            </a:pPr>
            <a:r>
              <a:rPr lang="en-US" sz="1800" dirty="0">
                <a:solidFill>
                  <a:srgbClr val="1F2933"/>
                </a:solidFill>
              </a:rPr>
              <a:t>不是偿还另行新增的外部金融债。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不从原测算差异单独推导等级或展望变更，也不重复计入已进入</a:t>
            </a:r>
            <a:endParaRPr lang="en-US" sz="1800" dirty="0"/>
          </a:p>
          <a:p>
            <a:pPr indent="0" marL="0">
              <a:lnSpc>
                <a:spcPct val="100000"/>
              </a:lnSpc>
              <a:buNone/>
            </a:pPr>
            <a:r>
              <a:rPr lang="en-US" sz="1800" dirty="0">
                <a:solidFill>
                  <a:srgbClr val="1F2933"/>
                </a:solidFill>
              </a:rPr>
              <a:t>基础因素的需求、盈利和治理事项；若经核实恢复用途/项目付款</a:t>
            </a:r>
            <a:endParaRPr lang="en-US" sz="1800" dirty="0"/>
          </a:p>
          <a:p>
            <a:pPr indent="0" marL="0">
              <a:lnSpc>
                <a:spcPct val="100000"/>
              </a:lnSpc>
              <a:buNone/>
            </a:pPr>
            <a:r>
              <a:rPr lang="en-US" sz="1800" dirty="0">
                <a:solidFill>
                  <a:srgbClr val="1F2933"/>
                </a:solidFill>
              </a:rPr>
              <a:t>使近期发行人资金不能覆盖，则先更新月度现金和可执行融资，再</a:t>
            </a:r>
            <a:endParaRPr lang="en-US" sz="1800" dirty="0"/>
          </a:p>
          <a:p>
            <a:pPr indent="0" marL="0">
              <a:lnSpc>
                <a:spcPct val="100000"/>
              </a:lnSpc>
              <a:buNone/>
            </a:pPr>
            <a:r>
              <a:rPr lang="en-US" sz="1800" dirty="0">
                <a:solidFill>
                  <a:srgbClr val="1F2933"/>
                </a:solidFill>
              </a:rPr>
              <a:t>判断常态评级是否仍适用。只有新的可比前瞻导致因素跨档或基础</a:t>
            </a:r>
            <a:endParaRPr lang="en-US" sz="1800" dirty="0"/>
          </a:p>
          <a:p>
            <a:pPr indent="0" marL="0">
              <a:lnSpc>
                <a:spcPct val="100000"/>
              </a:lnSpc>
              <a:buNone/>
            </a:pPr>
            <a:r>
              <a:rPr lang="en-US" sz="1800" dirty="0">
                <a:solidFill>
                  <a:srgbClr val="1F2933"/>
                </a:solidFill>
              </a:rPr>
              <a:t>因素未计入的现金约束，才明确新的因素/调整路径。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原文只披露进度延期且用途、主体、方式等未变，保荐核查支持未变相改用途；截至所读资料，不能认定</a:t>
            </a:r>
            <a:endParaRPr lang="en-US" sz="1800" dirty="0"/>
          </a:p>
          <a:p>
            <a:pPr indent="0" marL="0">
              <a:lnSpc>
                <a:spcPct val="100000"/>
              </a:lnSpc>
              <a:buNone/>
            </a:pPr>
            <a:r>
              <a:rPr lang="en-US" sz="1800" dirty="0">
                <a:solidFill>
                  <a:srgbClr val="1F2933"/>
                </a:solidFill>
              </a:rPr>
              <a:t>附加回售已经触发。普通价格回售仅适用于最后两个计息年度，自2027-08-04进入首个适用</a:t>
            </a:r>
            <a:endParaRPr lang="en-US" sz="1800" dirty="0"/>
          </a:p>
          <a:p>
            <a:pPr indent="0" marL="0">
              <a:lnSpc>
                <a:spcPct val="100000"/>
              </a:lnSpc>
              <a:buNone/>
            </a:pPr>
            <a:r>
              <a:rPr lang="en-US" sz="1800" dirty="0">
                <a:solidFill>
                  <a:srgbClr val="1F2933"/>
                </a:solidFill>
              </a:rPr>
              <a:t>年度，不能在2026-06-30仅凭股价低位当作已可回售。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附加回售另需项目实施较承诺重大变化并符合被视作或认定改变用途的条件，不受普通回售最后两年</a:t>
            </a:r>
            <a:endParaRPr lang="en-US" sz="1800" dirty="0"/>
          </a:p>
          <a:p>
            <a:pPr indent="0" marL="0">
              <a:lnSpc>
                <a:spcPct val="100000"/>
              </a:lnSpc>
              <a:buNone/>
            </a:pPr>
            <a:r>
              <a:rPr lang="en-US" sz="1800" dirty="0">
                <a:solidFill>
                  <a:srgbClr val="1F2933"/>
                </a:solidFill>
              </a:rPr>
              <a:t>限制。若真实触发且持有人依法申报，现金额为被回售面值B加B×当年票息i×计息日数t/365，</a:t>
            </a:r>
            <a:endParaRPr lang="en-US" sz="1800" dirty="0"/>
          </a:p>
          <a:p>
            <a:pPr indent="0" marL="0">
              <a:lnSpc>
                <a:spcPct val="100000"/>
              </a:lnSpc>
              <a:buNone/>
            </a:pPr>
            <a:r>
              <a:rPr lang="en-US" sz="1800" dirty="0">
                <a:solidFill>
                  <a:srgbClr val="1F2933"/>
                </a:solidFill>
              </a:rPr>
              <a:t>替换该部分之后票息和到期兑付，不把115%到期价加在回售价上。并须核公告、申报窗口、有效行权</a:t>
            </a:r>
            <a:endParaRPr lang="en-US" sz="1800" dirty="0"/>
          </a:p>
          <a:p>
            <a:pPr indent="0" marL="0">
              <a:lnSpc>
                <a:spcPct val="100000"/>
              </a:lnSpc>
              <a:buNone/>
            </a:pPr>
            <a:r>
              <a:rPr lang="en-US" sz="1800" dirty="0">
                <a:solidFill>
                  <a:srgbClr val="1F2933"/>
                </a:solidFill>
              </a:rPr>
              <a:t>及实际面值；缺签署协议不能凭会议条款推定交叉违约或自动加速。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依法批准且仅改变建设进度可能不构成用途变更；该解释有现有核查支持，但不是对未来执行的免责。</a:t>
            </a:r>
            <a:endParaRPr lang="en-US" sz="1800" dirty="0"/>
          </a:p>
          <a:p>
            <a:pPr indent="0" marL="0">
              <a:lnSpc>
                <a:spcPct val="100000"/>
              </a:lnSpc>
              <a:buNone/>
            </a:pPr>
            <a:r>
              <a:rPr lang="en-US" sz="1800" dirty="0">
                <a:solidFill>
                  <a:srgbClr val="1F2933"/>
                </a:solidFill>
              </a:rPr>
              <a:t>若实际建设内容、主体或资金用途随后实质改变，合同触发分析必须重做，不能只沿用原延期公告结论。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报告称已发行债券及其他债务融资工具不存在延迟支付本息、2025年度付息无延迟、2025年度未</a:t>
            </a:r>
            <a:endParaRPr lang="en-US" sz="1800" dirty="0"/>
          </a:p>
          <a:p>
            <a:pPr indent="0" marL="0">
              <a:lnSpc>
                <a:spcPct val="100000"/>
              </a:lnSpc>
              <a:buNone/>
            </a:pPr>
            <a:r>
              <a:rPr lang="en-US" sz="1800" dirty="0">
                <a:solidFill>
                  <a:srgbClr val="1F2933"/>
                </a:solidFill>
              </a:rPr>
              <a:t>发生应召开或已召开的持有人会议事项，相关承诺履行良好；未提供持续财务承诺的专门测试调节表。</a:t>
            </a:r>
            <a:endParaRPr lang="en-US" sz="1800" dirty="0"/>
          </a:p>
          <a:p>
            <a:pPr indent="0" marL="0">
              <a:lnSpc>
                <a:spcPct val="100000"/>
              </a:lnSpc>
              <a:buNone/>
            </a:pPr>
            <a:r>
              <a:rPr lang="en-US" sz="1800" dirty="0">
                <a:solidFill>
                  <a:srgbClr val="1F2933"/>
                </a:solidFill>
              </a:rPr>
              <a:t>截至2025年末累计使用募集资金38.82%、项目进度延迟；保荐机构提示如未来可行性或募投</a:t>
            </a:r>
            <a:endParaRPr lang="en-US" sz="1800" dirty="0"/>
          </a:p>
          <a:p>
            <a:pPr indent="0" marL="0">
              <a:lnSpc>
                <a:spcPct val="100000"/>
              </a:lnSpc>
              <a:buNone/>
            </a:pPr>
            <a:r>
              <a:rPr lang="en-US" sz="1800" dirty="0">
                <a:solidFill>
                  <a:srgbClr val="1F2933"/>
                </a:solidFill>
              </a:rPr>
              <a:t>项目变化，须履行审批和披露。2025年度存在延期和临时补流转入一般户事项。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获得截止日前有效用途变更文件/认定及回售公告时，按有效行权规模重建发行人逐日现金和替代债券</a:t>
            </a:r>
            <a:endParaRPr lang="en-US" sz="1800" dirty="0"/>
          </a:p>
          <a:p>
            <a:pPr indent="0" marL="0">
              <a:lnSpc>
                <a:spcPct val="100000"/>
              </a:lnSpc>
              <a:buNone/>
            </a:pPr>
            <a:r>
              <a:rPr lang="en-US" sz="1800" dirty="0">
                <a:solidFill>
                  <a:srgbClr val="1F2933"/>
                </a:solidFill>
              </a:rPr>
              <a:t>时间轴；若提前现金在付款日前无法覆盖，重定主体及受影响债项，不用负面展望替代即时行动。仅增加</a:t>
            </a:r>
            <a:endParaRPr lang="en-US" sz="1800" dirty="0"/>
          </a:p>
          <a:p>
            <a:pPr indent="0" marL="0">
              <a:lnSpc>
                <a:spcPct val="100000"/>
              </a:lnSpc>
              <a:buNone/>
            </a:pPr>
            <a:r>
              <a:rPr lang="en-US" sz="1800" dirty="0">
                <a:solidFill>
                  <a:srgbClr val="1F2933"/>
                </a:solidFill>
              </a:rPr>
              <a:t>待核信息而未证明触发，不将面值搬进2026年已到期债务。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=0条件参照。2026-006要求自2026-01-09</a:t>
            </a:r>
            <a:endParaRPr lang="en-US" sz="1800" dirty="0"/>
          </a:p>
          <a:p>
            <a:pPr indent="0" marL="0">
              <a:lnSpc>
                <a:spcPct val="100000"/>
              </a:lnSpc>
              <a:buNone/>
            </a:pPr>
            <a:r>
              <a:rPr lang="en-US" sz="1800" dirty="0">
                <a:solidFill>
                  <a:srgbClr val="1F2933"/>
                </a:solidFill>
              </a:rPr>
              <a:t>批准日起不超过12个月并随项目需要提前归还。按2027</a:t>
            </a:r>
            <a:endParaRPr lang="en-US" sz="1800" dirty="0"/>
          </a:p>
          <a:p>
            <a:pPr indent="0" marL="0">
              <a:lnSpc>
                <a:spcPct val="100000"/>
              </a:lnSpc>
              <a:buNone/>
            </a:pPr>
            <a:r>
              <a:rPr lang="en-US" sz="1800" dirty="0">
                <a:solidFill>
                  <a:srgbClr val="1F2933"/>
                </a:solidFill>
              </a:rPr>
              <a:t>-01-09的12个月边界核查，若沿用2026末基准集团</a:t>
            </a:r>
            <a:endParaRPr lang="en-US" sz="1800" dirty="0"/>
          </a:p>
          <a:p>
            <a:pPr indent="0" marL="0">
              <a:lnSpc>
                <a:spcPct val="100000"/>
              </a:lnSpc>
              <a:buNone/>
            </a:pPr>
            <a:r>
              <a:rPr lang="en-US" sz="1800" dirty="0">
                <a:solidFill>
                  <a:srgbClr val="1F2933"/>
                </a:solidFill>
              </a:rPr>
              <a:t>现金且九日净变动、调度扣减、其他到期付款及营运底额均为零，</a:t>
            </a:r>
            <a:endParaRPr lang="en-US" sz="1800" dirty="0"/>
          </a:p>
          <a:p>
            <a:pPr indent="0" marL="0">
              <a:lnSpc>
                <a:spcPct val="100000"/>
              </a:lnSpc>
              <a:buNone/>
            </a:pPr>
            <a:r>
              <a:rPr lang="en-US" sz="1800" dirty="0">
                <a:solidFill>
                  <a:srgbClr val="1F2933"/>
                </a:solidFill>
              </a:rPr>
              <a:t>可恢复用途的静态容量参照为7.03 亿元人民币；恢复650</a:t>
            </a:r>
            <a:endParaRPr lang="en-US" sz="1800" dirty="0"/>
          </a:p>
          <a:p>
            <a:pPr indent="0" marL="0">
              <a:lnSpc>
                <a:spcPct val="100000"/>
              </a:lnSpc>
              <a:buNone/>
            </a:pPr>
            <a:r>
              <a:rPr lang="en-US" sz="1800" dirty="0">
                <a:solidFill>
                  <a:srgbClr val="1F2933"/>
                </a:solidFill>
              </a:rPr>
              <a:t>百万元后余5,258.35 万元人民币，按授权全额恢复则需</a:t>
            </a:r>
            <a:endParaRPr lang="en-US" sz="1800" dirty="0"/>
          </a:p>
          <a:p>
            <a:pPr indent="0" marL="0">
              <a:lnSpc>
                <a:spcPct val="100000"/>
              </a:lnSpc>
              <a:buNone/>
            </a:pPr>
            <a:r>
              <a:rPr lang="en-US" sz="1800" dirty="0">
                <a:solidFill>
                  <a:srgbClr val="1F2933"/>
                </a:solidFill>
              </a:rPr>
              <a:t>额外资源5.97 亿元人民币。实际占用未知，以上不代表届时</a:t>
            </a:r>
            <a:endParaRPr lang="en-US" sz="1800" dirty="0"/>
          </a:p>
          <a:p>
            <a:pPr indent="0" marL="0">
              <a:lnSpc>
                <a:spcPct val="100000"/>
              </a:lnSpc>
              <a:buNone/>
            </a:pPr>
            <a:r>
              <a:rPr lang="en-US" sz="1800" dirty="0">
                <a:solidFill>
                  <a:srgbClr val="1F2933"/>
                </a:solidFill>
              </a:rPr>
              <a:t>真实缺口或连续12个月已覆盖。</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Δ_A=Γ=0条件下零九日净变动及零可用性扣减时恢复用途容量</a:t>
            </a:r>
            <a:endParaRPr lang="en-US" sz="800" dirty="0"/>
          </a:p>
          <a:p>
            <a:pPr indent="0" marL="0">
              <a:lnSpc>
                <a:spcPct val="100000"/>
              </a:lnSpc>
              <a:buNone/>
            </a:pPr>
            <a:r>
              <a:rPr lang="en-US" sz="800" dirty="0">
                <a:solidFill>
                  <a:srgbClr val="213B45"/>
                </a:solidFill>
              </a:rPr>
              <a:t>参照</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7.03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Δ_A=Γ=0条件下静态恢复650百万元后自由现金余量</a:t>
            </a:r>
            <a:endParaRPr lang="en-US" sz="9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5,258.35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Δ_A=Γ=0条件下静态恢复授权全额所需额外资源</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5.97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ks_a_e_cash / ks_a_e_cf 等；完整原文与位置见本演示文稿来源附页及备注</a:t>
            </a:r>
            <a:endParaRPr lang="en-US" sz="9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恢复专户先减少可自由使用资金，并不必然减少集团总现金或偿还</a:t>
            </a:r>
            <a:endParaRPr lang="en-US" sz="1800" dirty="0"/>
          </a:p>
          <a:p>
            <a:pPr indent="0" marL="0">
              <a:lnSpc>
                <a:spcPct val="100000"/>
              </a:lnSpc>
              <a:buNone/>
            </a:pPr>
            <a:r>
              <a:rPr lang="en-US" sz="1800" dirty="0">
                <a:solidFill>
                  <a:srgbClr val="1F2933"/>
                </a:solidFill>
              </a:rPr>
              <a:t>一笔外部债务。项目付款、预留及归还记录按同一资金流去重；</a:t>
            </a:r>
            <a:endParaRPr lang="en-US" sz="1800" dirty="0"/>
          </a:p>
          <a:p>
            <a:pPr indent="0" marL="0">
              <a:lnSpc>
                <a:spcPct val="100000"/>
              </a:lnSpc>
              <a:buNone/>
            </a:pPr>
            <a:r>
              <a:rPr lang="en-US" sz="1800" dirty="0">
                <a:solidFill>
                  <a:srgbClr val="1F2933"/>
                </a:solidFill>
              </a:rPr>
              <a:t>不能将本事件再叠加到已扣的6.5/13亿元用途预留。须将</a:t>
            </a:r>
            <a:endParaRPr lang="en-US" sz="1800" dirty="0"/>
          </a:p>
          <a:p>
            <a:pPr indent="0" marL="0">
              <a:lnSpc>
                <a:spcPct val="100000"/>
              </a:lnSpc>
              <a:buNone/>
            </a:pPr>
            <a:r>
              <a:rPr lang="en-US" sz="1800" dirty="0">
                <a:solidFill>
                  <a:srgbClr val="1F2933"/>
                </a:solidFill>
              </a:rPr>
              <a:t>年末条件集团现金桥接到归还义务主体在事件日可调度金额，加减</a:t>
            </a:r>
            <a:endParaRPr lang="en-US" sz="1800" dirty="0"/>
          </a:p>
          <a:p>
            <a:pPr indent="0" marL="0">
              <a:lnSpc>
                <a:spcPct val="100000"/>
              </a:lnSpc>
              <a:buNone/>
            </a:pPr>
            <a:r>
              <a:rPr lang="en-US" sz="1800" dirty="0">
                <a:solidFill>
                  <a:srgbClr val="1F2933"/>
                </a:solidFill>
              </a:rPr>
              <a:t>九日有证据收支及其他支付，不能把合并余额当母公司已到手</a:t>
            </a:r>
            <a:endParaRPr lang="en-US" sz="1800" dirty="0"/>
          </a:p>
          <a:p>
            <a:pPr indent="0" marL="0">
              <a:lnSpc>
                <a:spcPct val="100000"/>
              </a:lnSpc>
              <a:buNone/>
            </a:pPr>
            <a:r>
              <a:rPr lang="en-US" sz="1800" dirty="0">
                <a:solidFill>
                  <a:srgbClr val="1F2933"/>
                </a:solidFill>
              </a:rPr>
              <a:t>资金。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实际占用低于授权上限、已在年末归还或有可执行九日净流入，均</a:t>
            </a:r>
            <a:endParaRPr lang="en-US" sz="1800" dirty="0"/>
          </a:p>
          <a:p>
            <a:pPr indent="0" marL="0">
              <a:lnSpc>
                <a:spcPct val="100000"/>
              </a:lnSpc>
              <a:buNone/>
            </a:pPr>
            <a:r>
              <a:rPr lang="en-US" sz="1800" dirty="0">
                <a:solidFill>
                  <a:srgbClr val="1F2933"/>
                </a:solidFill>
              </a:rPr>
              <a:t>可能关闭该事件的资源差额。</a:t>
            </a:r>
            <a:endParaRPr lang="en-US" sz="1800" dirty="0"/>
          </a:p>
          <a:p>
            <a:pPr indent="0" marL="0">
              <a:lnSpc>
                <a:spcPct val="100000"/>
              </a:lnSpc>
              <a:buNone/>
            </a:pPr>
            <a:r>
              <a:rPr lang="en-US" sz="1800" dirty="0">
                <a:solidFill>
                  <a:srgbClr val="1F2933"/>
                </a:solidFill>
              </a:rPr>
              <a:t>项目提前要求资金、九日其他支出或子公司现金无法上划，会把</a:t>
            </a:r>
            <a:endParaRPr lang="en-US" sz="1800" dirty="0"/>
          </a:p>
          <a:p>
            <a:pPr indent="0" marL="0">
              <a:lnSpc>
                <a:spcPct val="100000"/>
              </a:lnSpc>
              <a:buNone/>
            </a:pPr>
            <a:r>
              <a:rPr lang="en-US" sz="1800" dirty="0">
                <a:solidFill>
                  <a:srgbClr val="1F2933"/>
                </a:solidFill>
              </a:rPr>
              <a:t>有效边界提前或降低上限；不得以未证实的下一轮补流授权弥补。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2025-01-10批准临时补流不超过130000.00万</a:t>
            </a:r>
            <a:endParaRPr lang="en-US" sz="1800" dirty="0"/>
          </a:p>
          <a:p>
            <a:pPr indent="0" marL="0">
              <a:lnSpc>
                <a:spcPct val="100000"/>
              </a:lnSpc>
              <a:buNone/>
            </a:pPr>
            <a:r>
              <a:rPr lang="en-US" sz="1800" dirty="0">
                <a:solidFill>
                  <a:srgbClr val="1F2933"/>
                </a:solidFill>
              </a:rPr>
              <a:t>元、期限不超过十二个月；公司实际使用130000.00万</a:t>
            </a:r>
            <a:endParaRPr lang="en-US" sz="1800" dirty="0"/>
          </a:p>
          <a:p>
            <a:pPr indent="0" marL="0">
              <a:lnSpc>
                <a:spcPct val="100000"/>
              </a:lnSpc>
              <a:buNone/>
            </a:pPr>
            <a:r>
              <a:rPr lang="en-US" sz="1800" dirty="0">
                <a:solidFill>
                  <a:srgbClr val="1F2933"/>
                </a:solidFill>
              </a:rPr>
              <a:t>元，截至2026-01-06已全部归还募集资金专户。该公告</a:t>
            </a:r>
            <a:endParaRPr lang="en-US" sz="1800" dirty="0"/>
          </a:p>
          <a:p>
            <a:pPr indent="0" marL="0">
              <a:lnSpc>
                <a:spcPct val="100000"/>
              </a:lnSpc>
              <a:buNone/>
            </a:pPr>
            <a:r>
              <a:rPr lang="en-US" sz="1800" dirty="0">
                <a:solidFill>
                  <a:srgbClr val="1F2933"/>
                </a:solidFill>
              </a:rPr>
              <a:t>不是偿还另行新增的外部金融债。</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先取得实际占用和归还期限/需求、发行人可调度额及九日来源</a:t>
            </a:r>
            <a:endParaRPr lang="en-US" sz="1800" dirty="0"/>
          </a:p>
          <a:p>
            <a:pPr indent="0" marL="0">
              <a:lnSpc>
                <a:spcPct val="100000"/>
              </a:lnSpc>
              <a:buNone/>
            </a:pPr>
            <a:r>
              <a:rPr lang="en-US" sz="1800" dirty="0">
                <a:solidFill>
                  <a:srgbClr val="1F2933"/>
                </a:solidFill>
              </a:rPr>
              <a:t>用途。当时需要恢复用途额超过经核实可调度额且无按时落实的</a:t>
            </a:r>
            <a:endParaRPr lang="en-US" sz="1800" dirty="0"/>
          </a:p>
          <a:p>
            <a:pPr indent="0" marL="0">
              <a:lnSpc>
                <a:spcPct val="100000"/>
              </a:lnSpc>
              <a:buNone/>
            </a:pPr>
            <a:r>
              <a:rPr lang="en-US" sz="1800" dirty="0">
                <a:solidFill>
                  <a:srgbClr val="1F2933"/>
                </a:solidFill>
              </a:rPr>
              <a:t>合法安排时，重做近端流动性与承诺后果判断；不能只看年末正余</a:t>
            </a:r>
            <a:endParaRPr lang="en-US" sz="1800" dirty="0"/>
          </a:p>
          <a:p>
            <a:pPr indent="0" marL="0">
              <a:lnSpc>
                <a:spcPct val="100000"/>
              </a:lnSpc>
              <a:buNone/>
            </a:pPr>
            <a:r>
              <a:rPr lang="en-US" sz="1800" dirty="0">
                <a:solidFill>
                  <a:srgbClr val="1F2933"/>
                </a:solidFill>
              </a:rPr>
              <a:t>额维持原判断，也不能直接把用途恢复缺口认定为债券已违约。 </a:t>
            </a:r>
            <a:endParaRPr lang="en-US" sz="1800" dirty="0"/>
          </a:p>
          <a:p>
            <a:pPr indent="0" marL="0">
              <a:lnSpc>
                <a:spcPct val="100000"/>
              </a:lnSpc>
              <a:buNone/>
            </a:pPr>
            <a:r>
              <a:rPr lang="en-US" sz="1800" dirty="0">
                <a:solidFill>
                  <a:srgbClr val="1F2933"/>
                </a:solidFill>
              </a:rPr>
              <a:t>须先核实Δ_A、Δ_H及Γ并重跑全部时点和营运缓冲；零调整</a:t>
            </a:r>
            <a:endParaRPr lang="en-US" sz="1800" dirty="0"/>
          </a:p>
          <a:p>
            <a:pPr indent="0" marL="0">
              <a:lnSpc>
                <a:spcPct val="100000"/>
              </a:lnSpc>
              <a:buNone/>
            </a:pPr>
            <a:r>
              <a:rPr lang="en-US" sz="1800" dirty="0">
                <a:solidFill>
                  <a:srgbClr val="1F2933"/>
                </a:solidFill>
              </a:rPr>
              <a:t>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债项本金、票息与到期现金需求：章节指标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191</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期初未转股面值</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截止日实际未转股面值</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11" name="Text 9"/>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ks_d_e_face_q1；完整原文与位置见本演示文稿来源附页及备注</a:t>
            </a:r>
            <a:endParaRPr lang="en-US" sz="9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年末账面债券 23.13 亿元人民币 除合并总权益 </a:t>
            </a:r>
            <a:endParaRPr lang="en-US" sz="1800" dirty="0"/>
          </a:p>
          <a:p>
            <a:pPr indent="0" marL="0">
              <a:lnSpc>
                <a:spcPct val="100000"/>
              </a:lnSpc>
              <a:buNone/>
            </a:pPr>
            <a:r>
              <a:rPr lang="en-US" sz="1800" dirty="0">
                <a:solidFill>
                  <a:srgbClr val="1F2933"/>
                </a:solidFill>
              </a:rPr>
              <a:t>40.52 亿元人民币 得 57.09%，高于原文所列 </a:t>
            </a:r>
            <a:endParaRPr lang="en-US" sz="1800" dirty="0"/>
          </a:p>
          <a:p>
            <a:pPr indent="0" marL="0">
              <a:lnSpc>
                <a:spcPct val="100000"/>
              </a:lnSpc>
              <a:buNone/>
            </a:pPr>
            <a:r>
              <a:rPr lang="en-US" sz="1800" dirty="0">
                <a:solidFill>
                  <a:srgbClr val="1F2933"/>
                </a:solidFill>
              </a:rPr>
              <a:t>50.00%；差额为 2.87 亿元人民币。公司同时披露</a:t>
            </a:r>
            <a:endParaRPr lang="en-US" sz="1800" dirty="0"/>
          </a:p>
          <a:p>
            <a:pPr indent="0" marL="0">
              <a:lnSpc>
                <a:spcPct val="100000"/>
              </a:lnSpc>
              <a:buNone/>
            </a:pPr>
            <a:r>
              <a:rPr lang="en-US" sz="1800" dirty="0">
                <a:solidFill>
                  <a:srgbClr val="1F2933"/>
                </a:solidFill>
              </a:rPr>
              <a:t>长期有效且正常履行、债券未违约。现有公开材料没有逐项解释</a:t>
            </a:r>
            <a:endParaRPr lang="en-US" sz="1800" dirty="0"/>
          </a:p>
          <a:p>
            <a:pPr indent="0" marL="0">
              <a:lnSpc>
                <a:spcPct val="100000"/>
              </a:lnSpc>
              <a:buNone/>
            </a:pPr>
            <a:r>
              <a:rPr lang="en-US" sz="1800" dirty="0">
                <a:solidFill>
                  <a:srgbClr val="1F2933"/>
                </a:solidFill>
              </a:rPr>
              <a:t>冲突，因此保留重大待解释事项，不能认定已违约、自动加速或已</a:t>
            </a:r>
            <a:endParaRPr lang="en-US" sz="1800" dirty="0"/>
          </a:p>
          <a:p>
            <a:pPr indent="0" marL="0">
              <a:lnSpc>
                <a:spcPct val="100000"/>
              </a:lnSpc>
              <a:buNone/>
            </a:pPr>
            <a:r>
              <a:rPr lang="en-US" sz="1800" dirty="0">
                <a:solidFill>
                  <a:srgbClr val="1F2933"/>
                </a:solidFill>
              </a:rPr>
              <a:t>获豁免。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年末应付债券账面余额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23.13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年末合并所有者权益合计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40.52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债券账面余额占合并总权益</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57.09%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持续财务承诺比例上限</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50.00%</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ks_d_e_commitment 等；完整原文与位置见本演示文稿来源附页及备注</a:t>
            </a:r>
            <a:endParaRPr lang="en-US" sz="9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发行时法规解释采用合并账面余额与合并总权益，但发行条件解释</a:t>
            </a:r>
            <a:endParaRPr lang="en-US" sz="1800" dirty="0"/>
          </a:p>
          <a:p>
            <a:pPr indent="0" marL="0">
              <a:lnSpc>
                <a:spcPct val="100000"/>
              </a:lnSpc>
              <a:buNone/>
            </a:pPr>
            <a:r>
              <a:rPr lang="en-US" sz="1800" dirty="0">
                <a:solidFill>
                  <a:srgbClr val="1F2933"/>
                </a:solidFill>
              </a:rPr>
              <a:t>不自动解决单独持续承诺的范围。即使用面值替代账面，敏感性仍</a:t>
            </a:r>
            <a:endParaRPr lang="en-US" sz="1800" dirty="0"/>
          </a:p>
          <a:p>
            <a:pPr indent="0" marL="0">
              <a:lnSpc>
                <a:spcPct val="100000"/>
              </a:lnSpc>
              <a:buNone/>
            </a:pPr>
            <a:r>
              <a:rPr lang="en-US" sz="1800" dirty="0">
                <a:solidFill>
                  <a:srgbClr val="1F2933"/>
                </a:solidFill>
              </a:rPr>
              <a:t>为 54.24%。利息计提与摊销使债券账面金额高于面值，</a:t>
            </a:r>
            <a:endParaRPr lang="en-US" sz="1800" dirty="0"/>
          </a:p>
          <a:p>
            <a:pPr indent="0" marL="0">
              <a:lnSpc>
                <a:spcPct val="100000"/>
              </a:lnSpc>
              <a:buNone/>
            </a:pPr>
            <a:r>
              <a:rPr lang="en-US" sz="1800" dirty="0">
                <a:solidFill>
                  <a:srgbClr val="1F2933"/>
                </a:solidFill>
              </a:rPr>
              <a:t>不能把二者混用。一般良好履约声明没有给出期间、排除项或调节</a:t>
            </a:r>
            <a:endParaRPr lang="en-US" sz="1800" dirty="0"/>
          </a:p>
          <a:p>
            <a:pPr indent="0" marL="0">
              <a:lnSpc>
                <a:spcPct val="100000"/>
              </a:lnSpc>
              <a:buNone/>
            </a:pPr>
            <a:r>
              <a:rPr lang="en-US" sz="1800" dirty="0">
                <a:solidFill>
                  <a:srgbClr val="1F2933"/>
                </a:solidFill>
              </a:rPr>
              <a:t>表。</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账面筛查金额超出比例限额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合同面值占合并总权益敏感性</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54.24%</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ks_d_e_face_2025 等；完整原文与位置见本演示文稿来源附页及备注</a:t>
            </a:r>
            <a:endParaRPr lang="en-US" sz="9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承诺可能存在已签协议中的特定适用期间或定义，需要以原协议及</a:t>
            </a:r>
            <a:endParaRPr lang="en-US" sz="1800" dirty="0"/>
          </a:p>
          <a:p>
            <a:pPr indent="0" marL="0">
              <a:lnSpc>
                <a:spcPct val="100000"/>
              </a:lnSpc>
              <a:buNone/>
            </a:pPr>
            <a:r>
              <a:rPr lang="en-US" sz="1800" dirty="0">
                <a:solidFill>
                  <a:srgbClr val="1F2933"/>
                </a:solidFill>
              </a:rPr>
              <a:t>正式解释证明。</a:t>
            </a:r>
            <a:endParaRPr lang="en-US" sz="1800" dirty="0"/>
          </a:p>
          <a:p>
            <a:pPr indent="0" marL="0">
              <a:lnSpc>
                <a:spcPct val="100000"/>
              </a:lnSpc>
              <a:buNone/>
            </a:pPr>
            <a:r>
              <a:rPr lang="en-US" sz="1800" dirty="0">
                <a:solidFill>
                  <a:srgbClr val="1F2933"/>
                </a:solidFill>
              </a:rPr>
              <a:t>披露可能存在履约状态与财务数值不一致，需要特定更正或补充。</a:t>
            </a:r>
            <a:endParaRPr lang="en-US" sz="1800" dirty="0"/>
          </a:p>
          <a:p>
            <a:pPr indent="0" marL="0">
              <a:lnSpc>
                <a:spcPct val="100000"/>
              </a:lnSpc>
              <a:buNone/>
            </a:pPr>
            <a:r>
              <a:rPr lang="en-US" sz="1800" dirty="0">
                <a:solidFill>
                  <a:srgbClr val="1F2933"/>
                </a:solidFill>
              </a:rPr>
              <a:t>可能存在合法变更、豁免或调节事项，但现有材料未取得，不能</a:t>
            </a:r>
            <a:endParaRPr lang="en-US" sz="1800" dirty="0"/>
          </a:p>
          <a:p>
            <a:pPr indent="0" marL="0">
              <a:lnSpc>
                <a:spcPct val="100000"/>
              </a:lnSpc>
              <a:buNone/>
            </a:pPr>
            <a:r>
              <a:rPr lang="en-US" sz="1800" dirty="0">
                <a:solidFill>
                  <a:srgbClr val="1F2933"/>
                </a:solidFill>
              </a:rPr>
              <a:t>推定其存在。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应付债券期初2243045749.84元；按面值计提利息</a:t>
            </a:r>
            <a:endParaRPr lang="en-US" sz="1800" dirty="0"/>
          </a:p>
          <a:p>
            <a:pPr indent="0" marL="0">
              <a:lnSpc>
                <a:spcPct val="100000"/>
              </a:lnSpc>
              <a:buNone/>
            </a:pPr>
            <a:r>
              <a:rPr lang="en-US" sz="1800" dirty="0">
                <a:solidFill>
                  <a:srgbClr val="1F2933"/>
                </a:solidFill>
              </a:rPr>
              <a:t>15685984.48元、溢折价摊销65658391.23</a:t>
            </a:r>
            <a:endParaRPr lang="en-US" sz="1800" dirty="0"/>
          </a:p>
          <a:p>
            <a:pPr indent="0" marL="0">
              <a:lnSpc>
                <a:spcPct val="100000"/>
              </a:lnSpc>
              <a:buNone/>
            </a:pPr>
            <a:r>
              <a:rPr lang="en-US" sz="1800" dirty="0">
                <a:solidFill>
                  <a:srgbClr val="1F2933"/>
                </a:solidFill>
              </a:rPr>
              <a:t>元、支付利息10989198.50元、本期转股17700</a:t>
            </a:r>
            <a:endParaRPr lang="en-US" sz="1800" dirty="0"/>
          </a:p>
          <a:p>
            <a:pPr indent="0" marL="0">
              <a:lnSpc>
                <a:spcPct val="100000"/>
              </a:lnSpc>
              <a:buNone/>
            </a:pPr>
            <a:r>
              <a:rPr lang="en-US" sz="1800" dirty="0">
                <a:solidFill>
                  <a:srgbClr val="1F2933"/>
                </a:solidFill>
              </a:rPr>
              <a:t>元；期末2313383227.05元；是否违约栏为否。</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资金混同管理事项。未提供累计债券余额承诺逐期计算或豁免</a:t>
            </a:r>
            <a:endParaRPr lang="en-US" sz="1800" dirty="0"/>
          </a:p>
          <a:p>
            <a:pPr indent="0" marL="0">
              <a:lnSpc>
                <a:spcPct val="100000"/>
              </a:lnSpc>
              <a:buNone/>
            </a:pPr>
            <a:r>
              <a:rPr lang="en-US" sz="1800" dirty="0">
                <a:solidFill>
                  <a:srgbClr val="1F2933"/>
                </a:solidFill>
              </a:rPr>
              <a:t>文件。</a:t>
            </a:r>
            <a:endParaRPr lang="en-US" sz="1800" dirty="0"/>
          </a:p>
          <a:p>
            <a:pPr indent="0" marL="0">
              <a:lnSpc>
                <a:spcPct val="100000"/>
              </a:lnSpc>
              <a:buNone/>
            </a:pPr>
            <a:r>
              <a:rPr lang="en-US" sz="1800" dirty="0">
                <a:solidFill>
                  <a:srgbClr val="1F2933"/>
                </a:solidFill>
              </a:rPr>
              <a:t>p5仍列6.72元/股，p15已记录后续6.67元/股。</a:t>
            </a:r>
            <a:endParaRPr lang="en-US" sz="1800" dirty="0"/>
          </a:p>
          <a:p>
            <a:pPr indent="0" marL="0">
              <a:lnSpc>
                <a:spcPct val="100000"/>
              </a:lnSpc>
              <a:buNone/>
            </a:pPr>
            <a:r>
              <a:rPr lang="en-US" sz="1800" dirty="0">
                <a:solidFill>
                  <a:srgbClr val="1F2933"/>
                </a:solidFill>
              </a:rPr>
              <a:t>p16报告2025年度亏损超过上年末净资产10%的重大</a:t>
            </a:r>
            <a:endParaRPr lang="en-US" sz="1800" dirty="0"/>
          </a:p>
          <a:p>
            <a:pPr indent="0" marL="0">
              <a:lnSpc>
                <a:spcPct val="100000"/>
              </a:lnSpc>
              <a:buNone/>
            </a:pPr>
            <a:r>
              <a:rPr lang="en-US" sz="1800" dirty="0">
                <a:solidFill>
                  <a:srgbClr val="1F2933"/>
                </a:solidFill>
              </a:rPr>
              <a:t>事项；该段没有认定累计债券余额承诺违约。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取得原承诺适用期间、累计余额及净资产定义、逐期计算调节表、</a:t>
            </a:r>
            <a:endParaRPr lang="en-US" sz="1800" dirty="0"/>
          </a:p>
          <a:p>
            <a:pPr indent="0" marL="0">
              <a:lnSpc>
                <a:spcPct val="100000"/>
              </a:lnSpc>
              <a:buNone/>
            </a:pPr>
            <a:r>
              <a:rPr lang="en-US" sz="1800" dirty="0">
                <a:solidFill>
                  <a:srgbClr val="1F2933"/>
                </a:solidFill>
              </a:rPr>
              <a:t>正式解释和依法有效的变更/豁免文件后，按相同原始数字重作</a:t>
            </a:r>
            <a:endParaRPr lang="en-US" sz="1800" dirty="0"/>
          </a:p>
          <a:p>
            <a:pPr indent="0" marL="0">
              <a:lnSpc>
                <a:spcPct val="100000"/>
              </a:lnSpc>
              <a:buNone/>
            </a:pPr>
            <a:r>
              <a:rPr lang="en-US" sz="1800" dirty="0">
                <a:solidFill>
                  <a:srgbClr val="1F2933"/>
                </a:solidFill>
              </a:rPr>
              <a:t>结论；仅重复一般“正常履行”不能关闭差异。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本债不提供担保，按发行人无担保债权分析。持有人会议提供集体决策及诉讼路径，但其他债务逾期等</a:t>
            </a:r>
            <a:endParaRPr lang="en-US" sz="1800" dirty="0"/>
          </a:p>
          <a:p>
            <a:pPr indent="0" marL="0">
              <a:lnSpc>
                <a:spcPct val="100000"/>
              </a:lnSpc>
              <a:buNone/>
            </a:pPr>
            <a:r>
              <a:rPr lang="en-US" sz="1800" dirty="0">
                <a:solidFill>
                  <a:srgbClr val="1F2933"/>
                </a:solidFill>
              </a:rPr>
              <a:t>会议触发条件不等于自动交叉违约或立即加速。未取得完整已签受托管理协议，累计余额承诺相关通知、</a:t>
            </a:r>
            <a:endParaRPr lang="en-US" sz="1800" dirty="0"/>
          </a:p>
          <a:p>
            <a:pPr indent="0" marL="0">
              <a:lnSpc>
                <a:spcPct val="100000"/>
              </a:lnSpc>
              <a:buNone/>
            </a:pPr>
            <a:r>
              <a:rPr lang="en-US" sz="1800" dirty="0">
                <a:solidFill>
                  <a:srgbClr val="1F2933"/>
                </a:solidFill>
              </a:rPr>
              <a:t>补救期、加速权限及豁免规则仍待明确；这一缺口不妨碍企业经营及一般偿债能力分析。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募集书的逾期本息救济与一般民事责任已有证据；持续承诺争议是否构成本债约定违约事件及何时可提前</a:t>
            </a:r>
            <a:endParaRPr lang="en-US" sz="1800" dirty="0"/>
          </a:p>
          <a:p>
            <a:pPr indent="0" marL="0">
              <a:lnSpc>
                <a:spcPct val="100000"/>
              </a:lnSpc>
              <a:buNone/>
            </a:pPr>
            <a:r>
              <a:rPr lang="en-US" sz="1800" dirty="0">
                <a:solidFill>
                  <a:srgbClr val="1F2933"/>
                </a:solidFill>
              </a:rPr>
              <a:t>请求清偿，仍依合同链、行为及程序。普通无担保顺位不等于对所有子公司资产有直接同顺位追索。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若签署协议明确将该承诺并入违约事件并约定补救及加速，需按条款证据判断触发和履行程序。</a:t>
            </a:r>
            <a:endParaRPr lang="en-US" sz="1800" dirty="0"/>
          </a:p>
          <a:p>
            <a:pPr indent="0" marL="0">
              <a:lnSpc>
                <a:spcPct val="100000"/>
              </a:lnSpc>
              <a:buNone/>
            </a:pPr>
            <a:r>
              <a:rPr lang="en-US" sz="1800" dirty="0">
                <a:solidFill>
                  <a:srgbClr val="1F2933"/>
                </a:solidFill>
              </a:rPr>
              <a:t>如果只产生承诺监管责任或一般违约责任，也不能在没有到期或加速依据时把全额本金列为即期付款。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报告称已发行债券及其他债务融资工具不存在延迟支付本息、2025年度付息无延迟、2025年度未</a:t>
            </a:r>
            <a:endParaRPr lang="en-US" sz="1800" dirty="0"/>
          </a:p>
          <a:p>
            <a:pPr indent="0" marL="0">
              <a:lnSpc>
                <a:spcPct val="100000"/>
              </a:lnSpc>
              <a:buNone/>
            </a:pPr>
            <a:r>
              <a:rPr lang="en-US" sz="1800" dirty="0">
                <a:solidFill>
                  <a:srgbClr val="1F2933"/>
                </a:solidFill>
              </a:rPr>
              <a:t>发生应召开或已召开的持有人会议事项，相关承诺履行良好；未提供持续财务承诺的专门测试调节表。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取得已签受托协议、补充及有效修订，并能定位义务并入、违约事件、通知、补救、加速表决、豁免与</a:t>
            </a:r>
            <a:endParaRPr lang="en-US" sz="1800" dirty="0"/>
          </a:p>
          <a:p>
            <a:pPr indent="0" marL="0">
              <a:lnSpc>
                <a:spcPct val="100000"/>
              </a:lnSpc>
              <a:buNone/>
            </a:pPr>
            <a:r>
              <a:rPr lang="en-US" sz="1800" dirty="0">
                <a:solidFill>
                  <a:srgbClr val="1F2933"/>
                </a:solidFill>
              </a:rPr>
              <a:t>撤销条款，才可给出本债明确救济路径。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截止日前已取得的最新执行价为每股 6.61 元人民币，自</a:t>
            </a:r>
            <a:endParaRPr lang="en-US" sz="1800" dirty="0"/>
          </a:p>
          <a:p>
            <a:pPr indent="0" marL="0">
              <a:lnSpc>
                <a:spcPct val="100000"/>
              </a:lnSpc>
              <a:buNone/>
            </a:pPr>
            <a:r>
              <a:rPr lang="en-US" sz="1800" dirty="0">
                <a:solidFill>
                  <a:srgbClr val="1F2933"/>
                </a:solidFill>
              </a:rPr>
              <a:t>2026-05-26生效；旧报告首页价格已经过时。普通回售</a:t>
            </a:r>
            <a:endParaRPr lang="en-US" sz="1800" dirty="0"/>
          </a:p>
          <a:p>
            <a:pPr indent="0" marL="0">
              <a:lnSpc>
                <a:spcPct val="100000"/>
              </a:lnSpc>
              <a:buNone/>
            </a:pPr>
            <a:r>
              <a:rPr lang="en-US" sz="1800" dirty="0">
                <a:solidFill>
                  <a:srgbClr val="1F2933"/>
                </a:solidFill>
              </a:rPr>
              <a:t>限最后两个计息年度，据合同日期推得首个年度自2027-08</a:t>
            </a:r>
            <a:endParaRPr lang="en-US" sz="1800" dirty="0"/>
          </a:p>
          <a:p>
            <a:pPr indent="0" marL="0">
              <a:lnSpc>
                <a:spcPct val="100000"/>
              </a:lnSpc>
              <a:buNone/>
            </a:pPr>
            <a:r>
              <a:rPr lang="en-US" sz="1800" dirty="0">
                <a:solidFill>
                  <a:srgbClr val="1F2933"/>
                </a:solidFill>
              </a:rPr>
              <a:t>-04开始。仅按当前条款价映射，回售、下修、赎回观察线分别</a:t>
            </a:r>
            <a:endParaRPr lang="en-US" sz="1800" dirty="0"/>
          </a:p>
          <a:p>
            <a:pPr indent="0" marL="0">
              <a:lnSpc>
                <a:spcPct val="100000"/>
              </a:lnSpc>
              <a:buNone/>
            </a:pPr>
            <a:r>
              <a:rPr lang="en-US" sz="1800" dirty="0">
                <a:solidFill>
                  <a:srgbClr val="1F2933"/>
                </a:solidFill>
              </a:rPr>
              <a:t>为每股 4.63 元人民币、5.62 元人民币、8.59 </a:t>
            </a:r>
            <a:endParaRPr lang="en-US" sz="1800" dirty="0"/>
          </a:p>
          <a:p>
            <a:pPr indent="0" marL="0">
              <a:lnSpc>
                <a:spcPct val="100000"/>
              </a:lnSpc>
              <a:buNone/>
            </a:pPr>
            <a:r>
              <a:rPr lang="en-US" sz="1800" dirty="0">
                <a:solidFill>
                  <a:srgbClr val="1F2933"/>
                </a:solidFill>
              </a:rPr>
              <a:t>元人民币；这些条件价格不是未来市场价或已确认行权事件。</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五月实施后转股价</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6.61 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普通回售条件股价</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4.63 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下修条件股价</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5.62 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赎回条件股价</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8.59 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ks_d_e_maturity_call 等；完整原文与位置见本演示文稿来源附页及备注</a:t>
            </a:r>
            <a:endParaRPr lang="en-US" sz="9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普通回售须在适用计息年度内连续 30.00 交易日 每日</a:t>
            </a:r>
            <a:endParaRPr lang="en-US" sz="1800" dirty="0"/>
          </a:p>
          <a:p>
            <a:pPr indent="0" marL="0">
              <a:lnSpc>
                <a:spcPct val="100000"/>
              </a:lnSpc>
              <a:buNone/>
            </a:pPr>
            <a:r>
              <a:rPr lang="en-US" sz="1800" dirty="0">
                <a:solidFill>
                  <a:srgbClr val="1F2933"/>
                </a:solidFill>
              </a:rPr>
              <a:t>收盘价低于当期转股价的 70.00%，并按首次触发后的公告</a:t>
            </a:r>
            <a:endParaRPr lang="en-US" sz="1800" dirty="0"/>
          </a:p>
          <a:p>
            <a:pPr indent="0" marL="0">
              <a:lnSpc>
                <a:spcPct val="100000"/>
              </a:lnSpc>
              <a:buNone/>
            </a:pPr>
            <a:r>
              <a:rPr lang="en-US" sz="1800" dirty="0">
                <a:solidFill>
                  <a:srgbClr val="1F2933"/>
                </a:solidFill>
              </a:rPr>
              <a:t>窗口申报；下修和有条件赎回是在连续 30.00 交易日 中</a:t>
            </a:r>
            <a:endParaRPr lang="en-US" sz="1800" dirty="0"/>
          </a:p>
          <a:p>
            <a:pPr indent="0" marL="0">
              <a:lnSpc>
                <a:spcPct val="100000"/>
              </a:lnSpc>
              <a:buNone/>
            </a:pPr>
            <a:r>
              <a:rPr lang="en-US" sz="1800" dirty="0">
                <a:solidFill>
                  <a:srgbClr val="1F2933"/>
                </a:solidFill>
              </a:rPr>
              <a:t>至少 15.00 交易日 达标，分别为低于 85.00%、</a:t>
            </a:r>
            <a:endParaRPr lang="en-US" sz="1800" dirty="0"/>
          </a:p>
          <a:p>
            <a:pPr indent="0" marL="0">
              <a:lnSpc>
                <a:spcPct val="100000"/>
              </a:lnSpc>
              <a:buNone/>
            </a:pPr>
            <a:r>
              <a:rPr lang="en-US" sz="1800" dirty="0">
                <a:solidFill>
                  <a:srgbClr val="1F2933"/>
                </a:solidFill>
              </a:rPr>
              <a:t>不低于 130.00%。附加回售取决于重大实施变化及依法</a:t>
            </a:r>
            <a:endParaRPr lang="en-US" sz="1800" dirty="0"/>
          </a:p>
          <a:p>
            <a:pPr indent="0" marL="0">
              <a:lnSpc>
                <a:spcPct val="100000"/>
              </a:lnSpc>
              <a:buNone/>
            </a:pPr>
            <a:r>
              <a:rPr lang="en-US" sz="1800" dirty="0">
                <a:solidFill>
                  <a:srgbClr val="1F2933"/>
                </a:solidFill>
              </a:rPr>
              <a:t>认定改变用途，不限最后两个计息年度。下修须发行人提出及股东</a:t>
            </a:r>
            <a:endParaRPr lang="en-US" sz="1800" dirty="0"/>
          </a:p>
          <a:p>
            <a:pPr indent="0" marL="0">
              <a:lnSpc>
                <a:spcPct val="100000"/>
              </a:lnSpc>
              <a:buNone/>
            </a:pPr>
            <a:r>
              <a:rPr lang="en-US" sz="1800" dirty="0">
                <a:solidFill>
                  <a:srgbClr val="1F2933"/>
                </a:solidFill>
              </a:rPr>
              <a:t>会程序；有条件赎回是发行人选择权，另有余额不足 </a:t>
            </a:r>
            <a:endParaRPr lang="en-US" sz="1800" dirty="0"/>
          </a:p>
          <a:p>
            <a:pPr indent="0" marL="0">
              <a:lnSpc>
                <a:spcPct val="100000"/>
              </a:lnSpc>
              <a:buNone/>
            </a:pPr>
            <a:r>
              <a:rPr lang="en-US" sz="1800" dirty="0">
                <a:solidFill>
                  <a:srgbClr val="1F2933"/>
                </a:solidFill>
              </a:rPr>
              <a:t>3,000.00 万元人民币 的条件。2026-06-25</a:t>
            </a:r>
            <a:endParaRPr lang="en-US" sz="1800" dirty="0"/>
          </a:p>
          <a:p>
            <a:pPr indent="0" marL="0">
              <a:lnSpc>
                <a:spcPct val="100000"/>
              </a:lnSpc>
              <a:buNone/>
            </a:pPr>
            <a:r>
              <a:rPr lang="en-US" sz="1800" dirty="0">
                <a:solidFill>
                  <a:srgbClr val="1F2933"/>
                </a:solidFill>
              </a:rPr>
              <a:t>只是重新计算下修期间的起点。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后续现金分派、资本变动或有效下修可能改变转股价及联动观察</a:t>
            </a:r>
            <a:endParaRPr lang="en-US" sz="1800" dirty="0"/>
          </a:p>
          <a:p>
            <a:pPr indent="0" marL="0">
              <a:lnSpc>
                <a:spcPct val="100000"/>
              </a:lnSpc>
              <a:buNone/>
            </a:pPr>
            <a:r>
              <a:rPr lang="en-US" sz="1800" dirty="0">
                <a:solidFill>
                  <a:srgbClr val="1F2933"/>
                </a:solidFill>
              </a:rPr>
              <a:t>线。</a:t>
            </a:r>
            <a:endParaRPr lang="en-US" sz="1800" dirty="0"/>
          </a:p>
          <a:p>
            <a:pPr indent="0" marL="0">
              <a:lnSpc>
                <a:spcPct val="100000"/>
              </a:lnSpc>
              <a:buNone/>
            </a:pPr>
            <a:r>
              <a:rPr lang="en-US" sz="1800" dirty="0">
                <a:solidFill>
                  <a:srgbClr val="1F2933"/>
                </a:solidFill>
              </a:rPr>
              <a:t>一般项目延期若没有法定改变用途事实，不应直接视为附加回售已</a:t>
            </a:r>
            <a:endParaRPr lang="en-US" sz="1800" dirty="0"/>
          </a:p>
          <a:p>
            <a:pPr indent="0" marL="0">
              <a:lnSpc>
                <a:spcPct val="100000"/>
              </a:lnSpc>
              <a:buNone/>
            </a:pPr>
            <a:r>
              <a:rPr lang="en-US" sz="1800" dirty="0">
                <a:solidFill>
                  <a:srgbClr val="1F2933"/>
                </a:solidFill>
              </a:rPr>
              <a:t>触发。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p5仍列6.72元/股，p15已记录后续6.67元/股。</a:t>
            </a:r>
            <a:endParaRPr lang="en-US" sz="1800" dirty="0"/>
          </a:p>
          <a:p>
            <a:pPr indent="0" marL="0">
              <a:lnSpc>
                <a:spcPct val="100000"/>
              </a:lnSpc>
              <a:buNone/>
            </a:pPr>
            <a:r>
              <a:rPr lang="en-US" sz="1800" dirty="0">
                <a:solidFill>
                  <a:srgbClr val="1F2933"/>
                </a:solidFill>
              </a:rPr>
              <a:t>p16报告2025年度亏损超过上年末净资产10%的重大</a:t>
            </a:r>
            <a:endParaRPr lang="en-US" sz="1800" dirty="0"/>
          </a:p>
          <a:p>
            <a:pPr indent="0" marL="0">
              <a:lnSpc>
                <a:spcPct val="100000"/>
              </a:lnSpc>
              <a:buNone/>
            </a:pPr>
            <a:r>
              <a:rPr lang="en-US" sz="1800" dirty="0">
                <a:solidFill>
                  <a:srgbClr val="1F2933"/>
                </a:solidFill>
              </a:rPr>
              <a:t>事项；该段没有认定累计债券余额承诺违约。</a:t>
            </a:r>
            <a:endParaRPr lang="en-US" sz="1800" dirty="0"/>
          </a:p>
          <a:p>
            <a:pPr indent="0" marL="0">
              <a:lnSpc>
                <a:spcPct val="100000"/>
              </a:lnSpc>
              <a:buNone/>
            </a:pPr>
            <a:r>
              <a:rPr lang="en-US" sz="1800" dirty="0">
                <a:solidFill>
                  <a:srgbClr val="1F2933"/>
                </a:solidFill>
              </a:rPr>
              <a:t>有关项目达到预定可使用状态日期延至2028-12-31；</a:t>
            </a:r>
            <a:endParaRPr lang="en-US" sz="1800" dirty="0"/>
          </a:p>
          <a:p>
            <a:pPr indent="0" marL="0">
              <a:lnSpc>
                <a:spcPct val="100000"/>
              </a:lnSpc>
              <a:buNone/>
            </a:pPr>
            <a:r>
              <a:rPr lang="en-US" sz="1800" dirty="0">
                <a:solidFill>
                  <a:srgbClr val="1F2933"/>
                </a:solidFill>
              </a:rPr>
              <a:t>公司及核查意见称未改变主体、方式、内容、用途或投资规模。</a:t>
            </a:r>
            <a:endParaRPr lang="en-US" sz="1800" dirty="0"/>
          </a:p>
          <a:p>
            <a:pPr indent="0" marL="0">
              <a:lnSpc>
                <a:spcPct val="100000"/>
              </a:lnSpc>
              <a:buNone/>
            </a:pPr>
            <a:r>
              <a:rPr lang="en-US" sz="1800" dirty="0">
                <a:solidFill>
                  <a:srgbClr val="1F2933"/>
                </a:solidFill>
              </a:rPr>
              <a:t>披露临时补流与一般资金混同，要求加强独立管理，同时作未违规</a:t>
            </a:r>
            <a:endParaRPr lang="en-US" sz="1800" dirty="0"/>
          </a:p>
          <a:p>
            <a:pPr indent="0" marL="0">
              <a:lnSpc>
                <a:spcPct val="100000"/>
              </a:lnSpc>
              <a:buNone/>
            </a:pPr>
            <a:r>
              <a:rPr lang="en-US" sz="1800" dirty="0">
                <a:solidFill>
                  <a:srgbClr val="1F2933"/>
                </a:solidFill>
              </a:rPr>
              <a:t>改变投向的一般结论；仅延期或管理混同不足以直接认定附加回售</a:t>
            </a:r>
            <a:endParaRPr lang="en-US" sz="1800" dirty="0"/>
          </a:p>
          <a:p>
            <a:pPr indent="0" marL="0">
              <a:lnSpc>
                <a:spcPct val="100000"/>
              </a:lnSpc>
              <a:buNone/>
            </a:pPr>
            <a:r>
              <a:rPr lang="en-US" sz="1800" dirty="0">
                <a:solidFill>
                  <a:srgbClr val="1F2933"/>
                </a:solidFill>
              </a:rPr>
              <a:t>条件已成就。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出现截止日前新的有效价格或正式行权公告时更新；只有观察期</a:t>
            </a:r>
            <a:endParaRPr lang="en-US" sz="1800" dirty="0"/>
          </a:p>
          <a:p>
            <a:pPr indent="0" marL="0">
              <a:lnSpc>
                <a:spcPct val="100000"/>
              </a:lnSpc>
              <a:buNone/>
            </a:pPr>
            <a:r>
              <a:rPr lang="en-US" sz="1800" dirty="0">
                <a:solidFill>
                  <a:srgbClr val="1F2933"/>
                </a:solidFill>
              </a:rPr>
              <a:t>股价记录、当期有效转股价、适用计息年度及程序证据共同满足</a:t>
            </a:r>
            <a:endParaRPr lang="en-US" sz="1800" dirty="0"/>
          </a:p>
          <a:p>
            <a:pPr indent="0" marL="0">
              <a:lnSpc>
                <a:spcPct val="100000"/>
              </a:lnSpc>
              <a:buNone/>
            </a:pPr>
            <a:r>
              <a:rPr lang="en-US" sz="1800" dirty="0">
                <a:solidFill>
                  <a:srgbClr val="1F2933"/>
                </a:solidFill>
              </a:rPr>
              <a:t>时，才将相关提前支付列为已触发义务。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年末尚未使用募集资金 13.61 亿元人民币 中，</a:t>
            </a:r>
            <a:endParaRPr lang="en-US" sz="1800" dirty="0"/>
          </a:p>
          <a:p>
            <a:pPr indent="0" marL="0">
              <a:lnSpc>
                <a:spcPct val="100000"/>
              </a:lnSpc>
              <a:buNone/>
            </a:pPr>
            <a:r>
              <a:rPr lang="en-US" sz="1800" dirty="0">
                <a:solidFill>
                  <a:srgbClr val="1F2933"/>
                </a:solidFill>
              </a:rPr>
              <a:t>12.75 亿元人民币 已暂用于补流，专户余额为 </a:t>
            </a:r>
            <a:endParaRPr lang="en-US" sz="1800" dirty="0"/>
          </a:p>
          <a:p>
            <a:pPr indent="0" marL="0">
              <a:lnSpc>
                <a:spcPct val="100000"/>
              </a:lnSpc>
              <a:buNone/>
            </a:pPr>
            <a:r>
              <a:rPr lang="en-US" sz="1800" dirty="0">
                <a:solidFill>
                  <a:srgbClr val="1F2933"/>
                </a:solidFill>
              </a:rPr>
              <a:t>8,643.12 万元人民币。旧一期实际使用的 13.00</a:t>
            </a:r>
            <a:endParaRPr lang="en-US" sz="1800" dirty="0"/>
          </a:p>
          <a:p>
            <a:pPr indent="0" marL="0">
              <a:lnSpc>
                <a:spcPct val="100000"/>
              </a:lnSpc>
              <a:buNone/>
            </a:pPr>
            <a:r>
              <a:rPr lang="en-US" sz="1800" dirty="0">
                <a:solidFill>
                  <a:srgbClr val="1F2933"/>
                </a:solidFill>
              </a:rPr>
              <a:t> 亿元人民币 已于2026-01-06前归还；新一期</a:t>
            </a:r>
            <a:endParaRPr lang="en-US" sz="1800" dirty="0"/>
          </a:p>
          <a:p>
            <a:pPr indent="0" marL="0">
              <a:lnSpc>
                <a:spcPct val="100000"/>
              </a:lnSpc>
              <a:buNone/>
            </a:pPr>
            <a:r>
              <a:rPr lang="en-US" sz="1800" dirty="0">
                <a:solidFill>
                  <a:srgbClr val="1F2933"/>
                </a:solidFill>
              </a:rPr>
              <a:t>2026-01-09批准上限 13.00 亿元人民币，实际</a:t>
            </a:r>
            <a:endParaRPr lang="en-US" sz="1800" dirty="0"/>
          </a:p>
          <a:p>
            <a:pPr indent="0" marL="0">
              <a:lnSpc>
                <a:spcPct val="100000"/>
              </a:lnSpc>
              <a:buNone/>
            </a:pPr>
            <a:r>
              <a:rPr lang="en-US" sz="1800" dirty="0">
                <a:solidFill>
                  <a:srgbClr val="1F2933"/>
                </a:solidFill>
              </a:rPr>
              <a:t>截止日占用尚未确定。归还募集专户是恢复资金用途约束，不是</a:t>
            </a:r>
            <a:endParaRPr lang="en-US" sz="1800" dirty="0"/>
          </a:p>
          <a:p>
            <a:pPr indent="0" marL="0">
              <a:lnSpc>
                <a:spcPct val="100000"/>
              </a:lnSpc>
              <a:buNone/>
            </a:pPr>
            <a:r>
              <a:rPr lang="en-US" sz="1800" dirty="0">
                <a:solidFill>
                  <a:srgbClr val="1F2933"/>
                </a:solidFill>
              </a:rPr>
              <a:t>新增对外金融债偿还，不能再加到转债本金上。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期末尚未使用募集资金总额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13.61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期末暂时补流资金余额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12.75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期末募集专户余额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8,643.12 万元人民币</a:t>
            </a:r>
            <a:endParaRPr lang="en-US" sz="17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旧一期实际归还专户总额</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新一期从批准日起至多十二个月、项目需用时须提前归还，按日期</a:t>
            </a:r>
            <a:endParaRPr lang="en-US" sz="1800" dirty="0"/>
          </a:p>
          <a:p>
            <a:pPr indent="0" marL="0">
              <a:lnSpc>
                <a:spcPct val="100000"/>
              </a:lnSpc>
              <a:buNone/>
            </a:pPr>
            <a:r>
              <a:rPr lang="en-US" sz="1800" dirty="0">
                <a:solidFill>
                  <a:srgbClr val="1F2933"/>
                </a:solidFill>
              </a:rPr>
              <a:t>推得最长至2027-01-09。实际占用若被营运资金锁定，</a:t>
            </a:r>
            <a:endParaRPr lang="en-US" sz="1800" dirty="0"/>
          </a:p>
          <a:p>
            <a:pPr indent="0" marL="0">
              <a:lnSpc>
                <a:spcPct val="100000"/>
              </a:lnSpc>
              <a:buNone/>
            </a:pPr>
            <a:r>
              <a:rPr lang="en-US" sz="1800" dirty="0">
                <a:solidFill>
                  <a:srgbClr val="1F2933"/>
                </a:solidFill>
              </a:rPr>
              <a:t>会产生调回可用资金的压力；集团内部账户转移本身不减少合并</a:t>
            </a:r>
            <a:endParaRPr lang="en-US" sz="1800" dirty="0"/>
          </a:p>
          <a:p>
            <a:pPr indent="0" marL="0">
              <a:lnSpc>
                <a:spcPct val="100000"/>
              </a:lnSpc>
              <a:buNone/>
            </a:pPr>
            <a:r>
              <a:rPr lang="en-US" sz="1800" dirty="0">
                <a:solidFill>
                  <a:srgbClr val="1F2933"/>
                </a:solidFill>
              </a:rPr>
              <a:t>现金，但会减少可自由用于一般偿债的资金。批准额度不能替代</a:t>
            </a:r>
            <a:endParaRPr lang="en-US" sz="1800" dirty="0"/>
          </a:p>
          <a:p>
            <a:pPr indent="0" marL="0">
              <a:lnSpc>
                <a:spcPct val="100000"/>
              </a:lnSpc>
              <a:buNone/>
            </a:pPr>
            <a:r>
              <a:rPr lang="en-US" sz="1800" dirty="0">
                <a:solidFill>
                  <a:srgbClr val="1F2933"/>
                </a:solidFill>
              </a:rPr>
              <a:t>实际用款和归还流水。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新一期批准临时补流额度上限</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截止日新一期实际临时补流占用</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ks_d_e_fund_balance / ks_d_e_fund_return 等；完整原文与位置见本演示文稿来源附页及备注</a:t>
            </a:r>
            <a:endParaRPr lang="en-US" sz="9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若新一期实际支用低于批准额度，潜在需调回金额相应较低；不能</a:t>
            </a:r>
            <a:endParaRPr lang="en-US" sz="1800" dirty="0"/>
          </a:p>
          <a:p>
            <a:pPr indent="0" marL="0">
              <a:lnSpc>
                <a:spcPct val="100000"/>
              </a:lnSpc>
              <a:buNone/>
            </a:pPr>
            <a:r>
              <a:rPr lang="en-US" sz="1800" dirty="0">
                <a:solidFill>
                  <a:srgbClr val="1F2933"/>
                </a:solidFill>
              </a:rPr>
              <a:t>预填最大额度为实际债务。</a:t>
            </a:r>
            <a:endParaRPr lang="en-US" sz="1800" dirty="0"/>
          </a:p>
          <a:p>
            <a:pPr indent="0" marL="0">
              <a:lnSpc>
                <a:spcPct val="100000"/>
              </a:lnSpc>
              <a:buNone/>
            </a:pPr>
            <a:r>
              <a:rPr lang="en-US" sz="1800" dirty="0">
                <a:solidFill>
                  <a:srgbClr val="1F2933"/>
                </a:solidFill>
              </a:rPr>
              <a:t>若可及时收回营运资金并恢复专户，用途恢复压力较小；这不代表</a:t>
            </a:r>
            <a:endParaRPr lang="en-US" sz="1800" dirty="0"/>
          </a:p>
          <a:p>
            <a:pPr indent="0" marL="0">
              <a:lnSpc>
                <a:spcPct val="100000"/>
              </a:lnSpc>
              <a:buNone/>
            </a:pPr>
            <a:r>
              <a:rPr lang="en-US" sz="1800" dirty="0">
                <a:solidFill>
                  <a:srgbClr val="1F2933"/>
                </a:solidFill>
              </a:rPr>
              <a:t>资金可不受限制用于付本息。</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受托报告指出临时补流从专户转入一般户后与其他资金混同，要求</a:t>
            </a:r>
            <a:endParaRPr lang="en-US" sz="1800" dirty="0"/>
          </a:p>
          <a:p>
            <a:pPr indent="0" marL="0">
              <a:lnSpc>
                <a:spcPct val="100000"/>
              </a:lnSpc>
              <a:buNone/>
            </a:pPr>
            <a:r>
              <a:rPr lang="en-US" sz="1800" dirty="0">
                <a:solidFill>
                  <a:srgbClr val="1F2933"/>
                </a:solidFill>
              </a:rPr>
              <a:t>单独管理，并记录旧一期资金全部归还。一般履约意见不消除已</a:t>
            </a:r>
            <a:endParaRPr lang="en-US" sz="1800" dirty="0"/>
          </a:p>
          <a:p>
            <a:pPr indent="0" marL="0">
              <a:lnSpc>
                <a:spcPct val="100000"/>
              </a:lnSpc>
              <a:buNone/>
            </a:pPr>
            <a:r>
              <a:rPr lang="en-US" sz="1800" dirty="0">
                <a:solidFill>
                  <a:srgbClr val="1F2933"/>
                </a:solidFill>
              </a:rPr>
              <a:t>披露管理问题。</a:t>
            </a:r>
            <a:endParaRPr lang="en-US" sz="1800" dirty="0"/>
          </a:p>
          <a:p>
            <a:pPr indent="0" marL="0">
              <a:lnSpc>
                <a:spcPct val="100000"/>
              </a:lnSpc>
              <a:buNone/>
            </a:pPr>
            <a:r>
              <a:rPr lang="en-US" sz="1800" dirty="0">
                <a:solidFill>
                  <a:srgbClr val="1F2933"/>
                </a:solidFill>
              </a:rPr>
              <a:t>有关项目达到预定可使用状态日期延至2028-12-31；</a:t>
            </a:r>
            <a:endParaRPr lang="en-US" sz="1800" dirty="0"/>
          </a:p>
          <a:p>
            <a:pPr indent="0" marL="0">
              <a:lnSpc>
                <a:spcPct val="100000"/>
              </a:lnSpc>
              <a:buNone/>
            </a:pPr>
            <a:r>
              <a:rPr lang="en-US" sz="1800" dirty="0">
                <a:solidFill>
                  <a:srgbClr val="1F2933"/>
                </a:solidFill>
              </a:rPr>
              <a:t>公司及核查意见称未改变主体、方式、内容、用途或投资规模。</a:t>
            </a:r>
            <a:endParaRPr lang="en-US" sz="1800" dirty="0"/>
          </a:p>
          <a:p>
            <a:pPr indent="0" marL="0">
              <a:lnSpc>
                <a:spcPct val="100000"/>
              </a:lnSpc>
              <a:buNone/>
            </a:pPr>
            <a:r>
              <a:rPr lang="en-US" sz="1800" dirty="0">
                <a:solidFill>
                  <a:srgbClr val="1F2933"/>
                </a:solidFill>
              </a:rPr>
              <a:t>披露临时补流与一般资金混同，要求加强独立管理，同时作未违规</a:t>
            </a:r>
            <a:endParaRPr lang="en-US" sz="1800" dirty="0"/>
          </a:p>
          <a:p>
            <a:pPr indent="0" marL="0">
              <a:lnSpc>
                <a:spcPct val="100000"/>
              </a:lnSpc>
              <a:buNone/>
            </a:pPr>
            <a:r>
              <a:rPr lang="en-US" sz="1800" dirty="0">
                <a:solidFill>
                  <a:srgbClr val="1F2933"/>
                </a:solidFill>
              </a:rPr>
              <a:t>改变投向的一般结论；仅延期或管理混同不足以直接认定附加回售</a:t>
            </a:r>
            <a:endParaRPr lang="en-US" sz="1800" dirty="0"/>
          </a:p>
          <a:p>
            <a:pPr indent="0" marL="0">
              <a:lnSpc>
                <a:spcPct val="100000"/>
              </a:lnSpc>
              <a:buNone/>
            </a:pPr>
            <a:r>
              <a:rPr lang="en-US" sz="1800" dirty="0">
                <a:solidFill>
                  <a:srgbClr val="1F2933"/>
                </a:solidFill>
              </a:rPr>
              <a:t>条件已成就。</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资金混同管理事项。未提供累计债券余额承诺逐期计算或豁免</a:t>
            </a:r>
            <a:endParaRPr lang="en-US" sz="1800" dirty="0"/>
          </a:p>
          <a:p>
            <a:pPr indent="0" marL="0">
              <a:lnSpc>
                <a:spcPct val="100000"/>
              </a:lnSpc>
              <a:buNone/>
            </a:pPr>
            <a:r>
              <a:rPr lang="en-US" sz="1800" dirty="0">
                <a:solidFill>
                  <a:srgbClr val="1F2933"/>
                </a:solidFill>
              </a:rPr>
              <a:t>文件。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取得截止日及到期前专户/一般户对账、逐笔支用归还、项目支付</a:t>
            </a:r>
            <a:endParaRPr lang="en-US" sz="1800" dirty="0"/>
          </a:p>
          <a:p>
            <a:pPr indent="0" marL="0">
              <a:lnSpc>
                <a:spcPct val="100000"/>
              </a:lnSpc>
              <a:buNone/>
            </a:pPr>
            <a:r>
              <a:rPr lang="en-US" sz="1800" dirty="0">
                <a:solidFill>
                  <a:srgbClr val="1F2933"/>
                </a:solidFill>
              </a:rPr>
              <a:t>计划和资金可调回证据后量化用途恢复缺口；清除旧一期占用不能</a:t>
            </a:r>
            <a:endParaRPr lang="en-US" sz="1800" dirty="0"/>
          </a:p>
          <a:p>
            <a:pPr indent="0" marL="0">
              <a:lnSpc>
                <a:spcPct val="100000"/>
              </a:lnSpc>
              <a:buNone/>
            </a:pPr>
            <a:r>
              <a:rPr lang="en-US" sz="1800" dirty="0">
                <a:solidFill>
                  <a:srgbClr val="1F2933"/>
                </a:solidFill>
              </a:rPr>
              <a:t>自动证明新一期占用为零。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三家收入均下降：科顺-11.49%、东方雨虹-1.70%、北新-2.09%。科顺CAS</a:t>
            </a:r>
            <a:endParaRPr lang="en-US" sz="1800" dirty="0"/>
          </a:p>
          <a:p>
            <a:pPr indent="0" marL="0">
              <a:lnSpc>
                <a:spcPct val="100000"/>
              </a:lnSpc>
              <a:buNone/>
            </a:pPr>
            <a:r>
              <a:rPr lang="en-US" sz="1800" dirty="0">
                <a:solidFill>
                  <a:srgbClr val="1F2933"/>
                </a:solidFill>
              </a:rPr>
              <a:t>资产负债率67.32%，高于两家样本；净额营业周期130.28 days，亦长于雨虹</a:t>
            </a:r>
            <a:endParaRPr lang="en-US" sz="1800" dirty="0"/>
          </a:p>
          <a:p>
            <a:pPr indent="0" marL="0">
              <a:lnSpc>
                <a:spcPct val="100000"/>
              </a:lnSpc>
              <a:buNone/>
            </a:pPr>
            <a:r>
              <a:rPr lang="en-US" sz="1800" dirty="0">
                <a:solidFill>
                  <a:srgbClr val="1F2933"/>
                </a:solidFill>
              </a:rPr>
              <a:t>69.89 days、北新38.28 days。这些差异支持结合公司自身回款和资本质量分析，</a:t>
            </a:r>
            <a:endParaRPr lang="en-US" sz="1800" dirty="0"/>
          </a:p>
          <a:p>
            <a:pPr indent="0" marL="0">
              <a:lnSpc>
                <a:spcPct val="100000"/>
              </a:lnSpc>
              <a:buNone/>
            </a:pPr>
            <a:r>
              <a:rPr lang="en-US" sz="1800" dirty="0">
                <a:solidFill>
                  <a:srgbClr val="1F2933"/>
                </a:solidFill>
              </a:rPr>
              <a:t>不能直接转成级差。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科顺正CFO与负EBITDA并存，两家同行仍保持正盈利及CFO。雨虹现金下降须连接收购与</a:t>
            </a:r>
            <a:endParaRPr lang="en-US" sz="1800" dirty="0"/>
          </a:p>
          <a:p>
            <a:pPr indent="0" marL="0">
              <a:lnSpc>
                <a:spcPct val="100000"/>
              </a:lnSpc>
              <a:buNone/>
            </a:pPr>
            <a:r>
              <a:rPr lang="en-US" sz="1800" dirty="0">
                <a:solidFill>
                  <a:srgbClr val="1F2933"/>
                </a:solidFill>
              </a:rPr>
              <a:t>分配；北新窄口径CCE之外还有较大结构性存款。三家以相同明示融资类别比较，但排除长期应付款等</a:t>
            </a:r>
            <a:endParaRPr lang="en-US" sz="1800" dirty="0"/>
          </a:p>
          <a:p>
            <a:pPr indent="0" marL="0">
              <a:lnSpc>
                <a:spcPct val="100000"/>
              </a:lnSpc>
              <a:buNone/>
            </a:pPr>
            <a:r>
              <a:rPr lang="en-US" sz="1800" dirty="0">
                <a:solidFill>
                  <a:srgbClr val="1F2933"/>
                </a:solidFill>
              </a:rPr>
              <a:t>后并非方法全部债务，费用化利息倍数也不是全部利息倍数；本案评级分档仍采用自己的完整方法口径。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北新集团石膏板/涂料业务和两家并购贡献降低防水业务可比性，不能全归因为科顺竞争力差。</a:t>
            </a:r>
            <a:endParaRPr lang="en-US" sz="1800" dirty="0"/>
          </a:p>
          <a:p>
            <a:pPr indent="0" marL="0">
              <a:lnSpc>
                <a:spcPct val="100000"/>
              </a:lnSpc>
              <a:buNone/>
            </a:pPr>
            <a:r>
              <a:rPr lang="en-US" sz="1800" dirty="0">
                <a:solidFill>
                  <a:srgbClr val="1F2933"/>
                </a:solidFill>
              </a:rPr>
              <a:t>减值会缩短净额周期；科顺原值应收敏感性已另算。</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公司列示全国生产基地，31个省市3200多家经销商；2025研发人员378人，研发投入</a:t>
            </a:r>
            <a:endParaRPr lang="en-US" sz="1800" dirty="0"/>
          </a:p>
          <a:p>
            <a:pPr indent="0" marL="0">
              <a:lnSpc>
                <a:spcPct val="100000"/>
              </a:lnSpc>
              <a:buNone/>
            </a:pPr>
            <a:r>
              <a:rPr lang="en-US" sz="1800" dirty="0">
                <a:solidFill>
                  <a:srgbClr val="1F2933"/>
                </a:solidFill>
              </a:rPr>
              <a:t>252838924.63元，占收入4.18%，研发资本化为零；有效专利908项。</a:t>
            </a:r>
            <a:endParaRPr lang="en-US" sz="1800" dirty="0"/>
          </a:p>
          <a:p>
            <a:pPr indent="0" marL="0">
              <a:lnSpc>
                <a:spcPct val="100000"/>
              </a:lnSpc>
              <a:buNone/>
            </a:pPr>
            <a:r>
              <a:rPr lang="en-US" sz="1800" dirty="0">
                <a:solidFill>
                  <a:srgbClr val="1F2933"/>
                </a:solidFill>
              </a:rPr>
              <a:t>新增基金、顺控保理丧失控制、横琴同控收购、科安顺少数股权；历史丰泽失控/恢复控制导致历史可比</a:t>
            </a:r>
            <a:endParaRPr lang="en-US" sz="1800" dirty="0"/>
          </a:p>
          <a:p>
            <a:pPr indent="0" marL="0">
              <a:lnSpc>
                <a:spcPct val="100000"/>
              </a:lnSpc>
              <a:buNone/>
            </a:pPr>
            <a:r>
              <a:rPr lang="en-US" sz="1800" dirty="0">
                <a:solidFill>
                  <a:srgbClr val="1F2933"/>
                </a:solidFill>
              </a:rPr>
              <a:t>性限制。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取得纯防水行业分布、固定范围收入、完整资本化利息及真实收付款周期后重做可比分析；此前不计算</a:t>
            </a:r>
            <a:endParaRPr lang="en-US" sz="1800" dirty="0"/>
          </a:p>
          <a:p>
            <a:pPr indent="0" marL="0">
              <a:lnSpc>
                <a:spcPct val="100000"/>
              </a:lnSpc>
              <a:buNone/>
            </a:pPr>
            <a:r>
              <a:rPr lang="en-US" sz="1800" dirty="0">
                <a:solidFill>
                  <a:srgbClr val="1F2933"/>
                </a:solidFill>
              </a:rPr>
              <a:t>行业均值或借同业等级校准本案分数。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年报一年内未折现应付债券现金流为1,098.92 万元人民币；同日面值保持不变的合同第三年票</a:t>
            </a:r>
            <a:endParaRPr lang="en-US" sz="1800" dirty="0"/>
          </a:p>
          <a:p>
            <a:pPr indent="0" marL="0">
              <a:lnSpc>
                <a:spcPct val="100000"/>
              </a:lnSpc>
              <a:buNone/>
            </a:pPr>
            <a:r>
              <a:rPr lang="en-US" sz="1800" dirty="0">
                <a:solidFill>
                  <a:srgbClr val="1F2933"/>
                </a:solidFill>
              </a:rPr>
              <a:t>息为2,197.83 万元人民币，两者差-1,098.91 万元人民币。其他期限栏也存在条件</a:t>
            </a:r>
            <a:endParaRPr lang="en-US" sz="1800" dirty="0"/>
          </a:p>
          <a:p>
            <a:pPr indent="0" marL="0">
              <a:lnSpc>
                <a:spcPct val="100000"/>
              </a:lnSpc>
              <a:buNone/>
            </a:pPr>
            <a:r>
              <a:rPr lang="en-US" sz="1800" dirty="0">
                <a:solidFill>
                  <a:srgbClr val="1F2933"/>
                </a:solidFill>
              </a:rPr>
              <a:t>比较差额，未取得表内假设解释。</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资料时点、计息年度和现金支付日期分别核验。票息不是期末有效利率利息费用；到期含末息价也不能再</a:t>
            </a:r>
            <a:endParaRPr lang="en-US" sz="1800" dirty="0"/>
          </a:p>
          <a:p>
            <a:pPr indent="0" marL="0">
              <a:lnSpc>
                <a:spcPct val="100000"/>
              </a:lnSpc>
              <a:buNone/>
            </a:pPr>
            <a:r>
              <a:rPr lang="en-US" sz="1800" dirty="0">
                <a:solidFill>
                  <a:srgbClr val="1F2933"/>
                </a:solidFill>
              </a:rPr>
              <a:t>加最后一期利息。差额不通过改写原表、改变面值或重复扣息调平。</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表格可能采用不同转股/行权或列报假设，须由发行人给出对应明细，不能由分析者臆造。</a:t>
            </a:r>
            <a:endParaRPr lang="en-US" sz="1800" dirty="0"/>
          </a:p>
          <a:p>
            <a:pPr indent="0" marL="0">
              <a:lnSpc>
                <a:spcPct val="100000"/>
              </a:lnSpc>
              <a:buNone/>
            </a:pPr>
            <a:r>
              <a:rPr lang="en-US" sz="1800" dirty="0">
                <a:solidFill>
                  <a:srgbClr val="1F2933"/>
                </a:solidFill>
              </a:rPr>
              <a:t>计息年度滚动或分桶口径也可能影响显示；目前没有足够证据确定原因。</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 第100页明确财报审计意见不涵盖年报其他信息，亦不对其发表鉴证结论；审计师称就其他信息</a:t>
            </a:r>
            <a:endParaRPr lang="en-US" sz="1800" dirty="0"/>
          </a:p>
          <a:p>
            <a:pPr indent="0" marL="0">
              <a:lnSpc>
                <a:spcPct val="100000"/>
              </a:lnSpc>
              <a:buNone/>
            </a:pPr>
            <a:r>
              <a:rPr lang="en-US" sz="1800" dirty="0">
                <a:solidFill>
                  <a:srgbClr val="1F2933"/>
                </a:solidFill>
              </a:rPr>
              <a:t>无事项需报告，不等于对第95页未来偿债安排作出保证。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取得发行人未折现表的本金、票息、日期、转股及行权假设明细后对齐比较，更新现金预算；不以原表</a:t>
            </a:r>
            <a:endParaRPr lang="en-US" sz="1800" dirty="0"/>
          </a:p>
          <a:p>
            <a:pPr indent="0" marL="0">
              <a:lnSpc>
                <a:spcPct val="100000"/>
              </a:lnSpc>
              <a:buNone/>
            </a:pPr>
            <a:r>
              <a:rPr lang="en-US" sz="1800" dirty="0">
                <a:solidFill>
                  <a:srgbClr val="1F2933"/>
                </a:solidFill>
              </a:rPr>
              <a:t>一年内金额直接替代本年合同付息需求。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地区收入单因素情景对照：指标摘要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压力下界2026收入：54.59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压力上界2026收入：57.91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基准下界2026收入：58.98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基准上界2026收入：62.88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改善下界2026收入：64.05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改善上界2026收入：66.00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ks_b_e_structure, ks_b_e_q1, ks_b_e_property26 等；完整出处见来源附页及备注。已运行快照，全量结果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地区收入单因素情景对照：方法、假设与限制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explicit_geographic_revenue_scenarios；截至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ks_b_e_structure, ks_b_e_q1, ks_b_e_property26</a:t>
            </a:r>
            <a:endParaRPr lang="en-US" sz="1600" dirty="0"/>
          </a:p>
          <a:p>
            <a:pPr indent="0" marL="0">
              <a:lnSpc>
                <a:spcPct val="100000"/>
              </a:lnSpc>
              <a:buNone/>
            </a:pPr>
            <a:r>
              <a:rPr lang="en-US" sz="1600" dirty="0">
                <a:solidFill>
                  <a:srgbClr val="1F2933"/>
                </a:solidFill>
              </a:rPr>
              <a:t>, ks_b_e_investment26；完整输入记录见备注。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假设：按境内与境外历史收入分别乘以一加假设增速后相加，不变更合并范围。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假设：低/高端采用同向组合，不解释为概率分布；未机械年化季度。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限制：只有收入桥，不直接预测利润、经营现金及债务服务能力。</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限制：缺少渠道分表、明确订单和海外基地现金回收记录，假设不能冒充已验证结果。</a:t>
            </a:r>
            <a:endParaRPr lang="en-US" sz="16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2026年固定本金情景合同现金支付：2,197.82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2027年固定本金情景合同现金支付：3,296.73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2028年固定本金情景合同现金支付：3,956.08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2029年固定本金情景合同现金支付：25.27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到期情景本金：21.98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到期兑付内含末期票息：4,395.64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到期兑付扣本金及末息后的溢价：2.86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固定本金情景未来合同现金合计：26.22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ks_d_e_face_q1, ks_d_e_issue_coupon, ks_d_e_maturity_call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contract_cash_schedule_v1；截至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ks_d_e_face_q1, ks_d_e_issue_coupon, </a:t>
            </a:r>
            <a:endParaRPr lang="en-US" sz="1600" dirty="0"/>
          </a:p>
          <a:p>
            <a:pPr indent="0" marL="0">
              <a:lnSpc>
                <a:spcPct val="100000"/>
              </a:lnSpc>
              <a:buNone/>
            </a:pPr>
            <a:r>
              <a:rPr lang="en-US" sz="1600" dirty="0">
                <a:solidFill>
                  <a:srgbClr val="1F2933"/>
                </a:solidFill>
              </a:rPr>
              <a:t>ks_d_e_maturity_call, ks_d_e_put；完整输入记录见备注。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假设：以一季度末实际未转股本金作为固定本金情景起点；六月末实际本金尚未取得。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假设：之后无转股、无提前赎回或回售、无违约加速、无条款变化；未来利率仅取已约定的票面利率。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限制：这是偿债需求情景而非预测；没有计入可选行权造成的提前现金需求。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限制：未来法定节假日及交易日日历未推定；到期末息已含在合同兑付比例内。</a:t>
            </a:r>
            <a:endParaRPr lang="en-US" sz="16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普通回售条件股价：4.63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下修条件股价：5.62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赎回条件股价：8.59 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ks_d_e_price_latest, ks_d_e_put, ks_d_e_revision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conversion_thresholds_v1；截至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ks_d_e_price_latest, ks_d_e_put, </a:t>
            </a:r>
            <a:endParaRPr lang="en-US" sz="1600" dirty="0"/>
          </a:p>
          <a:p>
            <a:pPr indent="0" marL="0">
              <a:lnSpc>
                <a:spcPct val="100000"/>
              </a:lnSpc>
              <a:buNone/>
            </a:pPr>
            <a:r>
              <a:rPr lang="en-US" sz="1600" dirty="0">
                <a:solidFill>
                  <a:srgbClr val="1F2933"/>
                </a:solidFill>
              </a:rPr>
              <a:t>ks_d_e_revision, 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假设：以已生效转股价为条件基数，仅展示条款比例对应价格，不使用市场价格推断未来行权。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限制：转股价再变动时观察线须重算；满足价格线仍须满足计息年度、观察天数及程序要求。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限制：下修和有条件赎回包含发行人决策，不能把价格触线视为已执行。</a:t>
            </a:r>
            <a:endParaRPr lang="en-US" sz="16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合同面值占合并总权益敏感性：54.24%</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ks_d_e_face_2025, ks_d_e_equity, ks_d_e_issuance_law；完整出处见来源附页及备注。已运行快照，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a:t>
            </a:r>
            <a:endParaRPr lang="en-US" sz="1600" dirty="0"/>
          </a:p>
          <a:p>
            <a:pPr indent="0" marL="0">
              <a:lnSpc>
                <a:spcPct val="100000"/>
              </a:lnSpc>
              <a:buNone/>
            </a:pPr>
            <a:r>
              <a:rPr lang="en-US" sz="1600" dirty="0">
                <a:solidFill>
                  <a:srgbClr val="1F2933"/>
                </a:solidFill>
              </a:rPr>
              <a:t>nominal_to_consolidated_equity_bridge_v1；截至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ks_d_e_face_2025, ks_d_e_equity, </a:t>
            </a:r>
            <a:endParaRPr lang="en-US" sz="1600" dirty="0"/>
          </a:p>
          <a:p>
            <a:pPr indent="0" marL="0">
              <a:lnSpc>
                <a:spcPct val="100000"/>
              </a:lnSpc>
              <a:buNone/>
            </a:pPr>
            <a:r>
              <a:rPr lang="en-US" sz="1600" dirty="0">
                <a:solidFill>
                  <a:srgbClr val="1F2933"/>
                </a:solidFill>
              </a:rPr>
              <a:t>ks_d_e_issuance_law；完整输入记录见备注。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假设：仅把发行人对外转债合同面值与合并总权益比较；分子不是合并应付债券账面价值，无会计重分类或净额抵消</a:t>
            </a:r>
            <a:endParaRPr lang="en-US" sz="1600" dirty="0"/>
          </a:p>
          <a:p>
            <a:pPr indent="0" marL="0">
              <a:lnSpc>
                <a:spcPct val="100000"/>
              </a:lnSpc>
              <a:buNone/>
            </a:pPr>
            <a:r>
              <a:rPr lang="en-US" sz="1600" dirty="0">
                <a:solidFill>
                  <a:srgbClr val="1F2933"/>
                </a:solidFill>
              </a:rPr>
              <a:t>调整。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限制：该数仅用于确认面值口径也不能自动消除表面差异；不得替代监管发行条件的合并账面口径或正式存续承诺</a:t>
            </a:r>
            <a:endParaRPr lang="en-US" sz="1600" dirty="0"/>
          </a:p>
          <a:p>
            <a:pPr indent="0" marL="0">
              <a:lnSpc>
                <a:spcPct val="100000"/>
              </a:lnSpc>
              <a:buNone/>
            </a:pPr>
            <a:r>
              <a:rPr lang="en-US" sz="1600" dirty="0">
                <a:solidFill>
                  <a:srgbClr val="1F2933"/>
                </a:solidFill>
              </a:rPr>
              <a:t>测试。</a:t>
            </a:r>
            <a:endParaRPr lang="en-US" sz="16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环境因素研究分：3.25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自身竞争力研究分：3.78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定性共同恶化时竞争力分：3.38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ks_r_e_business, ks_r_e_history, ks_b_e_operations 等；完整出处见来源附页及备注。已运行快照，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case_business_application_v1；截至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ks_r_e_business, ks_r_e_history, </a:t>
            </a:r>
            <a:endParaRPr lang="en-US" sz="1600" dirty="0"/>
          </a:p>
          <a:p>
            <a:pPr indent="0" marL="0">
              <a:lnSpc>
                <a:spcPct val="100000"/>
              </a:lnSpc>
              <a:buNone/>
            </a:pPr>
            <a:r>
              <a:rPr lang="en-US" sz="1600" dirty="0">
                <a:solidFill>
                  <a:srgbClr val="1F2933"/>
                </a:solidFill>
              </a:rPr>
              <a:t>ks_b_e_operations, ks_b_e_ownership；完整输入记录见备注。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假设：原文营收区间[50,120)亿元、净周期(50,200]天分别给出[4,5)分；4.5只是明确的</a:t>
            </a:r>
            <a:endParaRPr lang="en-US" sz="1600" dirty="0"/>
          </a:p>
          <a:p>
            <a:pPr indent="0" marL="0">
              <a:lnSpc>
                <a:spcPct val="100000"/>
              </a:lnSpc>
              <a:buNone/>
            </a:pPr>
            <a:r>
              <a:rPr lang="en-US" sz="1600" dirty="0">
                <a:solidFill>
                  <a:srgbClr val="1F2933"/>
                </a:solidFill>
              </a:rPr>
              <a:t>区间代表值，不声称机构内部插值。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假设：营收有三年同口径实际金额，按原文20/30/50权重执行。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假设：净周期只有2025同控可比均值；以最新实际周期进入中央研究判断是显式适配，不是完整机构三年算法。</a:t>
            </a:r>
            <a:endParaRPr lang="en-US" sz="1600" dirty="0"/>
          </a:p>
          <a:p>
            <a:pPr indent="0" marL="0">
              <a:lnSpc>
                <a:spcPct val="100000"/>
              </a:lnSpc>
              <a:buNone/>
            </a:pPr>
            <a:r>
              <a:rPr lang="en-US" sz="1600" dirty="0">
                <a:solidFill>
                  <a:srgbClr val="1F2933"/>
                </a:solidFill>
              </a:rPr>
              <a:t>另给原值敏感性和未知历史可能改变档位的条件分支。</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假设：定性分值依据独立经营证据，分数越高越强；档次编号1最好，不能混用。</a:t>
            </a:r>
            <a:endParaRPr lang="en-US" sz="16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假设：同向半分场景是判断不确定性，不是统计置信区间；没有按已公布等级校准。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限制：宏观、行业与定性因素是研究判断；没有使用已公布等级作为校准目标。</a:t>
            </a:r>
            <a:endParaRPr lang="en-US" sz="16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指标先加权后分档的财务研究分：3.74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先权金额财务研究分：3.74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固定定性判断的量化档内合成下界（含）：3.46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固定定性判断的量化档内合成上确界（不含）：4.01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ks_r_e_finance, ks_r_e_history, ks_a_e_is 等；完整出处见来源附页及备注。已运行快照，全量结果与公式见</a:t>
            </a:r>
            <a:endParaRPr lang="en-US" sz="1100" dirty="0"/>
          </a:p>
          <a:p>
            <a:pPr indent="0" marL="0">
              <a:lnSpc>
                <a:spcPct val="100000"/>
              </a:lnSpc>
              <a:buNone/>
            </a:pPr>
            <a:r>
              <a:rPr lang="en-US" sz="1100" dirty="0">
                <a:solidFill>
                  <a:srgbClr val="56646C"/>
                </a:solidFill>
              </a:rPr>
              <a:t>Excel/JSON。</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case_financial_application_v2；截至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ks_r_e_finance, ks_r_e_history, ks_a_e_is, </a:t>
            </a:r>
            <a:endParaRPr lang="en-US" sz="1600" dirty="0"/>
          </a:p>
          <a:p>
            <a:pPr indent="0" marL="0">
              <a:lnSpc>
                <a:spcPct val="100000"/>
              </a:lnSpc>
              <a:buNone/>
            </a:pPr>
            <a:r>
              <a:rPr lang="en-US" sz="1600" dirty="0">
                <a:solidFill>
                  <a:srgbClr val="1F2933"/>
                </a:solidFill>
              </a:rPr>
              <a:t>ks_a_e_cash, ks_a_e_ar, ks_credit_e_facilities；完整输入</a:t>
            </a:r>
            <a:endParaRPr lang="en-US" sz="1600" dirty="0"/>
          </a:p>
          <a:p>
            <a:pPr indent="0" marL="0">
              <a:lnSpc>
                <a:spcPct val="100000"/>
              </a:lnSpc>
              <a:buNone/>
            </a:pPr>
            <a:r>
              <a:rPr lang="en-US" sz="1600" dirty="0">
                <a:solidFill>
                  <a:srgbClr val="1F2933"/>
                </a:solidFill>
              </a:rPr>
              <a:t>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假设：仅记录本企业财务因子的研究赋值，不产生最终发行人等级、机构认证或违约概率。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假设：原文PDF26规定一般用近三年数据20%/30%/50%加权；若企业仅存在近2年合并报表及母公司</a:t>
            </a:r>
            <a:endParaRPr lang="en-US" sz="1600" dirty="0"/>
          </a:p>
          <a:p>
            <a:pPr indent="0" marL="0">
              <a:lnSpc>
                <a:spcPct val="100000"/>
              </a:lnSpc>
              <a:buNone/>
            </a:pPr>
            <a:r>
              <a:rPr lang="en-US" sz="1600" dirty="0">
                <a:solidFill>
                  <a:srgbClr val="1F2933"/>
                </a:solidFill>
              </a:rPr>
              <a:t>报表数据，则用30%/70%。此条件针对报表数据可得性，不是企业存续年限。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假设：本案已公开三年以上报表，缺少完整同控重述2023细项；主路径将可比2024/2025同定义年度</a:t>
            </a:r>
            <a:endParaRPr lang="en-US" sz="1600" dirty="0"/>
          </a:p>
          <a:p>
            <a:pPr indent="0" marL="0">
              <a:lnSpc>
                <a:spcPct val="100000"/>
              </a:lnSpc>
              <a:buNone/>
            </a:pPr>
            <a:r>
              <a:rPr lang="en-US" sz="1600" dirty="0">
                <a:solidFill>
                  <a:srgbClr val="1F2933"/>
                </a:solidFill>
              </a:rPr>
              <a:t>指标先30%/70%加权，再进入公开分档，最后按表8因素权重合成。两年替代仍属研究适配，不声称缺明细即</a:t>
            </a:r>
            <a:endParaRPr lang="en-US" sz="1600" dirty="0"/>
          </a:p>
          <a:p>
            <a:pPr indent="0" marL="0">
              <a:lnSpc>
                <a:spcPct val="100000"/>
              </a:lnSpc>
              <a:buNone/>
            </a:pPr>
            <a:r>
              <a:rPr lang="en-US" sz="1600" dirty="0">
                <a:solidFill>
                  <a:srgbClr val="1F2933"/>
                </a:solidFill>
              </a:rPr>
              <a:t>满足原文两年例外。</a:t>
            </a:r>
            <a:endParaRPr lang="en-US" sz="16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假设：原文给分数区间而未公布区间内唯一插值函数；量化区间采用中点作透明代表值，保留区间边界。定性分值是</a:t>
            </a:r>
            <a:endParaRPr lang="en-US" sz="1600" dirty="0"/>
          </a:p>
          <a:p>
            <a:pPr indent="0" marL="0">
              <a:lnSpc>
                <a:spcPct val="100000"/>
              </a:lnSpc>
              <a:buNone/>
            </a:pPr>
            <a:r>
              <a:rPr lang="en-US" sz="1600" dirty="0">
                <a:solidFill>
                  <a:srgbClr val="1F2933"/>
                </a:solidFill>
              </a:rPr>
              <a:t>本案研究判断，原文没有公布可机械复现的定性阈值。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假设：盈利模型使用EBITDA利润率，未用营业利润率替代；使用权折旧计入EBITDA，总资产报酬率以税</a:t>
            </a:r>
            <a:endParaRPr lang="en-US" sz="1600" dirty="0"/>
          </a:p>
          <a:p>
            <a:pPr indent="0" marL="0">
              <a:lnSpc>
                <a:spcPct val="100000"/>
              </a:lnSpc>
              <a:buNone/>
            </a:pPr>
            <a:r>
              <a:rPr lang="en-US" sz="1600" dirty="0">
                <a:solidFill>
                  <a:srgbClr val="1F2933"/>
                </a:solidFill>
              </a:rPr>
              <a:t>前利润加费用化利息除以年初年末平均资产。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假设：负EBITDA不得成为低杠杆优势：本案加权EBITDA、加权利息倍数及加权带符号杠杆指标均负，偿</a:t>
            </a:r>
            <a:endParaRPr lang="en-US" sz="1600" dirty="0"/>
          </a:p>
          <a:p>
            <a:pPr indent="0" marL="0">
              <a:lnSpc>
                <a:spcPct val="100000"/>
              </a:lnSpc>
              <a:buNone/>
            </a:pPr>
            <a:r>
              <a:rPr lang="en-US" sz="1600" dirty="0">
                <a:solidFill>
                  <a:srgbClr val="1F2933"/>
                </a:solidFill>
              </a:rPr>
              <a:t>债两项进入表12最低分支。混合正负年度杠杆没有通常的经济解释，带符号均值只展示计算；另以先权债务与</a:t>
            </a:r>
            <a:endParaRPr lang="en-US" sz="1600" dirty="0"/>
          </a:p>
          <a:p>
            <a:pPr indent="0" marL="0">
              <a:lnSpc>
                <a:spcPct val="100000"/>
              </a:lnSpc>
              <a:buNone/>
            </a:pPr>
            <a:r>
              <a:rPr lang="en-US" sz="1600" dirty="0">
                <a:solidFill>
                  <a:srgbClr val="1F2933"/>
                </a:solidFill>
              </a:rPr>
              <a:t>EBITDA金额确认负分母分支，不推广成一般混合符号规则。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假设：现金类资产使用广义方法定义并扣已知受限部分；CCE即时支付口径及剔业绩补偿作为替代口径敏感性，</a:t>
            </a:r>
            <a:endParaRPr lang="en-US" sz="1600" dirty="0"/>
          </a:p>
          <a:p>
            <a:pPr indent="0" marL="0">
              <a:lnSpc>
                <a:spcPct val="100000"/>
              </a:lnSpc>
              <a:buNone/>
            </a:pPr>
            <a:r>
              <a:rPr lang="en-US" sz="1600" dirty="0">
                <a:solidFill>
                  <a:srgbClr val="1F2933"/>
                </a:solidFill>
              </a:rPr>
              <a:t>不能混名。</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假设：资产质量评价针对真实可回收价值及变现限制；减值对盈利已有直接作用，不再将同一减值损失机械重复</a:t>
            </a:r>
            <a:endParaRPr lang="en-US" sz="1600" dirty="0"/>
          </a:p>
          <a:p>
            <a:pPr indent="0" marL="0">
              <a:lnSpc>
                <a:spcPct val="100000"/>
              </a:lnSpc>
              <a:buNone/>
            </a:pPr>
            <a:r>
              <a:rPr lang="en-US" sz="1600" dirty="0">
                <a:solidFill>
                  <a:srgbClr val="1F2933"/>
                </a:solidFill>
              </a:rPr>
              <a:t>扣分。再融资判断衡量实际融资资源与约束，不承诺未来续贷。</a:t>
            </a:r>
            <a:endParaRPr lang="en-US" sz="16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限制：完整同控重述2023财务明细及2022期初不足，不能无标识运用标准三年20/30/50。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限制：原2023资本化全部利息缺失，精确利息倍数不计算；负EBITDA最低档由符号确定。</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限制：资产权属、抵债实际成交/ECL回收参数、DTA按主体盈利、募集金用途及可提款授信条件未获底层</a:t>
            </a:r>
            <a:endParaRPr lang="en-US" sz="1600" dirty="0"/>
          </a:p>
          <a:p>
            <a:pPr indent="0" marL="0">
              <a:lnSpc>
                <a:spcPct val="100000"/>
              </a:lnSpc>
              <a:buNone/>
            </a:pPr>
            <a:r>
              <a:rPr lang="en-US" sz="1600" dirty="0">
                <a:solidFill>
                  <a:srgbClr val="1F2933"/>
                </a:solidFill>
              </a:rPr>
              <a:t>验证。资产质量和再融资分值为明确研究判断；本次量化区间边界固定这些定性分值，不伪装成全部判断的穷尽</a:t>
            </a:r>
            <a:endParaRPr lang="en-US" sz="1600" dirty="0"/>
          </a:p>
          <a:p>
            <a:pPr indent="0" marL="0">
              <a:lnSpc>
                <a:spcPct val="100000"/>
              </a:lnSpc>
              <a:buNone/>
            </a:pPr>
            <a:r>
              <a:rPr lang="en-US" sz="1600" dirty="0">
                <a:solidFill>
                  <a:srgbClr val="1F2933"/>
                </a:solidFill>
              </a:rPr>
              <a:t>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限制：数据先加权再赋分更贴近PDF26文字；公开原文未唯一指定对年度比率先加权还是对会计金额先加权再求</a:t>
            </a:r>
            <a:endParaRPr lang="en-US" sz="1600" dirty="0"/>
          </a:p>
          <a:p>
            <a:pPr indent="0" marL="0">
              <a:lnSpc>
                <a:spcPct val="100000"/>
              </a:lnSpc>
              <a:buNone/>
            </a:pPr>
            <a:r>
              <a:rPr lang="en-US" sz="1600" dirty="0">
                <a:solidFill>
                  <a:srgbClr val="1F2933"/>
                </a:solidFill>
              </a:rPr>
              <a:t>比率。本案两路并列。档内中点是研究代表值，不是官方插值函数；年度分数先加权不再作为决定依据。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限制：年报未用银行借款10.8亿元与跟踪报告未用授信47亿元尚未对齐。原2024/2025再融资5.0</a:t>
            </a:r>
            <a:endParaRPr lang="en-US" sz="1600" dirty="0"/>
          </a:p>
          <a:p>
            <a:pPr indent="0" marL="0">
              <a:lnSpc>
                <a:spcPct val="100000"/>
              </a:lnSpc>
              <a:buNone/>
            </a:pPr>
            <a:r>
              <a:rPr lang="en-US" sz="1600" dirty="0">
                <a:solidFill>
                  <a:srgbClr val="1F2933"/>
                </a:solidFill>
              </a:rPr>
              <a:t>/4.5及加权4.65仅保留为条件分支，不能因额度总数或一季度有借款就视为已验证；差额原因和可提款条件</a:t>
            </a:r>
            <a:endParaRPr lang="en-US" sz="1600" dirty="0"/>
          </a:p>
          <a:p>
            <a:pPr indent="0" marL="0">
              <a:lnSpc>
                <a:spcPct val="100000"/>
              </a:lnSpc>
              <a:buNone/>
            </a:pPr>
            <a:r>
              <a:rPr lang="en-US" sz="1600" dirty="0">
                <a:solidFill>
                  <a:srgbClr val="1F2933"/>
                </a:solidFill>
              </a:rPr>
              <a:t>须核，未用额度未计入已落实现金。</a:t>
            </a:r>
            <a:endParaRPr lang="en-US" sz="16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基准研究情景：实际起点至条件现金路径（Δ_A=Γ=0条件参照）：指标摘要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Δ_A=Γ=0条件下基准研究情景季度最低现金：1.44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Δ_A=Γ=0条件下基准研究情景年末现金：7.03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Δ_A=Γ=0条件下基准研究情景另留用途资金后低点：-5.06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Δ_A=Γ=0条件下基准研究情景额外收款折扣边界：4.88%</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恶化研究情景：实际起点至条件现金路径（Δ_A=Γ=0条件参照）：指标摘要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Δ_A=Γ=0条件下恶化研究情景季度最低现金：-3.38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Δ_A=Γ=0条件下恶化研究情景年末现金：-1.85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Δ_A=Γ=0条件下恶化研究情景另留用途资金后低点：-9.88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Δ_A=Γ=0条件下恶化研究情景额外收款折扣边界：0.00%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改善研究情景：实际起点至条件现金路径（Δ_A=Γ=0条件参照）：指标摘要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Δ_A=Γ=0条件下改善研究情景季度最低现金：3.50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Δ_A=Γ=0条件下改善研究情景年末现金：10.99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Δ_A=Γ=0条件下改善研究情景另留用途资金后低点：-3.00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Δ_A=Γ=0条件下改善研究情景额外收款折扣边界：10.97%</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母公司静态短期账面屏幕后现金：1.05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母公司年末现金减固定本金到期需求：-12.24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ks_a_e_parent, ks_d_e_issue_coupon, ks_r_e_issue；完整出处见来源附页及备注。已运行快照，全量结果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case_parent_position_v1；截至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ks_a_e_parent, ks_d_e_issue_coupon, </a:t>
            </a:r>
            <a:endParaRPr lang="en-US" sz="1600" dirty="0"/>
          </a:p>
          <a:p>
            <a:pPr indent="0" marL="0">
              <a:lnSpc>
                <a:spcPct val="100000"/>
              </a:lnSpc>
              <a:buNone/>
            </a:pPr>
            <a:r>
              <a:rPr lang="en-US" sz="1600" dirty="0">
                <a:solidFill>
                  <a:srgbClr val="1F2933"/>
                </a:solidFill>
              </a:rPr>
              <a:t>ks_r_e_issue；完整输入记录见备注。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假设：现金、短期义务与面值同取2025-12-31；冻结本金到期比较为条件需求，非2029实际余额。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限制：母公司短借和一年内非流动负债仍为账面库存代理，不能把含息或混合项目全称银行本金；本表不证明付款</a:t>
            </a:r>
            <a:endParaRPr lang="en-US" sz="1600" dirty="0"/>
          </a:p>
          <a:p>
            <a:pPr indent="0" marL="0">
              <a:lnSpc>
                <a:spcPct val="100000"/>
              </a:lnSpc>
              <a:buNone/>
            </a:pPr>
            <a:r>
              <a:rPr lang="en-US" sz="1600" dirty="0">
                <a:solidFill>
                  <a:srgbClr val="1F2933"/>
                </a:solidFill>
              </a:rPr>
              <a:t>期限。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限制：母公司应付票据、其他应收/应付含合并抵销前关系，集团内外持票人和往来性质未取得，不能与合并负债</a:t>
            </a:r>
            <a:endParaRPr lang="en-US" sz="1600" dirty="0"/>
          </a:p>
          <a:p>
            <a:pPr indent="0" marL="0">
              <a:lnSpc>
                <a:spcPct val="100000"/>
              </a:lnSpc>
              <a:buNone/>
            </a:pPr>
            <a:r>
              <a:rPr lang="en-US" sz="1600" dirty="0">
                <a:solidFill>
                  <a:srgbClr val="1F2933"/>
                </a:solidFill>
              </a:rPr>
              <a:t>相加，也不能直接假定全部外部即付。</a:t>
            </a:r>
            <a:endParaRPr lang="en-US" sz="16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限制：没有2026Q1母公司报表；2025末母公司现金不移为三月末或六月末，集团Q1现金不替代发行人</a:t>
            </a:r>
            <a:endParaRPr lang="en-US" sz="1600" dirty="0"/>
          </a:p>
          <a:p>
            <a:pPr indent="0" marL="0">
              <a:lnSpc>
                <a:spcPct val="100000"/>
              </a:lnSpc>
              <a:buNone/>
            </a:pPr>
            <a:r>
              <a:rPr lang="en-US" sz="1600" dirty="0">
                <a:solidFill>
                  <a:srgbClr val="1F2933"/>
                </a:solidFill>
              </a:rPr>
              <a:t>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限制：母公司投资收益现金是本年已发生的流入，不等于已证明每年可重复的全部子公司分红；母公司应收款及合并</a:t>
            </a:r>
            <a:endParaRPr lang="en-US" sz="1600" dirty="0"/>
          </a:p>
          <a:p>
            <a:pPr indent="0" marL="0">
              <a:lnSpc>
                <a:spcPct val="100000"/>
              </a:lnSpc>
              <a:buNone/>
            </a:pPr>
            <a:r>
              <a:rPr lang="en-US" sz="1600" dirty="0">
                <a:solidFill>
                  <a:srgbClr val="1F2933"/>
                </a:solidFill>
              </a:rPr>
              <a:t>净资产亦不是即时可上划现金。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限制：冻结年末现金与未来到期需求比较仅显示需要经营产现、上划或可执行融资的量级，不宣称2029已缺口，</a:t>
            </a:r>
            <a:endParaRPr lang="en-US" sz="1600" dirty="0"/>
          </a:p>
          <a:p>
            <a:pPr indent="0" marL="0">
              <a:lnSpc>
                <a:spcPct val="100000"/>
              </a:lnSpc>
              <a:buNone/>
            </a:pPr>
            <a:r>
              <a:rPr lang="en-US" sz="1600" dirty="0">
                <a:solidFill>
                  <a:srgbClr val="1F2933"/>
                </a:solidFill>
              </a:rPr>
              <a:t>也不把到期债券本金提前加入2026流动负债。</a:t>
            </a:r>
            <a:endParaRPr lang="en-US" sz="16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branch：历史30/70代表值研究分支</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individual：不另加减档，条件与风险逐项列明</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support：不计可证实的增益</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condition：两年同定义指标先加权后分档；档内中点及现有定性判断成立，并满足付款与用途条件。固定</a:t>
            </a:r>
            <a:endParaRPr lang="en-US" sz="1600" dirty="0"/>
          </a:p>
          <a:p>
            <a:pPr indent="0" marL="0">
              <a:lnSpc>
                <a:spcPct val="100000"/>
              </a:lnSpc>
              <a:buNone/>
            </a:pPr>
            <a:r>
              <a:rPr lang="en-US" sz="1600" dirty="0">
                <a:solidFill>
                  <a:srgbClr val="1F2933"/>
                </a:solidFill>
              </a:rPr>
              <a:t>定性判断的量化档内边界跨F5/F4，不能称唯一等级。 还须按一年展望的D/X/P/U资金容量与发行人A</a:t>
            </a:r>
            <a:endParaRPr lang="en-US" sz="1600" dirty="0"/>
          </a:p>
          <a:p>
            <a:pPr indent="0" marL="0">
              <a:lnSpc>
                <a:spcPct val="100000"/>
              </a:lnSpc>
              <a:buNone/>
            </a:pPr>
            <a:r>
              <a:rPr lang="en-US" sz="1600" dirty="0">
                <a:solidFill>
                  <a:srgbClr val="1F2933"/>
                </a:solidFill>
              </a:rPr>
              <a:t>条件证明资源可实现；集团截距和未承诺融资不构成覆盖证据。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branch：历史金额先加权对照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condition：其他判断和现金成立条件不变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branch：经营定性因素共同恶化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condition：其他调整/支持无新证据；不能把半分变动当发生概率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branch：财务因素降至F5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condition：同定义数据及定性判断更新，或有依据的量化档内择分，使总分低于3.5且不低于2.5；</a:t>
            </a:r>
            <a:endParaRPr lang="en-US" sz="1600" dirty="0"/>
          </a:p>
          <a:p>
            <a:pPr indent="0" marL="0">
              <a:lnSpc>
                <a:spcPct val="100000"/>
              </a:lnSpc>
              <a:buNone/>
            </a:pPr>
            <a:r>
              <a:rPr lang="en-US" sz="1600" dirty="0">
                <a:solidFill>
                  <a:srgbClr val="1F2933"/>
                </a:solidFill>
              </a:rPr>
              <a:t>现有固定定性范围已包含此分支，不等同已经降档。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branch：经营D与财务F5同时成立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condition：重算全部因素，支持和偿付条件未另变化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branch：持续改善形成财务F3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issue：A</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condition：财务得分至少4.5、经营条件维持，母公司资金、承诺和用途缺口已解决，至少完整年度及</a:t>
            </a:r>
            <a:endParaRPr lang="en-US" sz="1600" dirty="0"/>
          </a:p>
          <a:p>
            <a:pPr indent="0" marL="0">
              <a:lnSpc>
                <a:spcPct val="100000"/>
              </a:lnSpc>
              <a:buNone/>
            </a:pPr>
            <a:r>
              <a:rPr lang="en-US" sz="1600" dirty="0">
                <a:solidFill>
                  <a:srgbClr val="1F2933"/>
                </a:solidFill>
              </a:rPr>
              <a:t>后续期支持持续性；单次选择区间上端不构成升级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branch：短期支付条件失效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condition：若已证实到期不能支付、合法提前到期或未落实资金不足以覆盖，停止常态矩阵结论；按</a:t>
            </a:r>
            <a:endParaRPr lang="en-US" sz="1600" dirty="0"/>
          </a:p>
          <a:p>
            <a:pPr indent="0" marL="0">
              <a:lnSpc>
                <a:spcPct val="100000"/>
              </a:lnSpc>
              <a:buNone/>
            </a:pPr>
            <a:r>
              <a:rPr lang="en-US" sz="1600" dirty="0">
                <a:solidFill>
                  <a:srgbClr val="1F2933"/>
                </a:solidFill>
              </a:rPr>
              <a:t>事实、合同宽限、补救与适用困境规则重新定级，不用负面展望替代即时行动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branch：预测经营链：Q1减值延续、材料不涨价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issue：A</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condition：2026Q1实际+未来季节锚98%、公开税锚、利息补助同季确认、三年新增贷款按需到</a:t>
            </a:r>
            <a:endParaRPr lang="en-US" sz="1600" dirty="0"/>
          </a:p>
          <a:p>
            <a:pPr indent="0" marL="0">
              <a:lnSpc>
                <a:spcPct val="100000"/>
              </a:lnSpc>
              <a:buNone/>
            </a:pPr>
            <a:r>
              <a:rPr lang="en-US" sz="1600" dirty="0">
                <a:solidFill>
                  <a:srgbClr val="1F2933"/>
                </a:solidFill>
              </a:rPr>
              <a:t>位；20/30/50金额适配结果，非已证实改善或上调。</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branch：预测经营链：Q1减值延续、材料5%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condition：与无涨价相同条件，材料成本经采购/AP、现金、融资利息、利润权益进入因素；实际发行</a:t>
            </a:r>
            <a:endParaRPr lang="en-US" sz="1600" dirty="0"/>
          </a:p>
          <a:p>
            <a:pPr indent="0" marL="0">
              <a:lnSpc>
                <a:spcPct val="100000"/>
              </a:lnSpc>
              <a:buNone/>
            </a:pPr>
            <a:r>
              <a:rPr lang="en-US" sz="1600" dirty="0">
                <a:solidFill>
                  <a:srgbClr val="1F2933"/>
                </a:solidFill>
              </a:rPr>
              <a:t>人资金及用途仍待核。</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branch：预测融资累计上限5亿元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condition：相同材料5%经营税款条件下，2027-03-31不能满足经营底线及用途准备，缺口</a:t>
            </a:r>
            <a:endParaRPr lang="en-US" sz="1600" dirty="0"/>
          </a:p>
          <a:p>
            <a:pPr indent="0" marL="0">
              <a:lnSpc>
                <a:spcPct val="100000"/>
              </a:lnSpc>
              <a:buNone/>
            </a:pPr>
            <a:r>
              <a:rPr lang="en-US" sz="1600" dirty="0">
                <a:solidFill>
                  <a:srgbClr val="1F2933"/>
                </a:solidFill>
              </a:rPr>
              <a:t>3.59975亿元，停止后续完整评级；真实偿付事件须据合同和可用资金判断。</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case_rating_judgment_v1；截至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ks_r_e_matrix, ks_r_e_discretion, </a:t>
            </a:r>
            <a:endParaRPr lang="en-US" sz="1600" dirty="0"/>
          </a:p>
          <a:p>
            <a:pPr indent="0" marL="0">
              <a:lnSpc>
                <a:spcPct val="100000"/>
              </a:lnSpc>
              <a:buNone/>
            </a:pPr>
            <a:r>
              <a:rPr lang="en-US" sz="1600" dirty="0">
                <a:solidFill>
                  <a:srgbClr val="1F2933"/>
                </a:solidFill>
              </a:rPr>
              <a:t>ks_r_e_support, ks_r_e_issue, ks_r_e_definitions,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假设：中央双档选择较弱一端为本案专业判断，不声称原机构唯一结果。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假设：个体调整不重复处罚已进入盈利、资产质量、治理和再融资因素的事项。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假设：没有可证实的支持增益，并不等于未来绝不获支持。</a:t>
            </a:r>
            <a:endParaRPr lang="en-US" sz="16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限制：这是境内相对信用的独立公开研究建议，非联合资信发布等级。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限制：未举行真实评级委员会、未取得全部合同及公司内部资金计划；关键未决条件逐项保留。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限制：历史BBB+/负面建议与未来条件矩阵分别展示；单一预测分支或分值上升不代表支持实际上调。</a:t>
            </a:r>
            <a:endParaRPr lang="en-US" sz="16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科顺防水科技股份有限公司收入同比：-11.49%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科顺防水科技股份有限公司CAS资产负债率：67.32%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科顺防水科技股份有限公司净营业周期（净额）：130.28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北京东方雨虹防水技术股份有限公司收入同比：-1.70%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北京东方雨虹防水技术股份有限公司CAS资产负债率：51.14%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北京东方雨虹防水技术股份有限公司净营业周期（净额）：69.89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北新集团建材股份有限公司收入同比：-2.09%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北新集团建材股份有限公司CAS资产负债率：21.60%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北新集团建材股份有限公司净营业周期（净额）：38.28 days</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case_peer_comparison_v1；截至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ks_r_peer_keshun, ks_r_peer_yuhong, </a:t>
            </a:r>
            <a:endParaRPr lang="en-US" sz="1600" dirty="0"/>
          </a:p>
          <a:p>
            <a:pPr indent="0" marL="0">
              <a:lnSpc>
                <a:spcPct val="100000"/>
              </a:lnSpc>
              <a:buNone/>
            </a:pPr>
            <a:r>
              <a:rPr lang="en-US" sz="1600" dirty="0">
                <a:solidFill>
                  <a:srgbClr val="1F2933"/>
                </a:solidFill>
              </a:rPr>
              <a:t>ks_r_peer_bnbm；完整输入记录见备注。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假设：统一定义及原始输入按已运行同行底稿保留；不用不同机构口径拼接得分。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限制：本底稿只补充增长、盈利、杠杆和长短期偿债四方面的代表性同行观察，不计算行业均值、市场份额或机构评</a:t>
            </a:r>
            <a:endParaRPr lang="en-US" sz="1600" dirty="0"/>
          </a:p>
          <a:p>
            <a:pPr indent="0" marL="0">
              <a:lnSpc>
                <a:spcPct val="100000"/>
              </a:lnSpc>
              <a:buNone/>
            </a:pPr>
            <a:r>
              <a:rPr lang="en-US" sz="1600" dirty="0">
                <a:solidFill>
                  <a:srgbClr val="1F2933"/>
                </a:solidFill>
              </a:rPr>
              <a:t>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限制：全部原值为人民币元，金额字符串保留小数；比较表金额转亿元，比例为百分比，覆盖为倍，周转为天。</a:t>
            </a:r>
            <a:endParaRPr lang="en-US" sz="1600" dirty="0"/>
          </a:p>
          <a:p>
            <a:pPr indent="0" marL="0">
              <a:lnSpc>
                <a:spcPct val="100000"/>
              </a:lnSpc>
              <a:buNone/>
            </a:pPr>
            <a:r>
              <a:rPr lang="en-US" sz="1600" dirty="0">
                <a:solidFill>
                  <a:srgbClr val="1F2933"/>
                </a:solidFill>
              </a:rPr>
              <a:t>2025与2024均为年度流量或各年12月31日存量。</a:t>
            </a:r>
            <a:endParaRPr lang="en-US" sz="16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限制：简式融资余额包含列示银行借款、债券含短融、租赁、应付票据及已识别保理/拆借本金和表内利息；不包含</a:t>
            </a:r>
            <a:endParaRPr lang="en-US" sz="1600" dirty="0"/>
          </a:p>
          <a:p>
            <a:pPr indent="0" marL="0">
              <a:lnSpc>
                <a:spcPct val="100000"/>
              </a:lnSpc>
              <a:buNone/>
            </a:pPr>
            <a:r>
              <a:rPr lang="en-US" sz="1600" dirty="0">
                <a:solidFill>
                  <a:srgbClr val="1F2933"/>
                </a:solidFill>
              </a:rPr>
              <a:t>长期应付款、一般AP、股份回购义务和未确认为融资的其他负债。三个公司采用同一类别定义；因此不等同各机构</a:t>
            </a:r>
            <a:endParaRPr lang="en-US" sz="1600" dirty="0"/>
          </a:p>
          <a:p>
            <a:pPr indent="0" marL="0">
              <a:lnSpc>
                <a:spcPct val="100000"/>
              </a:lnSpc>
              <a:buNone/>
            </a:pPr>
            <a:r>
              <a:rPr lang="en-US" sz="1600" dirty="0">
                <a:solidFill>
                  <a:srgbClr val="1F2933"/>
                </a:solidFill>
              </a:rPr>
              <a:t>全部债务或已核实的经济融资负债。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限制：长期应付款全部单列排除以保持列报可比：东方雨虹2025/2024非流动融资租赁</a:t>
            </a:r>
            <a:endParaRPr lang="en-US" sz="1600" dirty="0"/>
          </a:p>
          <a:p>
            <a:pPr indent="0" marL="0">
              <a:lnSpc>
                <a:spcPct val="100000"/>
              </a:lnSpc>
              <a:buNone/>
            </a:pPr>
            <a:r>
              <a:rPr lang="en-US" sz="1600" dirty="0">
                <a:solidFill>
                  <a:srgbClr val="1F2933"/>
                </a:solidFill>
              </a:rPr>
              <a:t>49,640,000/51,100,000元，2025当前长期应付款32,155,000元分拆不足；科</a:t>
            </a:r>
            <a:endParaRPr lang="en-US" sz="1600" dirty="0"/>
          </a:p>
          <a:p>
            <a:pPr indent="0" marL="0">
              <a:lnSpc>
                <a:spcPct val="100000"/>
              </a:lnSpc>
              <a:buNone/>
            </a:pPr>
            <a:r>
              <a:rPr lang="en-US" sz="1600" dirty="0">
                <a:solidFill>
                  <a:srgbClr val="1F2933"/>
                </a:solidFill>
              </a:rPr>
              <a:t>顺2024当前融资租赁17,792,864.10元；北新长期应付款明细为人员项目与国家拨款。它们不因</a:t>
            </a:r>
            <a:endParaRPr lang="en-US" sz="1600" dirty="0"/>
          </a:p>
          <a:p>
            <a:pPr indent="0" marL="0">
              <a:lnSpc>
                <a:spcPct val="100000"/>
              </a:lnSpc>
              <a:buNone/>
            </a:pPr>
            <a:r>
              <a:rPr lang="en-US" sz="1600" dirty="0">
                <a:solidFill>
                  <a:srgbClr val="1F2933"/>
                </a:solidFill>
              </a:rPr>
              <a:t>排除而免偿，相关融资余额比率会比全口径略乐观。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限制：简式EBITDA=利润总额+费用化利息+CF补充固定资产折旧等+使用权折旧+无形摊销+长期待摊摊</a:t>
            </a:r>
            <a:endParaRPr lang="en-US" sz="1600" dirty="0"/>
          </a:p>
          <a:p>
            <a:pPr indent="0" marL="0">
              <a:lnSpc>
                <a:spcPct val="100000"/>
              </a:lnSpc>
              <a:buNone/>
            </a:pPr>
            <a:r>
              <a:rPr lang="en-US" sz="1600" dirty="0">
                <a:solidFill>
                  <a:srgbClr val="1F2933"/>
                </a:solidFill>
              </a:rPr>
              <a:t>销；保留所有信用/资产减值和非经常损益。利息倍数统一用费用化利息；北新全口径资本化利息尚不全，不能把该</a:t>
            </a:r>
            <a:endParaRPr lang="en-US" sz="1600" dirty="0"/>
          </a:p>
          <a:p>
            <a:pPr indent="0" marL="0">
              <a:lnSpc>
                <a:spcPct val="100000"/>
              </a:lnSpc>
              <a:buNone/>
            </a:pPr>
            <a:r>
              <a:rPr lang="en-US" sz="1600" dirty="0">
                <a:solidFill>
                  <a:srgbClr val="1F2933"/>
                </a:solidFill>
              </a:rPr>
              <a:t>倍数写成全部利息覆盖。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限制：北新建材是石膏板、防水、涂料等集团，东方雨虹亦有工程/砂浆和其他业务；集团利润和融资能力不代表纯</a:t>
            </a:r>
            <a:endParaRPr lang="en-US" sz="1600" dirty="0"/>
          </a:p>
          <a:p>
            <a:pPr indent="0" marL="0">
              <a:lnSpc>
                <a:spcPct val="100000"/>
              </a:lnSpc>
              <a:buNone/>
            </a:pPr>
            <a:r>
              <a:rPr lang="en-US" sz="1600" dirty="0">
                <a:solidFill>
                  <a:srgbClr val="1F2933"/>
                </a:solidFill>
              </a:rPr>
              <a:t>防水行业。两个样本不能代表行业全体，未给行业杠杆/偿债的总体分布。</a:t>
            </a:r>
            <a:endParaRPr lang="en-US" sz="16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限制：同控重述与非同控收购影响期间可比；同行2025年报均称不追溯以前年度主要数据，但并购只从购买日起</a:t>
            </a:r>
            <a:endParaRPr lang="en-US" sz="1600" dirty="0"/>
          </a:p>
          <a:p>
            <a:pPr indent="0" marL="0">
              <a:lnSpc>
                <a:spcPct val="100000"/>
              </a:lnSpc>
              <a:buNone/>
            </a:pPr>
            <a:r>
              <a:rPr lang="en-US" sz="1600" dirty="0">
                <a:solidFill>
                  <a:srgbClr val="1F2933"/>
                </a:solidFill>
              </a:rPr>
              <a:t>计损益，不能称有机增长。</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限制：科顺同列数据沿用会计原始底稿，保留原fact IDs与精确source_locators；未重新</a:t>
            </a:r>
            <a:endParaRPr lang="en-US" sz="1600" dirty="0"/>
          </a:p>
          <a:p>
            <a:pPr indent="0" marL="0">
              <a:lnSpc>
                <a:spcPct val="100000"/>
              </a:lnSpc>
              <a:buNone/>
            </a:pPr>
            <a:r>
              <a:rPr lang="en-US" sz="1600" dirty="0">
                <a:solidFill>
                  <a:srgbClr val="1F2933"/>
                </a:solidFill>
              </a:rPr>
              <a:t>抽取全部科顺原表。</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2025末固定面值的下一年票息：2,197.83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披露一年内金额减固定本金票息：-1,098.91 万元人民币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ks_r_e_bond_buckets, ks_d_e_issue_coupon, ks_d_e_maturity_call；完整出处见来源附页</a:t>
            </a:r>
            <a:endParaRPr lang="en-US" sz="1100" dirty="0"/>
          </a:p>
          <a:p>
            <a:pPr indent="0" marL="0">
              <a:lnSpc>
                <a:spcPct val="100000"/>
              </a:lnSpc>
              <a:buNone/>
            </a:pPr>
            <a:r>
              <a:rPr lang="en-US" sz="1100" dirty="0">
                <a:solidFill>
                  <a:srgbClr val="56646C"/>
                </a:solidFill>
              </a:rPr>
              <a:t>及备注。已运行快照，全量结果与公式见Excel/JSON。</a:t>
            </a:r>
            <a:endParaRPr lang="en-US" sz="11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case_bond_bucket_comparison_v1；截至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ks_r_e_bond_buckets, ks_d_e_issue_coupon, </a:t>
            </a:r>
            <a:endParaRPr lang="en-US" sz="1600" dirty="0"/>
          </a:p>
          <a:p>
            <a:pPr indent="0" marL="0">
              <a:lnSpc>
                <a:spcPct val="100000"/>
              </a:lnSpc>
              <a:buNone/>
            </a:pPr>
            <a:r>
              <a:rPr lang="en-US" sz="1600" dirty="0">
                <a:solidFill>
                  <a:srgbClr val="1F2933"/>
                </a:solidFill>
              </a:rPr>
              <a:t>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假设：一年以内对应2026第三年票息；一至三年对应2027/2028票息；三年以上对应2029到期含末</a:t>
            </a:r>
            <a:endParaRPr lang="en-US" sz="1600" dirty="0"/>
          </a:p>
          <a:p>
            <a:pPr indent="0" marL="0">
              <a:lnSpc>
                <a:spcPct val="100000"/>
              </a:lnSpc>
              <a:buNone/>
            </a:pPr>
            <a:r>
              <a:rPr lang="en-US" sz="1600" dirty="0">
                <a:solidFill>
                  <a:srgbClr val="1F2933"/>
                </a:solidFill>
              </a:rPr>
              <a:t>息价。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限制：未证明报告表采用相同无转股假设；差额需解释，不作为自动错报或违约。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限制：保持原报告数字和自己的契约条件计算并列，不以期末账面债券替换面值。</a:t>
            </a:r>
            <a:endParaRPr lang="en-US" sz="16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临时补流12个月边界的事件化静态敏感性（Δ_A=Γ=0条件参照）：指标摘要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Δ_A=Γ=0条件下零九日净变动及零可用性扣减时恢复用途容量参照：7.03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Δ_A=Γ=0条件下静态恢复650百万元后自由现金余量：5,258.35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Δ_A=Γ=0条件下静态恢复授权全额所需额外资源：5.97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ks_d_e_fund_new, ks_d_e_fund_return, ks_d_l_e_parent 等；完整出处见来源附页及备注。已运行</a:t>
            </a:r>
            <a:endParaRPr lang="en-US" sz="1100" dirty="0"/>
          </a:p>
          <a:p>
            <a:pPr indent="0" marL="0">
              <a:lnSpc>
                <a:spcPct val="100000"/>
              </a:lnSpc>
              <a:buNone/>
            </a:pPr>
            <a:r>
              <a:rPr lang="en-US" sz="1100" dirty="0">
                <a:solidFill>
                  <a:srgbClr val="56646C"/>
                </a:solidFill>
              </a:rPr>
              <a:t>快照，全量结果与公式见Excel/JSON。</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proceeds_restore_event_boundary_v1；截至 </a:t>
            </a:r>
            <a:endParaRPr lang="en-US" sz="1600" dirty="0"/>
          </a:p>
          <a:p>
            <a:pPr indent="0" marL="0">
              <a:lnSpc>
                <a:spcPct val="100000"/>
              </a:lnSpc>
              <a:buNone/>
            </a:pPr>
            <a:r>
              <a:rPr lang="en-US" sz="1600" dirty="0">
                <a:solidFill>
                  <a:srgbClr val="1F2933"/>
                </a:solidFill>
              </a:rPr>
              <a:t>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ks_d_e_fund_new, ks_d_e_fund_return, </a:t>
            </a:r>
            <a:endParaRPr lang="en-US" sz="1600" dirty="0"/>
          </a:p>
          <a:p>
            <a:pPr indent="0" marL="0">
              <a:lnSpc>
                <a:spcPct val="100000"/>
              </a:lnSpc>
              <a:buNone/>
            </a:pPr>
            <a:r>
              <a:rPr lang="en-US" sz="1600" dirty="0">
                <a:solidFill>
                  <a:srgbClr val="1F2933"/>
                </a:solidFill>
              </a:rPr>
              <a:t>ks_d_l_e_parent, ks_project_e_schedule,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假设：使用现有基准现金模型的2026-12-31条件集团现金，不是已公布实际年末现金。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假设：静态测试在Δ_A=Γ=0代理起点上，另假设1月1日至12个月边界净资源变动、发行人可调度扣减、</a:t>
            </a:r>
            <a:endParaRPr lang="en-US" sz="1600" dirty="0"/>
          </a:p>
          <a:p>
            <a:pPr indent="0" marL="0">
              <a:lnSpc>
                <a:spcPct val="100000"/>
              </a:lnSpc>
              <a:buNone/>
            </a:pPr>
            <a:r>
              <a:rPr lang="en-US" sz="1600" dirty="0">
                <a:solidFill>
                  <a:srgbClr val="1F2933"/>
                </a:solidFill>
              </a:rPr>
              <a:t>其他到期支付和营运底额均为零，只形成该条件选点的静态容量，非未知范围调整下的真实上限。</a:t>
            </a:r>
            <a:endParaRPr lang="en-US" sz="16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假设：650百万元和授权上限1300百万元是占用敏感性，不是实际支用预测；不假定下一轮授权、续借或自动</a:t>
            </a:r>
            <a:endParaRPr lang="en-US" sz="1600" dirty="0"/>
          </a:p>
          <a:p>
            <a:pPr indent="0" marL="0">
              <a:lnSpc>
                <a:spcPct val="100000"/>
              </a:lnSpc>
              <a:buNone/>
            </a:pPr>
            <a:r>
              <a:rPr lang="en-US" sz="1600" dirty="0">
                <a:solidFill>
                  <a:srgbClr val="1F2933"/>
                </a:solidFill>
              </a:rPr>
              <a:t>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限制：研究截止后没有引入实际资料。没有2027逐月预测、九日实际收支、母公司同期报表或实际临时占用。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限制：年末条件现金为合并口径，恢复用途主体及现金所在法人、集团内转移限制仍未闭合。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限制：本事件在现有2026年底现金路径之后；前一季度已发生的缺口须先解决，静态年末余量不能治愈此前断</a:t>
            </a:r>
            <a:endParaRPr lang="en-US" sz="1600" dirty="0"/>
          </a:p>
          <a:p>
            <a:pPr indent="0" marL="0">
              <a:lnSpc>
                <a:spcPct val="100000"/>
              </a:lnSpc>
              <a:buNone/>
            </a:pPr>
            <a:r>
              <a:rPr lang="en-US" sz="1600" dirty="0">
                <a:solidFill>
                  <a:srgbClr val="1F2933"/>
                </a:solidFill>
              </a:rPr>
              <a:t>点，也不证明连续12个月覆盖。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限制：原6.5/13亿元全年预留低点与本事件是同一用途约束的不同时间观察，不能相加扣减。</a:t>
            </a:r>
            <a:endParaRPr lang="en-US" sz="16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一年展望现金延伸：季节基准（Δ_A=Δ_H=Γ=0条件参照）：指标摘要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Δ_A=Δ_H=Γ=0条件下2027六月末未核债务及其他收支扣除前集团模拟资金池：2.73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Δ_A=Δ_H=Γ=0条件下恢复6.5亿元用途、15日缓冲下累计融资需求截距：6.89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Δ_A=Δ_H=Γ=0条件下恢复13亿元用途、15日缓冲下累计融资需求截距：13.39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a:t>
            </a:r>
            <a:endParaRPr lang="en-US" sz="1600" dirty="0"/>
          </a:p>
          <a:p>
            <a:pPr indent="0" marL="0">
              <a:lnSpc>
                <a:spcPct val="100000"/>
              </a:lnSpc>
              <a:buNone/>
            </a:pPr>
            <a:r>
              <a:rPr lang="en-US" sz="1600" dirty="0">
                <a:solidFill>
                  <a:srgbClr val="1F2933"/>
                </a:solidFill>
              </a:rPr>
              <a:t>股利、收购、未纳入项目款、利息预算差额、其他限制/汇率净不利变化归X（可正可负），也为null未知。表</a:t>
            </a:r>
            <a:endParaRPr lang="en-US" sz="1600" dirty="0"/>
          </a:p>
          <a:p>
            <a:pPr indent="0" marL="0">
              <a:lnSpc>
                <a:spcPct val="100000"/>
              </a:lnSpc>
              <a:buNone/>
            </a:pPr>
            <a:r>
              <a:rPr lang="en-US" sz="1600" dirty="0">
                <a:solidFill>
                  <a:srgbClr val="1F2933"/>
                </a:solidFill>
              </a:rPr>
              <a:t>中数值是这些未核项目扣除前的容量，不以零填为完整预算。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a:t>
            </a:r>
            <a:endParaRPr lang="en-US" sz="1600" dirty="0"/>
          </a:p>
          <a:p>
            <a:pPr indent="0" marL="0">
              <a:lnSpc>
                <a:spcPct val="100000"/>
              </a:lnSpc>
              <a:buNone/>
            </a:pPr>
            <a:r>
              <a:rPr lang="en-US" sz="1600" dirty="0">
                <a:solidFill>
                  <a:srgbClr val="1F2933"/>
                </a:solidFill>
              </a:rPr>
              <a:t>0、6.5亿、13亿仅边界/中点敏感性。1月9日前主列假定尚无提前项目需求；若提前需要，须把同一U事件</a:t>
            </a:r>
            <a:endParaRPr lang="en-US" sz="1600" dirty="0"/>
          </a:p>
          <a:p>
            <a:pPr indent="0" marL="0">
              <a:lnSpc>
                <a:spcPct val="100000"/>
              </a:lnSpc>
              <a:buNone/>
            </a:pPr>
            <a:r>
              <a:rPr lang="en-US" sz="1600" dirty="0">
                <a:solidFill>
                  <a:srgbClr val="1F2933"/>
                </a:solidFill>
              </a:rPr>
              <a:t>前移，不能加第二次。授权额不是所有用途限制上限。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假设：附加回款延期因子为0；只有压力分支令2026H2及2027H1销售现金的5%延至2027-06</a:t>
            </a:r>
            <a:endParaRPr lang="en-US" sz="1600" dirty="0"/>
          </a:p>
          <a:p>
            <a:pPr indent="0" marL="0">
              <a:lnSpc>
                <a:spcPct val="100000"/>
              </a:lnSpc>
              <a:buNone/>
            </a:pPr>
            <a:r>
              <a:rPr lang="en-US" sz="1600" dirty="0">
                <a:solidFill>
                  <a:srgbClr val="1F2933"/>
                </a:solidFill>
              </a:rPr>
              <a:t>-30观察窗以后，窗内不追收。这是研究选点，非历史频率、违约率或EBITDA变动预测。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一年展望现金延伸：销售回款再延期5%（Δ_A=Δ_H=Γ=0条件参照）：指标</a:t>
            </a:r>
            <a:endParaRPr lang="en-US" sz="2200" dirty="0"/>
          </a:p>
          <a:p>
            <a:pPr indent="0" marL="0">
              <a:lnSpc>
                <a:spcPct val="100000"/>
              </a:lnSpc>
              <a:buNone/>
            </a:pPr>
            <a:r>
              <a:rPr lang="en-US" sz="2200" b="1" dirty="0">
                <a:solidFill>
                  <a:srgbClr val="213B45"/>
                </a:solidFill>
              </a:rPr>
              <a:t>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Δ_A=Δ_H=Γ=0条件下2027六月末未核债务及其他收支扣除前集团模拟资金池：-6,776.78 </a:t>
            </a:r>
            <a:endParaRPr lang="en-US" sz="1600" dirty="0"/>
          </a:p>
          <a:p>
            <a:pPr indent="0" marL="0">
              <a:lnSpc>
                <a:spcPct val="100000"/>
              </a:lnSpc>
              <a:buNone/>
            </a:pPr>
            <a:r>
              <a:rPr lang="en-US" sz="1600" dirty="0">
                <a:solidFill>
                  <a:srgbClr val="1F2933"/>
                </a:solidFill>
              </a:rPr>
              <a:t>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Δ_A=Δ_H=Γ=0条件下恢复6.5亿元用途、15日缓冲下累计融资需求截距：10.30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Δ_A=Δ_H=Γ=0条件下恢复13亿元用途、15日缓冲下累计融资需求截距：16.80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a:t>
            </a:r>
            <a:endParaRPr lang="en-US" sz="1600" dirty="0"/>
          </a:p>
          <a:p>
            <a:pPr indent="0" marL="0">
              <a:lnSpc>
                <a:spcPct val="100000"/>
              </a:lnSpc>
              <a:buNone/>
            </a:pPr>
            <a:r>
              <a:rPr lang="en-US" sz="1600" dirty="0">
                <a:solidFill>
                  <a:srgbClr val="1F2933"/>
                </a:solidFill>
              </a:rPr>
              <a:t>股利、收购、未纳入项目款、利息预算差额、其他限制/汇率净不利变化归X（可正可负），也为null未知。表</a:t>
            </a:r>
            <a:endParaRPr lang="en-US" sz="1600" dirty="0"/>
          </a:p>
          <a:p>
            <a:pPr indent="0" marL="0">
              <a:lnSpc>
                <a:spcPct val="100000"/>
              </a:lnSpc>
              <a:buNone/>
            </a:pPr>
            <a:r>
              <a:rPr lang="en-US" sz="1600" dirty="0">
                <a:solidFill>
                  <a:srgbClr val="1F2933"/>
                </a:solidFill>
              </a:rPr>
              <a:t>中数值是这些未核项目扣除前的容量，不以零填为完整预算。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a:t>
            </a:r>
            <a:endParaRPr lang="en-US" sz="1600" dirty="0"/>
          </a:p>
          <a:p>
            <a:pPr indent="0" marL="0">
              <a:lnSpc>
                <a:spcPct val="100000"/>
              </a:lnSpc>
              <a:buNone/>
            </a:pPr>
            <a:r>
              <a:rPr lang="en-US" sz="1600" dirty="0">
                <a:solidFill>
                  <a:srgbClr val="1F2933"/>
                </a:solidFill>
              </a:rPr>
              <a:t>0、6.5亿、13亿仅边界/中点敏感性。1月9日前主列假定尚无提前项目需求；若提前需要，须把同一U事件</a:t>
            </a:r>
            <a:endParaRPr lang="en-US" sz="1600" dirty="0"/>
          </a:p>
          <a:p>
            <a:pPr indent="0" marL="0">
              <a:lnSpc>
                <a:spcPct val="100000"/>
              </a:lnSpc>
              <a:buNone/>
            </a:pPr>
            <a:r>
              <a:rPr lang="en-US" sz="1600" dirty="0">
                <a:solidFill>
                  <a:srgbClr val="1F2933"/>
                </a:solidFill>
              </a:rPr>
              <a:t>前移，不能加第二次。授权额不是所有用途限制上限。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假设：附加回款延期因子为0.05；只有压力分支令2026H2及2027H1销售现金的5%延至2027</a:t>
            </a:r>
            <a:endParaRPr lang="en-US" sz="1600" dirty="0"/>
          </a:p>
          <a:p>
            <a:pPr indent="0" marL="0">
              <a:lnSpc>
                <a:spcPct val="100000"/>
              </a:lnSpc>
              <a:buNone/>
            </a:pPr>
            <a:r>
              <a:rPr lang="en-US" sz="1600" dirty="0">
                <a:solidFill>
                  <a:srgbClr val="1F2933"/>
                </a:solidFill>
              </a:rPr>
              <a:t>-06-30观察窗以后，窗内不追收。这是研究选点，非历史频率、违约率或EBITDA变动预测。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original_Q1：1471135133.66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H1_reported：3116316201.72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AR_reported：7066047632.31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AR_ref：ks_a_customerscash_2025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mechanical_H1_minus_original_Q1：1645181068.06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mechanical_AR_minus_original_Q1：5594912498.65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original_Q1：48893992.48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H1_reported：117263659.93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AR_reported：375860933.08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AR_ref：ks_a_otheropcashin_2025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mechanical_H1_minus_original_Q1：68369667.45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mechanical_AR_minus_original_Q1：326966940.60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original_Q1：1500131598.29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H1_reported：3030340600.46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AR_reported：5571190685.38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AR_ref：ks_a_suppliercash_2025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mechanical_H1_minus_original_Q1：1530209002.17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mechanical_AR_minus_original_Q1：4071059087.09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original_Q1：254375757.35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H1_reported：401629422.52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AR_reported：727672271.98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AR_ref：ks_a_employeecash_2025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mechanical_H1_minus_original_Q1：147253665.17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mechanical_AR_minus_original_Q1：473296514.63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original_Q1：58023509.17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H1_reported：175817108.19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AR_reported：301197217.77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mechanical_H1_minus_original_Q1：117793599.02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mechanical_AR_minus_original_Q1：243173708.60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original_Q1：89850533.42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H1_reported：186965076.93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AR_reported：523173663.02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AR_ref：ks_a_otheropcashout_2025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mechanical_H1_minus_original_Q1：97114543.51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mechanical_AR_minus_original_Q1：433323129.60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original_Q1：95610189.36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H1_reported：132437094.72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AR_reported：172502372.71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AR_ref：ks_a_capex_2025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mechanical_H1_minus_original_Q1：36826905.36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mechanical_AR_minus_original_Q1：76892183.35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original_Q1：-382352272.09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H1_reported：-561172346.45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AR_reported：319628020.65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AR_ref：ks_a_cfo_2025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AR_direct_Q2_CFO_ref：ks_d_l_f_2025_q2_cfo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net_constraint_note：年报第11页直接披露Q1净CFO与原Q1相同，只识别Δ_A净</a:t>
            </a:r>
            <a:endParaRPr lang="en-US" sz="1600" dirty="0"/>
          </a:p>
          <a:p>
            <a:pPr indent="0" marL="0">
              <a:lnSpc>
                <a:spcPct val="100000"/>
              </a:lnSpc>
              <a:buNone/>
            </a:pPr>
            <a:r>
              <a:rPr lang="en-US" sz="1600" dirty="0">
                <a:solidFill>
                  <a:srgbClr val="1F2933"/>
                </a:solidFill>
              </a:rPr>
              <a:t>CFO=0；毛额未知。H版净CFO调整+κ_H2=0，κ_H2为H版Q2净额减年报直接Q2净额，未知。</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value_status：unlisted_operating_inflow_residual_fro</a:t>
            </a:r>
            <a:endParaRPr lang="en-US" sz="1600" dirty="0"/>
          </a:p>
          <a:p>
            <a:pPr indent="0" marL="0">
              <a:lnSpc>
                <a:spcPct val="100000"/>
              </a:lnSpc>
              <a:buNone/>
            </a:pPr>
            <a:r>
              <a:rPr lang="en-US" sz="1600" dirty="0">
                <a:solidFill>
                  <a:srgbClr val="1F2933"/>
                </a:solidFill>
              </a:rPr>
              <a:t>m_original_totals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AR_ref：ks_a_taxrefund_2025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H1_version_Q2_formula：0 - delta_H_refund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AR_version_Apr_Dec_formula：953293.41 - </a:t>
            </a:r>
            <a:endParaRPr lang="en-US" sz="1600" dirty="0"/>
          </a:p>
          <a:p>
            <a:pPr indent="0" marL="0">
              <a:lnSpc>
                <a:spcPct val="100000"/>
              </a:lnSpc>
              <a:buNone/>
            </a:pPr>
            <a:r>
              <a:rPr lang="en-US" sz="1600" dirty="0">
                <a:solidFill>
                  <a:srgbClr val="1F2933"/>
                </a:solidFill>
              </a:rPr>
              <a:t>delta_A_refund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status：mechanical_residual_not_normalized_refund_fl</a:t>
            </a:r>
            <a:endParaRPr lang="en-US" sz="1600" dirty="0"/>
          </a:p>
          <a:p>
            <a:pPr indent="0" marL="0">
              <a:lnSpc>
                <a:spcPct val="100000"/>
              </a:lnSpc>
              <a:buNone/>
            </a:pPr>
            <a:r>
              <a:rPr lang="en-US" sz="1600" dirty="0">
                <a:solidFill>
                  <a:srgbClr val="1F2933"/>
                </a:solidFill>
              </a:rPr>
              <a:t>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explicit_cross_version_cash_bridge；截至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假设：Δ_H_j定义为按半年报版本重述的2025Q1项目减原Q1项目；Δ_A_j定义为按年报版本重述的</a:t>
            </a:r>
            <a:endParaRPr lang="en-US" sz="1600" dirty="0"/>
          </a:p>
          <a:p>
            <a:pPr indent="0" marL="0">
              <a:lnSpc>
                <a:spcPct val="100000"/>
              </a:lnSpc>
              <a:buNone/>
            </a:pPr>
            <a:r>
              <a:rPr lang="en-US" sz="1600" dirty="0">
                <a:solidFill>
                  <a:srgbClr val="1F2933"/>
                </a:solidFill>
              </a:rPr>
              <a:t>2025Q1项目减原Q1项目。两组分别未知且不得互换。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假设：机械减法只检验算术；真实Q2毛分项及按年报口径4–12月毛分项仍为null。原数值场景仅为Δ_H</a:t>
            </a:r>
            <a:endParaRPr lang="en-US" sz="1600" dirty="0"/>
          </a:p>
          <a:p>
            <a:pPr indent="0" marL="0">
              <a:lnSpc>
                <a:spcPct val="100000"/>
              </a:lnSpc>
              <a:buNone/>
            </a:pPr>
            <a:r>
              <a:rPr lang="en-US" sz="1600" dirty="0">
                <a:solidFill>
                  <a:srgbClr val="1F2933"/>
                </a:solidFill>
              </a:rPr>
              <a:t>=Δ_A=0条件分支，不是已经证明调整为零。</a:t>
            </a:r>
            <a:endParaRPr lang="en-US" sz="16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假设：Γ按每个前瞻季度另列，实际均null；不能把持续经营范围变化混入同控Q1重述差额。Δ_A净CFO</a:t>
            </a:r>
            <a:endParaRPr lang="en-US" sz="1600" dirty="0"/>
          </a:p>
          <a:p>
            <a:pPr indent="0" marL="0">
              <a:lnSpc>
                <a:spcPct val="100000"/>
              </a:lnSpc>
              <a:buNone/>
            </a:pPr>
            <a:r>
              <a:rPr lang="en-US" sz="1600" dirty="0">
                <a:solidFill>
                  <a:srgbClr val="1F2933"/>
                </a:solidFill>
              </a:rPr>
              <a:t>可由年报季度净额识别为0，但毛项目未知。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限制：原表净CFO差额等于直接披露Q2 CFO，不能证明每个毛项目调整为零或H1和年报完全同一版本。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限制：2025年末丧控及其他范围变更影响向2026/2027经营范围迁移；未取得继续经营口径的分季度</a:t>
            </a:r>
            <a:endParaRPr lang="en-US" sz="1600" dirty="0"/>
          </a:p>
          <a:p>
            <a:pPr indent="0" marL="0">
              <a:lnSpc>
                <a:spcPct val="100000"/>
              </a:lnSpc>
              <a:buNone/>
            </a:pPr>
            <a:r>
              <a:rPr lang="en-US" sz="1600" dirty="0">
                <a:solidFill>
                  <a:srgbClr val="1F2933"/>
                </a:solidFill>
              </a:rPr>
              <a:t>流量剔除和抵销表。</a:t>
            </a:r>
            <a:endParaRPr lang="en-US" sz="16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材料价格、经营收现与税款贯穿融资、债务权益及评级的条件链：指标摘要</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材料+5%及Q1减值延续条件：2026 EBITDA：3.54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材料+5%及Q1减值延续条件：2026净利润：-1.28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材料+5%及Q1减值延续条件：2026经营现金流：2.37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材料+5%及Q1减值延续条件：2026末全部债务：45.08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材料+5%及Q1减值延续条件：2026末权益：38.66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材料+5%及Q1减值延续条件：2027H1累计新增贷款：12.34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ks_econ_e_material, ks_econ_e_q1, ks_a_e_ar 等；完整出处见来源附页及备注。已运行快照，全量结果与公式</a:t>
            </a:r>
            <a:endParaRPr lang="en-US" sz="1100" dirty="0"/>
          </a:p>
          <a:p>
            <a:pPr indent="0" marL="0">
              <a:lnSpc>
                <a:spcPct val="100000"/>
              </a:lnSpc>
              <a:buNone/>
            </a:pPr>
            <a:r>
              <a:rPr lang="en-US" sz="1100" dirty="0">
                <a:solidFill>
                  <a:srgbClr val="56646C"/>
                </a:solidFill>
              </a:rPr>
              <a:t>见Excel/JSON。</a:t>
            </a:r>
            <a:endParaRPr lang="en-US" sz="110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keshun_economic_financing_rating_case_v2；截至 2026</a:t>
            </a:r>
            <a:endParaRPr lang="en-US" sz="1600" dirty="0"/>
          </a:p>
          <a:p>
            <a:pPr indent="0" marL="0">
              <a:lnSpc>
                <a:spcPct val="100000"/>
              </a:lnSpc>
              <a:buNone/>
            </a:pPr>
            <a:r>
              <a:rPr lang="en-US" sz="1600" dirty="0">
                <a:solidFill>
                  <a:srgbClr val="1F2933"/>
                </a:solidFill>
              </a:rPr>
              <a:t>-06-30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ks_econ_e_material, ks_econ_e_q1, ks_a_e_ar, </a:t>
            </a:r>
            <a:endParaRPr lang="en-US" sz="1600" dirty="0"/>
          </a:p>
          <a:p>
            <a:pPr indent="0" marL="0">
              <a:lnSpc>
                <a:spcPct val="100000"/>
              </a:lnSpc>
              <a:buNone/>
            </a:pPr>
            <a:r>
              <a:rPr lang="en-US" sz="1600" dirty="0">
                <a:solidFill>
                  <a:srgbClr val="1F2933"/>
                </a:solidFill>
              </a:rPr>
              <a:t>ks_r_e_finance, ks_r_e_history, </a:t>
            </a:r>
            <a:endParaRPr lang="en-US" sz="1600" dirty="0"/>
          </a:p>
          <a:p>
            <a:pPr indent="0" marL="0">
              <a:lnSpc>
                <a:spcPct val="100000"/>
              </a:lnSpc>
              <a:buNone/>
            </a:pPr>
            <a:r>
              <a:rPr lang="en-US" sz="1600" dirty="0">
                <a:solidFill>
                  <a:srgbClr val="1F2933"/>
                </a:solidFill>
              </a:rPr>
              <a:t>ks_credit_e_facilities, ks_econ_e_cash_tax；完整输入记录见</a:t>
            </a:r>
            <a:endParaRPr lang="en-US" sz="1600" dirty="0"/>
          </a:p>
          <a:p>
            <a:pPr indent="0" marL="0">
              <a:lnSpc>
                <a:spcPct val="100000"/>
              </a:lnSpc>
              <a:buNone/>
            </a:pPr>
            <a:r>
              <a:rPr lang="en-US" sz="1600" dirty="0">
                <a:solidFill>
                  <a:srgbClr val="1F2933"/>
                </a:solidFill>
              </a:rPr>
              <a:t>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假设：截至2026-06-30；2026Q1实际加后三季预算，后续收入=季节锚×98%；集团成本/</a:t>
            </a:r>
            <a:endParaRPr lang="en-US" sz="1600" dirty="0"/>
          </a:p>
          <a:p>
            <a:pPr indent="0" marL="0">
              <a:lnSpc>
                <a:spcPct val="100000"/>
              </a:lnSpc>
              <a:buNone/>
            </a:pPr>
            <a:r>
              <a:rPr lang="en-US" sz="1600" dirty="0">
                <a:solidFill>
                  <a:srgbClr val="1F2933"/>
                </a:solidFill>
              </a:rPr>
              <a:t>OPEX结构取2025，不设提价、投资或处置收益。</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假设：材料增量成本=预测收入×2025材料/集团收入×5%；增量采购等于耗用，库存数量不变；80%当季</a:t>
            </a:r>
            <a:endParaRPr lang="en-US" sz="1600" dirty="0"/>
          </a:p>
          <a:p>
            <a:pPr indent="0" marL="0">
              <a:lnSpc>
                <a:spcPct val="100000"/>
              </a:lnSpc>
              <a:buNone/>
            </a:pPr>
            <a:r>
              <a:rPr lang="en-US" sz="1600" dirty="0">
                <a:solidFill>
                  <a:srgbClr val="1F2933"/>
                </a:solidFill>
              </a:rPr>
              <a:t>付、20%次季付，未付款入应付。</a:t>
            </a:r>
            <a:endParaRPr lang="en-US" sz="160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假设：Q1与2025减值强度各自延续，不选唯一中心；FY2025折旧按日预算，Q1资本化利息=</a:t>
            </a:r>
            <a:endParaRPr lang="en-US" sz="1600" dirty="0"/>
          </a:p>
          <a:p>
            <a:pPr indent="0" marL="0">
              <a:lnSpc>
                <a:spcPct val="100000"/>
              </a:lnSpc>
              <a:buNone/>
            </a:pPr>
            <a:r>
              <a:rPr lang="en-US" sz="1600" dirty="0">
                <a:solidFill>
                  <a:srgbClr val="1F2933"/>
                </a:solidFill>
              </a:rPr>
              <a:t>FY2025/4，均为代理。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假设：既有现金预算和版本桥保留；Δ_A、Δ_H、Γ实际未知，展示零修正条件；98%收入因子同步作用客户</a:t>
            </a:r>
            <a:endParaRPr lang="en-US" sz="1600" dirty="0"/>
          </a:p>
          <a:p>
            <a:pPr indent="0" marL="0">
              <a:lnSpc>
                <a:spcPct val="100000"/>
              </a:lnSpc>
              <a:buNone/>
            </a:pPr>
            <a:r>
              <a:rPr lang="en-US" sz="1600" dirty="0">
                <a:solidFill>
                  <a:srgbClr val="1F2933"/>
                </a:solidFill>
              </a:rPr>
              <a:t>回款和普通采购付现。</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假设：未来其他经营收现按FY2025公开组别比例拆开：存款利息和补助/手续费同时入当期EBIT和现金；</a:t>
            </a:r>
            <a:endParaRPr lang="en-US" sz="1600" dirty="0"/>
          </a:p>
          <a:p>
            <a:pPr indent="0" marL="0">
              <a:lnSpc>
                <a:spcPct val="100000"/>
              </a:lnSpc>
              <a:buNone/>
            </a:pPr>
            <a:r>
              <a:rPr lang="en-US" sz="1600" dirty="0">
                <a:solidFill>
                  <a:srgbClr val="1F2933"/>
                </a:solidFill>
              </a:rPr>
              <a:t>未知其他剔除；保证金/受限/员工款按现有账面资产池预算回收，逐季限额并减余额。另有未来利息补助均不发生</a:t>
            </a:r>
            <a:endParaRPr lang="en-US" sz="1600" dirty="0"/>
          </a:p>
          <a:p>
            <a:pPr indent="0" marL="0">
              <a:lnSpc>
                <a:spcPct val="100000"/>
              </a:lnSpc>
              <a:buNone/>
            </a:pPr>
            <a:r>
              <a:rPr lang="en-US" sz="1600" dirty="0">
                <a:solidFill>
                  <a:srgbClr val="1F2933"/>
                </a:solidFill>
              </a:rPr>
              <a:t>分支，现金和利润同时剔除。</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假设：回收池=Q1货币资金−现金等价物+其他应收款净额7.6816649465亿元，仅为混合池账面上限</a:t>
            </a:r>
            <a:endParaRPr lang="en-US" sz="1600" dirty="0"/>
          </a:p>
          <a:p>
            <a:pPr indent="0" marL="0">
              <a:lnSpc>
                <a:spcPct val="100000"/>
              </a:lnSpc>
              <a:buNone/>
            </a:pPr>
            <a:r>
              <a:rPr lang="en-US" sz="1600" dirty="0">
                <a:solidFill>
                  <a:srgbClr val="1F2933"/>
                </a:solidFill>
              </a:rPr>
              <a:t>代理，不证明可回收；没有加入现金或新融资。</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假设：非零当期税锚定FY2025公开58,386,629.64元按日延续，不依赖合并盈亏；不确认未来递</a:t>
            </a:r>
            <a:endParaRPr lang="en-US" sz="1600" dirty="0"/>
          </a:p>
          <a:p>
            <a:pPr indent="0" marL="0">
              <a:lnSpc>
                <a:spcPct val="100000"/>
              </a:lnSpc>
              <a:buNone/>
            </a:pPr>
            <a:r>
              <a:rPr lang="en-US" sz="1600" dirty="0">
                <a:solidFill>
                  <a:srgbClr val="1F2933"/>
                </a:solidFill>
              </a:rPr>
              <a:t>延税收益。Q1所得税应付以FY2025末14,216,594.91元为代理，包含于Q1应交税费</a:t>
            </a:r>
            <a:endParaRPr lang="en-US" sz="1600" dirty="0"/>
          </a:p>
          <a:p>
            <a:pPr indent="0" marL="0">
              <a:lnSpc>
                <a:spcPct val="100000"/>
              </a:lnSpc>
              <a:buNone/>
            </a:pPr>
            <a:r>
              <a:rPr lang="en-US" sz="1600" dirty="0">
                <a:solidFill>
                  <a:srgbClr val="1F2933"/>
                </a:solidFill>
              </a:rPr>
              <a:t>63,736,657.96元，不重复加负债。</a:t>
            </a:r>
            <a:endParaRPr lang="en-US" sz="160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假设：历史现金税预算按FY2025当期税/现金税总额比例拆出代理所得税并剔除，再加入本季所得税支付；该</a:t>
            </a:r>
            <a:endParaRPr lang="en-US" sz="1600" dirty="0"/>
          </a:p>
          <a:p>
            <a:pPr indent="0" marL="0">
              <a:lnSpc>
                <a:spcPct val="100000"/>
              </a:lnSpc>
              <a:buNone/>
            </a:pPr>
            <a:r>
              <a:rPr lang="en-US" sz="1600" dirty="0">
                <a:solidFill>
                  <a:srgbClr val="1F2933"/>
                </a:solidFill>
              </a:rPr>
              <a:t>比例并非披露的所得税现金拆分。展示分支上期应付本季支付、新计提次季支付；另跑同季支付和零新增当期税。</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假设：材料进项税13%同季抵现金税与全部递延均计算；未付款材料开票/抵扣递延。VAT和所得税分别桥接，</a:t>
            </a:r>
            <a:endParaRPr lang="en-US" sz="1600" dirty="0"/>
          </a:p>
          <a:p>
            <a:pPr indent="0" marL="0">
              <a:lnSpc>
                <a:spcPct val="100000"/>
              </a:lnSpc>
              <a:buNone/>
            </a:pPr>
            <a:r>
              <a:rPr lang="en-US" sz="1600" dirty="0">
                <a:solidFill>
                  <a:srgbClr val="1F2933"/>
                </a:solidFill>
              </a:rPr>
              <a:t>现金税不是在毛额上叠加。</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假设：旧融资3.5%、新贷款4.5%、债券账面利息3.63%研究代理，未来全部费用化；循环求解季初提款</a:t>
            </a:r>
            <a:endParaRPr lang="en-US" sz="1600" dirty="0"/>
          </a:p>
          <a:p>
            <a:pPr indent="0" marL="0">
              <a:lnSpc>
                <a:spcPct val="100000"/>
              </a:lnSpc>
              <a:buNone/>
            </a:pPr>
            <a:r>
              <a:rPr lang="en-US" sz="1600" dirty="0">
                <a:solidFill>
                  <a:srgbClr val="1F2933"/>
                </a:solidFill>
              </a:rPr>
              <a:t>对当期利息和资金需要。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假设：Q1当前债务账面预算按3.73/3.73/4.34/2.636178/0亿元清偿，不等同合同</a:t>
            </a:r>
            <a:endParaRPr lang="en-US" sz="1600" dirty="0"/>
          </a:p>
          <a:p>
            <a:pPr indent="0" marL="0">
              <a:lnSpc>
                <a:spcPct val="100000"/>
              </a:lnSpc>
              <a:buNone/>
            </a:pPr>
            <a:r>
              <a:rPr lang="en-US" sz="1600" dirty="0">
                <a:solidFill>
                  <a:srgbClr val="1F2933"/>
                </a:solidFill>
              </a:rPr>
              <a:t>本金；应计息代理0。新贷款三年期、窗口内无摊还；原长期新增转流动0。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假设：15天经营付款底线；U=6.5亿元、P=0为条件，2026年底先预留至1月9日；实际U/P、发行</a:t>
            </a:r>
            <a:endParaRPr lang="en-US" sz="1600" dirty="0"/>
          </a:p>
          <a:p>
            <a:pPr indent="0" marL="0">
              <a:lnSpc>
                <a:spcPct val="100000"/>
              </a:lnSpc>
              <a:buNone/>
            </a:pPr>
            <a:r>
              <a:rPr lang="en-US" sz="1600" dirty="0">
                <a:solidFill>
                  <a:srgbClr val="1F2933"/>
                </a:solidFill>
              </a:rPr>
              <a:t>人A、D/X未知。融资按需到位与累计5亿元上限均非银行承诺，未用47/10.8亿元不作提款。</a:t>
            </a:r>
            <a:endParaRPr lang="en-US" sz="160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假设：财务预测金额20/30/50加权为研究适配，年度比率主路径另列；零分母为null及未决区间，负</a:t>
            </a:r>
            <a:endParaRPr lang="en-US" sz="1600" dirty="0"/>
          </a:p>
          <a:p>
            <a:pPr indent="0" marL="0">
              <a:lnSpc>
                <a:spcPct val="100000"/>
              </a:lnSpc>
              <a:buNone/>
            </a:pPr>
            <a:r>
              <a:rPr lang="en-US" sz="1600" dirty="0">
                <a:solidFill>
                  <a:srgbClr val="1F2933"/>
                </a:solidFill>
              </a:rPr>
              <a:t>分母弱档与正负混合规则保留，不设零杠杆或自动强档。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限制：条件链已含损益型收现、存量资产回收和所得税滚动；其余基准非现金资产仍为间接法调节，不是完整独立应</a:t>
            </a:r>
            <a:endParaRPr lang="en-US" sz="1600" dirty="0"/>
          </a:p>
          <a:p>
            <a:pPr indent="0" marL="0">
              <a:lnSpc>
                <a:spcPct val="100000"/>
              </a:lnSpc>
              <a:buNone/>
            </a:pPr>
            <a:r>
              <a:rPr lang="en-US" sz="1600" dirty="0">
                <a:solidFill>
                  <a:srgbClr val="1F2933"/>
                </a:solidFill>
              </a:rPr>
              <a:t>收/库存/应付周转预测，ROA分母依赖此约定。</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限制：未来利息补助构成、纳税主体利润、Q1所得税应付拆分、实际所得税现金、资产回收时点与能力尚未证实；</a:t>
            </a:r>
            <a:endParaRPr lang="en-US" sz="1600" dirty="0"/>
          </a:p>
          <a:p>
            <a:pPr indent="0" marL="0">
              <a:lnSpc>
                <a:spcPct val="100000"/>
              </a:lnSpc>
              <a:buNone/>
            </a:pPr>
            <a:r>
              <a:rPr lang="en-US" sz="1600" dirty="0">
                <a:solidFill>
                  <a:srgbClr val="1F2933"/>
                </a:solidFill>
              </a:rPr>
              <a:t>当前税及收现分支不被选为唯一中心。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限制：合并现金及假定新贷款不等于发行人可调度A；真实提款、合同清偿、Q1应计息/租赁、税抵扣、用途资金</a:t>
            </a:r>
            <a:endParaRPr lang="en-US" sz="1600" dirty="0"/>
          </a:p>
          <a:p>
            <a:pPr indent="0" marL="0">
              <a:lnSpc>
                <a:spcPct val="100000"/>
              </a:lnSpc>
              <a:buNone/>
            </a:pPr>
            <a:r>
              <a:rPr lang="en-US" sz="1600" dirty="0">
                <a:solidFill>
                  <a:srgbClr val="1F2933"/>
                </a:solidFill>
              </a:rPr>
              <a:t>及版本修正未知。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限制：3.63%借用年报借款费用资本化率为债券代理，并非债券精确EIR；Q1折旧与资本化利息代理不当</a:t>
            </a:r>
            <a:endParaRPr lang="en-US" sz="1600" dirty="0"/>
          </a:p>
          <a:p>
            <a:pPr indent="0" marL="0">
              <a:lnSpc>
                <a:spcPct val="100000"/>
              </a:lnSpc>
              <a:buNone/>
            </a:pPr>
            <a:r>
              <a:rPr lang="en-US" sz="1600" dirty="0">
                <a:solidFill>
                  <a:srgbClr val="1F2933"/>
                </a:solidFill>
              </a:rPr>
              <a:t>实际事实。</a:t>
            </a:r>
            <a:endParaRPr lang="en-US" sz="160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限制：资产质量3.5/2.5和再融资5/4.5及相邻±0.5为未唯一选定判断；历史档内联合范围跨F5/</a:t>
            </a:r>
            <a:endParaRPr lang="en-US" sz="1600" dirty="0"/>
          </a:p>
          <a:p>
            <a:pPr indent="0" marL="0">
              <a:lnSpc>
                <a:spcPct val="100000"/>
              </a:lnSpc>
              <a:buNone/>
            </a:pPr>
            <a:r>
              <a:rPr lang="en-US" sz="1600" dirty="0">
                <a:solidFill>
                  <a:srgbClr val="1F2933"/>
                </a:solidFill>
              </a:rPr>
              <a:t>F4，预测无涨价F3与涨价F4仅是矩阵条件，不能当实际评级上调/下调。</a:t>
            </a:r>
            <a:endParaRPr lang="en-US" sz="160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327</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01</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取得横琴同控重述后的2023合并全套报表、调整分录和2024/2023比较明细；</a:t>
            </a:r>
            <a:endParaRPr lang="en-US" sz="1800" dirty="0"/>
          </a:p>
          <a:p>
            <a:pPr indent="0" marL="0">
              <a:lnSpc>
                <a:spcPct val="100000"/>
              </a:lnSpc>
              <a:buNone/>
            </a:pPr>
            <a:r>
              <a:rPr lang="en-US" sz="1800" dirty="0">
                <a:solidFill>
                  <a:srgbClr val="1F2933"/>
                </a:solidFill>
              </a:rPr>
              <a:t>解释丰泽范围影响。</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02</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客户逐笔期后银行收现、账龄及重组台账，单项和组合ECL参数、抵债估值及担保可执行</a:t>
            </a:r>
            <a:endParaRPr lang="en-US" sz="1800" dirty="0"/>
          </a:p>
          <a:p>
            <a:pPr indent="0" marL="0">
              <a:lnSpc>
                <a:spcPct val="100000"/>
              </a:lnSpc>
              <a:buNone/>
            </a:pPr>
            <a:r>
              <a:rPr lang="en-US" sz="1800" dirty="0">
                <a:solidFill>
                  <a:srgbClr val="1F2933"/>
                </a:solidFill>
              </a:rPr>
              <a:t>证据。</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03</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中天盈等重组协议、期后收款、权属/抵押及关联交易审批定价支持。</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328</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04</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主要工程合同、客户确认工程量、变更索赔、预计总成本、质保及期后结算，执行截止</a:t>
            </a:r>
            <a:endParaRPr lang="en-US" sz="1800" dirty="0"/>
          </a:p>
          <a:p>
            <a:pPr indent="0" marL="0">
              <a:lnSpc>
                <a:spcPct val="100000"/>
              </a:lnSpc>
              <a:buNone/>
            </a:pPr>
            <a:r>
              <a:rPr lang="en-US" sz="1800" dirty="0">
                <a:solidFill>
                  <a:srgbClr val="1F2933"/>
                </a:solidFill>
              </a:rPr>
              <a:t>测试。</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05</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银行函证及资金流水、全部质押冻结/募集金/理财协议和集团资金上划限制，确认真正可</a:t>
            </a:r>
            <a:endParaRPr lang="en-US" sz="1800" dirty="0"/>
          </a:p>
          <a:p>
            <a:pPr indent="0" marL="0">
              <a:lnSpc>
                <a:spcPct val="100000"/>
              </a:lnSpc>
              <a:buNone/>
            </a:pPr>
            <a:r>
              <a:rPr lang="en-US" sz="1800" dirty="0">
                <a:solidFill>
                  <a:srgbClr val="1F2933"/>
                </a:solidFill>
              </a:rPr>
              <a:t>动用现金。</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06</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逐笔供应商融资协议和账期、平台已付供应商核对、AP转借款现金与非现金分类、追索</a:t>
            </a:r>
            <a:endParaRPr lang="en-US" sz="1800" dirty="0"/>
          </a:p>
          <a:p>
            <a:pPr indent="0" marL="0">
              <a:lnSpc>
                <a:spcPct val="100000"/>
              </a:lnSpc>
              <a:buNone/>
            </a:pPr>
            <a:r>
              <a:rPr lang="en-US" sz="1800" dirty="0">
                <a:solidFill>
                  <a:srgbClr val="1F2933"/>
                </a:solidFill>
              </a:rPr>
              <a:t>条件。</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329</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07</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存货库龄及售价，闲置产线处置/复产计划、现金产出单元测试、土地房产权证、商誉测算</a:t>
            </a:r>
            <a:endParaRPr lang="en-US" sz="1800" dirty="0"/>
          </a:p>
          <a:p>
            <a:pPr indent="0" marL="0">
              <a:lnSpc>
                <a:spcPct val="100000"/>
              </a:lnSpc>
              <a:buNone/>
            </a:pPr>
            <a:r>
              <a:rPr lang="en-US" sz="1800" dirty="0">
                <a:solidFill>
                  <a:srgbClr val="1F2933"/>
                </a:solidFill>
              </a:rPr>
              <a:t>及外部估值。</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08</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滁州一期重要在建表各列至总账明细的完整桥、其他减少内容、转固验收及资本化利息</a:t>
            </a:r>
            <a:endParaRPr lang="en-US" sz="1800" dirty="0"/>
          </a:p>
          <a:p>
            <a:pPr indent="0" marL="0">
              <a:lnSpc>
                <a:spcPct val="100000"/>
              </a:lnSpc>
              <a:buNone/>
            </a:pPr>
            <a:r>
              <a:rPr lang="en-US" sz="1800" dirty="0">
                <a:solidFill>
                  <a:srgbClr val="1F2933"/>
                </a:solidFill>
              </a:rPr>
              <a:t>计算。</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09</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提供已确认DTA按纳税主体和税区的明细、已确认亏损发生年度与到期表、税前扣除条件及限制、差异转回</a:t>
            </a:r>
            <a:endParaRPr lang="en-US" sz="1500" dirty="0"/>
          </a:p>
          <a:p>
            <a:pPr indent="0" marL="0">
              <a:lnSpc>
                <a:spcPct val="100000"/>
              </a:lnSpc>
              <a:buNone/>
            </a:pPr>
            <a:r>
              <a:rPr lang="en-US" sz="1500" dirty="0">
                <a:solidFill>
                  <a:srgbClr val="1F2933"/>
                </a:solidFill>
              </a:rPr>
              <a:t>计划和预计适用税率；将未来应税利润预算与订单/经营预测、应税暂时性差异转回逐项对应，标明优惠资格</a:t>
            </a:r>
            <a:endParaRPr lang="en-US" sz="1500" dirty="0"/>
          </a:p>
          <a:p>
            <a:pPr indent="0" marL="0">
              <a:lnSpc>
                <a:spcPct val="100000"/>
              </a:lnSpc>
              <a:buNone/>
            </a:pPr>
            <a:r>
              <a:rPr lang="en-US" sz="1500" dirty="0">
                <a:solidFill>
                  <a:srgbClr val="1F2933"/>
                </a:solidFill>
              </a:rPr>
              <a:t>及有效期。</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330</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10</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集团往来合同及账龄、现金归集限制、子公司分红决策和上划凭证，发行主体未来一年资金</a:t>
            </a:r>
            <a:endParaRPr lang="en-US" sz="1800" dirty="0"/>
          </a:p>
          <a:p>
            <a:pPr indent="0" marL="0">
              <a:lnSpc>
                <a:spcPct val="100000"/>
              </a:lnSpc>
              <a:buNone/>
            </a:pPr>
            <a:r>
              <a:rPr lang="en-US" sz="1800" dirty="0">
                <a:solidFill>
                  <a:srgbClr val="1F2933"/>
                </a:solidFill>
              </a:rPr>
              <a:t>计划。</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11</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提供39户保证的年末至三月及六月逐户滚动、前十名受控身份对应、基础借款/保证/展期/解除合同与</a:t>
            </a:r>
            <a:endParaRPr lang="en-US" sz="1500" dirty="0"/>
          </a:p>
          <a:p>
            <a:pPr indent="0" marL="0">
              <a:lnSpc>
                <a:spcPct val="100000"/>
              </a:lnSpc>
              <a:buNone/>
            </a:pPr>
            <a:r>
              <a:rPr lang="en-US" sz="1500" dirty="0">
                <a:solidFill>
                  <a:srgbClr val="1F2933"/>
                </a:solidFill>
              </a:rPr>
              <a:t>银行确认；经销贷款到账—付本公司货款—发票/应收结算配对；追偿/代偿历史及反担保权属顺位和现金时</a:t>
            </a:r>
            <a:endParaRPr lang="en-US" sz="1500" dirty="0"/>
          </a:p>
          <a:p>
            <a:pPr indent="0" marL="0">
              <a:lnSpc>
                <a:spcPct val="100000"/>
              </a:lnSpc>
              <a:buNone/>
            </a:pPr>
            <a:r>
              <a:rPr lang="en-US" sz="1500" dirty="0">
                <a:solidFill>
                  <a:srgbClr val="1F2933"/>
                </a:solidFill>
              </a:rPr>
              <a:t>点。集团内担保、保函、诉讼及质保资料单列。</a:t>
            </a:r>
            <a:endParaRPr lang="en-US" sz="15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12</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取得混用期间逐笔银行流水与用途追踪、专户整改执行、截至研究截止日新轮实际占用及募</a:t>
            </a:r>
            <a:endParaRPr lang="en-US" sz="1800" dirty="0"/>
          </a:p>
          <a:p>
            <a:pPr indent="0" marL="0">
              <a:lnSpc>
                <a:spcPct val="100000"/>
              </a:lnSpc>
              <a:buNone/>
            </a:pPr>
            <a:r>
              <a:rPr lang="en-US" sz="1800" dirty="0">
                <a:solidFill>
                  <a:srgbClr val="1F2933"/>
                </a:solidFill>
              </a:rPr>
              <a:t>投资金需求。旧轮归还和新轮授权公告已取得，不再请求重复证明授权时点。</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331</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13</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研究截止日前银行债务、受限现金、应收期后回收、授信可用额及同比同控比较调整。</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14</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提供直销、经销、零售、海外及非房客户收入与现金回款分表，并说明分类及关联变化。</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发行人财务及经营管理部门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15</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提供基金成立、认缴/实缴及关联关系变更时点，说明年度关联共同投资栏与专项公告的</a:t>
            </a:r>
            <a:endParaRPr lang="en-US" sz="1800" dirty="0"/>
          </a:p>
          <a:p>
            <a:pPr indent="0" marL="0">
              <a:lnSpc>
                <a:spcPct val="100000"/>
              </a:lnSpc>
              <a:buNone/>
            </a:pPr>
            <a:r>
              <a:rPr lang="en-US" sz="1800" dirty="0">
                <a:solidFill>
                  <a:srgbClr val="1F2933"/>
                </a:solidFill>
              </a:rPr>
              <a:t>范围。</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发行人董事会办公室及财务部门</a:t>
            </a:r>
            <a:endParaRPr lang="en-US" sz="120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332</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16</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700" dirty="0">
                <a:solidFill>
                  <a:srgbClr val="1F2933"/>
                </a:solidFill>
              </a:rPr>
              <a:t>提供原持续承诺的正式适用期间和口径说明，以及以同一财报数字编制的逐期累计债券余额、净</a:t>
            </a:r>
            <a:endParaRPr lang="en-US" sz="1700" dirty="0"/>
          </a:p>
          <a:p>
            <a:pPr indent="0" marL="0">
              <a:lnSpc>
                <a:spcPct val="100000"/>
              </a:lnSpc>
              <a:buNone/>
            </a:pPr>
            <a:r>
              <a:rPr lang="en-US" sz="1700" dirty="0">
                <a:solidFill>
                  <a:srgbClr val="1F2933"/>
                </a:solidFill>
              </a:rPr>
              <a:t>资产、排除项目和调整项目明细；如主张已变更或豁免，附具有生效依据的决议、公告及协议。</a:t>
            </a:r>
            <a:endParaRPr lang="en-US" sz="17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发行人财务及信息披露负责人；受托管理人提供核对依据</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17</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400" dirty="0">
                <a:solidFill>
                  <a:srgbClr val="1F2933"/>
                </a:solidFill>
              </a:rPr>
              <a:t>提供本次发行完整已签受托管理协议及补充、修订文本，定位义务并入、违约事件、通知、补救期限、加速权限和表决</a:t>
            </a:r>
            <a:endParaRPr lang="en-US" sz="1400" dirty="0"/>
          </a:p>
          <a:p>
            <a:pPr indent="0" marL="0">
              <a:lnSpc>
                <a:spcPct val="100000"/>
              </a:lnSpc>
              <a:buNone/>
            </a:pPr>
            <a:r>
              <a:rPr lang="en-US" sz="1400" dirty="0">
                <a:solidFill>
                  <a:srgbClr val="1F2933"/>
                </a:solidFill>
              </a:rPr>
              <a:t>门槛、豁免与撤销加速条款。 对延期及可能的实际项目变化，提供截至截止日有关是否构成募集用途变更、附加回售</a:t>
            </a:r>
            <a:endParaRPr lang="en-US" sz="1400" dirty="0"/>
          </a:p>
          <a:p>
            <a:pPr indent="0" marL="0">
              <a:lnSpc>
                <a:spcPct val="100000"/>
              </a:lnSpc>
              <a:buNone/>
            </a:pPr>
            <a:r>
              <a:rPr lang="en-US" sz="1400" dirty="0">
                <a:solidFill>
                  <a:srgbClr val="1F2933"/>
                </a:solidFill>
              </a:rPr>
              <a:t>触发的有效文件和受托管理人解释；如已触发，取得公告、申报窗口、有效申报规模和支付日期。</a:t>
            </a:r>
            <a:endParaRPr lang="en-US" sz="14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发行人法务及债券受托管理人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18</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提供新一期临时补流在截止日的专户及一般户对账、逐笔划出和归还记录、项目付款时间表及已占用营运资金回收计划。 结合四项项目延至2028</a:t>
            </a:r>
            <a:endParaRPr lang="en-US" sz="1100" dirty="0"/>
          </a:p>
          <a:p>
            <a:pPr indent="0" marL="0">
              <a:lnSpc>
                <a:spcPct val="100000"/>
              </a:lnSpc>
              <a:buNone/>
            </a:pPr>
            <a:r>
              <a:rPr lang="en-US" sz="1100" dirty="0">
                <a:solidFill>
                  <a:srgbClr val="1F2933"/>
                </a:solidFill>
              </a:rPr>
              <a:t>年底，列新一期临时补流实际支用及最早项目资金需求日，按2026-01-09批准日起不超过12个月核定确切最终期限，并从2026-12</a:t>
            </a:r>
            <a:endParaRPr lang="en-US" sz="1100" dirty="0"/>
          </a:p>
          <a:p>
            <a:pPr indent="0" marL="0">
              <a:lnSpc>
                <a:spcPct val="100000"/>
              </a:lnSpc>
              <a:buNone/>
            </a:pPr>
            <a:r>
              <a:rPr lang="en-US" sz="1100" dirty="0">
                <a:solidFill>
                  <a:srgbClr val="1F2933"/>
                </a:solidFill>
              </a:rPr>
              <a:t>-31至该边界逐笔列九日资金收支、其他应付款、最低营运需要、现金所属法人及母公司实际可调度安排；已归还额、仍占用额、未动用批准额度</a:t>
            </a:r>
            <a:endParaRPr lang="en-US" sz="1100" dirty="0"/>
          </a:p>
          <a:p>
            <a:pPr indent="0" marL="0">
              <a:lnSpc>
                <a:spcPct val="100000"/>
              </a:lnSpc>
              <a:buNone/>
            </a:pPr>
            <a:r>
              <a:rPr lang="en-US" sz="1100" dirty="0">
                <a:solidFill>
                  <a:srgbClr val="1F2933"/>
                </a:solidFill>
              </a:rPr>
              <a:t>分列。未投入募集计划额度不能整体填为2026付款，也不得将未来批准续用假定为既定。</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发行人财务、募集资金管理责任人及保荐机构</a:t>
            </a:r>
            <a:endParaRPr lang="en-US" sz="120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333</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19</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提供截止日内已形成的登记结算余额或有效公开余额资料；只有截止日前可得证据才用于</a:t>
            </a:r>
            <a:endParaRPr lang="en-US" sz="1800" dirty="0"/>
          </a:p>
          <a:p>
            <a:pPr indent="0" marL="0">
              <a:lnSpc>
                <a:spcPct val="100000"/>
              </a:lnSpc>
              <a:buNone/>
            </a:pPr>
            <a:r>
              <a:rPr lang="en-US" sz="1800" dirty="0">
                <a:solidFill>
                  <a:srgbClr val="1F2933"/>
                </a:solidFill>
              </a:rPr>
              <a:t>历史时点结论，后续季度公告单列后验更新。</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发行人债券事务及登记结算资料管理责任人</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20</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说明年报未折现应付债券期限表的本金、各计息年度、现金日期及未来转股/行权假设，</a:t>
            </a:r>
            <a:endParaRPr lang="en-US" sz="1800" dirty="0"/>
          </a:p>
          <a:p>
            <a:pPr indent="0" marL="0">
              <a:lnSpc>
                <a:spcPct val="100000"/>
              </a:lnSpc>
              <a:buNone/>
            </a:pPr>
            <a:r>
              <a:rPr lang="en-US" sz="1800" dirty="0">
                <a:solidFill>
                  <a:srgbClr val="1F2933"/>
                </a:solidFill>
              </a:rPr>
              <a:t>提供与募集说明书的调节。</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21</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提供截至2026-06-30已有版本的更新项目现金模型，并将2023募集说明书T+6/104%示意测算逐项调节到最终115%合同及</a:t>
            </a:r>
            <a:endParaRPr lang="en-US" sz="1100" dirty="0"/>
          </a:p>
          <a:p>
            <a:pPr indent="0" marL="0">
              <a:lnSpc>
                <a:spcPct val="100000"/>
              </a:lnSpc>
              <a:buNone/>
            </a:pPr>
            <a:r>
              <a:rPr lang="en-US" sz="1100" dirty="0">
                <a:solidFill>
                  <a:srgbClr val="1F2933"/>
                </a:solidFill>
              </a:rPr>
              <a:t>实际投产计划：区分项目、发行人和集团，列工程采购已签合同/取消权/付款日、销量价格订单和产能爬坡、营运资金回收、所得税与处置税费、</a:t>
            </a:r>
            <a:endParaRPr lang="en-US" sz="1100" dirty="0"/>
          </a:p>
          <a:p>
            <a:pPr indent="0" marL="0">
              <a:lnSpc>
                <a:spcPct val="100000"/>
              </a:lnSpc>
              <a:buNone/>
            </a:pPr>
            <a:r>
              <a:rPr lang="en-US" sz="1100" dirty="0">
                <a:solidFill>
                  <a:srgbClr val="1F2933"/>
                </a:solidFill>
              </a:rPr>
              <a:t>资产权属抵押及可出售净额、资金上划条件与到账日；解释旧测算为何未同步最终价格。未来编制的新模型与截止日前已有模型分开。</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发行人财务、项目负责人及受托管理人</a:t>
            </a:r>
            <a:endParaRPr lang="en-US" sz="120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334</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22</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提供截止日前已有的2026-07至2027-06逐月/关键日集团与母公司现金预算、银行/供应链/</a:t>
            </a:r>
            <a:endParaRPr lang="en-US" sz="1500" dirty="0"/>
          </a:p>
          <a:p>
            <a:pPr indent="0" marL="0">
              <a:lnSpc>
                <a:spcPct val="100000"/>
              </a:lnSpc>
              <a:buNone/>
            </a:pPr>
            <a:r>
              <a:rPr lang="en-US" sz="1500" dirty="0">
                <a:solidFill>
                  <a:srgbClr val="1F2933"/>
                </a:solidFill>
              </a:rPr>
              <a:t>租赁逐笔到期表；2026预算还本与2026Q1债务逐笔对应；2027预计股利、资本开支合同及新增</a:t>
            </a:r>
            <a:endParaRPr lang="en-US" sz="1500" dirty="0"/>
          </a:p>
          <a:p>
            <a:pPr indent="0" marL="0">
              <a:lnSpc>
                <a:spcPct val="100000"/>
              </a:lnSpc>
              <a:buNone/>
            </a:pPr>
            <a:r>
              <a:rPr lang="en-US" sz="1500" dirty="0">
                <a:solidFill>
                  <a:srgbClr val="1F2933"/>
                </a:solidFill>
              </a:rPr>
              <a:t>融资自身后续付款；临时补流实际未归还余额、专户重合及最早项目需用日；母公司可上划资金执行依据。</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发行人财务资金部/项目负责人/债务契约核查人员</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23</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提供截至2026-06-30已形成的2025Q1按半年报和年报各版本的销售、退款、其他经营收款、采购、职工、税费、其他经营付款及资本</a:t>
            </a:r>
            <a:endParaRPr lang="en-US" sz="1100" dirty="0"/>
          </a:p>
          <a:p>
            <a:pPr indent="0" marL="0">
              <a:lnSpc>
                <a:spcPct val="100000"/>
              </a:lnSpc>
              <a:buNone/>
            </a:pPr>
            <a:r>
              <a:rPr lang="en-US" sz="1100" dirty="0">
                <a:solidFill>
                  <a:srgbClr val="1F2933"/>
                </a:solidFill>
              </a:rPr>
              <a:t>开支重述桥，逐项列目标主体现金和内部抵销；解释H1的2025-05-31与年报的2025-06-16合并日及合并日现金、合并前净利</a:t>
            </a:r>
            <a:endParaRPr lang="en-US" sz="1100" dirty="0"/>
          </a:p>
          <a:p>
            <a:pPr indent="0" marL="0">
              <a:lnSpc>
                <a:spcPct val="100000"/>
              </a:lnSpc>
              <a:buNone/>
            </a:pPr>
            <a:r>
              <a:rPr lang="en-US" sz="1100" dirty="0">
                <a:solidFill>
                  <a:srgbClr val="1F2933"/>
                </a:solidFill>
              </a:rPr>
              <a:t>差异。提供顺控保理2025各季度至2025-11-30丧控日的现金及抵销明细、其他新设/注销的各季贡献，并核2026-03-31及</a:t>
            </a:r>
            <a:endParaRPr lang="en-US" sz="1100" dirty="0"/>
          </a:p>
          <a:p>
            <a:pPr indent="0" marL="0">
              <a:lnSpc>
                <a:spcPct val="100000"/>
              </a:lnSpc>
              <a:buNone/>
            </a:pPr>
            <a:r>
              <a:rPr lang="en-US" sz="1100" dirty="0">
                <a:solidFill>
                  <a:srgbClr val="1F2933"/>
                </a:solidFill>
              </a:rPr>
              <a:t>2026-06-30持续经营范围。</a:t>
            </a:r>
            <a:endParaRPr lang="en-US" sz="11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发行人财务合并报表团队及年审会计师/资金部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24</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提供可转债权益相关递延税期初至期末滚动、2025年当期直接权益税分录、转股及后续摊销分录、首次列</a:t>
            </a:r>
            <a:endParaRPr lang="en-US" sz="1500" dirty="0"/>
          </a:p>
          <a:p>
            <a:pPr indent="0" marL="0">
              <a:lnSpc>
                <a:spcPct val="100000"/>
              </a:lnSpc>
              <a:buNone/>
            </a:pPr>
            <a:r>
              <a:rPr lang="en-US" sz="1500" dirty="0">
                <a:solidFill>
                  <a:srgbClr val="1F2933"/>
                </a:solidFill>
              </a:rPr>
              <a:t>示的会计处理依据，并拆出范围/汇兑等实际变动及现金流补充资料其他项中的税影响；解释候选桥差额</a:t>
            </a:r>
            <a:endParaRPr lang="en-US" sz="1500" dirty="0"/>
          </a:p>
          <a:p>
            <a:pPr indent="0" marL="0">
              <a:lnSpc>
                <a:spcPct val="100000"/>
              </a:lnSpc>
              <a:buNone/>
            </a:pPr>
            <a:r>
              <a:rPr lang="en-US" sz="1500" dirty="0">
                <a:solidFill>
                  <a:srgbClr val="1F2933"/>
                </a:solidFill>
              </a:rPr>
              <a:t>32.48 元人民币。</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335</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25</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提供年报10.8亿元及跟踪报告47亿元未用额度的分别编制明细、73亿元总额对应表，按法人/银行/</a:t>
            </a:r>
            <a:endParaRPr lang="en-US" sz="1500" dirty="0"/>
          </a:p>
          <a:p>
            <a:pPr indent="0" marL="0">
              <a:lnSpc>
                <a:spcPct val="100000"/>
              </a:lnSpc>
              <a:buNone/>
            </a:pPr>
            <a:r>
              <a:rPr lang="en-US" sz="1500" dirty="0">
                <a:solidFill>
                  <a:srgbClr val="1F2933"/>
                </a:solidFill>
              </a:rPr>
              <a:t>合同/产品列已用未用、共享额、抵质押/保证金、提款条件、撤销条款、有效期及期后实际提款；附银行</a:t>
            </a:r>
            <a:endParaRPr lang="en-US" sz="1500" dirty="0"/>
          </a:p>
          <a:p>
            <a:pPr indent="0" marL="0">
              <a:lnSpc>
                <a:spcPct val="100000"/>
              </a:lnSpc>
              <a:buNone/>
            </a:pPr>
            <a:r>
              <a:rPr lang="en-US" sz="1500" dirty="0">
                <a:solidFill>
                  <a:srgbClr val="1F2933"/>
                </a:solidFill>
              </a:rPr>
              <a:t>直接证明和逐日付款资源表。</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发行人资金部门、相关银行及独立核查方</a:t>
            </a:r>
            <a:endParaRPr lang="en-US" sz="120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[ks_a_s_25] 科顺防水科技股份有限公司2025年年度报告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2026-04-24/8d1711bc-c88b-410a-8b72-7bae6b960a12.PDF</a:t>
            </a:r>
            <a:endParaRPr lang="en-US" sz="1600" dirty="0"/>
          </a:p>
          <a:p>
            <a:pPr indent="0" marL="0">
              <a:lnSpc>
                <a:spcPct val="100000"/>
              </a:lnSpc>
              <a:buNone/>
            </a:pPr>
            <a:r>
              <a:rPr lang="en-US" sz="1600" dirty="0">
                <a:solidFill>
                  <a:srgbClr val="1F2933"/>
                </a:solidFill>
              </a:rPr>
              <a:t>[ks_a_e_summary] 第10—12页，主要会计数据（元），2025/2024调整前后/</a:t>
            </a:r>
            <a:endParaRPr lang="en-US" sz="1600" dirty="0"/>
          </a:p>
          <a:p>
            <a:pPr indent="0" marL="0">
              <a:lnSpc>
                <a:spcPct val="100000"/>
              </a:lnSpc>
              <a:buNone/>
            </a:pPr>
            <a:r>
              <a:rPr lang="en-US" sz="1600" dirty="0">
                <a:solidFill>
                  <a:srgbClr val="1F2933"/>
                </a:solidFill>
              </a:rPr>
              <a:t>2023调整前后及分季度指标</a:t>
            </a:r>
            <a:endParaRPr lang="en-US" sz="1600" dirty="0"/>
          </a:p>
          <a:p>
            <a:pPr indent="0" marL="0">
              <a:lnSpc>
                <a:spcPct val="100000"/>
              </a:lnSpc>
              <a:buNone/>
            </a:pPr>
            <a:r>
              <a:rPr lang="en-US" sz="1600" dirty="0">
                <a:solidFill>
                  <a:srgbClr val="1F2933"/>
                </a:solidFill>
              </a:rPr>
              <a:t>[ks_a_e_bs] 第102—105页，合并资产负债表，单位元，列2025-12-31及2025</a:t>
            </a:r>
            <a:endParaRPr lang="en-US" sz="1600" dirty="0"/>
          </a:p>
          <a:p>
            <a:pPr indent="0" marL="0">
              <a:lnSpc>
                <a:spcPct val="100000"/>
              </a:lnSpc>
              <a:buNone/>
            </a:pPr>
            <a:r>
              <a:rPr lang="en-US" sz="1600" dirty="0">
                <a:solidFill>
                  <a:srgbClr val="1F2933"/>
                </a:solidFill>
              </a:rPr>
              <a:t>-01-01</a:t>
            </a:r>
            <a:endParaRPr lang="en-US" sz="1600" dirty="0"/>
          </a:p>
          <a:p>
            <a:pPr indent="0" marL="0">
              <a:lnSpc>
                <a:spcPct val="100000"/>
              </a:lnSpc>
              <a:buNone/>
            </a:pPr>
            <a:r>
              <a:rPr lang="en-US" sz="1600" dirty="0">
                <a:solidFill>
                  <a:srgbClr val="1F2933"/>
                </a:solidFill>
              </a:rPr>
              <a:t>[ks_a_e_parent] 第105—107、109—113、125—131及242页，母公司四表</a:t>
            </a:r>
            <a:endParaRPr lang="en-US" sz="1600" dirty="0"/>
          </a:p>
          <a:p>
            <a:pPr indent="0" marL="0">
              <a:lnSpc>
                <a:spcPct val="100000"/>
              </a:lnSpc>
              <a:buNone/>
            </a:pPr>
            <a:r>
              <a:rPr lang="en-US" sz="1600" dirty="0">
                <a:solidFill>
                  <a:srgbClr val="1F2933"/>
                </a:solidFill>
              </a:rPr>
              <a:t>与追溯权益说明，单位元</a:t>
            </a:r>
            <a:endParaRPr lang="en-US" sz="1600" dirty="0"/>
          </a:p>
          <a:p>
            <a:pPr indent="0" marL="0">
              <a:lnSpc>
                <a:spcPct val="100000"/>
              </a:lnSpc>
              <a:buNone/>
            </a:pPr>
            <a:r>
              <a:rPr lang="en-US" sz="1600" dirty="0">
                <a:solidFill>
                  <a:srgbClr val="1F2933"/>
                </a:solidFill>
              </a:rPr>
              <a:t>[ks_a_e_is] 第107—109页，合并利润表，单位元，2025年度/2024年度</a:t>
            </a:r>
            <a:endParaRPr lang="en-US" sz="1600" dirty="0"/>
          </a:p>
          <a:p>
            <a:pPr indent="0" marL="0">
              <a:lnSpc>
                <a:spcPct val="100000"/>
              </a:lnSpc>
              <a:buNone/>
            </a:pPr>
            <a:r>
              <a:rPr lang="en-US" sz="1600" dirty="0">
                <a:solidFill>
                  <a:srgbClr val="1F2933"/>
                </a:solidFill>
              </a:rPr>
              <a:t>[ks_a_e_cf] 第111—113页，合并现金流量表，单位元，2025年度/2024年度</a:t>
            </a:r>
            <a:endParaRPr lang="en-US" sz="1600" dirty="0"/>
          </a:p>
          <a:p>
            <a:pPr indent="0" marL="0">
              <a:lnSpc>
                <a:spcPct val="100000"/>
              </a:lnSpc>
              <a:buNone/>
            </a:pPr>
            <a:r>
              <a:rPr lang="en-US" sz="1600" dirty="0">
                <a:solidFill>
                  <a:srgbClr val="1F2933"/>
                </a:solidFill>
              </a:rPr>
              <a:t>[ks_a_e_equity] 第114—124页，合并所有者权益变动表，单位元</a:t>
            </a:r>
            <a:endParaRPr lang="en-US" sz="1600" dirty="0"/>
          </a:p>
          <a:p>
            <a:pPr indent="0" marL="0">
              <a:lnSpc>
                <a:spcPct val="100000"/>
              </a:lnSpc>
              <a:buNone/>
            </a:pPr>
            <a:r>
              <a:rPr lang="en-US" sz="1600" dirty="0">
                <a:solidFill>
                  <a:srgbClr val="1F2933"/>
                </a:solidFill>
              </a:rPr>
              <a:t>[ks_a_e_policies] 第132—162页，编制基础、合并及各项会计政策/重要估计、税项</a:t>
            </a:r>
            <a:endParaRPr lang="en-US" sz="1600" dirty="0"/>
          </a:p>
          <a:p>
            <a:pPr indent="0" marL="0">
              <a:lnSpc>
                <a:spcPct val="100000"/>
              </a:lnSpc>
              <a:buNone/>
            </a:pPr>
            <a:r>
              <a:rPr lang="en-US" sz="1600" dirty="0">
                <a:solidFill>
                  <a:srgbClr val="1F2933"/>
                </a:solidFill>
              </a:rPr>
              <a:t>[ks_a_e_audit] 第97—101页，审计报告</a:t>
            </a:r>
            <a:endParaRPr lang="en-US" sz="1600" dirty="0"/>
          </a:p>
          <a:p>
            <a:pPr indent="0" marL="0">
              <a:lnSpc>
                <a:spcPct val="100000"/>
              </a:lnSpc>
              <a:buNone/>
            </a:pPr>
            <a:r>
              <a:rPr lang="en-US" sz="1600" dirty="0">
                <a:solidFill>
                  <a:srgbClr val="1F2933"/>
                </a:solidFill>
              </a:rPr>
              <a:t>[ks_a_e_cash] 第162—164、190—191、209—210页，货币资金/受限资产/</a:t>
            </a:r>
            <a:endParaRPr lang="en-US" sz="1600" dirty="0"/>
          </a:p>
          <a:p>
            <a:pPr indent="0" marL="0">
              <a:lnSpc>
                <a:spcPct val="100000"/>
              </a:lnSpc>
              <a:buNone/>
            </a:pPr>
            <a:r>
              <a:rPr lang="en-US" sz="1600" dirty="0">
                <a:solidFill>
                  <a:srgbClr val="1F2933"/>
                </a:solidFill>
              </a:rPr>
              <a:t>现金等价物</a:t>
            </a:r>
            <a:endParaRPr lang="en-US" sz="160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[ks_a_e_ar] 第165—168页，应收账款，单位元；账龄、单项与组合及准备滚动</a:t>
            </a:r>
            <a:endParaRPr lang="en-US" sz="1600" dirty="0"/>
          </a:p>
          <a:p>
            <a:pPr indent="0" marL="0">
              <a:lnSpc>
                <a:spcPct val="100000"/>
              </a:lnSpc>
              <a:buNone/>
            </a:pPr>
            <a:r>
              <a:rPr lang="en-US" sz="1600" dirty="0">
                <a:solidFill>
                  <a:srgbClr val="1F2933"/>
                </a:solidFill>
              </a:rPr>
              <a:t>[ks_a_e_arf] 第163—165、170—171、221—222页，应收票据/应收款项融资/</a:t>
            </a:r>
            <a:endParaRPr lang="en-US" sz="1600" dirty="0"/>
          </a:p>
          <a:p>
            <a:pPr indent="0" marL="0">
              <a:lnSpc>
                <a:spcPct val="100000"/>
              </a:lnSpc>
              <a:buNone/>
            </a:pPr>
            <a:r>
              <a:rPr lang="en-US" sz="1600" dirty="0">
                <a:solidFill>
                  <a:srgbClr val="1F2933"/>
                </a:solidFill>
              </a:rPr>
              <a:t>金融资产转移</a:t>
            </a:r>
            <a:endParaRPr lang="en-US" sz="1600" dirty="0"/>
          </a:p>
          <a:p>
            <a:pPr indent="0" marL="0">
              <a:lnSpc>
                <a:spcPct val="100000"/>
              </a:lnSpc>
              <a:buNone/>
            </a:pPr>
            <a:r>
              <a:rPr lang="en-US" sz="1600" dirty="0">
                <a:solidFill>
                  <a:srgbClr val="1F2933"/>
                </a:solidFill>
              </a:rPr>
              <a:t>[ks_a_e_contract] 第169—170、190、200—201页，合同资产/其他非流动</a:t>
            </a:r>
            <a:endParaRPr lang="en-US" sz="1600" dirty="0"/>
          </a:p>
          <a:p>
            <a:pPr indent="0" marL="0">
              <a:lnSpc>
                <a:spcPct val="100000"/>
              </a:lnSpc>
              <a:buNone/>
            </a:pPr>
            <a:r>
              <a:rPr lang="en-US" sz="1600" dirty="0">
                <a:solidFill>
                  <a:srgbClr val="1F2933"/>
                </a:solidFill>
              </a:rPr>
              <a:t>资产/收入</a:t>
            </a:r>
            <a:endParaRPr lang="en-US" sz="1600" dirty="0"/>
          </a:p>
          <a:p>
            <a:pPr indent="0" marL="0">
              <a:lnSpc>
                <a:spcPct val="100000"/>
              </a:lnSpc>
              <a:buNone/>
            </a:pPr>
            <a:r>
              <a:rPr lang="en-US" sz="1600" dirty="0">
                <a:solidFill>
                  <a:srgbClr val="1F2933"/>
                </a:solidFill>
              </a:rPr>
              <a:t>[ks_a_e_otherar] 第171—174、226页，其他应收款及关联余额</a:t>
            </a:r>
            <a:endParaRPr lang="en-US" sz="1600" dirty="0"/>
          </a:p>
          <a:p>
            <a:pPr indent="0" marL="0">
              <a:lnSpc>
                <a:spcPct val="100000"/>
              </a:lnSpc>
              <a:buNone/>
            </a:pPr>
            <a:r>
              <a:rPr lang="en-US" sz="1600" dirty="0">
                <a:solidFill>
                  <a:srgbClr val="1F2933"/>
                </a:solidFill>
              </a:rPr>
              <a:t>[ks_a_e_inventory] 第175—176页，存货明细及跌价准备滚动</a:t>
            </a:r>
            <a:endParaRPr lang="en-US" sz="1600" dirty="0"/>
          </a:p>
          <a:p>
            <a:pPr indent="0" marL="0">
              <a:lnSpc>
                <a:spcPct val="100000"/>
              </a:lnSpc>
              <a:buNone/>
            </a:pPr>
            <a:r>
              <a:rPr lang="en-US" sz="1600" dirty="0">
                <a:solidFill>
                  <a:srgbClr val="1F2933"/>
                </a:solidFill>
              </a:rPr>
              <a:t>[ks_a_e_debtassets] 第176—178、204、229页及第48页证券投资</a:t>
            </a:r>
            <a:endParaRPr lang="en-US" sz="1600" dirty="0"/>
          </a:p>
          <a:p>
            <a:pPr indent="0" marL="0">
              <a:lnSpc>
                <a:spcPct val="100000"/>
              </a:lnSpc>
              <a:buNone/>
            </a:pPr>
            <a:r>
              <a:rPr lang="en-US" sz="1600" dirty="0">
                <a:solidFill>
                  <a:srgbClr val="1F2933"/>
                </a:solidFill>
              </a:rPr>
              <a:t>[ks_a_e_invest] 第36、179—182、214—216、223、242页，长期股权</a:t>
            </a:r>
            <a:endParaRPr lang="en-US" sz="1600" dirty="0"/>
          </a:p>
          <a:p>
            <a:pPr indent="0" marL="0">
              <a:lnSpc>
                <a:spcPct val="100000"/>
              </a:lnSpc>
              <a:buNone/>
            </a:pPr>
            <a:r>
              <a:rPr lang="en-US" sz="1600" dirty="0">
                <a:solidFill>
                  <a:srgbClr val="1F2933"/>
                </a:solidFill>
              </a:rPr>
              <a:t>投资、基金承诺及范围变化</a:t>
            </a:r>
            <a:endParaRPr lang="en-US" sz="1600" dirty="0"/>
          </a:p>
          <a:p>
            <a:pPr indent="0" marL="0">
              <a:lnSpc>
                <a:spcPct val="100000"/>
              </a:lnSpc>
              <a:buNone/>
            </a:pPr>
            <a:r>
              <a:rPr lang="en-US" sz="1600" dirty="0">
                <a:solidFill>
                  <a:srgbClr val="1F2933"/>
                </a:solidFill>
              </a:rPr>
              <a:t>[ks_a_e_fixed] 第182—190、204页，投资性房地产、固定资产、在建、使用权、无形、</a:t>
            </a:r>
            <a:endParaRPr lang="en-US" sz="1600" dirty="0"/>
          </a:p>
          <a:p>
            <a:pPr indent="0" marL="0">
              <a:lnSpc>
                <a:spcPct val="100000"/>
              </a:lnSpc>
              <a:buNone/>
            </a:pPr>
            <a:r>
              <a:rPr lang="en-US" sz="1600" dirty="0">
                <a:solidFill>
                  <a:srgbClr val="1F2933"/>
                </a:solidFill>
              </a:rPr>
              <a:t>商誉、抵债房产及资产减值</a:t>
            </a:r>
            <a:endParaRPr lang="en-US" sz="1600" dirty="0"/>
          </a:p>
          <a:p>
            <a:pPr indent="0" marL="0">
              <a:lnSpc>
                <a:spcPct val="100000"/>
              </a:lnSpc>
              <a:buNone/>
            </a:pPr>
            <a:r>
              <a:rPr lang="en-US" sz="1600" dirty="0">
                <a:solidFill>
                  <a:srgbClr val="1F2933"/>
                </a:solidFill>
              </a:rPr>
              <a:t>[ks_a_e_tax] 第160—162、188—190、205—206页，税收优惠、递延税、所得税</a:t>
            </a:r>
            <a:endParaRPr lang="en-US" sz="1600" dirty="0"/>
          </a:p>
          <a:p>
            <a:pPr indent="0" marL="0">
              <a:lnSpc>
                <a:spcPct val="100000"/>
              </a:lnSpc>
              <a:buNone/>
            </a:pPr>
            <a:r>
              <a:rPr lang="en-US" sz="1600" dirty="0">
                <a:solidFill>
                  <a:srgbClr val="1F2933"/>
                </a:solidFill>
              </a:rPr>
              <a:t>桥</a:t>
            </a:r>
            <a:endParaRPr lang="en-US" sz="1600" dirty="0"/>
          </a:p>
          <a:p>
            <a:pPr indent="0" marL="0">
              <a:lnSpc>
                <a:spcPct val="100000"/>
              </a:lnSpc>
              <a:buNone/>
            </a:pPr>
            <a:r>
              <a:rPr lang="en-US" sz="1600" dirty="0">
                <a:solidFill>
                  <a:srgbClr val="1F2933"/>
                </a:solidFill>
              </a:rPr>
              <a:t>[ks_a_e_liabs] 第191—199页，借款、应付/合同/职工/税费/预计负债、权益附注</a:t>
            </a:r>
            <a:endParaRPr lang="en-US" sz="1600" dirty="0"/>
          </a:p>
          <a:p>
            <a:pPr indent="0" marL="0">
              <a:lnSpc>
                <a:spcPct val="100000"/>
              </a:lnSpc>
              <a:buNone/>
            </a:pPr>
            <a:r>
              <a:rPr lang="en-US" sz="1600" dirty="0">
                <a:solidFill>
                  <a:srgbClr val="1F2933"/>
                </a:solidFill>
              </a:rPr>
              <a:t>[ks_a_e_revenue] 第38—43、199—205页，产品/地区、成本费用和非经常收益</a:t>
            </a:r>
            <a:endParaRPr lang="en-US" sz="160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[ks_a_e_indirect] 第208—209页，净利润调节为CFO，单位元</a:t>
            </a:r>
            <a:endParaRPr lang="en-US" sz="1600" dirty="0"/>
          </a:p>
          <a:p>
            <a:pPr indent="0" marL="0">
              <a:lnSpc>
                <a:spcPct val="100000"/>
              </a:lnSpc>
              <a:buNone/>
            </a:pPr>
            <a:r>
              <a:rPr lang="en-US" sz="1600" dirty="0">
                <a:solidFill>
                  <a:srgbClr val="1F2933"/>
                </a:solidFill>
              </a:rPr>
              <a:t>[ks_a_e_debtorroll] 第208页，筹资活动相关负债变动，单位元</a:t>
            </a:r>
            <a:endParaRPr lang="en-US" sz="1600" dirty="0"/>
          </a:p>
          <a:p>
            <a:pPr indent="0" marL="0">
              <a:lnSpc>
                <a:spcPct val="100000"/>
              </a:lnSpc>
              <a:buNone/>
            </a:pPr>
            <a:r>
              <a:rPr lang="en-US" sz="1600" dirty="0">
                <a:solidFill>
                  <a:srgbClr val="1F2933"/>
                </a:solidFill>
              </a:rPr>
              <a:t>[ks_a_e_supplier] 第210页，供应商融资安排，单位元；已收到款项及付款期</a:t>
            </a:r>
            <a:endParaRPr lang="en-US" sz="1600" dirty="0"/>
          </a:p>
          <a:p>
            <a:pPr indent="0" marL="0">
              <a:lnSpc>
                <a:spcPct val="100000"/>
              </a:lnSpc>
              <a:buNone/>
            </a:pPr>
            <a:r>
              <a:rPr lang="en-US" sz="1600" dirty="0">
                <a:solidFill>
                  <a:srgbClr val="1F2933"/>
                </a:solidFill>
              </a:rPr>
              <a:t>[ks_a_e_maturity] 第217—221页，金融工具风险与未折现合同现金流表，万元</a:t>
            </a:r>
            <a:endParaRPr lang="en-US" sz="1600" dirty="0"/>
          </a:p>
          <a:p>
            <a:pPr indent="0" marL="0">
              <a:lnSpc>
                <a:spcPct val="100000"/>
              </a:lnSpc>
              <a:buNone/>
            </a:pPr>
            <a:r>
              <a:rPr lang="en-US" sz="1600" dirty="0">
                <a:solidFill>
                  <a:srgbClr val="1F2933"/>
                </a:solidFill>
              </a:rPr>
              <a:t>[ks_a_e_related] 第222—228页及第79—84页，关联方、保证、募集金及承诺</a:t>
            </a:r>
            <a:endParaRPr lang="en-US" sz="1600" dirty="0"/>
          </a:p>
          <a:p>
            <a:pPr indent="0" marL="0">
              <a:lnSpc>
                <a:spcPct val="100000"/>
              </a:lnSpc>
              <a:buNone/>
            </a:pPr>
            <a:r>
              <a:rPr lang="en-US" sz="1600" dirty="0">
                <a:solidFill>
                  <a:srgbClr val="1F2933"/>
                </a:solidFill>
              </a:rPr>
              <a:t>[ks_a_e_governance] 第58—67、70—92页，薪酬分红、内控、重要事项、控制人</a:t>
            </a:r>
            <a:endParaRPr lang="en-US" sz="1600" dirty="0"/>
          </a:p>
          <a:p>
            <a:pPr indent="0" marL="0">
              <a:lnSpc>
                <a:spcPct val="100000"/>
              </a:lnSpc>
              <a:buNone/>
            </a:pPr>
            <a:r>
              <a:rPr lang="en-US" sz="1600" dirty="0">
                <a:solidFill>
                  <a:srgbClr val="1F2933"/>
                </a:solidFill>
              </a:rPr>
              <a:t>持股</a:t>
            </a:r>
            <a:endParaRPr lang="en-US" sz="1600" dirty="0"/>
          </a:p>
          <a:p>
            <a:pPr indent="0" marL="0">
              <a:lnSpc>
                <a:spcPct val="100000"/>
              </a:lnSpc>
              <a:buNone/>
            </a:pPr>
            <a:r>
              <a:rPr lang="en-US" sz="1600" dirty="0">
                <a:solidFill>
                  <a:srgbClr val="1F2933"/>
                </a:solidFill>
              </a:rPr>
              <a:t>[ks_a_e_post] 第228—229页，期后事项、债务重组及分部</a:t>
            </a:r>
            <a:endParaRPr lang="en-US" sz="1600" dirty="0"/>
          </a:p>
          <a:p>
            <a:pPr indent="0" marL="0">
              <a:lnSpc>
                <a:spcPct val="100000"/>
              </a:lnSpc>
              <a:buNone/>
            </a:pPr>
            <a:r>
              <a:rPr lang="en-US" sz="1600" dirty="0">
                <a:solidFill>
                  <a:srgbClr val="1F2933"/>
                </a:solidFill>
              </a:rPr>
              <a:t>[ks_a_e_ar_sign] 2025年报第168页，应收账款坏账准备滚动</a:t>
            </a:r>
            <a:endParaRPr lang="en-US" sz="1600" dirty="0"/>
          </a:p>
          <a:p>
            <a:pPr indent="0" marL="0">
              <a:lnSpc>
                <a:spcPct val="100000"/>
              </a:lnSpc>
              <a:buNone/>
            </a:pPr>
            <a:r>
              <a:rPr lang="en-US" sz="1600" dirty="0">
                <a:solidFill>
                  <a:srgbClr val="1F2933"/>
                </a:solidFill>
              </a:rPr>
              <a:t>[ks_b_e_structure] PDF39–42；图像核对PDF40</a:t>
            </a:r>
            <a:endParaRPr lang="en-US" sz="1600" dirty="0"/>
          </a:p>
          <a:p>
            <a:pPr indent="0" marL="0">
              <a:lnSpc>
                <a:spcPct val="100000"/>
              </a:lnSpc>
              <a:buNone/>
            </a:pPr>
            <a:r>
              <a:rPr lang="en-US" sz="1600" dirty="0">
                <a:solidFill>
                  <a:srgbClr val="1F2933"/>
                </a:solidFill>
              </a:rPr>
              <a:t>[ks_b_e_operations] PDF25–27、34–36、42–43</a:t>
            </a:r>
            <a:endParaRPr lang="en-US" sz="1600" dirty="0"/>
          </a:p>
          <a:p>
            <a:pPr indent="0" marL="0">
              <a:lnSpc>
                <a:spcPct val="100000"/>
              </a:lnSpc>
              <a:buNone/>
            </a:pPr>
            <a:r>
              <a:rPr lang="en-US" sz="1600" dirty="0">
                <a:solidFill>
                  <a:srgbClr val="1F2933"/>
                </a:solidFill>
              </a:rPr>
              <a:t>[ks_b_e_cash] PDF37、43–44</a:t>
            </a:r>
            <a:endParaRPr lang="en-US" sz="1600" dirty="0"/>
          </a:p>
          <a:p>
            <a:pPr indent="0" marL="0">
              <a:lnSpc>
                <a:spcPct val="100000"/>
              </a:lnSpc>
              <a:buNone/>
            </a:pPr>
            <a:r>
              <a:rPr lang="en-US" sz="1600" dirty="0">
                <a:solidFill>
                  <a:srgbClr val="1F2933"/>
                </a:solidFill>
              </a:rPr>
              <a:t>[ks_b_e_cost_risk] PDF25、48–49、51</a:t>
            </a:r>
            <a:endParaRPr lang="en-US" sz="1600" dirty="0"/>
          </a:p>
          <a:p>
            <a:pPr indent="0" marL="0">
              <a:lnSpc>
                <a:spcPct val="100000"/>
              </a:lnSpc>
              <a:buNone/>
            </a:pPr>
            <a:r>
              <a:rPr lang="en-US" sz="1600" dirty="0">
                <a:solidFill>
                  <a:srgbClr val="1F2933"/>
                </a:solidFill>
              </a:rPr>
              <a:t>[ks_b_e_governance] PDF53–57、66–67、77–79</a:t>
            </a:r>
            <a:endParaRPr lang="en-US" sz="1600" dirty="0"/>
          </a:p>
          <a:p>
            <a:pPr indent="0" marL="0">
              <a:lnSpc>
                <a:spcPct val="100000"/>
              </a:lnSpc>
              <a:buNone/>
            </a:pPr>
            <a:r>
              <a:rPr lang="en-US" sz="1600" dirty="0">
                <a:solidFill>
                  <a:srgbClr val="1F2933"/>
                </a:solidFill>
              </a:rPr>
              <a:t>[ks_b_e_ownership] PDF88–91；图像核对88</a:t>
            </a:r>
            <a:endParaRPr lang="en-US" sz="1600" dirty="0"/>
          </a:p>
          <a:p>
            <a:pPr indent="0" marL="0">
              <a:lnSpc>
                <a:spcPct val="100000"/>
              </a:lnSpc>
              <a:buNone/>
            </a:pPr>
            <a:r>
              <a:rPr lang="en-US" sz="1600" dirty="0">
                <a:solidFill>
                  <a:srgbClr val="1F2933"/>
                </a:solidFill>
              </a:rPr>
              <a:t>[ks_b_e_distribution] PDF63–64</a:t>
            </a:r>
            <a:endParaRPr lang="en-US" sz="160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[ks_b_e_guarantees] PDF80–81</a:t>
            </a:r>
            <a:endParaRPr lang="en-US" sz="1600" dirty="0"/>
          </a:p>
          <a:p>
            <a:pPr indent="0" marL="0">
              <a:lnSpc>
                <a:spcPct val="100000"/>
              </a:lnSpc>
              <a:buNone/>
            </a:pPr>
            <a:r>
              <a:rPr lang="en-US" sz="1600" dirty="0">
                <a:solidFill>
                  <a:srgbClr val="1F2933"/>
                </a:solidFill>
              </a:rPr>
              <a:t>[ks_d_e_commitment] PDF p75–76，承诺事项表：财务承诺、承诺期限及履行情况</a:t>
            </a:r>
            <a:endParaRPr lang="en-US" sz="1600" dirty="0"/>
          </a:p>
          <a:p>
            <a:pPr indent="0" marL="0">
              <a:lnSpc>
                <a:spcPct val="100000"/>
              </a:lnSpc>
              <a:buNone/>
            </a:pPr>
            <a:r>
              <a:rPr lang="en-US" sz="1600" dirty="0">
                <a:solidFill>
                  <a:srgbClr val="1F2933"/>
                </a:solidFill>
              </a:rPr>
              <a:t>[ks_d_e_equity] PDF p105，合并资产负债表，2025-12-31及2024-12</a:t>
            </a:r>
            <a:endParaRPr lang="en-US" sz="1600" dirty="0"/>
          </a:p>
          <a:p>
            <a:pPr indent="0" marL="0">
              <a:lnSpc>
                <a:spcPct val="100000"/>
              </a:lnSpc>
              <a:buNone/>
            </a:pPr>
            <a:r>
              <a:rPr lang="en-US" sz="1600" dirty="0">
                <a:solidFill>
                  <a:srgbClr val="1F2933"/>
                </a:solidFill>
              </a:rPr>
              <a:t>-31列，单位元</a:t>
            </a:r>
            <a:endParaRPr lang="en-US" sz="1600" dirty="0"/>
          </a:p>
          <a:p>
            <a:pPr indent="0" marL="0">
              <a:lnSpc>
                <a:spcPct val="100000"/>
              </a:lnSpc>
              <a:buNone/>
            </a:pPr>
            <a:r>
              <a:rPr lang="en-US" sz="1600" dirty="0">
                <a:solidFill>
                  <a:srgbClr val="1F2933"/>
                </a:solidFill>
              </a:rPr>
              <a:t>[ks_d_e_bond_accounting] PDF p194–195，应付债券附注及增减变动表，</a:t>
            </a:r>
            <a:endParaRPr lang="en-US" sz="1600" dirty="0"/>
          </a:p>
          <a:p>
            <a:pPr indent="0" marL="0">
              <a:lnSpc>
                <a:spcPct val="100000"/>
              </a:lnSpc>
              <a:buNone/>
            </a:pPr>
            <a:r>
              <a:rPr lang="en-US" sz="1600" dirty="0">
                <a:solidFill>
                  <a:srgbClr val="1F2933"/>
                </a:solidFill>
              </a:rPr>
              <a:t>单位元</a:t>
            </a:r>
            <a:endParaRPr lang="en-US" sz="1600" dirty="0"/>
          </a:p>
          <a:p>
            <a:pPr indent="0" marL="0">
              <a:lnSpc>
                <a:spcPct val="100000"/>
              </a:lnSpc>
              <a:buNone/>
            </a:pPr>
            <a:r>
              <a:rPr lang="en-US" sz="1600" dirty="0">
                <a:solidFill>
                  <a:srgbClr val="1F2933"/>
                </a:solidFill>
              </a:rPr>
              <a:t>[ks_d_e_face_2025] PDF p93–95，可转换公司债券情况，单位元/股</a:t>
            </a:r>
            <a:endParaRPr lang="en-US" sz="1600" dirty="0"/>
          </a:p>
          <a:p>
            <a:pPr indent="0" marL="0">
              <a:lnSpc>
                <a:spcPct val="100000"/>
              </a:lnSpc>
              <a:buNone/>
            </a:pPr>
            <a:r>
              <a:rPr lang="en-US" sz="1600" dirty="0">
                <a:solidFill>
                  <a:srgbClr val="1F2933"/>
                </a:solidFill>
              </a:rPr>
              <a:t>[ks_d_l_e_season] PDF p11、111–112</a:t>
            </a:r>
            <a:endParaRPr lang="en-US" sz="1600" dirty="0"/>
          </a:p>
          <a:p>
            <a:pPr indent="0" marL="0">
              <a:lnSpc>
                <a:spcPct val="100000"/>
              </a:lnSpc>
              <a:buNone/>
            </a:pPr>
            <a:r>
              <a:rPr lang="en-US" sz="1600" dirty="0">
                <a:solidFill>
                  <a:srgbClr val="1F2933"/>
                </a:solidFill>
              </a:rPr>
              <a:t>[ks_d_l_e_debt_split] PDF p191、193–194、207–210</a:t>
            </a:r>
            <a:endParaRPr lang="en-US" sz="1600" dirty="0"/>
          </a:p>
          <a:p>
            <a:pPr indent="0" marL="0">
              <a:lnSpc>
                <a:spcPct val="100000"/>
              </a:lnSpc>
              <a:buNone/>
            </a:pPr>
            <a:r>
              <a:rPr lang="en-US" sz="1600" dirty="0">
                <a:solidFill>
                  <a:srgbClr val="1F2933"/>
                </a:solidFill>
              </a:rPr>
              <a:t>[ks_d_l_e_facility] PDF p218</a:t>
            </a:r>
            <a:endParaRPr lang="en-US" sz="1600" dirty="0"/>
          </a:p>
          <a:p>
            <a:pPr indent="0" marL="0">
              <a:lnSpc>
                <a:spcPct val="100000"/>
              </a:lnSpc>
              <a:buNone/>
            </a:pPr>
            <a:r>
              <a:rPr lang="en-US" sz="1600" dirty="0">
                <a:solidFill>
                  <a:srgbClr val="1F2933"/>
                </a:solidFill>
              </a:rPr>
              <a:t>[ks_d_l_e_parent] PDF p105–107、112–113，母公司资产负债表与现金</a:t>
            </a:r>
            <a:endParaRPr lang="en-US" sz="1600" dirty="0"/>
          </a:p>
          <a:p>
            <a:pPr indent="0" marL="0">
              <a:lnSpc>
                <a:spcPct val="100000"/>
              </a:lnSpc>
              <a:buNone/>
            </a:pPr>
            <a:r>
              <a:rPr lang="en-US" sz="1600" dirty="0">
                <a:solidFill>
                  <a:srgbClr val="1F2933"/>
                </a:solidFill>
              </a:rPr>
              <a:t>流量表</a:t>
            </a:r>
            <a:endParaRPr lang="en-US" sz="1600" dirty="0"/>
          </a:p>
          <a:p>
            <a:pPr indent="0" marL="0">
              <a:lnSpc>
                <a:spcPct val="100000"/>
              </a:lnSpc>
              <a:buNone/>
            </a:pPr>
            <a:r>
              <a:rPr lang="en-US" sz="1600" dirty="0">
                <a:solidFill>
                  <a:srgbClr val="1F2933"/>
                </a:solidFill>
              </a:rPr>
              <a:t>[ks_d_l_f_q1_2025_cfo_e] 2025年报PDF p11分季度表，与2026Q1 </a:t>
            </a:r>
            <a:endParaRPr lang="en-US" sz="1600" dirty="0"/>
          </a:p>
          <a:p>
            <a:pPr indent="0" marL="0">
              <a:lnSpc>
                <a:spcPct val="100000"/>
              </a:lnSpc>
              <a:buNone/>
            </a:pPr>
            <a:r>
              <a:rPr lang="en-US" sz="1600" dirty="0">
                <a:solidFill>
                  <a:srgbClr val="1F2933"/>
                </a:solidFill>
              </a:rPr>
              <a:t>p11相同</a:t>
            </a:r>
            <a:endParaRPr lang="en-US" sz="1600" dirty="0"/>
          </a:p>
          <a:p>
            <a:pPr indent="0" marL="0">
              <a:lnSpc>
                <a:spcPct val="100000"/>
              </a:lnSpc>
              <a:buNone/>
            </a:pPr>
            <a:r>
              <a:rPr lang="en-US" sz="1600" dirty="0">
                <a:solidFill>
                  <a:srgbClr val="1F2933"/>
                </a:solidFill>
              </a:rPr>
              <a:t>[ks_d_l_f_q1_2025_revenue_e] 2025年报PDF p11分季度表</a:t>
            </a:r>
            <a:endParaRPr lang="en-US" sz="1600" dirty="0"/>
          </a:p>
          <a:p>
            <a:pPr indent="0" marL="0">
              <a:lnSpc>
                <a:spcPct val="100000"/>
              </a:lnSpc>
              <a:buNone/>
            </a:pPr>
            <a:r>
              <a:rPr lang="en-US" sz="1600" dirty="0">
                <a:solidFill>
                  <a:srgbClr val="1F2933"/>
                </a:solidFill>
              </a:rPr>
              <a:t>[ks_d_l_f_2025_q2_revenue_e] 2025年报PDF p11分季度表</a:t>
            </a:r>
            <a:endParaRPr lang="en-US" sz="160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[ks_d_l_f_2025_q2_cfo_e] 2025年报PDF p11分季度表</a:t>
            </a:r>
            <a:endParaRPr lang="en-US" sz="1600" dirty="0"/>
          </a:p>
          <a:p>
            <a:pPr indent="0" marL="0">
              <a:lnSpc>
                <a:spcPct val="100000"/>
              </a:lnSpc>
              <a:buNone/>
            </a:pPr>
            <a:r>
              <a:rPr lang="en-US" sz="1600" dirty="0">
                <a:solidFill>
                  <a:srgbClr val="1F2933"/>
                </a:solidFill>
              </a:rPr>
              <a:t>[ks_d_l_f_2025_q3_revenue_e] 2025年报PDF p11分季度表</a:t>
            </a:r>
            <a:endParaRPr lang="en-US" sz="1600" dirty="0"/>
          </a:p>
          <a:p>
            <a:pPr indent="0" marL="0">
              <a:lnSpc>
                <a:spcPct val="100000"/>
              </a:lnSpc>
              <a:buNone/>
            </a:pPr>
            <a:r>
              <a:rPr lang="en-US" sz="1600" dirty="0">
                <a:solidFill>
                  <a:srgbClr val="1F2933"/>
                </a:solidFill>
              </a:rPr>
              <a:t>[ks_d_l_f_2025_q3_cfo_e] 2025年报PDF p11分季度表</a:t>
            </a:r>
            <a:endParaRPr lang="en-US" sz="1600" dirty="0"/>
          </a:p>
          <a:p>
            <a:pPr indent="0" marL="0">
              <a:lnSpc>
                <a:spcPct val="100000"/>
              </a:lnSpc>
              <a:buNone/>
            </a:pPr>
            <a:r>
              <a:rPr lang="en-US" sz="1600" dirty="0">
                <a:solidFill>
                  <a:srgbClr val="1F2933"/>
                </a:solidFill>
              </a:rPr>
              <a:t>[ks_d_l_f_2025_q4_revenue_e] 2025年报PDF p11分季度表</a:t>
            </a:r>
            <a:endParaRPr lang="en-US" sz="1600" dirty="0"/>
          </a:p>
          <a:p>
            <a:pPr indent="0" marL="0">
              <a:lnSpc>
                <a:spcPct val="100000"/>
              </a:lnSpc>
              <a:buNone/>
            </a:pPr>
            <a:r>
              <a:rPr lang="en-US" sz="1600" dirty="0">
                <a:solidFill>
                  <a:srgbClr val="1F2933"/>
                </a:solidFill>
              </a:rPr>
              <a:t>[ks_d_l_f_2025_q4_cfo_e] 2025年报PDF p11分季度表</a:t>
            </a:r>
            <a:endParaRPr lang="en-US" sz="1600" dirty="0"/>
          </a:p>
          <a:p>
            <a:pPr indent="0" marL="0">
              <a:lnSpc>
                <a:spcPct val="100000"/>
              </a:lnSpc>
              <a:buNone/>
            </a:pPr>
            <a:r>
              <a:rPr lang="en-US" sz="1600" dirty="0">
                <a:solidFill>
                  <a:srgbClr val="1F2933"/>
                </a:solidFill>
              </a:rPr>
              <a:t>[ks_d_l_f_taxrefund_2025_e] PDF p111，合并现金流量表</a:t>
            </a:r>
            <a:endParaRPr lang="en-US" sz="1600" dirty="0"/>
          </a:p>
          <a:p>
            <a:pPr indent="0" marL="0">
              <a:lnSpc>
                <a:spcPct val="100000"/>
              </a:lnSpc>
              <a:buNone/>
            </a:pPr>
            <a:r>
              <a:rPr lang="en-US" sz="1600" dirty="0">
                <a:solidFill>
                  <a:srgbClr val="1F2933"/>
                </a:solidFill>
              </a:rPr>
              <a:t>[ks_d_l_f_st_accrued_2025_e] PDF p191，短期借款附注</a:t>
            </a:r>
            <a:endParaRPr lang="en-US" sz="1600" dirty="0"/>
          </a:p>
          <a:p>
            <a:pPr indent="0" marL="0">
              <a:lnSpc>
                <a:spcPct val="100000"/>
              </a:lnSpc>
              <a:buNone/>
            </a:pPr>
            <a:r>
              <a:rPr lang="en-US" sz="1600" dirty="0">
                <a:solidFill>
                  <a:srgbClr val="1F2933"/>
                </a:solidFill>
              </a:rPr>
              <a:t>[ks_d_l_f_current_lt_principal_2025_e]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[ks_d_l_f_current_lt_mortgage_2025_e]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[ks_d_l_f_current_lt_interest_2025_e]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[ks_d_l_f_current_lease_2025_e] PDF p193，一年内到期非流动负债</a:t>
            </a:r>
            <a:endParaRPr lang="en-US" sz="1600" dirty="0"/>
          </a:p>
          <a:p>
            <a:pPr indent="0" marL="0">
              <a:lnSpc>
                <a:spcPct val="100000"/>
              </a:lnSpc>
              <a:buNone/>
            </a:pPr>
            <a:r>
              <a:rPr lang="en-US" sz="1600" dirty="0">
                <a:solidFill>
                  <a:srgbClr val="1F2933"/>
                </a:solidFill>
              </a:rPr>
              <a:t>[ks_d_l_f_current_provision_2025_e] PDF p193，一年内到期非</a:t>
            </a:r>
            <a:endParaRPr lang="en-US" sz="1600" dirty="0"/>
          </a:p>
          <a:p>
            <a:pPr indent="0" marL="0">
              <a:lnSpc>
                <a:spcPct val="100000"/>
              </a:lnSpc>
              <a:buNone/>
            </a:pPr>
            <a:r>
              <a:rPr lang="en-US" sz="1600" dirty="0">
                <a:solidFill>
                  <a:srgbClr val="1F2933"/>
                </a:solidFill>
              </a:rPr>
              <a:t>流动负债</a:t>
            </a:r>
            <a:endParaRPr lang="en-US" sz="160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[ks_d_l_f_unused_facility_2025_e] PDF p218，原单位万元、原数</a:t>
            </a:r>
            <a:endParaRPr lang="en-US" sz="1600" dirty="0"/>
          </a:p>
          <a:p>
            <a:pPr indent="0" marL="0">
              <a:lnSpc>
                <a:spcPct val="100000"/>
              </a:lnSpc>
              <a:buNone/>
            </a:pPr>
            <a:r>
              <a:rPr lang="en-US" sz="1600" dirty="0">
                <a:solidFill>
                  <a:srgbClr val="1F2933"/>
                </a:solidFill>
              </a:rPr>
              <a:t>108000.00</a:t>
            </a:r>
            <a:endParaRPr lang="en-US" sz="1600" dirty="0"/>
          </a:p>
          <a:p>
            <a:pPr indent="0" marL="0">
              <a:lnSpc>
                <a:spcPct val="100000"/>
              </a:lnSpc>
              <a:buNone/>
            </a:pPr>
            <a:r>
              <a:rPr lang="en-US" sz="1600" dirty="0">
                <a:solidFill>
                  <a:srgbClr val="1F2933"/>
                </a:solidFill>
              </a:rPr>
              <a:t>[ks_d_l_f_parent_cashbook_e] PDF p105，母公司财务报表，单位人民币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[ks_d_l_f_parent_stborrow_e] PDF p106，母公司财务报表，单位人民币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[ks_d_l_f_parent_notes_e] PDF p106，母公司财务报表，单位人民币元</a:t>
            </a:r>
            <a:endParaRPr lang="en-US" sz="1600" dirty="0"/>
          </a:p>
          <a:p>
            <a:pPr indent="0" marL="0">
              <a:lnSpc>
                <a:spcPct val="100000"/>
              </a:lnSpc>
              <a:buNone/>
            </a:pPr>
            <a:r>
              <a:rPr lang="en-US" sz="1600" dirty="0">
                <a:solidFill>
                  <a:srgbClr val="1F2933"/>
                </a:solidFill>
              </a:rPr>
              <a:t>[ks_d_l_f_parent_ap_e] PDF p106，母公司财务报表，单位人民币元</a:t>
            </a:r>
            <a:endParaRPr lang="en-US" sz="1600" dirty="0"/>
          </a:p>
          <a:p>
            <a:pPr indent="0" marL="0">
              <a:lnSpc>
                <a:spcPct val="100000"/>
              </a:lnSpc>
              <a:buNone/>
            </a:pPr>
            <a:r>
              <a:rPr lang="en-US" sz="1600" dirty="0">
                <a:solidFill>
                  <a:srgbClr val="1F2933"/>
                </a:solidFill>
              </a:rPr>
              <a:t>[ks_d_l_f_parent_currentlong_e]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[ks_d_l_f_parent_currentliab_e]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[ks_d_l_f_parent_bonds_e] PDF p106，母公司财务报表，单位人民币元</a:t>
            </a:r>
            <a:endParaRPr lang="en-US" sz="1600" dirty="0"/>
          </a:p>
          <a:p>
            <a:pPr indent="0" marL="0">
              <a:lnSpc>
                <a:spcPct val="100000"/>
              </a:lnSpc>
              <a:buNone/>
            </a:pPr>
            <a:r>
              <a:rPr lang="en-US" sz="1600" dirty="0">
                <a:solidFill>
                  <a:srgbClr val="1F2933"/>
                </a:solidFill>
              </a:rPr>
              <a:t>[ks_d_l_f_parent_investment_cash_e] PDF p113，母公司</a:t>
            </a:r>
            <a:endParaRPr lang="en-US" sz="1600" dirty="0"/>
          </a:p>
          <a:p>
            <a:pPr indent="0" marL="0">
              <a:lnSpc>
                <a:spcPct val="100000"/>
              </a:lnSpc>
              <a:buNone/>
            </a:pPr>
            <a:r>
              <a:rPr lang="en-US" sz="1600" dirty="0">
                <a:solidFill>
                  <a:srgbClr val="1F2933"/>
                </a:solidFill>
              </a:rPr>
              <a:t>财务报表，单位人民币元</a:t>
            </a:r>
            <a:endParaRPr lang="en-US" sz="1600" dirty="0"/>
          </a:p>
          <a:p>
            <a:pPr indent="0" marL="0">
              <a:lnSpc>
                <a:spcPct val="100000"/>
              </a:lnSpc>
              <a:buNone/>
            </a:pPr>
            <a:r>
              <a:rPr lang="en-US" sz="1600" dirty="0">
                <a:solidFill>
                  <a:srgbClr val="1F2933"/>
                </a:solidFill>
              </a:rPr>
              <a:t>[ks_r_peer_keshun] ['第107—109页，合并利润表，单位元，2025年度/</a:t>
            </a:r>
            <a:endParaRPr lang="en-US" sz="160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2024年度'] 2025年报；各精确定位见source_locators；['第38—43、199—</a:t>
            </a:r>
            <a:endParaRPr lang="en-US" sz="1600" dirty="0"/>
          </a:p>
          <a:p>
            <a:pPr indent="0" marL="0">
              <a:lnSpc>
                <a:spcPct val="100000"/>
              </a:lnSpc>
              <a:buNone/>
            </a:pPr>
            <a:r>
              <a:rPr lang="en-US" sz="1600" dirty="0">
                <a:solidFill>
                  <a:srgbClr val="1F2933"/>
                </a:solidFill>
              </a:rPr>
              <a:t>205页，产品/地区、成本费用和非经常收益'] 2025年报；各精确定位见</a:t>
            </a:r>
            <a:endParaRPr lang="en-US" sz="1600" dirty="0"/>
          </a:p>
          <a:p>
            <a:pPr indent="0" marL="0">
              <a:lnSpc>
                <a:spcPct val="100000"/>
              </a:lnSpc>
              <a:buNone/>
            </a:pPr>
            <a:r>
              <a:rPr lang="en-US" sz="1600" dirty="0">
                <a:solidFill>
                  <a:srgbClr val="1F2933"/>
                </a:solidFill>
              </a:rPr>
              <a:t>source_locators；['第111—113页，合并现金流量表，单位元，2025年度/2024</a:t>
            </a:r>
            <a:endParaRPr lang="en-US" sz="1600" dirty="0"/>
          </a:p>
          <a:p>
            <a:pPr indent="0" marL="0">
              <a:lnSpc>
                <a:spcPct val="100000"/>
              </a:lnSpc>
              <a:buNone/>
            </a:pPr>
            <a:r>
              <a:rPr lang="en-US" sz="1600" dirty="0">
                <a:solidFill>
                  <a:srgbClr val="1F2933"/>
                </a:solidFill>
              </a:rPr>
              <a:t>年度'] 2025年报；各精确定位见source_locators；['第162—164、190—</a:t>
            </a:r>
            <a:endParaRPr lang="en-US" sz="1600" dirty="0"/>
          </a:p>
          <a:p>
            <a:pPr indent="0" marL="0">
              <a:lnSpc>
                <a:spcPct val="100000"/>
              </a:lnSpc>
              <a:buNone/>
            </a:pPr>
            <a:r>
              <a:rPr lang="en-US" sz="1600" dirty="0">
                <a:solidFill>
                  <a:srgbClr val="1F2933"/>
                </a:solidFill>
              </a:rPr>
              <a:t>191、209—210页，货币资金/受限资产/现金等价物'] 2025年报；各精确定位见</a:t>
            </a:r>
            <a:endParaRPr lang="en-US" sz="1600" dirty="0"/>
          </a:p>
          <a:p>
            <a:pPr indent="0" marL="0">
              <a:lnSpc>
                <a:spcPct val="100000"/>
              </a:lnSpc>
              <a:buNone/>
            </a:pPr>
            <a:r>
              <a:rPr lang="en-US" sz="1600" dirty="0">
                <a:solidFill>
                  <a:srgbClr val="1F2933"/>
                </a:solidFill>
              </a:rPr>
              <a:t>source_locators；['第102—105页，合并资产负债表，单位元，列2025-12-31</a:t>
            </a:r>
            <a:endParaRPr lang="en-US" sz="1600" dirty="0"/>
          </a:p>
          <a:p>
            <a:pPr indent="0" marL="0">
              <a:lnSpc>
                <a:spcPct val="100000"/>
              </a:lnSpc>
              <a:buNone/>
            </a:pPr>
            <a:r>
              <a:rPr lang="en-US" sz="1600" dirty="0">
                <a:solidFill>
                  <a:srgbClr val="1F2933"/>
                </a:solidFill>
              </a:rPr>
              <a:t>及2025-01-01'] 2025年报；各精确定位见source_locators；['第191—</a:t>
            </a:r>
            <a:endParaRPr lang="en-US" sz="1600" dirty="0"/>
          </a:p>
          <a:p>
            <a:pPr indent="0" marL="0">
              <a:lnSpc>
                <a:spcPct val="100000"/>
              </a:lnSpc>
              <a:buNone/>
            </a:pPr>
            <a:r>
              <a:rPr lang="en-US" sz="1600" dirty="0">
                <a:solidFill>
                  <a:srgbClr val="1F2933"/>
                </a:solidFill>
              </a:rPr>
              <a:t>199页，借款、应付/合同/职工/税费/预计负债、权益附注'] 2025年报；各精确定位见</a:t>
            </a:r>
            <a:endParaRPr lang="en-US" sz="1600" dirty="0"/>
          </a:p>
          <a:p>
            <a:pPr indent="0" marL="0">
              <a:lnSpc>
                <a:spcPct val="100000"/>
              </a:lnSpc>
              <a:buNone/>
            </a:pPr>
            <a:r>
              <a:rPr lang="en-US" sz="1600" dirty="0">
                <a:solidFill>
                  <a:srgbClr val="1F2933"/>
                </a:solidFill>
              </a:rPr>
              <a:t>source_locators；['第208—209页，净利润调节为CFO，单位元'] 2025年报；</a:t>
            </a:r>
            <a:endParaRPr lang="en-US" sz="1600" dirty="0"/>
          </a:p>
          <a:p>
            <a:pPr indent="0" marL="0">
              <a:lnSpc>
                <a:spcPct val="100000"/>
              </a:lnSpc>
              <a:buNone/>
            </a:pPr>
            <a:r>
              <a:rPr lang="en-US" sz="1600" dirty="0">
                <a:solidFill>
                  <a:srgbClr val="1F2933"/>
                </a:solidFill>
              </a:rPr>
              <a:t>各精确定位见source_locators；['第210页，供应商融资安排，单位元；已收到款项及付款期</a:t>
            </a:r>
            <a:endParaRPr lang="en-US" sz="1600" dirty="0"/>
          </a:p>
          <a:p>
            <a:pPr indent="0" marL="0">
              <a:lnSpc>
                <a:spcPct val="100000"/>
              </a:lnSpc>
              <a:buNone/>
            </a:pPr>
            <a:r>
              <a:rPr lang="en-US" sz="1600" dirty="0">
                <a:solidFill>
                  <a:srgbClr val="1F2933"/>
                </a:solidFill>
              </a:rPr>
              <a:t>'] 2025年报；各精确定位见source_locators</a:t>
            </a:r>
            <a:endParaRPr lang="en-US" sz="1600" dirty="0"/>
          </a:p>
          <a:p>
            <a:pPr indent="0" marL="0">
              <a:lnSpc>
                <a:spcPct val="100000"/>
              </a:lnSpc>
              <a:buNone/>
            </a:pPr>
            <a:r>
              <a:rPr lang="en-US" sz="1600" dirty="0">
                <a:solidFill>
                  <a:srgbClr val="1F2933"/>
                </a:solidFill>
              </a:rPr>
              <a:t>[ks_r_e_bond_buckets] 2025年报PDF218，未折现剩余合同现金流表；期末余</a:t>
            </a:r>
            <a:endParaRPr lang="en-US" sz="1600" dirty="0"/>
          </a:p>
          <a:p>
            <a:pPr indent="0" marL="0">
              <a:lnSpc>
                <a:spcPct val="100000"/>
              </a:lnSpc>
              <a:buNone/>
            </a:pPr>
            <a:r>
              <a:rPr lang="en-US" sz="1600" dirty="0">
                <a:solidFill>
                  <a:srgbClr val="1F2933"/>
                </a:solidFill>
              </a:rPr>
              <a:t>额，应付债券行，原单位万元；列为一年以内/一至三年/三年以上/合计。</a:t>
            </a:r>
            <a:endParaRPr lang="en-US" sz="1600" dirty="0"/>
          </a:p>
          <a:p>
            <a:pPr indent="0" marL="0">
              <a:lnSpc>
                <a:spcPct val="100000"/>
              </a:lnSpc>
              <a:buNone/>
            </a:pPr>
            <a:r>
              <a:rPr lang="en-US" sz="1600" dirty="0">
                <a:solidFill>
                  <a:srgbClr val="1F2933"/>
                </a:solidFill>
              </a:rPr>
              <a:t>[ks_horizon_e_ar_scope] PDF11页季度指标；135页同控合并政策；209、</a:t>
            </a:r>
            <a:endParaRPr lang="en-US" sz="1600" dirty="0"/>
          </a:p>
          <a:p>
            <a:pPr indent="0" marL="0">
              <a:lnSpc>
                <a:spcPct val="100000"/>
              </a:lnSpc>
              <a:buNone/>
            </a:pPr>
            <a:r>
              <a:rPr lang="en-US" sz="1600" dirty="0">
                <a:solidFill>
                  <a:srgbClr val="1F2933"/>
                </a:solidFill>
              </a:rPr>
              <a:t>211页现金及权益调整；213–216页合并范围；228页期后事项</a:t>
            </a:r>
            <a:endParaRPr lang="en-US" sz="1600" dirty="0"/>
          </a:p>
          <a:p>
            <a:pPr indent="0" marL="0">
              <a:lnSpc>
                <a:spcPct val="100000"/>
              </a:lnSpc>
              <a:buNone/>
            </a:pPr>
            <a:r>
              <a:rPr lang="en-US" sz="1600" dirty="0">
                <a:solidFill>
                  <a:srgbClr val="1F2933"/>
                </a:solidFill>
              </a:rPr>
              <a:t>[ks_horizon_e_decontrol_scope] PDF214–216页处置子公司及其他</a:t>
            </a:r>
            <a:endParaRPr lang="en-US" sz="160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范围变动；209页处置子公司现金影响</a:t>
            </a:r>
            <a:endParaRPr lang="en-US" sz="1600" dirty="0"/>
          </a:p>
          <a:p>
            <a:pPr indent="0" marL="0">
              <a:lnSpc>
                <a:spcPct val="100000"/>
              </a:lnSpc>
              <a:buNone/>
            </a:pPr>
            <a:r>
              <a:rPr lang="en-US" sz="1600" dirty="0">
                <a:solidFill>
                  <a:srgbClr val="1F2933"/>
                </a:solidFill>
              </a:rPr>
              <a:t>[ks_tax_e_balance] PDF/印刷第188—189页，附注23（1）—（4）；2025</a:t>
            </a:r>
            <a:endParaRPr lang="en-US" sz="1600" dirty="0"/>
          </a:p>
          <a:p>
            <a:pPr indent="0" marL="0">
              <a:lnSpc>
                <a:spcPct val="100000"/>
              </a:lnSpc>
              <a:buNone/>
            </a:pPr>
            <a:r>
              <a:rPr lang="en-US" sz="1600" dirty="0">
                <a:solidFill>
                  <a:srgbClr val="1F2933"/>
                </a:solidFill>
              </a:rPr>
              <a:t>-12-31期末/2024-12-31重述期初，元</a:t>
            </a:r>
            <a:endParaRPr lang="en-US" sz="1600" dirty="0"/>
          </a:p>
          <a:p>
            <a:pPr indent="0" marL="0">
              <a:lnSpc>
                <a:spcPct val="100000"/>
              </a:lnSpc>
              <a:buNone/>
            </a:pPr>
            <a:r>
              <a:rPr lang="en-US" sz="1600" dirty="0">
                <a:solidFill>
                  <a:srgbClr val="1F2933"/>
                </a:solidFill>
              </a:rPr>
              <a:t>[ks_tax_e_equity] PDF/印刷第160—161、195—196页；附注36、40—</a:t>
            </a:r>
            <a:endParaRPr lang="en-US" sz="1600" dirty="0"/>
          </a:p>
          <a:p>
            <a:pPr indent="0" marL="0">
              <a:lnSpc>
                <a:spcPct val="100000"/>
              </a:lnSpc>
              <a:buNone/>
            </a:pPr>
            <a:r>
              <a:rPr lang="en-US" sz="1600" dirty="0">
                <a:solidFill>
                  <a:srgbClr val="1F2933"/>
                </a:solidFill>
              </a:rPr>
              <a:t>41，元</a:t>
            </a:r>
            <a:endParaRPr lang="en-US" sz="1600" dirty="0"/>
          </a:p>
          <a:p>
            <a:pPr indent="0" marL="0">
              <a:lnSpc>
                <a:spcPct val="100000"/>
              </a:lnSpc>
              <a:buNone/>
            </a:pPr>
            <a:r>
              <a:rPr lang="en-US" sz="1600" dirty="0">
                <a:solidFill>
                  <a:srgbClr val="1F2933"/>
                </a:solidFill>
              </a:rPr>
              <a:t>[ks_tax_e_pl_cash] PDF/印刷第205—206、208—209页，附注62、</a:t>
            </a:r>
            <a:endParaRPr lang="en-US" sz="1600" dirty="0"/>
          </a:p>
          <a:p>
            <a:pPr indent="0" marL="0">
              <a:lnSpc>
                <a:spcPct val="100000"/>
              </a:lnSpc>
              <a:buNone/>
            </a:pPr>
            <a:r>
              <a:rPr lang="en-US" sz="1600" dirty="0">
                <a:solidFill>
                  <a:srgbClr val="1F2933"/>
                </a:solidFill>
              </a:rPr>
              <a:t>64；2025年度，元</a:t>
            </a:r>
            <a:endParaRPr lang="en-US" sz="1600" dirty="0"/>
          </a:p>
          <a:p>
            <a:pPr indent="0" marL="0">
              <a:lnSpc>
                <a:spcPct val="100000"/>
              </a:lnSpc>
              <a:buNone/>
            </a:pPr>
            <a:r>
              <a:rPr lang="en-US" sz="1600" dirty="0">
                <a:solidFill>
                  <a:srgbClr val="1F2933"/>
                </a:solidFill>
              </a:rPr>
              <a:t>[ks_earn_e_nonrec] PDF第11—12页非经常性损益表（元）；第10、108、244</a:t>
            </a:r>
            <a:endParaRPr lang="en-US" sz="1600" dirty="0"/>
          </a:p>
          <a:p>
            <a:pPr indent="0" marL="0">
              <a:lnSpc>
                <a:spcPct val="100000"/>
              </a:lnSpc>
              <a:buNone/>
            </a:pPr>
            <a:r>
              <a:rPr lang="en-US" sz="1600" dirty="0">
                <a:solidFill>
                  <a:srgbClr val="1F2933"/>
                </a:solidFill>
              </a:rPr>
              <a:t>页归母净利及扣非勾稽</a:t>
            </a:r>
            <a:endParaRPr lang="en-US" sz="1600" dirty="0"/>
          </a:p>
          <a:p>
            <a:pPr indent="0" marL="0">
              <a:lnSpc>
                <a:spcPct val="100000"/>
              </a:lnSpc>
              <a:buNone/>
            </a:pPr>
            <a:r>
              <a:rPr lang="en-US" sz="1600" dirty="0">
                <a:solidFill>
                  <a:srgbClr val="1F2933"/>
                </a:solidFill>
              </a:rPr>
              <a:t>[ks_credit_e_dealer_schedule] PDF/印刷227—228，担保明细跨页</a:t>
            </a:r>
            <a:endParaRPr lang="en-US" sz="1600" dirty="0"/>
          </a:p>
          <a:p>
            <a:pPr indent="0" marL="0">
              <a:lnSpc>
                <a:spcPct val="100000"/>
              </a:lnSpc>
              <a:buNone/>
            </a:pPr>
            <a:r>
              <a:rPr lang="en-US" sz="1600" dirty="0">
                <a:solidFill>
                  <a:srgbClr val="1F2933"/>
                </a:solidFill>
              </a:rPr>
              <a:t>表；2025-12-31，元</a:t>
            </a:r>
            <a:endParaRPr lang="en-US" sz="1600" dirty="0"/>
          </a:p>
          <a:p>
            <a:pPr indent="0" marL="0">
              <a:lnSpc>
                <a:spcPct val="100000"/>
              </a:lnSpc>
              <a:buNone/>
            </a:pPr>
            <a:r>
              <a:rPr lang="en-US" sz="1600" dirty="0">
                <a:solidFill>
                  <a:srgbClr val="1F2933"/>
                </a:solidFill>
              </a:rPr>
              <a:t>[ks_econ_e_material] PDF39–41：防水材料收入、成本及五项成本构成，2024</a:t>
            </a:r>
            <a:endParaRPr lang="en-US" sz="1600" dirty="0"/>
          </a:p>
          <a:p>
            <a:pPr indent="0" marL="0">
              <a:lnSpc>
                <a:spcPct val="100000"/>
              </a:lnSpc>
              <a:buNone/>
            </a:pPr>
            <a:r>
              <a:rPr lang="en-US" sz="1600" dirty="0">
                <a:solidFill>
                  <a:srgbClr val="1F2933"/>
                </a:solidFill>
              </a:rPr>
              <a:t>/2025元</a:t>
            </a:r>
            <a:endParaRPr lang="en-US" sz="1600" dirty="0"/>
          </a:p>
          <a:p>
            <a:pPr indent="0" marL="0">
              <a:lnSpc>
                <a:spcPct val="100000"/>
              </a:lnSpc>
              <a:buNone/>
            </a:pPr>
            <a:r>
              <a:rPr lang="en-US" sz="1600" dirty="0">
                <a:solidFill>
                  <a:srgbClr val="1F2933"/>
                </a:solidFill>
              </a:rPr>
              <a:t>[ks_econ_e_cash_tax] PDF193企业所得税应付；203利息及其他收益；205–</a:t>
            </a:r>
            <a:endParaRPr lang="en-US" sz="1600" dirty="0"/>
          </a:p>
          <a:p>
            <a:pPr indent="0" marL="0">
              <a:lnSpc>
                <a:spcPct val="100000"/>
              </a:lnSpc>
              <a:buNone/>
            </a:pPr>
            <a:r>
              <a:rPr lang="en-US" sz="1600" dirty="0">
                <a:solidFill>
                  <a:srgbClr val="1F2933"/>
                </a:solidFill>
              </a:rPr>
              <a:t>206当期/递延所得税与其他经营收现分项</a:t>
            </a:r>
            <a:endParaRPr lang="en-US" sz="1600" dirty="0"/>
          </a:p>
          <a:p>
            <a:pPr indent="0" marL="0">
              <a:lnSpc>
                <a:spcPct val="100000"/>
              </a:lnSpc>
              <a:buNone/>
            </a:pPr>
            <a:r>
              <a:rPr lang="en-US" sz="1600" dirty="0">
                <a:solidFill>
                  <a:srgbClr val="1F2933"/>
                </a:solidFill>
              </a:rPr>
              <a:t>[ks_a_e_bond_metrics] 第95—96页，第七节第八项，近两年主要会计数据和财务</a:t>
            </a:r>
            <a:endParaRPr lang="en-US" sz="160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指标，含跨页续表</a:t>
            </a:r>
            <a:endParaRPr lang="en-US" sz="1600" dirty="0"/>
          </a:p>
          <a:p>
            <a:pPr indent="0" marL="0">
              <a:lnSpc>
                <a:spcPct val="100000"/>
              </a:lnSpc>
              <a:buNone/>
            </a:pPr>
            <a:r>
              <a:rPr lang="en-US" sz="1600" dirty="0">
                <a:solidFill>
                  <a:srgbClr val="1F2933"/>
                </a:solidFill>
              </a:rPr>
              <a:t>[ks_a_e_bond_repayment_claim] 第93—95页，可转债发行、无担保、存续</a:t>
            </a:r>
            <a:endParaRPr lang="en-US" sz="1600" dirty="0"/>
          </a:p>
          <a:p>
            <a:pPr indent="0" marL="0">
              <a:lnSpc>
                <a:spcPct val="100000"/>
              </a:lnSpc>
              <a:buNone/>
            </a:pPr>
            <a:r>
              <a:rPr lang="en-US" sz="1600" dirty="0">
                <a:solidFill>
                  <a:srgbClr val="1F2933"/>
                </a:solidFill>
              </a:rPr>
              <a:t>变动；第95页四、6（3）及五至七项</a:t>
            </a:r>
            <a:endParaRPr lang="en-US" sz="1600" dirty="0"/>
          </a:p>
          <a:p>
            <a:pPr indent="0" marL="0">
              <a:lnSpc>
                <a:spcPct val="100000"/>
              </a:lnSpc>
              <a:buNone/>
            </a:pPr>
            <a:r>
              <a:rPr lang="en-US" sz="1600" dirty="0">
                <a:solidFill>
                  <a:srgbClr val="1F2933"/>
                </a:solidFill>
              </a:rPr>
              <a:t>[ks_a_e_external_rating_2025] 第95页四、6（2），本年度可转债资信评级</a:t>
            </a:r>
            <a:endParaRPr lang="en-US" sz="1600" dirty="0"/>
          </a:p>
          <a:p>
            <a:pPr indent="0" marL="0">
              <a:lnSpc>
                <a:spcPct val="100000"/>
              </a:lnSpc>
              <a:buNone/>
            </a:pPr>
            <a:r>
              <a:rPr lang="en-US" sz="1600" dirty="0">
                <a:solidFill>
                  <a:srgbClr val="1F2933"/>
                </a:solidFill>
              </a:rPr>
              <a:t>[ks_a_e_project_reported_benefits] 第83页募集资金承诺投资项目表，</a:t>
            </a:r>
            <a:endParaRPr lang="en-US" sz="1600" dirty="0"/>
          </a:p>
          <a:p>
            <a:pPr indent="0" marL="0">
              <a:lnSpc>
                <a:spcPct val="100000"/>
              </a:lnSpc>
              <a:buNone/>
            </a:pPr>
            <a:r>
              <a:rPr lang="en-US" sz="1600" dirty="0">
                <a:solidFill>
                  <a:srgbClr val="1F2933"/>
                </a:solidFill>
              </a:rPr>
              <a:t>四项建设/升级项目及补流行；表格图像核对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[ks_a_s_24] 科顺防水科技股份有限公司2024年年度报告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1223275058.PDF</a:t>
            </a:r>
            <a:endParaRPr lang="en-US" sz="1600" dirty="0"/>
          </a:p>
          <a:p>
            <a:pPr indent="0" marL="0">
              <a:lnSpc>
                <a:spcPct val="100000"/>
              </a:lnSpc>
              <a:buNone/>
            </a:pPr>
            <a:r>
              <a:rPr lang="en-US" sz="1600" dirty="0">
                <a:solidFill>
                  <a:srgbClr val="1F2933"/>
                </a:solidFill>
              </a:rPr>
              <a:t>[ks_a_e_old] 2024年报第116—124、126—134、191—195、203、208</a:t>
            </a:r>
            <a:endParaRPr lang="en-US" sz="1600" dirty="0"/>
          </a:p>
          <a:p>
            <a:pPr indent="0" marL="0">
              <a:lnSpc>
                <a:spcPct val="100000"/>
              </a:lnSpc>
              <a:buNone/>
            </a:pPr>
            <a:r>
              <a:rPr lang="en-US" sz="1600" dirty="0">
                <a:solidFill>
                  <a:srgbClr val="1F2933"/>
                </a:solidFill>
              </a:rPr>
              <a:t>—210页（单位元，2024/2023列）</a:t>
            </a:r>
            <a:endParaRPr lang="en-US" sz="1600" dirty="0"/>
          </a:p>
          <a:p>
            <a:pPr indent="0" marL="0">
              <a:lnSpc>
                <a:spcPct val="100000"/>
              </a:lnSpc>
              <a:buNone/>
            </a:pPr>
            <a:r>
              <a:rPr lang="en-US" sz="1600" dirty="0">
                <a:solidFill>
                  <a:srgbClr val="1F2933"/>
                </a:solidFill>
              </a:rPr>
              <a:t>[ks_a_e_cash2024bridge] 2024年报第116、191、209—210页；</a:t>
            </a:r>
            <a:endParaRPr lang="en-US" sz="1600" dirty="0"/>
          </a:p>
          <a:p>
            <a:pPr indent="0" marL="0">
              <a:lnSpc>
                <a:spcPct val="100000"/>
              </a:lnSpc>
              <a:buNone/>
            </a:pPr>
            <a:r>
              <a:rPr lang="en-US" sz="1600" dirty="0">
                <a:solidFill>
                  <a:srgbClr val="1F2933"/>
                </a:solidFill>
              </a:rPr>
              <a:t>2025年报第209—210及214页</a:t>
            </a:r>
            <a:endParaRPr lang="en-US" sz="160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[ks_a_s_23] 科顺防水科技股份有限公司2023年年度报告</a:t>
            </a:r>
            <a:endParaRPr lang="en-US" sz="1600" dirty="0"/>
          </a:p>
          <a:p>
            <a:pPr indent="0" marL="0">
              <a:lnSpc>
                <a:spcPct val="100000"/>
              </a:lnSpc>
              <a:buNone/>
            </a:pPr>
            <a:r>
              <a:rPr lang="en-US" sz="1600" dirty="0">
                <a:solidFill>
                  <a:srgbClr val="1F2933"/>
                </a:solidFill>
              </a:rPr>
              <a:t>https://static.cninfo.com.cn/finalpage/2024-04-30/</a:t>
            </a:r>
            <a:endParaRPr lang="en-US" sz="1600" dirty="0"/>
          </a:p>
          <a:p>
            <a:pPr indent="0" marL="0">
              <a:lnSpc>
                <a:spcPct val="100000"/>
              </a:lnSpc>
              <a:buNone/>
            </a:pPr>
            <a:r>
              <a:rPr lang="en-US" sz="1600" dirty="0">
                <a:solidFill>
                  <a:srgbClr val="1F2933"/>
                </a:solidFill>
              </a:rPr>
              <a:t>1219911976.PDF</a:t>
            </a:r>
            <a:endParaRPr lang="en-US" sz="1600" dirty="0"/>
          </a:p>
          <a:p>
            <a:pPr indent="0" marL="0">
              <a:lnSpc>
                <a:spcPct val="100000"/>
              </a:lnSpc>
              <a:buNone/>
            </a:pPr>
            <a:r>
              <a:rPr lang="en-US" sz="1600" dirty="0">
                <a:solidFill>
                  <a:srgbClr val="1F2933"/>
                </a:solidFill>
              </a:rPr>
              <a:t>[ks_a_e_old_ip_dep] 2023年报PDF/印刷172页附注15完整投资性房地产表；</a:t>
            </a:r>
            <a:endParaRPr lang="en-US" sz="1600" dirty="0"/>
          </a:p>
          <a:p>
            <a:pPr indent="0" marL="0">
              <a:lnSpc>
                <a:spcPct val="100000"/>
              </a:lnSpc>
              <a:buNone/>
            </a:pPr>
            <a:r>
              <a:rPr lang="en-US" sz="1600" dirty="0">
                <a:solidFill>
                  <a:srgbClr val="1F2933"/>
                </a:solidFill>
              </a:rPr>
              <a:t>199页附注66现金流补充表，单位元</a:t>
            </a:r>
            <a:endParaRPr lang="en-US" sz="160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[ks_a_s_q1] 科顺防水科技股份有限公司2026年第一季度报告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1225172706.PDF</a:t>
            </a:r>
            <a:endParaRPr lang="en-US" sz="1600" dirty="0"/>
          </a:p>
          <a:p>
            <a:pPr indent="0" marL="0">
              <a:lnSpc>
                <a:spcPct val="100000"/>
              </a:lnSpc>
              <a:buNone/>
            </a:pPr>
            <a:r>
              <a:rPr lang="en-US" sz="1600" dirty="0">
                <a:solidFill>
                  <a:srgbClr val="1F2933"/>
                </a:solidFill>
              </a:rPr>
              <a:t>[ks_a_e_q1] 2026Q1第1—12页，主要财务数据与三张报表</a:t>
            </a:r>
            <a:endParaRPr lang="en-US" sz="1600" dirty="0"/>
          </a:p>
          <a:p>
            <a:pPr indent="0" marL="0">
              <a:lnSpc>
                <a:spcPct val="100000"/>
              </a:lnSpc>
              <a:buNone/>
            </a:pPr>
            <a:r>
              <a:rPr lang="en-US" sz="1600" dirty="0">
                <a:solidFill>
                  <a:srgbClr val="1F2933"/>
                </a:solidFill>
              </a:rPr>
              <a:t>[ks_b_e_q1] PDF1–5</a:t>
            </a:r>
            <a:endParaRPr lang="en-US" sz="1600" dirty="0"/>
          </a:p>
          <a:p>
            <a:pPr indent="0" marL="0">
              <a:lnSpc>
                <a:spcPct val="100000"/>
              </a:lnSpc>
              <a:buNone/>
            </a:pPr>
            <a:r>
              <a:rPr lang="en-US" sz="1600" dirty="0">
                <a:solidFill>
                  <a:srgbClr val="1F2933"/>
                </a:solidFill>
              </a:rPr>
              <a:t>[ks_d_l_e_cash_actual] PDF p5、7、10–12</a:t>
            </a:r>
            <a:endParaRPr lang="en-US" sz="1600" dirty="0"/>
          </a:p>
          <a:p>
            <a:pPr indent="0" marL="0">
              <a:lnSpc>
                <a:spcPct val="100000"/>
              </a:lnSpc>
              <a:buNone/>
            </a:pPr>
            <a:r>
              <a:rPr lang="en-US" sz="1600" dirty="0">
                <a:solidFill>
                  <a:srgbClr val="1F2933"/>
                </a:solidFill>
              </a:rPr>
              <a:t>[ks_d_l_f_q1_2026_customerscash_e]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[ks_d_l_f_q1_2025_taxcash_e]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[ks_d_l_f_q1_2026_otheropcashin_e]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[ks_d_l_f_q1_2025_divinterestcash_e]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[ks_d_l_f_q1_2026_otherfinout_e]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[ks_d_l_f_q1_2025_otherfinout_e]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[ks_d_l_f_q1_2025_capex_e] PDF p11，合并现金流量表</a:t>
            </a:r>
            <a:endParaRPr lang="en-US" sz="1600" dirty="0"/>
          </a:p>
          <a:p>
            <a:pPr indent="0" marL="0">
              <a:lnSpc>
                <a:spcPct val="100000"/>
              </a:lnSpc>
              <a:buNone/>
            </a:pPr>
            <a:r>
              <a:rPr lang="en-US" sz="1600" dirty="0">
                <a:solidFill>
                  <a:srgbClr val="1F2933"/>
                </a:solidFill>
              </a:rPr>
              <a:t>[ks_d_l_f_q1_ap_e] PDF p7，合并资产负债表</a:t>
            </a:r>
            <a:endParaRPr lang="en-US" sz="1600" dirty="0"/>
          </a:p>
          <a:p>
            <a:pPr indent="0" marL="0">
              <a:lnSpc>
                <a:spcPct val="100000"/>
              </a:lnSpc>
              <a:buNone/>
            </a:pPr>
            <a:r>
              <a:rPr lang="en-US" sz="1600" dirty="0">
                <a:solidFill>
                  <a:srgbClr val="1F2933"/>
                </a:solidFill>
              </a:rPr>
              <a:t>[ks_d_l_f_q1_trading_e] PDF p5，合并资产负债表</a:t>
            </a:r>
            <a:endParaRPr lang="en-US" sz="1600" dirty="0"/>
          </a:p>
          <a:p>
            <a:pPr indent="0" marL="0">
              <a:lnSpc>
                <a:spcPct val="100000"/>
              </a:lnSpc>
              <a:buNone/>
            </a:pPr>
            <a:r>
              <a:rPr lang="en-US" sz="1600" dirty="0">
                <a:solidFill>
                  <a:srgbClr val="1F2933"/>
                </a:solidFill>
              </a:rPr>
              <a:t>[ks_horizon_e_q126_comparatives] PDF2页无需追溯说明；10–12页</a:t>
            </a:r>
            <a:endParaRPr lang="en-US" sz="1600" dirty="0"/>
          </a:p>
          <a:p>
            <a:pPr indent="0" marL="0">
              <a:lnSpc>
                <a:spcPct val="100000"/>
              </a:lnSpc>
              <a:buNone/>
            </a:pPr>
            <a:r>
              <a:rPr lang="en-US" sz="1600" dirty="0">
                <a:solidFill>
                  <a:srgbClr val="1F2933"/>
                </a:solidFill>
              </a:rPr>
              <a:t>合并现金流量表上期列</a:t>
            </a:r>
            <a:endParaRPr lang="en-US" sz="1600" dirty="0"/>
          </a:p>
          <a:p>
            <a:pPr indent="0" marL="0">
              <a:lnSpc>
                <a:spcPct val="100000"/>
              </a:lnSpc>
              <a:buNone/>
            </a:pPr>
            <a:r>
              <a:rPr lang="en-US" sz="1600" dirty="0">
                <a:solidFill>
                  <a:srgbClr val="1F2933"/>
                </a:solidFill>
              </a:rPr>
              <a:t>[ks_econ_e_q1] PDF5–11：2026Q1合并资产负债表及利润表；PDF3说明原料冬储</a:t>
            </a:r>
            <a:endParaRPr lang="en-US" sz="1600" dirty="0"/>
          </a:p>
          <a:p>
            <a:pPr indent="0" marL="0">
              <a:lnSpc>
                <a:spcPct val="100000"/>
              </a:lnSpc>
              <a:buNone/>
            </a:pPr>
            <a:r>
              <a:rPr lang="en-US" sz="1600" dirty="0">
                <a:solidFill>
                  <a:srgbClr val="1F2933"/>
                </a:solidFill>
              </a:rPr>
              <a:t>锁价及增加长期贷款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[ks_a_s_control_audit] 科顺防水科技股份有限公司2025年度内部控制审计报告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1225172719.PDF</a:t>
            </a:r>
            <a:endParaRPr lang="en-US" sz="1600" dirty="0"/>
          </a:p>
          <a:p>
            <a:pPr indent="0" marL="0">
              <a:lnSpc>
                <a:spcPct val="100000"/>
              </a:lnSpc>
              <a:buNone/>
            </a:pPr>
            <a:r>
              <a:rPr lang="en-US" sz="1600" dirty="0">
                <a:solidFill>
                  <a:srgbClr val="1F2933"/>
                </a:solidFill>
              </a:rPr>
              <a:t>[ks_a_e_control] 内控审计PDF第3—4页；致同审字(2026)第332A016048</a:t>
            </a:r>
            <a:endParaRPr lang="en-US" sz="1600" dirty="0"/>
          </a:p>
          <a:p>
            <a:pPr indent="0" marL="0">
              <a:lnSpc>
                <a:spcPct val="100000"/>
              </a:lnSpc>
              <a:buNone/>
            </a:pPr>
            <a:r>
              <a:rPr lang="en-US" sz="1600" dirty="0">
                <a:solidFill>
                  <a:srgbClr val="1F2933"/>
                </a:solidFill>
              </a:rPr>
              <a:t>号</a:t>
            </a:r>
            <a:endParaRPr lang="en-US" sz="160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[ks_a_s_control_self] 科顺防水科技股份有限公司2025年度内部控制自我评价报告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1225172718.PDF</a:t>
            </a:r>
            <a:endParaRPr lang="en-US" sz="1600" dirty="0"/>
          </a:p>
          <a:p>
            <a:pPr indent="0" marL="0">
              <a:lnSpc>
                <a:spcPct val="100000"/>
              </a:lnSpc>
              <a:buNone/>
            </a:pPr>
            <a:r>
              <a:rPr lang="en-US" sz="1600" dirty="0">
                <a:solidFill>
                  <a:srgbClr val="1F2933"/>
                </a:solidFill>
              </a:rPr>
              <a:t>[ks_a_e_self] 自评第1—2、9—11页，评价范围及缺陷标准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[ks_a_s_policy] 科顺防水科技股份有限公司关于会计政策变更的公告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1225172716.PDF</a:t>
            </a:r>
            <a:endParaRPr lang="en-US" sz="1600" dirty="0"/>
          </a:p>
          <a:p>
            <a:pPr indent="0" marL="0">
              <a:lnSpc>
                <a:spcPct val="100000"/>
              </a:lnSpc>
              <a:buNone/>
            </a:pPr>
            <a:r>
              <a:rPr lang="en-US" sz="1600" dirty="0">
                <a:solidFill>
                  <a:srgbClr val="1F2933"/>
                </a:solidFill>
              </a:rPr>
              <a:t>[ks_a_e_policy26] 2026政策变更公告第1—2页</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[ks_a_s_proceeds] 科顺防水科技股份有限公司募集资金2025年度存放、管理与使用情况鉴</a:t>
            </a:r>
            <a:endParaRPr lang="en-US" sz="1600" dirty="0"/>
          </a:p>
          <a:p>
            <a:pPr indent="0" marL="0">
              <a:lnSpc>
                <a:spcPct val="100000"/>
              </a:lnSpc>
              <a:buNone/>
            </a:pPr>
            <a:r>
              <a:rPr lang="en-US" sz="1600" dirty="0">
                <a:solidFill>
                  <a:srgbClr val="1F2933"/>
                </a:solidFill>
              </a:rPr>
              <a:t>证报告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1225172703.PDF</a:t>
            </a:r>
            <a:endParaRPr lang="en-US" sz="1600" dirty="0"/>
          </a:p>
          <a:p>
            <a:pPr indent="0" marL="0">
              <a:lnSpc>
                <a:spcPct val="100000"/>
              </a:lnSpc>
              <a:buNone/>
            </a:pPr>
            <a:r>
              <a:rPr lang="en-US" sz="1600" dirty="0">
                <a:solidFill>
                  <a:srgbClr val="1F2933"/>
                </a:solidFill>
              </a:rPr>
              <a:t>[ks_a_e_proceeds2] 募集资金鉴证第3—10页，尤其第7—10页及扫描第10页</a:t>
            </a:r>
            <a:endParaRPr lang="en-US" sz="160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[ks_a_s_return26] 关于归还暂时用于补充流动资金的闲置募集资金的公告（2026</a:t>
            </a:r>
            <a:endParaRPr lang="en-US" sz="1600" dirty="0"/>
          </a:p>
          <a:p>
            <a:pPr indent="0" marL="0">
              <a:lnSpc>
                <a:spcPct val="100000"/>
              </a:lnSpc>
              <a:buNone/>
            </a:pPr>
            <a:r>
              <a:rPr lang="en-US" sz="1600" dirty="0">
                <a:solidFill>
                  <a:srgbClr val="1F2933"/>
                </a:solidFill>
              </a:rPr>
              <a:t>-002）</a:t>
            </a:r>
            <a:endParaRPr lang="en-US" sz="1600" dirty="0"/>
          </a:p>
          <a:p>
            <a:pPr indent="0" marL="0">
              <a:lnSpc>
                <a:spcPct val="100000"/>
              </a:lnSpc>
              <a:buNone/>
            </a:pPr>
            <a:r>
              <a:rPr lang="en-US" sz="1600" dirty="0">
                <a:solidFill>
                  <a:srgbClr val="1F2933"/>
                </a:solidFill>
              </a:rPr>
              <a:t>https://static.cninfo.com.cn/finalpage/2026-01-06/</a:t>
            </a:r>
            <a:endParaRPr lang="en-US" sz="1600" dirty="0"/>
          </a:p>
          <a:p>
            <a:pPr indent="0" marL="0">
              <a:lnSpc>
                <a:spcPct val="100000"/>
              </a:lnSpc>
              <a:buNone/>
            </a:pPr>
            <a:r>
              <a:rPr lang="en-US" sz="1600" dirty="0">
                <a:solidFill>
                  <a:srgbClr val="1F2933"/>
                </a:solidFill>
              </a:rPr>
              <a:t>1224921562.PDF</a:t>
            </a:r>
            <a:endParaRPr lang="en-US" sz="1600" dirty="0"/>
          </a:p>
          <a:p>
            <a:pPr indent="0" marL="0">
              <a:lnSpc>
                <a:spcPct val="100000"/>
              </a:lnSpc>
              <a:buNone/>
            </a:pPr>
            <a:r>
              <a:rPr lang="en-US" sz="1600" dirty="0">
                <a:solidFill>
                  <a:srgbClr val="1F2933"/>
                </a:solidFill>
              </a:rPr>
              <a:t>[ks_a_e_return26] 归还公告PDF第1—2页，公告2026-002</a:t>
            </a:r>
            <a:endParaRPr lang="en-US" sz="1600" dirty="0"/>
          </a:p>
          <a:p>
            <a:pPr indent="0" marL="0">
              <a:lnSpc>
                <a:spcPct val="100000"/>
              </a:lnSpc>
              <a:buNone/>
            </a:pPr>
            <a:r>
              <a:rPr lang="en-US" sz="1600" dirty="0">
                <a:solidFill>
                  <a:srgbClr val="1F2933"/>
                </a:solidFill>
              </a:rPr>
              <a:t>[ks_b_e_fund_return] PDF1–2</a:t>
            </a:r>
            <a:endParaRPr lang="en-US" sz="1600" dirty="0"/>
          </a:p>
          <a:p>
            <a:pPr indent="0" marL="0">
              <a:lnSpc>
                <a:spcPct val="100000"/>
              </a:lnSpc>
              <a:buNone/>
            </a:pPr>
            <a:r>
              <a:rPr lang="en-US" sz="1600" dirty="0">
                <a:solidFill>
                  <a:srgbClr val="1F2933"/>
                </a:solidFill>
              </a:rPr>
              <a:t>[ks_d_e_fund_return] PDF p1–2，旧一期临时补流归还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[ks_a_s_renew26] 关于使用部分闲置募集资金暂时补充流动资金的公告（2026-006）</a:t>
            </a:r>
            <a:endParaRPr lang="en-US" sz="1600" dirty="0"/>
          </a:p>
          <a:p>
            <a:pPr indent="0" marL="0">
              <a:lnSpc>
                <a:spcPct val="100000"/>
              </a:lnSpc>
              <a:buNone/>
            </a:pPr>
            <a:r>
              <a:rPr lang="en-US" sz="1600" dirty="0">
                <a:solidFill>
                  <a:srgbClr val="1F2933"/>
                </a:solidFill>
              </a:rPr>
              <a:t>https://static.cninfo.com.cn/finalpage/2026-01-09/</a:t>
            </a:r>
            <a:endParaRPr lang="en-US" sz="1600" dirty="0"/>
          </a:p>
          <a:p>
            <a:pPr indent="0" marL="0">
              <a:lnSpc>
                <a:spcPct val="100000"/>
              </a:lnSpc>
              <a:buNone/>
            </a:pPr>
            <a:r>
              <a:rPr lang="en-US" sz="1600" dirty="0">
                <a:solidFill>
                  <a:srgbClr val="1F2933"/>
                </a:solidFill>
              </a:rPr>
              <a:t>1224927241.PDF</a:t>
            </a:r>
            <a:endParaRPr lang="en-US" sz="1600" dirty="0"/>
          </a:p>
          <a:p>
            <a:pPr indent="0" marL="0">
              <a:lnSpc>
                <a:spcPct val="100000"/>
              </a:lnSpc>
              <a:buNone/>
            </a:pPr>
            <a:r>
              <a:rPr lang="en-US" sz="1600" dirty="0">
                <a:solidFill>
                  <a:srgbClr val="1F2933"/>
                </a:solidFill>
              </a:rPr>
              <a:t>[ks_a_e_renew26] 重新补流公告PDF第1—6页，公告2026-006</a:t>
            </a:r>
            <a:endParaRPr lang="en-US" sz="1600" dirty="0"/>
          </a:p>
          <a:p>
            <a:pPr indent="0" marL="0">
              <a:lnSpc>
                <a:spcPct val="100000"/>
              </a:lnSpc>
              <a:buNone/>
            </a:pPr>
            <a:r>
              <a:rPr lang="en-US" sz="1600" dirty="0">
                <a:solidFill>
                  <a:srgbClr val="1F2933"/>
                </a:solidFill>
              </a:rPr>
              <a:t>[ks_b_e_fund_renew] PDF1、3–5</a:t>
            </a:r>
            <a:endParaRPr lang="en-US" sz="1600" dirty="0"/>
          </a:p>
          <a:p>
            <a:pPr indent="0" marL="0">
              <a:lnSpc>
                <a:spcPct val="100000"/>
              </a:lnSpc>
              <a:buNone/>
            </a:pPr>
            <a:r>
              <a:rPr lang="en-US" sz="1600" dirty="0">
                <a:solidFill>
                  <a:srgbClr val="1F2933"/>
                </a:solidFill>
              </a:rPr>
              <a:t>[ks_d_e_fund_new] PDF p1、3–5，新一期临时补流批准及归还义务</a:t>
            </a:r>
            <a:endParaRPr lang="en-US" sz="1600" dirty="0"/>
          </a:p>
          <a:p>
            <a:pPr indent="0" marL="0">
              <a:lnSpc>
                <a:spcPct val="100000"/>
              </a:lnSpc>
              <a:buNone/>
            </a:pPr>
            <a:r>
              <a:rPr lang="en-US" sz="1600" dirty="0">
                <a:solidFill>
                  <a:srgbClr val="1F2933"/>
                </a:solidFill>
              </a:rPr>
              <a:t>[ks_d_l_e_fund_use] PDF p1、3–5；与F3 p2、4、6–8对照</a:t>
            </a:r>
            <a:endParaRPr lang="en-US" sz="160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[ks_b_s04] 东方雨虹2025年年度报告</a:t>
            </a:r>
            <a:endParaRPr lang="en-US" sz="1600" dirty="0"/>
          </a:p>
          <a:p>
            <a:pPr indent="0" marL="0">
              <a:lnSpc>
                <a:spcPct val="100000"/>
              </a:lnSpc>
              <a:buNone/>
            </a:pPr>
            <a:r>
              <a:rPr lang="en-US" sz="1600" dirty="0">
                <a:solidFill>
                  <a:srgbClr val="1F2933"/>
                </a:solidFill>
              </a:rPr>
              <a:t>https://static.cninfo.com.cn/finalpage/2026-04-17/</a:t>
            </a:r>
            <a:endParaRPr lang="en-US" sz="1600" dirty="0"/>
          </a:p>
          <a:p>
            <a:pPr indent="0" marL="0">
              <a:lnSpc>
                <a:spcPct val="100000"/>
              </a:lnSpc>
              <a:buNone/>
            </a:pPr>
            <a:r>
              <a:rPr lang="en-US" sz="1600" dirty="0">
                <a:solidFill>
                  <a:srgbClr val="1F2933"/>
                </a:solidFill>
              </a:rPr>
              <a:t>1225114217.PDF</a:t>
            </a:r>
            <a:endParaRPr lang="en-US" sz="1600" dirty="0"/>
          </a:p>
          <a:p>
            <a:pPr indent="0" marL="0">
              <a:lnSpc>
                <a:spcPct val="100000"/>
              </a:lnSpc>
              <a:buNone/>
            </a:pPr>
            <a:r>
              <a:rPr lang="en-US" sz="1600" dirty="0">
                <a:solidFill>
                  <a:srgbClr val="1F2933"/>
                </a:solidFill>
              </a:rPr>
              <a:t>[ks_b_e_yuhong] PDF10–12、27–31；图像核对29</a:t>
            </a:r>
            <a:endParaRPr lang="en-US" sz="1600" dirty="0"/>
          </a:p>
          <a:p>
            <a:pPr indent="0" marL="0">
              <a:lnSpc>
                <a:spcPct val="100000"/>
              </a:lnSpc>
              <a:buNone/>
            </a:pPr>
            <a:r>
              <a:rPr lang="en-US" sz="1600" dirty="0">
                <a:solidFill>
                  <a:srgbClr val="1F2933"/>
                </a:solidFill>
              </a:rPr>
              <a:t>[ks_r_peer_yuhong] [142] 合并资产负债表；列：期末余额/期初余额（2025</a:t>
            </a:r>
            <a:endParaRPr lang="en-US" sz="1600" dirty="0"/>
          </a:p>
          <a:p>
            <a:pPr indent="0" marL="0">
              <a:lnSpc>
                <a:spcPct val="100000"/>
              </a:lnSpc>
              <a:buNone/>
            </a:pPr>
            <a:r>
              <a:rPr lang="en-US" sz="1600" dirty="0">
                <a:solidFill>
                  <a:srgbClr val="1F2933"/>
                </a:solidFill>
              </a:rPr>
              <a:t>-12-31/2024-12-31）；[143] 合并资产负债表；列：期末余额/期初余额（2025</a:t>
            </a:r>
            <a:endParaRPr lang="en-US" sz="1600" dirty="0"/>
          </a:p>
          <a:p>
            <a:pPr indent="0" marL="0">
              <a:lnSpc>
                <a:spcPct val="100000"/>
              </a:lnSpc>
              <a:buNone/>
            </a:pPr>
            <a:r>
              <a:rPr lang="en-US" sz="1600" dirty="0">
                <a:solidFill>
                  <a:srgbClr val="1F2933"/>
                </a:solidFill>
              </a:rPr>
              <a:t>-12-31/2024-12-31）；[144] 合并资产负债表；列：期末余额/期初余额（2025</a:t>
            </a:r>
            <a:endParaRPr lang="en-US" sz="1600" dirty="0"/>
          </a:p>
          <a:p>
            <a:pPr indent="0" marL="0">
              <a:lnSpc>
                <a:spcPct val="100000"/>
              </a:lnSpc>
              <a:buNone/>
            </a:pPr>
            <a:r>
              <a:rPr lang="en-US" sz="1600" dirty="0">
                <a:solidFill>
                  <a:srgbClr val="1F2933"/>
                </a:solidFill>
              </a:rPr>
              <a:t>-12-31/2024-12-31）；[146, 147] 合并利润表；列：2025年度/2024</a:t>
            </a:r>
            <a:endParaRPr lang="en-US" sz="1600" dirty="0"/>
          </a:p>
          <a:p>
            <a:pPr indent="0" marL="0">
              <a:lnSpc>
                <a:spcPct val="100000"/>
              </a:lnSpc>
              <a:buNone/>
            </a:pPr>
            <a:r>
              <a:rPr lang="en-US" sz="1600" dirty="0">
                <a:solidFill>
                  <a:srgbClr val="1F2933"/>
                </a:solidFill>
              </a:rPr>
              <a:t>年度；[147] 合并利润表；列：2025年度/2024年度；[148] 合并利润表；列：2025年度</a:t>
            </a:r>
            <a:endParaRPr lang="en-US" sz="1600" dirty="0"/>
          </a:p>
          <a:p>
            <a:pPr indent="0" marL="0">
              <a:lnSpc>
                <a:spcPct val="100000"/>
              </a:lnSpc>
              <a:buNone/>
            </a:pPr>
            <a:r>
              <a:rPr lang="en-US" sz="1600" dirty="0">
                <a:solidFill>
                  <a:srgbClr val="1F2933"/>
                </a:solidFill>
              </a:rPr>
              <a:t>/2024年度；[150] 合并现金流量表；列：2025年度/2024年度；[151] 合并现金</a:t>
            </a:r>
            <a:endParaRPr lang="en-US" sz="1600" dirty="0"/>
          </a:p>
          <a:p>
            <a:pPr indent="0" marL="0">
              <a:lnSpc>
                <a:spcPct val="100000"/>
              </a:lnSpc>
              <a:buNone/>
            </a:pPr>
            <a:r>
              <a:rPr lang="en-US" sz="1600" dirty="0">
                <a:solidFill>
                  <a:srgbClr val="1F2933"/>
                </a:solidFill>
              </a:rPr>
              <a:t>流量表；列：2025年度/2024年度；[151, 250] 合并现金流量表；列：2025年度/</a:t>
            </a:r>
            <a:endParaRPr lang="en-US" sz="1600" dirty="0"/>
          </a:p>
          <a:p>
            <a:pPr indent="0" marL="0">
              <a:lnSpc>
                <a:spcPct val="100000"/>
              </a:lnSpc>
              <a:buNone/>
            </a:pPr>
            <a:r>
              <a:rPr lang="en-US" sz="1600" dirty="0">
                <a:solidFill>
                  <a:srgbClr val="1F2933"/>
                </a:solidFill>
              </a:rPr>
              <a:t>2024年度；[199, 231] 货币资金注释/所有权或使用权受到限制资产；列期末/期初；[234]</a:t>
            </a:r>
            <a:endParaRPr lang="en-US" sz="1600" dirty="0"/>
          </a:p>
          <a:p>
            <a:pPr indent="0" marL="0">
              <a:lnSpc>
                <a:spcPct val="100000"/>
              </a:lnSpc>
              <a:buNone/>
            </a:pPr>
            <a:r>
              <a:rPr lang="en-US" sz="1600" dirty="0">
                <a:solidFill>
                  <a:srgbClr val="1F2933"/>
                </a:solidFill>
              </a:rPr>
              <a:t> 32 一年内到期的非流动负债；期末/期初；[234, 247] 32 一年内到期的非流动负债/融资</a:t>
            </a:r>
            <a:endParaRPr lang="en-US" sz="1600" dirty="0"/>
          </a:p>
          <a:p>
            <a:pPr indent="0" marL="0">
              <a:lnSpc>
                <a:spcPct val="100000"/>
              </a:lnSpc>
              <a:buNone/>
            </a:pPr>
            <a:r>
              <a:rPr lang="en-US" sz="1600" dirty="0">
                <a:solidFill>
                  <a:srgbClr val="1F2933"/>
                </a:solidFill>
              </a:rPr>
              <a:t>负债变动表；[236] 36 长期应付款：按款项性质列示；[247] 筹资活动产生各项负债变动：其他应</a:t>
            </a:r>
            <a:endParaRPr lang="en-US" sz="1600" dirty="0"/>
          </a:p>
          <a:p>
            <a:pPr indent="0" marL="0">
              <a:lnSpc>
                <a:spcPct val="100000"/>
              </a:lnSpc>
              <a:buNone/>
            </a:pPr>
            <a:r>
              <a:rPr lang="en-US" sz="1600" dirty="0">
                <a:solidFill>
                  <a:srgbClr val="1F2933"/>
                </a:solidFill>
              </a:rPr>
              <a:t>付款行；期末/期初；[242] 50 财务费用；本期/上期；[248] 62 现金流量表补充资料；本期</a:t>
            </a:r>
            <a:endParaRPr lang="en-US" sz="1600" dirty="0"/>
          </a:p>
          <a:p>
            <a:pPr indent="0" marL="0">
              <a:lnSpc>
                <a:spcPct val="100000"/>
              </a:lnSpc>
              <a:buNone/>
            </a:pPr>
            <a:r>
              <a:rPr lang="en-US" sz="1600" dirty="0">
                <a:solidFill>
                  <a:srgbClr val="1F2933"/>
                </a:solidFill>
              </a:rPr>
              <a:t>/上期；[219] 16 固定资产累计折旧：计提；2025本期；[217] 15 投资性房地产累计</a:t>
            </a:r>
            <a:endParaRPr lang="en-US" sz="160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折旧：计提或摊销；2025本期；[238] 44 未分配利润；本期/上期；[237] 41 库存股，</a:t>
            </a:r>
            <a:endParaRPr lang="en-US" sz="1600" dirty="0"/>
          </a:p>
          <a:p>
            <a:pPr indent="0" marL="0">
              <a:lnSpc>
                <a:spcPct val="100000"/>
              </a:lnSpc>
              <a:buNone/>
            </a:pPr>
            <a:r>
              <a:rPr lang="en-US" sz="1600" dirty="0">
                <a:solidFill>
                  <a:srgbClr val="1F2933"/>
                </a:solidFill>
              </a:rPr>
              <a:t>本期增加</a:t>
            </a:r>
            <a:endParaRPr lang="en-US" sz="160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[ks_b_s05] 北新建材2025年年度报告</a:t>
            </a:r>
            <a:endParaRPr lang="en-US" sz="1600" dirty="0"/>
          </a:p>
          <a:p>
            <a:pPr indent="0" marL="0">
              <a:lnSpc>
                <a:spcPct val="100000"/>
              </a:lnSpc>
              <a:buNone/>
            </a:pPr>
            <a:r>
              <a:rPr lang="en-US" sz="1600" dirty="0">
                <a:solidFill>
                  <a:srgbClr val="1F2933"/>
                </a:solidFill>
              </a:rPr>
              <a:t>https://static.cninfo.com.cn/finalpage/2026-03-26/</a:t>
            </a:r>
            <a:endParaRPr lang="en-US" sz="1600" dirty="0"/>
          </a:p>
          <a:p>
            <a:pPr indent="0" marL="0">
              <a:lnSpc>
                <a:spcPct val="100000"/>
              </a:lnSpc>
              <a:buNone/>
            </a:pPr>
            <a:r>
              <a:rPr lang="en-US" sz="1600" dirty="0">
                <a:solidFill>
                  <a:srgbClr val="1F2933"/>
                </a:solidFill>
              </a:rPr>
              <a:t>1225031937.PDF</a:t>
            </a:r>
            <a:endParaRPr lang="en-US" sz="1600" dirty="0"/>
          </a:p>
          <a:p>
            <a:pPr indent="0" marL="0">
              <a:lnSpc>
                <a:spcPct val="100000"/>
              </a:lnSpc>
              <a:buNone/>
            </a:pPr>
            <a:r>
              <a:rPr lang="en-US" sz="1600" dirty="0">
                <a:solidFill>
                  <a:srgbClr val="1F2933"/>
                </a:solidFill>
              </a:rPr>
              <a:t>[ks_b_e_bnbm] PDF13、15–17；图像核对16</a:t>
            </a:r>
            <a:endParaRPr lang="en-US" sz="1600" dirty="0"/>
          </a:p>
          <a:p>
            <a:pPr indent="0" marL="0">
              <a:lnSpc>
                <a:spcPct val="100000"/>
              </a:lnSpc>
              <a:buNone/>
            </a:pPr>
            <a:r>
              <a:rPr lang="en-US" sz="1600" dirty="0">
                <a:solidFill>
                  <a:srgbClr val="1F2933"/>
                </a:solidFill>
              </a:rPr>
              <a:t>[ks_r_peer_bnbm] [7, 92] 3、合并利润表；项目 / 2025年度 / 2024</a:t>
            </a:r>
            <a:endParaRPr lang="en-US" sz="1600" dirty="0"/>
          </a:p>
          <a:p>
            <a:pPr indent="0" marL="0">
              <a:lnSpc>
                <a:spcPct val="100000"/>
              </a:lnSpc>
              <a:buNone/>
            </a:pPr>
            <a:r>
              <a:rPr lang="en-US" sz="1600" dirty="0">
                <a:solidFill>
                  <a:srgbClr val="1F2933"/>
                </a:solidFill>
              </a:rPr>
              <a:t>年度；[92] 3、合并利润表；项目 / 2025年度 / 2024年度；[93] 3、合并利润表；</a:t>
            </a:r>
            <a:endParaRPr lang="en-US" sz="1600" dirty="0"/>
          </a:p>
          <a:p>
            <a:pPr indent="0" marL="0">
              <a:lnSpc>
                <a:spcPct val="100000"/>
              </a:lnSpc>
              <a:buNone/>
            </a:pPr>
            <a:r>
              <a:rPr lang="en-US" sz="1600" dirty="0">
                <a:solidFill>
                  <a:srgbClr val="1F2933"/>
                </a:solidFill>
              </a:rPr>
              <a:t>项目 / 2025年度 / 2024年度；[7, 93] 3、合并利润表；项目 / 2025年度 / </a:t>
            </a:r>
            <a:endParaRPr lang="en-US" sz="1600" dirty="0"/>
          </a:p>
          <a:p>
            <a:pPr indent="0" marL="0">
              <a:lnSpc>
                <a:spcPct val="100000"/>
              </a:lnSpc>
              <a:buNone/>
            </a:pPr>
            <a:r>
              <a:rPr lang="en-US" sz="1600" dirty="0">
                <a:solidFill>
                  <a:srgbClr val="1F2933"/>
                </a:solidFill>
              </a:rPr>
              <a:t>2024年度；[93, 225, 226] 3、合并利润表；项目 / 2025年度 / 2024年度；</a:t>
            </a:r>
            <a:endParaRPr lang="en-US" sz="1600" dirty="0"/>
          </a:p>
          <a:p>
            <a:pPr indent="0" marL="0">
              <a:lnSpc>
                <a:spcPct val="100000"/>
              </a:lnSpc>
              <a:buNone/>
            </a:pPr>
            <a:r>
              <a:rPr lang="en-US" sz="1600" dirty="0">
                <a:solidFill>
                  <a:srgbClr val="1F2933"/>
                </a:solidFill>
              </a:rPr>
              <a:t>[93, 225] 合并利润表；66、财务费用；本期发生额 / 上期发生额；[93, 226] 3、</a:t>
            </a:r>
            <a:endParaRPr lang="en-US" sz="1600" dirty="0"/>
          </a:p>
          <a:p>
            <a:pPr indent="0" marL="0">
              <a:lnSpc>
                <a:spcPct val="100000"/>
              </a:lnSpc>
              <a:buNone/>
            </a:pPr>
            <a:r>
              <a:rPr lang="en-US" sz="1600" dirty="0">
                <a:solidFill>
                  <a:srgbClr val="1F2933"/>
                </a:solidFill>
              </a:rPr>
              <a:t>合并利润表；项目 / 2025年度 / 2024年度；[96] 5、合并现金流量表；项目 / 2025</a:t>
            </a:r>
            <a:endParaRPr lang="en-US" sz="1600" dirty="0"/>
          </a:p>
          <a:p>
            <a:pPr indent="0" marL="0">
              <a:lnSpc>
                <a:spcPct val="100000"/>
              </a:lnSpc>
              <a:buNone/>
            </a:pPr>
            <a:r>
              <a:rPr lang="en-US" sz="1600" dirty="0">
                <a:solidFill>
                  <a:srgbClr val="1F2933"/>
                </a:solidFill>
              </a:rPr>
              <a:t>年度 / 2024年度；[7, 96] 5、合并现金流量表；项目 / 2025年度 / 2024年度；</a:t>
            </a:r>
            <a:endParaRPr lang="en-US" sz="1600" dirty="0"/>
          </a:p>
          <a:p>
            <a:pPr indent="0" marL="0">
              <a:lnSpc>
                <a:spcPct val="100000"/>
              </a:lnSpc>
              <a:buNone/>
            </a:pPr>
            <a:r>
              <a:rPr lang="en-US" sz="1600" dirty="0">
                <a:solidFill>
                  <a:srgbClr val="1F2933"/>
                </a:solidFill>
              </a:rPr>
              <a:t>[97, 232, 233] 5、合并现金流量表；项目 / 2025年度 / 2024年度；[88, </a:t>
            </a:r>
            <a:endParaRPr lang="en-US" sz="1600" dirty="0"/>
          </a:p>
          <a:p>
            <a:pPr indent="0" marL="0">
              <a:lnSpc>
                <a:spcPct val="100000"/>
              </a:lnSpc>
              <a:buNone/>
            </a:pPr>
            <a:r>
              <a:rPr lang="en-US" sz="1600" dirty="0">
                <a:solidFill>
                  <a:srgbClr val="1F2933"/>
                </a:solidFill>
              </a:rPr>
              <a:t>160] 1、合并资产负债表；项目 / 期末余额 / 期初余额；[160] 七、1、货币资金；期末余额</a:t>
            </a:r>
            <a:endParaRPr lang="en-US" sz="1600" dirty="0"/>
          </a:p>
          <a:p>
            <a:pPr indent="0" marL="0">
              <a:lnSpc>
                <a:spcPct val="100000"/>
              </a:lnSpc>
              <a:buNone/>
            </a:pPr>
            <a:r>
              <a:rPr lang="en-US" sz="1600" dirty="0">
                <a:solidFill>
                  <a:srgbClr val="1F2933"/>
                </a:solidFill>
              </a:rPr>
              <a:t> / 期初余额；[88, 160, 161] 1、合并资产负债表；项目 / 期末余额 / 期初余额；[</a:t>
            </a:r>
            <a:endParaRPr lang="en-US" sz="1600" dirty="0"/>
          </a:p>
          <a:p>
            <a:pPr indent="0" marL="0">
              <a:lnSpc>
                <a:spcPct val="100000"/>
              </a:lnSpc>
              <a:buNone/>
            </a:pPr>
            <a:r>
              <a:rPr lang="en-US" sz="1600" dirty="0">
                <a:solidFill>
                  <a:srgbClr val="1F2933"/>
                </a:solidFill>
              </a:rPr>
              <a:t>208, 233] 31、所有权或使用权受到限制的资产；79（6）不属于现金及现金等价物的货币资金；[</a:t>
            </a:r>
            <a:endParaRPr lang="en-US" sz="1600" dirty="0"/>
          </a:p>
          <a:p>
            <a:pPr indent="0" marL="0">
              <a:lnSpc>
                <a:spcPct val="100000"/>
              </a:lnSpc>
              <a:buNone/>
            </a:pPr>
            <a:r>
              <a:rPr lang="en-US" sz="1600" dirty="0">
                <a:solidFill>
                  <a:srgbClr val="1F2933"/>
                </a:solidFill>
              </a:rPr>
              <a:t>233] 79（5）使用范围受限但仍属于现金及现金等价物列示的情况；本期金额 / 上期金额；[88,</a:t>
            </a:r>
            <a:endParaRPr lang="en-US" sz="160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161] 1、合并资产负债表；项目 / 期末余额 / 期初余额；[88] 1、合并资产负债表；项目 /</a:t>
            </a:r>
            <a:endParaRPr lang="en-US" sz="1600" dirty="0"/>
          </a:p>
          <a:p>
            <a:pPr indent="0" marL="0">
              <a:lnSpc>
                <a:spcPct val="100000"/>
              </a:lnSpc>
              <a:buNone/>
            </a:pPr>
            <a:r>
              <a:rPr lang="en-US" sz="1600" dirty="0">
                <a:solidFill>
                  <a:srgbClr val="1F2933"/>
                </a:solidFill>
              </a:rPr>
              <a:t> 期末余额 / 期初余额；[89] 1、合并资产负债表；项目 / 期末余额 / 期初余额；[89, </a:t>
            </a:r>
            <a:endParaRPr lang="en-US" sz="1600" dirty="0"/>
          </a:p>
          <a:p>
            <a:pPr indent="0" marL="0">
              <a:lnSpc>
                <a:spcPct val="100000"/>
              </a:lnSpc>
              <a:buNone/>
            </a:pPr>
            <a:r>
              <a:rPr lang="en-US" sz="1600" dirty="0">
                <a:solidFill>
                  <a:srgbClr val="1F2933"/>
                </a:solidFill>
              </a:rPr>
              <a:t>209] 1、合并资产负债表；项目 / 期末余额 / 期初余额；[89, 212] 1、合并资产负债</a:t>
            </a:r>
            <a:endParaRPr lang="en-US" sz="1600" dirty="0"/>
          </a:p>
          <a:p>
            <a:pPr indent="0" marL="0">
              <a:lnSpc>
                <a:spcPct val="100000"/>
              </a:lnSpc>
              <a:buNone/>
            </a:pPr>
            <a:r>
              <a:rPr lang="en-US" sz="1600" dirty="0">
                <a:solidFill>
                  <a:srgbClr val="1F2933"/>
                </a:solidFill>
              </a:rPr>
              <a:t>表；项目 / 期末余额 / 期初余额；[7, 89] 1、合并资产负债表；项目 / 期末余额 / 期初</a:t>
            </a:r>
            <a:endParaRPr lang="en-US" sz="1600" dirty="0"/>
          </a:p>
          <a:p>
            <a:pPr indent="0" marL="0">
              <a:lnSpc>
                <a:spcPct val="100000"/>
              </a:lnSpc>
              <a:buNone/>
            </a:pPr>
            <a:r>
              <a:rPr lang="en-US" sz="1600" dirty="0">
                <a:solidFill>
                  <a:srgbClr val="1F2933"/>
                </a:solidFill>
              </a:rPr>
              <a:t>余额；[90] 1、合并资产负债表；项目 / 期末余额 / 期初余额；[7, 90, 101] 1、</a:t>
            </a:r>
            <a:endParaRPr lang="en-US" sz="1600" dirty="0"/>
          </a:p>
          <a:p>
            <a:pPr indent="0" marL="0">
              <a:lnSpc>
                <a:spcPct val="100000"/>
              </a:lnSpc>
              <a:buNone/>
            </a:pPr>
            <a:r>
              <a:rPr lang="en-US" sz="1600" dirty="0">
                <a:solidFill>
                  <a:srgbClr val="1F2933"/>
                </a:solidFill>
              </a:rPr>
              <a:t>合并资产负债表；项目 / 期末余额 / 期初余额；[90, 101] 1、合并资产负债表；项目 / </a:t>
            </a:r>
            <a:endParaRPr lang="en-US" sz="1600" dirty="0"/>
          </a:p>
          <a:p>
            <a:pPr indent="0" marL="0">
              <a:lnSpc>
                <a:spcPct val="100000"/>
              </a:lnSpc>
              <a:buNone/>
            </a:pPr>
            <a:r>
              <a:rPr lang="en-US" sz="1600" dirty="0">
                <a:solidFill>
                  <a:srgbClr val="1F2933"/>
                </a:solidFill>
              </a:rPr>
              <a:t>期末余额 / 期初余额；[89, 214] 1、合并资产负债表；项目 / 期末余额 / 期初余额；[</a:t>
            </a:r>
            <a:endParaRPr lang="en-US" sz="1600" dirty="0"/>
          </a:p>
          <a:p>
            <a:pPr indent="0" marL="0">
              <a:lnSpc>
                <a:spcPct val="100000"/>
              </a:lnSpc>
              <a:buNone/>
            </a:pPr>
            <a:r>
              <a:rPr lang="en-US" sz="1600" dirty="0">
                <a:solidFill>
                  <a:srgbClr val="1F2933"/>
                </a:solidFill>
              </a:rPr>
              <a:t>214] 43、一年内到期的非流动负债；期末余额 / 期初余额；[89, 215] 1、合并资产负债</a:t>
            </a:r>
            <a:endParaRPr lang="en-US" sz="1600" dirty="0"/>
          </a:p>
          <a:p>
            <a:pPr indent="0" marL="0">
              <a:lnSpc>
                <a:spcPct val="100000"/>
              </a:lnSpc>
              <a:buNone/>
            </a:pPr>
            <a:r>
              <a:rPr lang="en-US" sz="1600" dirty="0">
                <a:solidFill>
                  <a:srgbClr val="1F2933"/>
                </a:solidFill>
              </a:rPr>
              <a:t>表；项目 / 期末余额 / 期初余额；[89, 216] 1、合并资产负债表；项目 / 期末余额 / </a:t>
            </a:r>
            <a:endParaRPr lang="en-US" sz="1600" dirty="0"/>
          </a:p>
          <a:p>
            <a:pPr indent="0" marL="0">
              <a:lnSpc>
                <a:spcPct val="100000"/>
              </a:lnSpc>
              <a:buNone/>
            </a:pPr>
            <a:r>
              <a:rPr lang="en-US" sz="1600" dirty="0">
                <a:solidFill>
                  <a:srgbClr val="1F2933"/>
                </a:solidFill>
              </a:rPr>
              <a:t>期初余额；[90, 216] 1、合并资产负债表；项目 / 期末余额 / 期初余额；[214, 215</a:t>
            </a:r>
            <a:endParaRPr lang="en-US" sz="1600" dirty="0"/>
          </a:p>
          <a:p>
            <a:pPr indent="0" marL="0">
              <a:lnSpc>
                <a:spcPct val="100000"/>
              </a:lnSpc>
              <a:buNone/>
            </a:pPr>
            <a:r>
              <a:rPr lang="en-US" sz="1600" dirty="0">
                <a:solidFill>
                  <a:srgbClr val="1F2933"/>
                </a:solidFill>
              </a:rPr>
              <a:t>] 44、其他流动负债；期末余额 / 期初余额；[211] 37（3）按款项性质列示其他应付款；期末余</a:t>
            </a:r>
            <a:endParaRPr lang="en-US" sz="1600" dirty="0"/>
          </a:p>
          <a:p>
            <a:pPr indent="0" marL="0">
              <a:lnSpc>
                <a:spcPct val="100000"/>
              </a:lnSpc>
              <a:buNone/>
            </a:pPr>
            <a:r>
              <a:rPr lang="en-US" sz="1600" dirty="0">
                <a:solidFill>
                  <a:srgbClr val="1F2933"/>
                </a:solidFill>
              </a:rPr>
              <a:t>额 / 期初余额；[220] 52、其他非流动负债；期末余额 / 期初余额；[231] 筹资活动产生的</a:t>
            </a:r>
            <a:endParaRPr lang="en-US" sz="1600" dirty="0"/>
          </a:p>
          <a:p>
            <a:pPr indent="0" marL="0">
              <a:lnSpc>
                <a:spcPct val="100000"/>
              </a:lnSpc>
              <a:buNone/>
            </a:pPr>
            <a:r>
              <a:rPr lang="en-US" sz="1600" dirty="0">
                <a:solidFill>
                  <a:srgbClr val="1F2933"/>
                </a:solidFill>
              </a:rPr>
              <a:t>各项负债变动情况；期初余额 / 本期增加 / 本期减少 / 期末余额；[90, 217] 1、合并</a:t>
            </a:r>
            <a:endParaRPr lang="en-US" sz="1600" dirty="0"/>
          </a:p>
          <a:p>
            <a:pPr indent="0" marL="0">
              <a:lnSpc>
                <a:spcPct val="100000"/>
              </a:lnSpc>
              <a:buNone/>
            </a:pPr>
            <a:r>
              <a:rPr lang="en-US" sz="1600" dirty="0">
                <a:solidFill>
                  <a:srgbClr val="1F2933"/>
                </a:solidFill>
              </a:rPr>
              <a:t>资产负债表；项目 / 期末余额 / 期初余额；[217] 48、长期应付款；期末余额 / 期初余额；[</a:t>
            </a:r>
            <a:endParaRPr lang="en-US" sz="1600" dirty="0"/>
          </a:p>
          <a:p>
            <a:pPr indent="0" marL="0">
              <a:lnSpc>
                <a:spcPct val="100000"/>
              </a:lnSpc>
              <a:buNone/>
            </a:pPr>
            <a:r>
              <a:rPr lang="en-US" sz="1600" dirty="0">
                <a:solidFill>
                  <a:srgbClr val="1F2933"/>
                </a:solidFill>
              </a:rPr>
              <a:t>217, 219] 48（2）专项应付款；期初余额 / 本期增加 / 本期减少 / 期末余额；[217</a:t>
            </a:r>
            <a:endParaRPr lang="en-US" sz="1600" dirty="0"/>
          </a:p>
          <a:p>
            <a:pPr indent="0" marL="0">
              <a:lnSpc>
                <a:spcPct val="100000"/>
              </a:lnSpc>
              <a:buNone/>
            </a:pPr>
            <a:r>
              <a:rPr lang="en-US" sz="1600" dirty="0">
                <a:solidFill>
                  <a:srgbClr val="1F2933"/>
                </a:solidFill>
              </a:rPr>
              <a:t>, 219] 48、长期应付款；[195, 196] 22（2）重要在建工程项目本期变动情况；利息资本</a:t>
            </a:r>
            <a:endParaRPr lang="en-US" sz="160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化累计金额 / 其中：本期利息资本化金额；[231] 79（1）现金流量表补充资料；补充资料 / 本期</a:t>
            </a:r>
            <a:endParaRPr lang="en-US" sz="1600" dirty="0"/>
          </a:p>
          <a:p>
            <a:pPr indent="0" marL="0">
              <a:lnSpc>
                <a:spcPct val="100000"/>
              </a:lnSpc>
              <a:buNone/>
            </a:pPr>
            <a:r>
              <a:rPr lang="en-US" sz="1600" dirty="0">
                <a:solidFill>
                  <a:srgbClr val="1F2933"/>
                </a:solidFill>
              </a:rPr>
              <a:t>金额 / 上期金额；[232] 79（1）现金流量表补充资料；补充资料 / 本期金额 / 上期金额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[ks_b_s06] 2025年全国房地产市场基本情况</a:t>
            </a:r>
            <a:endParaRPr lang="en-US" sz="1600" dirty="0"/>
          </a:p>
          <a:p>
            <a:pPr indent="0" marL="0">
              <a:lnSpc>
                <a:spcPct val="100000"/>
              </a:lnSpc>
              <a:buNone/>
            </a:pPr>
            <a:r>
              <a:rPr lang="en-US" sz="1600" dirty="0">
                <a:solidFill>
                  <a:srgbClr val="1F2933"/>
                </a:solidFill>
              </a:rPr>
              <a:t>https://www.stats.gov.cn/zwfwck/sjfb/202601/</a:t>
            </a:r>
            <a:endParaRPr lang="en-US" sz="1600" dirty="0"/>
          </a:p>
          <a:p>
            <a:pPr indent="0" marL="0">
              <a:lnSpc>
                <a:spcPct val="100000"/>
              </a:lnSpc>
              <a:buNone/>
            </a:pPr>
            <a:r>
              <a:rPr lang="en-US" sz="1600" dirty="0">
                <a:solidFill>
                  <a:srgbClr val="1F2933"/>
                </a:solidFill>
              </a:rPr>
              <a:t>t20260119_1962324.html</a:t>
            </a:r>
            <a:endParaRPr lang="en-US" sz="1600" dirty="0"/>
          </a:p>
          <a:p>
            <a:pPr indent="0" marL="0">
              <a:lnSpc>
                <a:spcPct val="100000"/>
              </a:lnSpc>
              <a:buNone/>
            </a:pPr>
            <a:r>
              <a:rPr lang="en-US" sz="1600" dirty="0">
                <a:solidFill>
                  <a:srgbClr val="1F2933"/>
                </a:solidFill>
              </a:rPr>
              <a:t>[ks_b_e_property25] 正文一至三、表1及附注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[ks_b_s07] 2026年1—5月份全国房地产市场基本情况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t20260616_1963950.html</a:t>
            </a:r>
            <a:endParaRPr lang="en-US" sz="1600" dirty="0"/>
          </a:p>
          <a:p>
            <a:pPr indent="0" marL="0">
              <a:lnSpc>
                <a:spcPct val="100000"/>
              </a:lnSpc>
              <a:buNone/>
            </a:pPr>
            <a:r>
              <a:rPr lang="en-US" sz="1600" dirty="0">
                <a:solidFill>
                  <a:srgbClr val="1F2933"/>
                </a:solidFill>
              </a:rPr>
              <a:t>[ks_b_e_property26] 正文一至三、表1</a:t>
            </a:r>
            <a:endParaRPr lang="en-US" sz="160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[ks_b_s08] 2026年1—5月份全国固定资产投资基本情况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t20260616_1963951.html</a:t>
            </a:r>
            <a:endParaRPr lang="en-US" sz="1600" dirty="0"/>
          </a:p>
          <a:p>
            <a:pPr indent="0" marL="0">
              <a:lnSpc>
                <a:spcPct val="100000"/>
              </a:lnSpc>
              <a:buNone/>
            </a:pPr>
            <a:r>
              <a:rPr lang="en-US" sz="1600" dirty="0">
                <a:solidFill>
                  <a:srgbClr val="1F2933"/>
                </a:solidFill>
              </a:rPr>
              <a:t>[ks_b_e_investment26] 正文、主要数据表、附注1/7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[ks_b_s09] 2026年一季度国内生产总值初步核算结果</a:t>
            </a:r>
            <a:endParaRPr lang="en-US" sz="1600" dirty="0"/>
          </a:p>
          <a:p>
            <a:pPr indent="0" marL="0">
              <a:lnSpc>
                <a:spcPct val="100000"/>
              </a:lnSpc>
              <a:buNone/>
            </a:pPr>
            <a:r>
              <a:rPr lang="en-US" sz="1600" dirty="0">
                <a:solidFill>
                  <a:srgbClr val="1F2933"/>
                </a:solidFill>
              </a:rPr>
              <a:t>https://www.stats.gov.cn/sj/zxfbhjd/202604/</a:t>
            </a:r>
            <a:endParaRPr lang="en-US" sz="1600" dirty="0"/>
          </a:p>
          <a:p>
            <a:pPr indent="0" marL="0">
              <a:lnSpc>
                <a:spcPct val="100000"/>
              </a:lnSpc>
              <a:buNone/>
            </a:pPr>
            <a:r>
              <a:rPr lang="en-US" sz="1600" dirty="0">
                <a:solidFill>
                  <a:srgbClr val="1F2933"/>
                </a:solidFill>
              </a:rPr>
              <a:t>t20260417_1963336.html</a:t>
            </a:r>
            <a:endParaRPr lang="en-US" sz="1600" dirty="0"/>
          </a:p>
          <a:p>
            <a:pPr indent="0" marL="0">
              <a:lnSpc>
                <a:spcPct val="100000"/>
              </a:lnSpc>
              <a:buNone/>
            </a:pPr>
            <a:r>
              <a:rPr lang="en-US" sz="1600" dirty="0">
                <a:solidFill>
                  <a:srgbClr val="1F2933"/>
                </a:solidFill>
              </a:rPr>
              <a:t>[ks_b_e_gdp26] 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[ks_b_s10] 关于持续推进城市更新行动的意见（生态环境部官方刊载）</a:t>
            </a:r>
            <a:endParaRPr lang="en-US" sz="1600" dirty="0"/>
          </a:p>
          <a:p>
            <a:pPr indent="0" marL="0">
              <a:lnSpc>
                <a:spcPct val="100000"/>
              </a:lnSpc>
              <a:buNone/>
            </a:pPr>
            <a:r>
              <a:rPr lang="en-US" sz="1600" dirty="0">
                <a:solidFill>
                  <a:srgbClr val="1F2933"/>
                </a:solidFill>
              </a:rPr>
              <a:t>https://www.mee.gov.cn/zcwj/zyygwj/202505/</a:t>
            </a:r>
            <a:endParaRPr lang="en-US" sz="1600" dirty="0"/>
          </a:p>
          <a:p>
            <a:pPr indent="0" marL="0">
              <a:lnSpc>
                <a:spcPct val="100000"/>
              </a:lnSpc>
              <a:buNone/>
            </a:pPr>
            <a:r>
              <a:rPr lang="en-US" sz="1600" dirty="0">
                <a:solidFill>
                  <a:srgbClr val="1F2933"/>
                </a:solidFill>
              </a:rPr>
              <a:t>t20250516_1119546.shtml</a:t>
            </a:r>
            <a:endParaRPr lang="en-US" sz="1600" dirty="0"/>
          </a:p>
          <a:p>
            <a:pPr indent="0" marL="0">
              <a:lnSpc>
                <a:spcPct val="100000"/>
              </a:lnSpc>
              <a:buNone/>
            </a:pPr>
            <a:r>
              <a:rPr lang="en-US" sz="1600" dirty="0">
                <a:solidFill>
                  <a:srgbClr val="1F2933"/>
                </a:solidFill>
              </a:rPr>
              <a:t>[ks_b_e_renewal] 主要任务（一）（二）（四）（六）、支撑保障（四）</a:t>
            </a:r>
            <a:endParaRPr lang="en-US" sz="160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[ks_b_s11] GB45320-2025 建筑防水卷材安全和通用技术规范官方题录</a:t>
            </a:r>
            <a:endParaRPr lang="en-US" sz="1600" dirty="0"/>
          </a:p>
          <a:p>
            <a:pPr indent="0" marL="0">
              <a:lnSpc>
                <a:spcPct val="100000"/>
              </a:lnSpc>
              <a:buNone/>
            </a:pPr>
            <a:r>
              <a:rPr lang="en-US" sz="1600" dirty="0">
                <a:solidFill>
                  <a:srgbClr val="1F2933"/>
                </a:solidFill>
              </a:rPr>
              <a:t>https://openstd.samr.gov.cn/bzgk/std/newGbInfo?hcno</a:t>
            </a:r>
            <a:endParaRPr lang="en-US" sz="1600" dirty="0"/>
          </a:p>
          <a:p>
            <a:pPr indent="0" marL="0">
              <a:lnSpc>
                <a:spcPct val="100000"/>
              </a:lnSpc>
              <a:buNone/>
            </a:pPr>
            <a:r>
              <a:rPr lang="en-US" sz="1600" dirty="0">
                <a:solidFill>
                  <a:srgbClr val="1F2933"/>
                </a:solidFill>
              </a:rPr>
              <a:t>=BB05482DBB00627FEA316361F0D31EA3&amp;refer=outter</a:t>
            </a:r>
            <a:endParaRPr lang="en-US" sz="1600" dirty="0"/>
          </a:p>
          <a:p>
            <a:pPr indent="0" marL="0">
              <a:lnSpc>
                <a:spcPct val="100000"/>
              </a:lnSpc>
              <a:buNone/>
            </a:pPr>
            <a:r>
              <a:rPr lang="en-US" sz="1600" dirty="0">
                <a:solidFill>
                  <a:srgbClr val="1F2933"/>
                </a:solidFill>
              </a:rPr>
              <a:t>[ks_b_e_standard_sheet] 标准官方题录</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[ks_b_s12] GB45671-2025 建筑防水涂料安全技术规范官方题录</a:t>
            </a:r>
            <a:endParaRPr lang="en-US" sz="1600" dirty="0"/>
          </a:p>
          <a:p>
            <a:pPr indent="0" marL="0">
              <a:lnSpc>
                <a:spcPct val="100000"/>
              </a:lnSpc>
              <a:buNone/>
            </a:pPr>
            <a:r>
              <a:rPr lang="en-US" sz="1600" dirty="0">
                <a:solidFill>
                  <a:srgbClr val="1F2933"/>
                </a:solidFill>
              </a:rPr>
              <a:t>https://std.samr.gov.cn/search/stdPage?q=45671</a:t>
            </a:r>
            <a:endParaRPr lang="en-US" sz="1600" dirty="0"/>
          </a:p>
          <a:p>
            <a:pPr indent="0" marL="0">
              <a:lnSpc>
                <a:spcPct val="100000"/>
              </a:lnSpc>
              <a:buNone/>
            </a:pPr>
            <a:r>
              <a:rPr lang="en-US" sz="1600" dirty="0">
                <a:solidFill>
                  <a:srgbClr val="1F2933"/>
                </a:solidFill>
              </a:rPr>
              <a:t>[ks_b_e_standard_coating] 原标准检索条目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[ks_b_s13] 关于与专业投资机构共同投资设立产业并购基金暨关联交易的公告</a:t>
            </a:r>
            <a:endParaRPr lang="en-US" sz="1600" dirty="0"/>
          </a:p>
          <a:p>
            <a:pPr indent="0" marL="0">
              <a:lnSpc>
                <a:spcPct val="100000"/>
              </a:lnSpc>
              <a:buNone/>
            </a:pPr>
            <a:r>
              <a:rPr lang="en-US" sz="1600" dirty="0">
                <a:solidFill>
                  <a:srgbClr val="1F2933"/>
                </a:solidFill>
              </a:rPr>
              <a:t>https://static.cninfo.com.cn/finalpage/2025-07-23/</a:t>
            </a:r>
            <a:endParaRPr lang="en-US" sz="1600" dirty="0"/>
          </a:p>
          <a:p>
            <a:pPr indent="0" marL="0">
              <a:lnSpc>
                <a:spcPct val="100000"/>
              </a:lnSpc>
              <a:buNone/>
            </a:pPr>
            <a:r>
              <a:rPr lang="en-US" sz="1600" dirty="0">
                <a:solidFill>
                  <a:srgbClr val="1F2933"/>
                </a:solidFill>
              </a:rPr>
              <a:t>1224269220.PDF</a:t>
            </a:r>
            <a:endParaRPr lang="en-US" sz="1600" dirty="0"/>
          </a:p>
          <a:p>
            <a:pPr indent="0" marL="0">
              <a:lnSpc>
                <a:spcPct val="100000"/>
              </a:lnSpc>
              <a:buNone/>
            </a:pPr>
            <a:r>
              <a:rPr lang="en-US" sz="1600" dirty="0">
                <a:solidFill>
                  <a:srgbClr val="1F2933"/>
                </a:solidFill>
              </a:rPr>
              <a:t>[ks_b_e_fund] PDF1–2、6–11</a:t>
            </a:r>
            <a:endParaRPr lang="en-US" sz="160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[ks_b_s14] 科顺转债受托管理事务报告（2025年度）</a:t>
            </a:r>
            <a:endParaRPr lang="en-US" sz="1600" dirty="0"/>
          </a:p>
          <a:p>
            <a:pPr indent="0" marL="0">
              <a:lnSpc>
                <a:spcPct val="100000"/>
              </a:lnSpc>
              <a:buNone/>
            </a:pPr>
            <a:r>
              <a:rPr lang="en-US" sz="1600" dirty="0">
                <a:solidFill>
                  <a:srgbClr val="1F2933"/>
                </a:solidFill>
              </a:rPr>
              <a:t>https://static.cninfo.com.cn/finalpage/2026-06-26/</a:t>
            </a:r>
            <a:endParaRPr lang="en-US" sz="1600" dirty="0"/>
          </a:p>
          <a:p>
            <a:pPr indent="0" marL="0">
              <a:lnSpc>
                <a:spcPct val="100000"/>
              </a:lnSpc>
              <a:buNone/>
            </a:pPr>
            <a:r>
              <a:rPr lang="en-US" sz="1600" dirty="0">
                <a:solidFill>
                  <a:srgbClr val="1F2933"/>
                </a:solidFill>
              </a:rPr>
              <a:t>1225389523.PDF</a:t>
            </a:r>
            <a:endParaRPr lang="en-US" sz="1600" dirty="0"/>
          </a:p>
          <a:p>
            <a:pPr indent="0" marL="0">
              <a:lnSpc>
                <a:spcPct val="100000"/>
              </a:lnSpc>
              <a:buNone/>
            </a:pPr>
            <a:r>
              <a:rPr lang="en-US" sz="1600" dirty="0">
                <a:solidFill>
                  <a:srgbClr val="1F2933"/>
                </a:solidFill>
              </a:rPr>
              <a:t>[ks_b_e_fund_control] 仅PDF20，募集资金使用核查</a:t>
            </a:r>
            <a:endParaRPr lang="en-US" sz="1600" dirty="0"/>
          </a:p>
          <a:p>
            <a:pPr indent="0" marL="0">
              <a:lnSpc>
                <a:spcPct val="100000"/>
              </a:lnSpc>
              <a:buNone/>
            </a:pPr>
            <a:r>
              <a:rPr lang="en-US" sz="1600" dirty="0">
                <a:solidFill>
                  <a:srgbClr val="1F2933"/>
                </a:solidFill>
              </a:rPr>
              <a:t>[ks_d_e_price_history] PDF p5、28–29，实际转股期及历次价格/下修决策</a:t>
            </a:r>
            <a:endParaRPr lang="en-US" sz="1600" dirty="0"/>
          </a:p>
          <a:p>
            <a:pPr indent="0" marL="0">
              <a:lnSpc>
                <a:spcPct val="100000"/>
              </a:lnSpc>
              <a:buNone/>
            </a:pPr>
            <a:r>
              <a:rPr lang="en-US" sz="1600" dirty="0">
                <a:solidFill>
                  <a:srgbClr val="1F2933"/>
                </a:solidFill>
              </a:rPr>
              <a:t>[ks_d_e_general_performance] PDF p14、22–23、28，履约、</a:t>
            </a:r>
            <a:endParaRPr lang="en-US" sz="1600" dirty="0"/>
          </a:p>
          <a:p>
            <a:pPr indent="0" marL="0">
              <a:lnSpc>
                <a:spcPct val="100000"/>
              </a:lnSpc>
              <a:buNone/>
            </a:pPr>
            <a:r>
              <a:rPr lang="en-US" sz="1600" dirty="0">
                <a:solidFill>
                  <a:srgbClr val="1F2933"/>
                </a:solidFill>
              </a:rPr>
              <a:t>付息、会议和承诺</a:t>
            </a:r>
            <a:endParaRPr lang="en-US" sz="1600" dirty="0"/>
          </a:p>
          <a:p>
            <a:pPr indent="0" marL="0">
              <a:lnSpc>
                <a:spcPct val="100000"/>
              </a:lnSpc>
              <a:buNone/>
            </a:pPr>
            <a:r>
              <a:rPr lang="en-US" sz="1600" dirty="0">
                <a:solidFill>
                  <a:srgbClr val="1F2933"/>
                </a:solidFill>
              </a:rPr>
              <a:t>[ks_d_e_fund_correction] PDF p20、26–28，临时补流管理及项目延期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[ks_b_s17] 2025年年度权益分派实施公告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2026-05-19/a22ddf62-bedc-4698-bc94-9852ced27e84.PDF</a:t>
            </a:r>
            <a:endParaRPr lang="en-US" sz="1600" dirty="0"/>
          </a:p>
          <a:p>
            <a:pPr indent="0" marL="0">
              <a:lnSpc>
                <a:spcPct val="100000"/>
              </a:lnSpc>
              <a:buNone/>
            </a:pPr>
            <a:r>
              <a:rPr lang="en-US" sz="1600" dirty="0">
                <a:solidFill>
                  <a:srgbClr val="1F2933"/>
                </a:solidFill>
              </a:rPr>
              <a:t>[ks_b_e_2026_dividend] PDF1–4</a:t>
            </a:r>
            <a:endParaRPr lang="en-US" sz="1600" dirty="0"/>
          </a:p>
          <a:p>
            <a:pPr indent="0" marL="0">
              <a:lnSpc>
                <a:spcPct val="100000"/>
              </a:lnSpc>
              <a:buNone/>
            </a:pPr>
            <a:r>
              <a:rPr lang="en-US" sz="1600" dirty="0">
                <a:solidFill>
                  <a:srgbClr val="1F2933"/>
                </a:solidFill>
              </a:rPr>
              <a:t>[ks_d_e_distribution] PDF p1–3，权益分派方案、登记及除息日</a:t>
            </a:r>
            <a:endParaRPr lang="en-US" sz="1600" dirty="0"/>
          </a:p>
          <a:p>
            <a:pPr indent="0" marL="0">
              <a:lnSpc>
                <a:spcPct val="100000"/>
              </a:lnSpc>
              <a:buNone/>
            </a:pPr>
            <a:r>
              <a:rPr lang="en-US" sz="1600" dirty="0">
                <a:solidFill>
                  <a:srgbClr val="1F2933"/>
                </a:solidFill>
              </a:rPr>
              <a:t>[ks_d_l_e_dividend] PDF p1–3</a:t>
            </a:r>
            <a:endParaRPr lang="en-US" sz="1600" dirty="0"/>
          </a:p>
          <a:p>
            <a:pPr indent="0" marL="0">
              <a:lnSpc>
                <a:spcPct val="100000"/>
              </a:lnSpc>
              <a:buNone/>
            </a:pPr>
            <a:r>
              <a:rPr lang="en-US" sz="1600" dirty="0">
                <a:solidFill>
                  <a:srgbClr val="1F2933"/>
                </a:solidFill>
              </a:rPr>
              <a:t>[ks_d_l_f_dividend_shares_e] PDF p1–3</a:t>
            </a:r>
            <a:endParaRPr lang="en-US" sz="1600" dirty="0"/>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[ks_d_s_m1] 科顺股份创业板向不特定对象发行可转换公司债券募集说明书（最终发行稿）</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2023-08-02/664c558c-7896-414d-8e36-b7cd8129fa03.PDF</a:t>
            </a:r>
            <a:endParaRPr lang="en-US" sz="1600" dirty="0"/>
          </a:p>
          <a:p>
            <a:pPr indent="0" marL="0">
              <a:lnSpc>
                <a:spcPct val="100000"/>
              </a:lnSpc>
              <a:buNone/>
            </a:pPr>
            <a:r>
              <a:rPr lang="en-US" sz="1600" dirty="0">
                <a:solidFill>
                  <a:srgbClr val="1F2933"/>
                </a:solidFill>
              </a:rPr>
              <a:t>[ks_d_e_commitment_origin] PDF p136–137；p400，发行条件说明</a:t>
            </a:r>
            <a:endParaRPr lang="en-US" sz="1600" dirty="0"/>
          </a:p>
          <a:p>
            <a:pPr indent="0" marL="0">
              <a:lnSpc>
                <a:spcPct val="100000"/>
              </a:lnSpc>
              <a:buNone/>
            </a:pPr>
            <a:r>
              <a:rPr lang="en-US" sz="1600" dirty="0">
                <a:solidFill>
                  <a:srgbClr val="1F2933"/>
                </a:solidFill>
              </a:rPr>
              <a:t>[ks_d_e_issue_coupon] PDF p39–40，发行规模、期限、票面利率、还本付息</a:t>
            </a:r>
            <a:endParaRPr lang="en-US" sz="1600" dirty="0"/>
          </a:p>
          <a:p>
            <a:pPr indent="0" marL="0">
              <a:lnSpc>
                <a:spcPct val="100000"/>
              </a:lnSpc>
              <a:buNone/>
            </a:pPr>
            <a:r>
              <a:rPr lang="en-US" sz="1600" dirty="0">
                <a:solidFill>
                  <a:srgbClr val="1F2933"/>
                </a:solidFill>
              </a:rPr>
              <a:t>条款</a:t>
            </a:r>
            <a:endParaRPr lang="en-US" sz="1600" dirty="0"/>
          </a:p>
          <a:p>
            <a:pPr indent="0" marL="0">
              <a:lnSpc>
                <a:spcPct val="100000"/>
              </a:lnSpc>
              <a:buNone/>
            </a:pPr>
            <a:r>
              <a:rPr lang="en-US" sz="1600" dirty="0">
                <a:solidFill>
                  <a:srgbClr val="1F2933"/>
                </a:solidFill>
              </a:rPr>
              <a:t>[ks_d_e_maturity_call] PDF p43，赎回条款</a:t>
            </a:r>
            <a:endParaRPr lang="en-US" sz="1600" dirty="0"/>
          </a:p>
          <a:p>
            <a:pPr indent="0" marL="0">
              <a:lnSpc>
                <a:spcPct val="100000"/>
              </a:lnSpc>
              <a:buNone/>
            </a:pPr>
            <a:r>
              <a:rPr lang="en-US" sz="1600" dirty="0">
                <a:solidFill>
                  <a:srgbClr val="1F2933"/>
                </a:solidFill>
              </a:rPr>
              <a:t>[ks_d_e_put] PDF p43–44，回售条款</a:t>
            </a:r>
            <a:endParaRPr lang="en-US" sz="1600" dirty="0"/>
          </a:p>
          <a:p>
            <a:pPr indent="0" marL="0">
              <a:lnSpc>
                <a:spcPct val="100000"/>
              </a:lnSpc>
              <a:buNone/>
            </a:pPr>
            <a:r>
              <a:rPr lang="en-US" sz="1600" dirty="0">
                <a:solidFill>
                  <a:srgbClr val="1F2933"/>
                </a:solidFill>
              </a:rPr>
              <a:t>[ks_d_e_revision] PDF p42，转股价格向下修正</a:t>
            </a:r>
            <a:endParaRPr lang="en-US" sz="1600" dirty="0"/>
          </a:p>
          <a:p>
            <a:pPr indent="0" marL="0">
              <a:lnSpc>
                <a:spcPct val="100000"/>
              </a:lnSpc>
              <a:buNone/>
            </a:pPr>
            <a:r>
              <a:rPr lang="en-US" sz="1600" dirty="0">
                <a:solidFill>
                  <a:srgbClr val="1F2933"/>
                </a:solidFill>
              </a:rPr>
              <a:t>[ks_d_e_remedies_contract] PDF p49、51–52，担保、违约责任及争议</a:t>
            </a:r>
            <a:endParaRPr lang="en-US" sz="1600" dirty="0"/>
          </a:p>
          <a:p>
            <a:pPr indent="0" marL="0">
              <a:lnSpc>
                <a:spcPct val="100000"/>
              </a:lnSpc>
              <a:buNone/>
            </a:pPr>
            <a:r>
              <a:rPr lang="en-US" sz="1600" dirty="0">
                <a:solidFill>
                  <a:srgbClr val="1F2933"/>
                </a:solidFill>
              </a:rPr>
              <a:t>解决</a:t>
            </a:r>
            <a:endParaRPr lang="en-US" sz="1600" dirty="0"/>
          </a:p>
          <a:p>
            <a:pPr indent="0" marL="0">
              <a:lnSpc>
                <a:spcPct val="100000"/>
              </a:lnSpc>
              <a:buNone/>
            </a:pPr>
            <a:r>
              <a:rPr lang="en-US" sz="1600" dirty="0">
                <a:solidFill>
                  <a:srgbClr val="1F2933"/>
                </a:solidFill>
              </a:rPr>
              <a:t>[ks_d_l_e_coupon] PDF p39–40、43</a:t>
            </a:r>
            <a:endParaRPr lang="en-US" sz="1600" dirty="0"/>
          </a:p>
          <a:p>
            <a:pPr indent="0" marL="0">
              <a:lnSpc>
                <a:spcPct val="100000"/>
              </a:lnSpc>
              <a:buNone/>
            </a:pPr>
            <a:r>
              <a:rPr lang="en-US" sz="1600" dirty="0">
                <a:solidFill>
                  <a:srgbClr val="1F2933"/>
                </a:solidFill>
              </a:rPr>
              <a:t>[ks_project_e_old_model] PDF物理第13–14页（印刷第12–13页），并在</a:t>
            </a:r>
            <a:endParaRPr lang="en-US" sz="1600" dirty="0"/>
          </a:p>
          <a:p>
            <a:pPr indent="0" marL="0">
              <a:lnSpc>
                <a:spcPct val="100000"/>
              </a:lnSpc>
              <a:buNone/>
            </a:pPr>
            <a:r>
              <a:rPr lang="en-US" sz="1600" dirty="0">
                <a:solidFill>
                  <a:srgbClr val="1F2933"/>
                </a:solidFill>
              </a:rPr>
              <a:t>第66–67页重复，未转股本息兑付风险项目测算</a:t>
            </a:r>
            <a:endParaRPr lang="en-US" sz="1600" dirty="0"/>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[ks_d_s_r1] 科顺股份可转换公司债券持有人会议规则</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2022-04-28/c761750c-ed98-488d-856f-913c0906a565.PDF</a:t>
            </a:r>
            <a:endParaRPr lang="en-US" sz="1600" dirty="0"/>
          </a:p>
          <a:p>
            <a:pPr indent="0" marL="0">
              <a:lnSpc>
                <a:spcPct val="100000"/>
              </a:lnSpc>
              <a:buNone/>
            </a:pPr>
            <a:r>
              <a:rPr lang="en-US" sz="1600" dirty="0">
                <a:solidFill>
                  <a:srgbClr val="1F2933"/>
                </a:solidFill>
              </a:rPr>
              <a:t>[ks_d_e_meeting_triggers] PDF p3–5，第九、十一至十四条</a:t>
            </a:r>
            <a:endParaRPr lang="en-US" sz="1600" dirty="0"/>
          </a:p>
          <a:p>
            <a:pPr indent="0" marL="0">
              <a:lnSpc>
                <a:spcPct val="100000"/>
              </a:lnSpc>
              <a:buNone/>
            </a:pPr>
            <a:r>
              <a:rPr lang="en-US" sz="1600" dirty="0">
                <a:solidFill>
                  <a:srgbClr val="1F2933"/>
                </a:solidFill>
              </a:rPr>
              <a:t>[ks_d_e_meeting_votes] PDF p8、11–12、14、17，第二十九、四十三条</a:t>
            </a:r>
            <a:endParaRPr lang="en-US" sz="1600" dirty="0"/>
          </a:p>
          <a:p>
            <a:pPr indent="0" marL="0">
              <a:lnSpc>
                <a:spcPct val="100000"/>
              </a:lnSpc>
              <a:buNone/>
            </a:pPr>
            <a:r>
              <a:rPr lang="en-US" sz="1600" dirty="0">
                <a:solidFill>
                  <a:srgbClr val="1F2933"/>
                </a:solidFill>
              </a:rPr>
              <a:t>及诉讼/适用规则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[ks_d_s_t0] 科顺股份2026年第一次临时受托管理事务报告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2026-04-29/808bd56f-b2a4-418f-a330-2b4f6cc8911f.PDF</a:t>
            </a:r>
            <a:endParaRPr lang="en-US" sz="1600" dirty="0"/>
          </a:p>
          <a:p>
            <a:pPr indent="0" marL="0">
              <a:lnSpc>
                <a:spcPct val="100000"/>
              </a:lnSpc>
              <a:buNone/>
            </a:pPr>
            <a:r>
              <a:rPr lang="en-US" sz="1600" dirty="0">
                <a:solidFill>
                  <a:srgbClr val="1F2933"/>
                </a:solidFill>
              </a:rPr>
              <a:t>[ks_d_e_temporary_report] PDF p5、15–17，价格信息与重大事项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[ks_d_s_c1] 关于2026年第一季度可转换公司债券转股情况的公告（2026-008）</a:t>
            </a:r>
            <a:endParaRPr lang="en-US" sz="1600" dirty="0"/>
          </a:p>
          <a:p>
            <a:pPr indent="0" marL="0">
              <a:lnSpc>
                <a:spcPct val="100000"/>
              </a:lnSpc>
              <a:buNone/>
            </a:pPr>
            <a:r>
              <a:rPr lang="en-US" sz="1600" dirty="0">
                <a:solidFill>
                  <a:srgbClr val="1F2933"/>
                </a:solidFill>
              </a:rPr>
              <a:t>https://static.cninfo.com.cn/finalpage/2026-04-01/</a:t>
            </a:r>
            <a:endParaRPr lang="en-US" sz="1600" dirty="0"/>
          </a:p>
          <a:p>
            <a:pPr indent="0" marL="0">
              <a:lnSpc>
                <a:spcPct val="100000"/>
              </a:lnSpc>
              <a:buNone/>
            </a:pPr>
            <a:r>
              <a:rPr lang="en-US" sz="1600" dirty="0">
                <a:solidFill>
                  <a:srgbClr val="1F2933"/>
                </a:solidFill>
              </a:rPr>
              <a:t>1225070237.PDF</a:t>
            </a:r>
            <a:endParaRPr lang="en-US" sz="1600" dirty="0"/>
          </a:p>
          <a:p>
            <a:pPr indent="0" marL="0">
              <a:lnSpc>
                <a:spcPct val="100000"/>
              </a:lnSpc>
              <a:buNone/>
            </a:pPr>
            <a:r>
              <a:rPr lang="en-US" sz="1600" dirty="0">
                <a:solidFill>
                  <a:srgbClr val="1F2933"/>
                </a:solidFill>
              </a:rPr>
              <a:t>[ks_d_e_face_q1] PDF p1、5–6，2026年第一季度转股与余额，单位元/张/股</a:t>
            </a:r>
            <a:endParaRPr lang="en-US" sz="1600" dirty="0"/>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[ks_d_s_c2] 关于科顺转债转股价格调整的公告（2026-027）</a:t>
            </a:r>
            <a:endParaRPr lang="en-US" sz="1600" dirty="0"/>
          </a:p>
          <a:p>
            <a:pPr indent="0" marL="0">
              <a:lnSpc>
                <a:spcPct val="100000"/>
              </a:lnSpc>
              <a:buNone/>
            </a:pPr>
            <a:r>
              <a:rPr lang="en-US" sz="1600" dirty="0">
                <a:solidFill>
                  <a:srgbClr val="1F2933"/>
                </a:solidFill>
              </a:rPr>
              <a:t>https://static.cninfo.com.cn/finalpage/2026-05-19/</a:t>
            </a:r>
            <a:endParaRPr lang="en-US" sz="1600" dirty="0"/>
          </a:p>
          <a:p>
            <a:pPr indent="0" marL="0">
              <a:lnSpc>
                <a:spcPct val="100000"/>
              </a:lnSpc>
              <a:buNone/>
            </a:pPr>
            <a:r>
              <a:rPr lang="en-US" sz="1600" dirty="0">
                <a:solidFill>
                  <a:srgbClr val="1F2933"/>
                </a:solidFill>
              </a:rPr>
              <a:t>1225313108.PDF</a:t>
            </a:r>
            <a:endParaRPr lang="en-US" sz="1600" dirty="0"/>
          </a:p>
          <a:p>
            <a:pPr indent="0" marL="0">
              <a:lnSpc>
                <a:spcPct val="100000"/>
              </a:lnSpc>
              <a:buNone/>
            </a:pPr>
            <a:r>
              <a:rPr lang="en-US" sz="1600" dirty="0">
                <a:solidFill>
                  <a:srgbClr val="1F2933"/>
                </a:solidFill>
              </a:rPr>
              <a:t>[ks_d_e_price_latest] PDF p1、6，转股价格调整及实施日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[ks_d_s_f3] 国泰海通关于科顺股份募集资金2025年度存放、管理与使用情况的核查意见</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1225172704.PDF</a:t>
            </a:r>
            <a:endParaRPr lang="en-US" sz="1600" dirty="0"/>
          </a:p>
          <a:p>
            <a:pPr indent="0" marL="0">
              <a:lnSpc>
                <a:spcPct val="100000"/>
              </a:lnSpc>
              <a:buNone/>
            </a:pPr>
            <a:r>
              <a:rPr lang="en-US" sz="1600" dirty="0">
                <a:solidFill>
                  <a:srgbClr val="1F2933"/>
                </a:solidFill>
              </a:rPr>
              <a:t>[ks_d_e_fund_balance] PDF p1–2、4、6、9，募集资金累计收支、年末余额及</a:t>
            </a:r>
            <a:endParaRPr lang="en-US" sz="1600" dirty="0"/>
          </a:p>
          <a:p>
            <a:pPr indent="0" marL="0">
              <a:lnSpc>
                <a:spcPct val="100000"/>
              </a:lnSpc>
              <a:buNone/>
            </a:pPr>
            <a:r>
              <a:rPr lang="en-US" sz="1600" dirty="0">
                <a:solidFill>
                  <a:srgbClr val="1F2933"/>
                </a:solidFill>
              </a:rPr>
              <a:t>对照表，单位万元（p1原到款金额为元）</a:t>
            </a:r>
            <a:endParaRPr lang="en-US" sz="1600" dirty="0"/>
          </a:p>
          <a:p>
            <a:pPr indent="0" marL="0">
              <a:lnSpc>
                <a:spcPct val="100000"/>
              </a:lnSpc>
              <a:buNone/>
            </a:pPr>
            <a:r>
              <a:rPr lang="en-US" sz="1600" dirty="0">
                <a:solidFill>
                  <a:srgbClr val="1F2933"/>
                </a:solidFill>
              </a:rPr>
              <a:t>[ks_d_e_fund_delay] PDF p6–8，项目延期及使用管理核查</a:t>
            </a:r>
            <a:endParaRPr lang="en-US" sz="1600" dirty="0"/>
          </a:p>
          <a:p>
            <a:pPr indent="0" marL="0">
              <a:lnSpc>
                <a:spcPct val="100000"/>
              </a:lnSpc>
              <a:buNone/>
            </a:pPr>
            <a:r>
              <a:rPr lang="en-US" sz="1600" dirty="0">
                <a:solidFill>
                  <a:srgbClr val="1F2933"/>
                </a:solidFill>
              </a:rPr>
              <a:t>[ks_project_e_progress] PDF第6–7页延期及原因，第9–10页募集资金使用</a:t>
            </a:r>
            <a:endParaRPr lang="en-US" sz="1600" dirty="0"/>
          </a:p>
          <a:p>
            <a:pPr indent="0" marL="0">
              <a:lnSpc>
                <a:spcPct val="100000"/>
              </a:lnSpc>
              <a:buNone/>
            </a:pPr>
            <a:r>
              <a:rPr lang="en-US" sz="1600" dirty="0">
                <a:solidFill>
                  <a:srgbClr val="1F2933"/>
                </a:solidFill>
              </a:rPr>
              <a:t>情况对照表</a:t>
            </a:r>
            <a:endParaRPr lang="en-US" sz="1600" dirty="0"/>
          </a:p>
          <a:p>
            <a:pPr indent="0" marL="0">
              <a:lnSpc>
                <a:spcPct val="100000"/>
              </a:lnSpc>
              <a:buNone/>
            </a:pPr>
            <a:r>
              <a:rPr lang="en-US" sz="1600" dirty="0">
                <a:solidFill>
                  <a:srgbClr val="1F2933"/>
                </a:solidFill>
              </a:rPr>
              <a:t>[ks_project_e_schedule] PDF第6–8页，其他使用情况、变更情况及核查意见</a:t>
            </a:r>
            <a:endParaRPr lang="en-US" sz="1600" dirty="0"/>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[ks_d_s_s1] 国泰海通关于科顺股份2025年度持续督导跟踪报告</a:t>
            </a:r>
            <a:endParaRPr lang="en-US" sz="1600" dirty="0"/>
          </a:p>
          <a:p>
            <a:pPr indent="0" marL="0">
              <a:lnSpc>
                <a:spcPct val="100000"/>
              </a:lnSpc>
              <a:buNone/>
            </a:pPr>
            <a:r>
              <a:rPr lang="en-US" sz="1600" dirty="0">
                <a:solidFill>
                  <a:srgbClr val="1F2933"/>
                </a:solidFill>
              </a:rPr>
              <a:t>https://static.cninfo.com.cn/finalpage/2026-05-12/</a:t>
            </a:r>
            <a:endParaRPr lang="en-US" sz="1600" dirty="0"/>
          </a:p>
          <a:p>
            <a:pPr indent="0" marL="0">
              <a:lnSpc>
                <a:spcPct val="100000"/>
              </a:lnSpc>
              <a:buNone/>
            </a:pPr>
            <a:r>
              <a:rPr lang="en-US" sz="1600" dirty="0">
                <a:solidFill>
                  <a:srgbClr val="1F2933"/>
                </a:solidFill>
              </a:rPr>
              <a:t>1225301174.PDF</a:t>
            </a:r>
            <a:endParaRPr lang="en-US" sz="1600" dirty="0"/>
          </a:p>
          <a:p>
            <a:pPr indent="0" marL="0">
              <a:lnSpc>
                <a:spcPct val="100000"/>
              </a:lnSpc>
              <a:buNone/>
            </a:pPr>
            <a:r>
              <a:rPr lang="en-US" sz="1600" dirty="0">
                <a:solidFill>
                  <a:srgbClr val="1F2933"/>
                </a:solidFill>
              </a:rPr>
              <a:t>[ks_d_e_sponsor_performance] PDF p4–5，问题事项及承诺履行</a:t>
            </a:r>
            <a:endParaRPr lang="en-US" sz="1600" dirty="0"/>
          </a:p>
          <a:p>
            <a:pPr indent="0" marL="0">
              <a:lnSpc>
                <a:spcPct val="100000"/>
              </a:lnSpc>
              <a:buNone/>
            </a:pPr>
            <a:r>
              <a:rPr lang="en-US" sz="1600" dirty="0">
                <a:solidFill>
                  <a:srgbClr val="1F2933"/>
                </a:solidFill>
              </a:rPr>
              <a:t>[ks_project_e_tracking] PDF第2–4页，现场检查、关注事项及募集资金问题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[ks_d_s_l2] 中华人民共和国民法典（最高人民法院发布全文）</a:t>
            </a:r>
            <a:endParaRPr lang="en-US" sz="1600" dirty="0"/>
          </a:p>
          <a:p>
            <a:pPr indent="0" marL="0">
              <a:lnSpc>
                <a:spcPct val="100000"/>
              </a:lnSpc>
              <a:buNone/>
            </a:pPr>
            <a:r>
              <a:rPr lang="en-US" sz="1600" dirty="0">
                <a:solidFill>
                  <a:srgbClr val="1F2933"/>
                </a:solidFill>
              </a:rPr>
              <a:t>https://www.court.gov.cn/zixun/xiangqing/233181.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[ks_d_e_civil_remedies] 网页正文：第五百七十七至五百七十九条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[ks_d_s_l3] 最高人民法院关于破产分配中本金与利息清偿顺序疑问的回复</a:t>
            </a:r>
            <a:endParaRPr lang="en-US" sz="1600" dirty="0"/>
          </a:p>
          <a:p>
            <a:pPr indent="0" marL="0">
              <a:lnSpc>
                <a:spcPct val="100000"/>
              </a:lnSpc>
              <a:buNone/>
            </a:pPr>
            <a:r>
              <a:rPr lang="en-US" sz="1600" dirty="0">
                <a:solidFill>
                  <a:srgbClr val="1F2933"/>
                </a:solidFill>
              </a:rPr>
              <a:t>https://www.court.gov.cn/hudong/xiangqing/320171.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[ks_d_e_ranking] 网页正文回复：普通破产债权本息清偿顺序</a:t>
            </a:r>
            <a:endParaRPr lang="en-US" sz="1600" dirty="0"/>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[ks_d_s_l4] 中国证监会决定修改的规范性文件（2025年汇编，含修订后的上市公司监管指引第4</a:t>
            </a:r>
            <a:endParaRPr lang="en-US" sz="1600" dirty="0"/>
          </a:p>
          <a:p>
            <a:pPr indent="0" marL="0">
              <a:lnSpc>
                <a:spcPct val="100000"/>
              </a:lnSpc>
              <a:buNone/>
            </a:pPr>
            <a:r>
              <a:rPr lang="en-US" sz="1600" dirty="0">
                <a:solidFill>
                  <a:srgbClr val="1F2933"/>
                </a:solidFill>
              </a:rPr>
              <a:t>号）</a:t>
            </a:r>
            <a:endParaRPr lang="en-US" sz="1600" dirty="0"/>
          </a:p>
          <a:p>
            <a:pPr indent="0" marL="0">
              <a:lnSpc>
                <a:spcPct val="100000"/>
              </a:lnSpc>
              <a:buNone/>
            </a:pPr>
            <a:r>
              <a:rPr lang="en-US" sz="1600" dirty="0">
                <a:solidFill>
                  <a:srgbClr val="1F2933"/>
                </a:solidFill>
              </a:rPr>
              <a:t>https://www.csrc.gov.cn/csrc/c101954/c7547906/</a:t>
            </a:r>
            <a:endParaRPr lang="en-US" sz="1600" dirty="0"/>
          </a:p>
          <a:p>
            <a:pPr indent="0" marL="0">
              <a:lnSpc>
                <a:spcPct val="100000"/>
              </a:lnSpc>
              <a:buNone/>
            </a:pPr>
            <a:r>
              <a:rPr lang="en-US" sz="1600" dirty="0">
                <a:solidFill>
                  <a:srgbClr val="1F2933"/>
                </a:solidFill>
              </a:rPr>
              <a:t>7547906/files/%E9%99%84%E4%BB%B61-1%EF%BC%9A%E4%B8%</a:t>
            </a:r>
            <a:endParaRPr lang="en-US" sz="1600" dirty="0"/>
          </a:p>
          <a:p>
            <a:pPr indent="0" marL="0">
              <a:lnSpc>
                <a:spcPct val="100000"/>
              </a:lnSpc>
              <a:buNone/>
            </a:pPr>
            <a:r>
              <a:rPr lang="en-US" sz="1600" dirty="0">
                <a:solidFill>
                  <a:srgbClr val="1F2933"/>
                </a:solidFill>
              </a:rPr>
              <a:t>AD%E5%9B%BD%E8%AF%81%E7%9B%91%E4%BC%9A%E5%86%B3%E5%</a:t>
            </a:r>
            <a:endParaRPr lang="en-US" sz="1600" dirty="0"/>
          </a:p>
          <a:p>
            <a:pPr indent="0" marL="0">
              <a:lnSpc>
                <a:spcPct val="100000"/>
              </a:lnSpc>
              <a:buNone/>
            </a:pPr>
            <a:r>
              <a:rPr lang="en-US" sz="1600" dirty="0">
                <a:solidFill>
                  <a:srgbClr val="1F2933"/>
                </a:solidFill>
              </a:rPr>
              <a:t>AE%9A%E4%BF%AE%E6%94%B9%E7%9A%84%E8%A7%84%E8%8C%83%</a:t>
            </a:r>
            <a:endParaRPr lang="en-US" sz="1600" dirty="0"/>
          </a:p>
          <a:p>
            <a:pPr indent="0" marL="0">
              <a:lnSpc>
                <a:spcPct val="100000"/>
              </a:lnSpc>
              <a:buNone/>
            </a:pPr>
            <a:r>
              <a:rPr lang="en-US" sz="1600" dirty="0">
                <a:solidFill>
                  <a:srgbClr val="1F2933"/>
                </a:solidFill>
              </a:rPr>
              <a:t>E6%80%A7%E6%96%87%E4%BB%B6.pdf</a:t>
            </a:r>
            <a:endParaRPr lang="en-US" sz="1600" dirty="0"/>
          </a:p>
          <a:p>
            <a:pPr indent="0" marL="0">
              <a:lnSpc>
                <a:spcPct val="100000"/>
              </a:lnSpc>
              <a:buNone/>
            </a:pPr>
            <a:r>
              <a:rPr lang="en-US" sz="1600" dirty="0">
                <a:solidFill>
                  <a:srgbClr val="1F2933"/>
                </a:solidFill>
              </a:rPr>
              <a:t>[ks_d_e_commitment_regulation] PDF p711–715，《上市公司监管</a:t>
            </a:r>
            <a:endParaRPr lang="en-US" sz="1600" dirty="0"/>
          </a:p>
          <a:p>
            <a:pPr indent="0" marL="0">
              <a:lnSpc>
                <a:spcPct val="100000"/>
              </a:lnSpc>
              <a:buNone/>
            </a:pPr>
            <a:r>
              <a:rPr lang="en-US" sz="1600" dirty="0">
                <a:solidFill>
                  <a:srgbClr val="1F2933"/>
                </a:solidFill>
              </a:rPr>
              <a:t>指引第4号》：第十至十四、十七至十八条</a:t>
            </a:r>
            <a:endParaRPr lang="en-US" sz="1600" dirty="0"/>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[ks_d_s_l1] 证券期货法律适用意见第18号（2023年发行时原文）</a:t>
            </a:r>
            <a:endParaRPr lang="en-US" sz="1600" dirty="0"/>
          </a:p>
          <a:p>
            <a:pPr indent="0" marL="0">
              <a:lnSpc>
                <a:spcPct val="100000"/>
              </a:lnSpc>
              <a:buNone/>
            </a:pPr>
            <a:r>
              <a:rPr lang="en-US" sz="1600" dirty="0">
                <a:solidFill>
                  <a:srgbClr val="1F2933"/>
                </a:solidFill>
              </a:rPr>
              <a:t>https://www.csrc.gov.cn/csrc/c101954/c7122002/</a:t>
            </a:r>
            <a:endParaRPr lang="en-US" sz="1600" dirty="0"/>
          </a:p>
          <a:p>
            <a:pPr indent="0" marL="0">
              <a:lnSpc>
                <a:spcPct val="100000"/>
              </a:lnSpc>
              <a:buNone/>
            </a:pPr>
            <a:r>
              <a:rPr lang="en-US" sz="1600" dirty="0">
                <a:solidFill>
                  <a:srgbClr val="1F2933"/>
                </a:solidFill>
              </a:rPr>
              <a:t>7122002/files/%E9%99%84%E4%BB%B61%EF%BC%9A%EF%BC%88</a:t>
            </a:r>
            <a:endParaRPr lang="en-US" sz="1600" dirty="0"/>
          </a:p>
          <a:p>
            <a:pPr indent="0" marL="0">
              <a:lnSpc>
                <a:spcPct val="100000"/>
              </a:lnSpc>
              <a:buNone/>
            </a:pPr>
            <a:r>
              <a:rPr lang="en-US" sz="1600" dirty="0">
                <a:solidFill>
                  <a:srgbClr val="1F2933"/>
                </a:solidFill>
              </a:rPr>
              <a:t>%E5%86%8D%E8%9E%8D%E8%B5%84%EF%BC%89%E8%AF%81%E5%88</a:t>
            </a:r>
            <a:endParaRPr lang="en-US" sz="1600" dirty="0"/>
          </a:p>
          <a:p>
            <a:pPr indent="0" marL="0">
              <a:lnSpc>
                <a:spcPct val="100000"/>
              </a:lnSpc>
              <a:buNone/>
            </a:pPr>
            <a:r>
              <a:rPr lang="en-US" sz="1600" dirty="0">
                <a:solidFill>
                  <a:srgbClr val="1F2933"/>
                </a:solidFill>
              </a:rPr>
              <a:t>%B8%E6%9C%9F%E8%B4%A7%E6%B3%95%E5%BE%8B%E9%80%82%E7</a:t>
            </a:r>
            <a:endParaRPr lang="en-US" sz="1600" dirty="0"/>
          </a:p>
          <a:p>
            <a:pPr indent="0" marL="0">
              <a:lnSpc>
                <a:spcPct val="100000"/>
              </a:lnSpc>
              <a:buNone/>
            </a:pPr>
            <a:r>
              <a:rPr lang="en-US" sz="1600" dirty="0">
                <a:solidFill>
                  <a:srgbClr val="1F2933"/>
                </a:solidFill>
              </a:rPr>
              <a:t>%94%A8%E6%84%8F%E8%A7%81%E7%AC%AC18%E5%8F%B7.pdf</a:t>
            </a:r>
            <a:endParaRPr lang="en-US" sz="1600" dirty="0"/>
          </a:p>
          <a:p>
            <a:pPr indent="0" marL="0">
              <a:lnSpc>
                <a:spcPct val="100000"/>
              </a:lnSpc>
              <a:buNone/>
            </a:pPr>
            <a:r>
              <a:rPr lang="en-US" sz="1600" dirty="0">
                <a:solidFill>
                  <a:srgbClr val="1F2933"/>
                </a:solidFill>
              </a:rPr>
              <a:t>[ks_d_e_issuance_law] PDF p6–7，第三部分（发行时原文）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[ks_r_method] 联合资信一般工商企业信用评级方法与模型V4.1.202606</a:t>
            </a:r>
            <a:endParaRPr lang="en-US" sz="1600" dirty="0"/>
          </a:p>
          <a:p>
            <a:pPr indent="0" marL="0">
              <a:lnSpc>
                <a:spcPct val="100000"/>
              </a:lnSpc>
              <a:buNone/>
            </a:pPr>
            <a:r>
              <a:rPr lang="en-US" sz="1600" dirty="0">
                <a:solidFill>
                  <a:srgbClr val="1F2933"/>
                </a:solidFill>
              </a:rPr>
              <a:t>https://www.lhratings.com/file/8622bc88-5377-4572</a:t>
            </a:r>
            <a:endParaRPr lang="en-US" sz="1600" dirty="0"/>
          </a:p>
          <a:p>
            <a:pPr indent="0" marL="0">
              <a:lnSpc>
                <a:spcPct val="100000"/>
              </a:lnSpc>
              <a:buNone/>
            </a:pPr>
            <a:r>
              <a:rPr lang="en-US" sz="1600" dirty="0">
                <a:solidFill>
                  <a:srgbClr val="1F2933"/>
                </a:solidFill>
              </a:rPr>
              <a:t>-8c93-afc6d796339d.pdf</a:t>
            </a:r>
            <a:endParaRPr lang="en-US" sz="1600" dirty="0"/>
          </a:p>
          <a:p>
            <a:pPr indent="0" marL="0">
              <a:lnSpc>
                <a:spcPct val="100000"/>
              </a:lnSpc>
              <a:buNone/>
            </a:pPr>
            <a:r>
              <a:rPr lang="en-US" sz="1600" dirty="0">
                <a:solidFill>
                  <a:srgbClr val="1F2933"/>
                </a:solidFill>
              </a:rPr>
              <a:t>[ks_r_e_business] PDF24表1、25表4、26–27表7、29表9、33公式</a:t>
            </a:r>
            <a:endParaRPr lang="en-US" sz="1600" dirty="0"/>
          </a:p>
          <a:p>
            <a:pPr indent="0" marL="0">
              <a:lnSpc>
                <a:spcPct val="100000"/>
              </a:lnSpc>
              <a:buNone/>
            </a:pPr>
            <a:r>
              <a:rPr lang="en-US" sz="1600" dirty="0">
                <a:solidFill>
                  <a:srgbClr val="1F2933"/>
                </a:solidFill>
              </a:rPr>
              <a:t>[ks_r_e_finance] PDF25表3、27表8、30表10–11、31表12、33公式</a:t>
            </a:r>
            <a:endParaRPr lang="en-US" sz="1600" dirty="0"/>
          </a:p>
          <a:p>
            <a:pPr indent="0" marL="0">
              <a:lnSpc>
                <a:spcPct val="100000"/>
              </a:lnSpc>
              <a:buNone/>
            </a:pPr>
            <a:r>
              <a:rPr lang="en-US" sz="1600" dirty="0">
                <a:solidFill>
                  <a:srgbClr val="1F2933"/>
                </a:solidFill>
              </a:rPr>
              <a:t>[ks_r_e_history] PDF26历史权重与赋值说明、32局限</a:t>
            </a:r>
            <a:endParaRPr lang="en-US" sz="1600" dirty="0"/>
          </a:p>
          <a:p>
            <a:pPr indent="0" marL="0">
              <a:lnSpc>
                <a:spcPct val="100000"/>
              </a:lnSpc>
              <a:buNone/>
            </a:pPr>
            <a:r>
              <a:rPr lang="en-US" sz="1600" dirty="0">
                <a:solidFill>
                  <a:srgbClr val="1F2933"/>
                </a:solidFill>
              </a:rPr>
              <a:t>[ks_r_e_matrix] PDF25表5、26表6、32专业判断</a:t>
            </a:r>
            <a:endParaRPr lang="en-US" sz="1600" dirty="0"/>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[ks_r_principles] 联合资信企业信用评级方法总论V4.1.202605</a:t>
            </a:r>
            <a:endParaRPr lang="en-US" sz="1600" dirty="0"/>
          </a:p>
          <a:p>
            <a:pPr indent="0" marL="0">
              <a:lnSpc>
                <a:spcPct val="100000"/>
              </a:lnSpc>
              <a:buNone/>
            </a:pPr>
            <a:r>
              <a:rPr lang="en-US" sz="1600" dirty="0">
                <a:solidFill>
                  <a:srgbClr val="1F2933"/>
                </a:solidFill>
              </a:rPr>
              <a:t>https://www.lhratings.com/file/57da1b35-2001-44e0</a:t>
            </a:r>
            <a:endParaRPr lang="en-US" sz="1600" dirty="0"/>
          </a:p>
          <a:p>
            <a:pPr indent="0" marL="0">
              <a:lnSpc>
                <a:spcPct val="100000"/>
              </a:lnSpc>
              <a:buNone/>
            </a:pPr>
            <a:r>
              <a:rPr lang="en-US" sz="1600" dirty="0">
                <a:solidFill>
                  <a:srgbClr val="1F2933"/>
                </a:solidFill>
              </a:rPr>
              <a:t>-9505-8f33baebef39.pdf</a:t>
            </a:r>
            <a:endParaRPr lang="en-US" sz="1600" dirty="0"/>
          </a:p>
          <a:p>
            <a:pPr indent="0" marL="0">
              <a:lnSpc>
                <a:spcPct val="100000"/>
              </a:lnSpc>
              <a:buNone/>
            </a:pPr>
            <a:r>
              <a:rPr lang="en-US" sz="1600" dirty="0">
                <a:solidFill>
                  <a:srgbClr val="1F2933"/>
                </a:solidFill>
              </a:rPr>
              <a:t>[ks_r_e_discretion] PDF15–16，评级方法局限及专业判断</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[ks_r_support] 联合资信外部支持评估方法V4.1.202605</a:t>
            </a:r>
            <a:endParaRPr lang="en-US" sz="1600" dirty="0"/>
          </a:p>
          <a:p>
            <a:pPr indent="0" marL="0">
              <a:lnSpc>
                <a:spcPct val="100000"/>
              </a:lnSpc>
              <a:buNone/>
            </a:pPr>
            <a:r>
              <a:rPr lang="en-US" sz="1600" dirty="0">
                <a:solidFill>
                  <a:srgbClr val="1F2933"/>
                </a:solidFill>
              </a:rPr>
              <a:t>https://www.lhratings.com/file/2c5877a1-7aca-42c5-</a:t>
            </a:r>
            <a:endParaRPr lang="en-US" sz="1600" dirty="0"/>
          </a:p>
          <a:p>
            <a:pPr indent="0" marL="0">
              <a:lnSpc>
                <a:spcPct val="100000"/>
              </a:lnSpc>
              <a:buNone/>
            </a:pPr>
            <a:r>
              <a:rPr lang="en-US" sz="1600" dirty="0">
                <a:solidFill>
                  <a:srgbClr val="1F2933"/>
                </a:solidFill>
              </a:rPr>
              <a:t>b0b9-6cfd0fc0e9bd.pdf</a:t>
            </a:r>
            <a:endParaRPr lang="en-US" sz="1600" dirty="0"/>
          </a:p>
          <a:p>
            <a:pPr indent="0" marL="0">
              <a:lnSpc>
                <a:spcPct val="100000"/>
              </a:lnSpc>
              <a:buNone/>
            </a:pPr>
            <a:r>
              <a:rPr lang="en-US" sz="1600" dirty="0">
                <a:solidFill>
                  <a:srgbClr val="1F2933"/>
                </a:solidFill>
              </a:rPr>
              <a:t>[ks_r_e_support] PDF3–5框架；6–8政府五因素；8–10企业法人股东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[ks_r_issue] 联合资信债项评级基本方法V3.0.202207</a:t>
            </a:r>
            <a:endParaRPr lang="en-US" sz="1600" dirty="0"/>
          </a:p>
          <a:p>
            <a:pPr indent="0" marL="0">
              <a:lnSpc>
                <a:spcPct val="100000"/>
              </a:lnSpc>
              <a:buNone/>
            </a:pPr>
            <a:r>
              <a:rPr lang="en-US" sz="1600" dirty="0">
                <a:solidFill>
                  <a:srgbClr val="1F2933"/>
                </a:solidFill>
              </a:rPr>
              <a:t>https://www.lhratings.com/file/461ba035-33a2-4901-</a:t>
            </a:r>
            <a:endParaRPr lang="en-US" sz="1600" dirty="0"/>
          </a:p>
          <a:p>
            <a:pPr indent="0" marL="0">
              <a:lnSpc>
                <a:spcPct val="100000"/>
              </a:lnSpc>
              <a:buNone/>
            </a:pPr>
            <a:r>
              <a:rPr lang="en-US" sz="1600" dirty="0">
                <a:solidFill>
                  <a:srgbClr val="1F2933"/>
                </a:solidFill>
              </a:rPr>
              <a:t>a0da-72c52a66766a.pdf</a:t>
            </a:r>
            <a:endParaRPr lang="en-US" sz="1600" dirty="0"/>
          </a:p>
          <a:p>
            <a:pPr indent="0" marL="0">
              <a:lnSpc>
                <a:spcPct val="100000"/>
              </a:lnSpc>
              <a:buNone/>
            </a:pPr>
            <a:r>
              <a:rPr lang="en-US" sz="1600" dirty="0">
                <a:solidFill>
                  <a:srgbClr val="1F2933"/>
                </a:solidFill>
              </a:rPr>
              <a:t>[ks_r_e_issue] PDF3–7，债项范围、等级、主体基础、偿还顺序及可转换工具</a:t>
            </a:r>
            <a:endParaRPr lang="en-US" sz="1600" dirty="0"/>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[ks_r_application] 科顺防水科技股份有限公司可转换公司债券2026年跟踪评级报告</a:t>
            </a:r>
            <a:endParaRPr lang="en-US" sz="1600" dirty="0"/>
          </a:p>
          <a:p>
            <a:pPr indent="0" marL="0">
              <a:lnSpc>
                <a:spcPct val="100000"/>
              </a:lnSpc>
              <a:buNone/>
            </a:pPr>
            <a:r>
              <a:rPr lang="en-US" sz="1600" dirty="0">
                <a:solidFill>
                  <a:srgbClr val="1F2933"/>
                </a:solidFill>
              </a:rPr>
              <a:t>https://www.lhratings.com/reports/B010330-P61284</a:t>
            </a:r>
            <a:endParaRPr lang="en-US" sz="1600" dirty="0"/>
          </a:p>
          <a:p>
            <a:pPr indent="0" marL="0">
              <a:lnSpc>
                <a:spcPct val="100000"/>
              </a:lnSpc>
              <a:buNone/>
            </a:pPr>
            <a:r>
              <a:rPr lang="en-US" sz="1600" dirty="0">
                <a:solidFill>
                  <a:srgbClr val="1F2933"/>
                </a:solidFill>
              </a:rPr>
              <a:t>-2021-GZ2026.pdf</a:t>
            </a:r>
            <a:endParaRPr lang="en-US" sz="1600" dirty="0"/>
          </a:p>
          <a:p>
            <a:pPr indent="0" marL="0">
              <a:lnSpc>
                <a:spcPct val="100000"/>
              </a:lnSpc>
              <a:buNone/>
            </a:pPr>
            <a:r>
              <a:rPr lang="en-US" sz="1600" dirty="0">
                <a:solidFill>
                  <a:srgbClr val="1F2933"/>
                </a:solidFill>
              </a:rPr>
              <a:t>[ks_r_e_definitions] PDF23附件4-1至4-4；方法适用性PDF6、8</a:t>
            </a:r>
            <a:endParaRPr lang="en-US" sz="1600" dirty="0"/>
          </a:p>
          <a:p>
            <a:pPr indent="0" marL="0">
              <a:lnSpc>
                <a:spcPct val="100000"/>
              </a:lnSpc>
              <a:buNone/>
            </a:pPr>
            <a:r>
              <a:rPr lang="en-US" sz="1600" dirty="0">
                <a:solidFill>
                  <a:srgbClr val="1F2933"/>
                </a:solidFill>
              </a:rPr>
              <a:t>[ks_credit_e_facilities] PDF17/印刷14，偿债指标变化后授信段；截至</a:t>
            </a:r>
            <a:endParaRPr lang="en-US" sz="1600" dirty="0"/>
          </a:p>
          <a:p>
            <a:pPr indent="0" marL="0">
              <a:lnSpc>
                <a:spcPct val="100000"/>
              </a:lnSpc>
              <a:buNone/>
            </a:pPr>
            <a:r>
              <a:rPr lang="en-US" sz="1600" dirty="0">
                <a:solidFill>
                  <a:srgbClr val="1F2933"/>
                </a:solidFill>
              </a:rPr>
              <a:t>2025年底，亿元</a:t>
            </a:r>
            <a:endParaRPr lang="en-US" sz="1600" dirty="0"/>
          </a:p>
          <a:p>
            <a:pPr indent="0" marL="0">
              <a:lnSpc>
                <a:spcPct val="100000"/>
              </a:lnSpc>
              <a:buNone/>
            </a:pPr>
            <a:r>
              <a:rPr lang="en-US" sz="1600" dirty="0">
                <a:solidFill>
                  <a:srgbClr val="1F2933"/>
                </a:solidFill>
              </a:rPr>
              <a:t>[ks_credit_e_yearend_settlement] PDF17/印刷14，授信段后经销商</a:t>
            </a:r>
            <a:endParaRPr lang="en-US" sz="1600" dirty="0"/>
          </a:p>
          <a:p>
            <a:pPr indent="0" marL="0">
              <a:lnSpc>
                <a:spcPct val="100000"/>
              </a:lnSpc>
              <a:buNone/>
            </a:pPr>
            <a:r>
              <a:rPr lang="en-US" sz="1600" dirty="0">
                <a:solidFill>
                  <a:srgbClr val="1F2933"/>
                </a:solidFill>
              </a:rPr>
              <a:t>担保段</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[ks_horizon_s_h125] 科顺股份2025年半年度报告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2025-08-29/fac36ebc-3d92-4c4c-93ef-826df53c41bb.PDF</a:t>
            </a:r>
            <a:endParaRPr lang="en-US" sz="1600" dirty="0"/>
          </a:p>
          <a:p>
            <a:pPr indent="0" marL="0">
              <a:lnSpc>
                <a:spcPct val="100000"/>
              </a:lnSpc>
              <a:buNone/>
            </a:pPr>
            <a:r>
              <a:rPr lang="en-US" sz="1600" dirty="0">
                <a:solidFill>
                  <a:srgbClr val="1F2933"/>
                </a:solidFill>
              </a:rPr>
              <a:t>[ks_horizon_e_h125] PDF71–72页，合并现金流量表2025年半年度列；单位元</a:t>
            </a:r>
            <a:endParaRPr lang="en-US" sz="1600" dirty="0"/>
          </a:p>
          <a:p>
            <a:pPr indent="0" marL="0">
              <a:lnSpc>
                <a:spcPct val="100000"/>
              </a:lnSpc>
              <a:buNone/>
            </a:pPr>
            <a:r>
              <a:rPr lang="en-US" sz="1600" dirty="0">
                <a:solidFill>
                  <a:srgbClr val="1F2933"/>
                </a:solidFill>
              </a:rPr>
              <a:t>[ks_horizon_e_parenth125] PDF73–74页，母公司现金流量表</a:t>
            </a:r>
            <a:endParaRPr lang="en-US" sz="1600" dirty="0"/>
          </a:p>
          <a:p>
            <a:pPr indent="0" marL="0">
              <a:lnSpc>
                <a:spcPct val="100000"/>
              </a:lnSpc>
              <a:buNone/>
            </a:pPr>
            <a:r>
              <a:rPr lang="en-US" sz="1600" dirty="0">
                <a:solidFill>
                  <a:srgbClr val="1F2933"/>
                </a:solidFill>
              </a:rPr>
              <a:t>[ks_horizon_e_h1_scope] PDF7–8页追溯表；73页CCE期初；84、86页</a:t>
            </a:r>
            <a:endParaRPr lang="en-US" sz="1600" dirty="0"/>
          </a:p>
          <a:p>
            <a:pPr indent="0" marL="0">
              <a:lnSpc>
                <a:spcPct val="100000"/>
              </a:lnSpc>
              <a:buNone/>
            </a:pPr>
            <a:r>
              <a:rPr lang="en-US" sz="1600" dirty="0">
                <a:solidFill>
                  <a:srgbClr val="1F2933"/>
                </a:solidFill>
              </a:rPr>
              <a:t>准则及合并政策；104页政策/估计变更；152–153页合并范围变更</a:t>
            </a:r>
            <a:endParaRPr lang="en-US" sz="1600" dirty="0"/>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[ks_horizon_s_q125] 科顺股份2025年第一季度报告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1223275050.PDF</a:t>
            </a:r>
            <a:endParaRPr lang="en-US" sz="1600" dirty="0"/>
          </a:p>
          <a:p>
            <a:pPr indent="0" marL="0">
              <a:lnSpc>
                <a:spcPct val="100000"/>
              </a:lnSpc>
              <a:buNone/>
            </a:pPr>
            <a:r>
              <a:rPr lang="en-US" sz="1600" dirty="0">
                <a:solidFill>
                  <a:srgbClr val="1F2933"/>
                </a:solidFill>
              </a:rPr>
              <a:t>[ks_horizon_e_q125] PDF1页追溯选择；10–12页合并现金流量表本期列；与</a:t>
            </a:r>
            <a:endParaRPr lang="en-US" sz="1600" dirty="0"/>
          </a:p>
          <a:p>
            <a:pPr indent="0" marL="0">
              <a:lnSpc>
                <a:spcPct val="100000"/>
              </a:lnSpc>
              <a:buNone/>
            </a:pPr>
            <a:r>
              <a:rPr lang="en-US" sz="1600" dirty="0">
                <a:solidFill>
                  <a:srgbClr val="1F2933"/>
                </a:solidFill>
              </a:rPr>
              <a:t>2026Q1 PDF10–12页上期列逐项核对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[ks_tax_s_cas18] 企业会计准则第18号——所得税</a:t>
            </a:r>
            <a:endParaRPr lang="en-US" sz="1600" dirty="0"/>
          </a:p>
          <a:p>
            <a:pPr indent="0" marL="0">
              <a:lnSpc>
                <a:spcPct val="100000"/>
              </a:lnSpc>
              <a:buNone/>
            </a:pPr>
            <a:r>
              <a:rPr lang="en-US" sz="1600" dirty="0">
                <a:solidFill>
                  <a:srgbClr val="1F2933"/>
                </a:solidFill>
              </a:rPr>
              <a:t>https://kjs.mof.gov.cn/zt/kjzzss/kuaijizhunzeshishi</a:t>
            </a:r>
            <a:endParaRPr lang="en-US" sz="1600" dirty="0"/>
          </a:p>
          <a:p>
            <a:pPr indent="0" marL="0">
              <a:lnSpc>
                <a:spcPct val="100000"/>
              </a:lnSpc>
              <a:buNone/>
            </a:pPr>
            <a:r>
              <a:rPr lang="en-US" sz="1600" dirty="0">
                <a:solidFill>
                  <a:srgbClr val="1F2933"/>
                </a:solidFill>
              </a:rPr>
              <a:t>/200806/t20080618_46230.htm</a:t>
            </a:r>
            <a:endParaRPr lang="en-US" sz="1600" dirty="0"/>
          </a:p>
          <a:p>
            <a:pPr indent="0" marL="0">
              <a:lnSpc>
                <a:spcPct val="100000"/>
              </a:lnSpc>
              <a:buNone/>
            </a:pPr>
            <a:r>
              <a:rPr lang="en-US" sz="1600" dirty="0">
                <a:solidFill>
                  <a:srgbClr val="1F2933"/>
                </a:solidFill>
              </a:rPr>
              <a:t>[ks_tax_e_cas18] 第13、15、17、20—22条</a:t>
            </a:r>
            <a:endParaRPr lang="en-US" sz="1600" dirty="0"/>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[ks_tax_s_csrc5] 监管规则适用指引——会计类第5号</a:t>
            </a:r>
            <a:endParaRPr lang="en-US" sz="1600" dirty="0"/>
          </a:p>
          <a:p>
            <a:pPr indent="0" marL="0">
              <a:lnSpc>
                <a:spcPct val="100000"/>
              </a:lnSpc>
              <a:buNone/>
            </a:pPr>
            <a:r>
              <a:rPr lang="en-US" sz="1600" dirty="0">
                <a:solidFill>
                  <a:srgbClr val="1F2933"/>
                </a:solidFill>
              </a:rPr>
              <a:t>https://www.csrc.gov.cn/csrc/c105942/c7572064/</a:t>
            </a:r>
            <a:endParaRPr lang="en-US" sz="1600" dirty="0"/>
          </a:p>
          <a:p>
            <a:pPr indent="0" marL="0">
              <a:lnSpc>
                <a:spcPct val="100000"/>
              </a:lnSpc>
              <a:buNone/>
            </a:pPr>
            <a:r>
              <a:rPr lang="en-US" sz="1600" dirty="0">
                <a:solidFill>
                  <a:srgbClr val="1F2933"/>
                </a:solidFill>
              </a:rPr>
              <a:t>7572064/files/%E9%99%84%E4%BB%B61%EF%BC%9A%E3%80%8A</a:t>
            </a:r>
            <a:endParaRPr lang="en-US" sz="1600" dirty="0"/>
          </a:p>
          <a:p>
            <a:pPr indent="0" marL="0">
              <a:lnSpc>
                <a:spcPct val="100000"/>
              </a:lnSpc>
              <a:buNone/>
            </a:pPr>
            <a:r>
              <a:rPr lang="en-US" sz="1600" dirty="0">
                <a:solidFill>
                  <a:srgbClr val="1F2933"/>
                </a:solidFill>
              </a:rPr>
              <a:t>%E7%9B%91%E7%AE%A1%E8%A7%84%E5%88%99%E9%80%82%E7%94</a:t>
            </a:r>
            <a:endParaRPr lang="en-US" sz="1600" dirty="0"/>
          </a:p>
          <a:p>
            <a:pPr indent="0" marL="0">
              <a:lnSpc>
                <a:spcPct val="100000"/>
              </a:lnSpc>
              <a:buNone/>
            </a:pPr>
            <a:r>
              <a:rPr lang="en-US" sz="1600" dirty="0">
                <a:solidFill>
                  <a:srgbClr val="1F2933"/>
                </a:solidFill>
              </a:rPr>
              <a:t>%A8%E6%8C%87%E5%BC%95%E2%80%94%E2%80%94%E4%BC%9A%E8</a:t>
            </a:r>
            <a:endParaRPr lang="en-US" sz="1600" dirty="0"/>
          </a:p>
          <a:p>
            <a:pPr indent="0" marL="0">
              <a:lnSpc>
                <a:spcPct val="100000"/>
              </a:lnSpc>
              <a:buNone/>
            </a:pPr>
            <a:r>
              <a:rPr lang="en-US" sz="1600" dirty="0">
                <a:solidFill>
                  <a:srgbClr val="1F2933"/>
                </a:solidFill>
              </a:rPr>
              <a:t>%AE%A1%E7%B1%BB%E7%AC%AC5%E5%8F%B7%E3%80%8B.pdf</a:t>
            </a:r>
            <a:endParaRPr lang="en-US" sz="1600" dirty="0"/>
          </a:p>
          <a:p>
            <a:pPr indent="0" marL="0">
              <a:lnSpc>
                <a:spcPct val="100000"/>
              </a:lnSpc>
              <a:buNone/>
            </a:pPr>
            <a:r>
              <a:rPr lang="en-US" sz="1600" dirty="0">
                <a:solidFill>
                  <a:srgbClr val="1F2933"/>
                </a:solidFill>
              </a:rPr>
              <a:t>[ks_tax_e_csrc5] PDF/印刷第8—9页，5-8发行可转换债券的递延所得税会计处理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[ks_credit_s_guarantee_q1] 科顺股份关于为全资子公司提供担保的公告（2026</a:t>
            </a:r>
            <a:endParaRPr lang="en-US" sz="1600" dirty="0"/>
          </a:p>
          <a:p>
            <a:pPr indent="0" marL="0">
              <a:lnSpc>
                <a:spcPct val="100000"/>
              </a:lnSpc>
              <a:buNone/>
            </a:pPr>
            <a:r>
              <a:rPr lang="en-US" sz="1600" dirty="0">
                <a:solidFill>
                  <a:srgbClr val="1F2933"/>
                </a:solidFill>
              </a:rPr>
              <a:t>-016）</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1225172711.PDF</a:t>
            </a:r>
            <a:endParaRPr lang="en-US" sz="1600" dirty="0"/>
          </a:p>
          <a:p>
            <a:pPr indent="0" marL="0">
              <a:lnSpc>
                <a:spcPct val="100000"/>
              </a:lnSpc>
              <a:buNone/>
            </a:pPr>
            <a:r>
              <a:rPr lang="en-US" sz="1600" dirty="0">
                <a:solidFill>
                  <a:srgbClr val="1F2933"/>
                </a:solidFill>
              </a:rPr>
              <a:t>[ks_credit_e_guarantee_q1] PDF3—4，第五节；截至2026-03-31，</a:t>
            </a:r>
            <a:endParaRPr lang="en-US" sz="1600" dirty="0"/>
          </a:p>
          <a:p>
            <a:pPr indent="0" marL="0">
              <a:lnSpc>
                <a:spcPct val="100000"/>
              </a:lnSpc>
              <a:buNone/>
            </a:pPr>
            <a:r>
              <a:rPr lang="en-US" sz="1600" dirty="0">
                <a:solidFill>
                  <a:srgbClr val="1F2933"/>
                </a:solidFill>
              </a:rPr>
              <a:t>万元</a:t>
            </a:r>
            <a:endParaRPr lang="en-US" sz="1600" dirty="0"/>
          </a:p>
          <a:p>
            <a:pPr indent="0" marL="0">
              <a:lnSpc>
                <a:spcPct val="100000"/>
              </a:lnSpc>
              <a:buNone/>
            </a:pPr>
            <a:r>
              <a:rPr lang="en-US" sz="1600" dirty="0">
                <a:solidFill>
                  <a:srgbClr val="1F2933"/>
                </a:solidFill>
              </a:rPr>
              <a:t>[ks_credit_e_guarantee_approval] PDF1—3，第一、三节；2026</a:t>
            </a:r>
            <a:endParaRPr lang="en-US" sz="1600" dirty="0"/>
          </a:p>
          <a:p>
            <a:pPr indent="0" marL="0">
              <a:lnSpc>
                <a:spcPct val="100000"/>
              </a:lnSpc>
              <a:buNone/>
            </a:pPr>
            <a:r>
              <a:rPr lang="en-US" sz="1600" dirty="0">
                <a:solidFill>
                  <a:srgbClr val="1F2933"/>
                </a:solidFill>
              </a:rPr>
              <a:t>-04-23审批，万元</a:t>
            </a:r>
            <a:endParaRPr lang="en-US" sz="1600" dirty="0"/>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name="Slide 3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[ks_credit_s_sponsor] 国泰君安证券关于科顺股份对外担保的核查意见</a:t>
            </a:r>
            <a:endParaRPr lang="en-US" sz="1600" dirty="0"/>
          </a:p>
          <a:p>
            <a:pPr indent="0" marL="0">
              <a:lnSpc>
                <a:spcPct val="100000"/>
              </a:lnSpc>
              <a:buNone/>
            </a:pPr>
            <a:r>
              <a:rPr lang="en-US" sz="1600" dirty="0">
                <a:solidFill>
                  <a:srgbClr val="1F2933"/>
                </a:solidFill>
              </a:rPr>
              <a:t>https://static.cninfo.com.cn/finalpage/2024-08-28/</a:t>
            </a:r>
            <a:endParaRPr lang="en-US" sz="1600" dirty="0"/>
          </a:p>
          <a:p>
            <a:pPr indent="0" marL="0">
              <a:lnSpc>
                <a:spcPct val="100000"/>
              </a:lnSpc>
              <a:buNone/>
            </a:pPr>
            <a:r>
              <a:rPr lang="en-US" sz="1600" dirty="0">
                <a:solidFill>
                  <a:srgbClr val="1F2933"/>
                </a:solidFill>
              </a:rPr>
              <a:t>1221008879.PDF</a:t>
            </a:r>
            <a:endParaRPr lang="en-US" sz="1600" dirty="0"/>
          </a:p>
          <a:p>
            <a:pPr indent="0" marL="0">
              <a:lnSpc>
                <a:spcPct val="100000"/>
              </a:lnSpc>
              <a:buNone/>
            </a:pPr>
            <a:r>
              <a:rPr lang="en-US" sz="1600" dirty="0">
                <a:solidFill>
                  <a:srgbClr val="1F2933"/>
                </a:solidFill>
              </a:rPr>
              <a:t>[ks_credit_e_dealer_use] PDF2—3，第四及第五节</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370</Slides>
  <Notes>370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370</vt:i4>
      </vt:variant>
    </vt:vector>
  </HeadingPairs>
  <TitlesOfParts>
    <vt:vector size="3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lpstr>Slide 370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dc:title>
  <dc:subject>截至2026-06-30的境内相对信用研究：历史因素代表值支持主体及科顺转债BBB+、负面展望的条件分支；未来经营、税款和融资链展示条件变化，未选定唯一评级。实际付款、资金用途、同控版本与持续范围桥、发行人资金及承诺仍待核，条件数字不能证明付款覆盖。</dc:subject>
  <dc:creator>annual-report-analysis</dc:creator>
  <cp:lastModifiedBy>annual-report-analysis</cp:lastModifiedBy>
  <cp:revision>1</cp:revision>
  <dcterms:created xsi:type="dcterms:W3CDTF">2026-10-06T00:36:13Z</dcterms:created>
  <dcterms:modified xsi:type="dcterms:W3CDTF">2026-10-06T00:36:13Z</dcterms:modified>
</cp:coreProperties>
</file>