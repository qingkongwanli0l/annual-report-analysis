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Lst>
  <p:notesMasterIdLst>
    <p:notesMasterId r:id="rId1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notesMaster" Target="notesMasters/notesMaster1.xml"/><Relationship Id="rId138" Type="http://schemas.openxmlformats.org/officeDocument/2006/relationships/presProps" Target="presProps.xml"/><Relationship Id="rId139" Type="http://schemas.openxmlformats.org/officeDocument/2006/relationships/viewProps" Target="viewProps.xml"/><Relationship Id="rId140" Type="http://schemas.openxmlformats.org/officeDocument/2006/relationships/theme" Target="theme/theme1.xml"/><Relationship Id="rId1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公开资料分析，不构成审计；未执行函证、盘点、穿行测试、凭证抽查、管理层访谈或合同原件核验。
2025年报PDF第1—92、97—245页完成文本阅读；第93—96页未读未用。视觉复核选页另见覆盖证据，不声称全文视觉审阅。
2023年同控重述仅有摘要指标；2024原年报的2023明细保留原范围，不能据其补齐同口径指标。
2026一季报未经审计；对比季报未统一作横琴同控重述，不按季度数据年度化。
没有完整同控重述三年细项；财务两年30/70和最新周期输入是明确研究适配，非短存续例外的当然适用。
来源覆盖底稿保留适用章节和未完成项。没有完成内部合同、母公司未来资金、行业总体统计或真实评级委员会，不能据本例宣称生产验收通过。
来源 ks_r_issue 的正式公布日期未核验；不得据此证明在信息截止日前已公开。当前披露内容可以继续分析，历史时点结论须补充公告时间证据。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ks_r_recommendation
Status: conditional
所选境内方法下，证据如何形成具体建议？
环境3.25 分、自身竞争力3.78 分，财务主方案4.17 分；先权金额为3.74 分仍属F4。选较弱端基于最新负EBITDA、母公司负经营现金、第四季回款依赖及资金用途约束；已进基础因素的弱项不重复扣档。
区间代表值和历史适配具有判断空间；可比三年数据或可靠前瞻可能改变档位。
无保留审计及季度盈利、银行新增借款支持持续经营，但不能单独排除现金或合同限制。
Evidence: ks_r_e_business, ks_r_e_finance, ks_r_e_matrix, ks_a_ebitda_2025, ks_d_c_book_ratio
Counterevidence: ks_a_e_q1, ks_a_e_controlAll source records: ks_r_e_business, ks_r_e_finance, ks_r_e_matrix, ks_a_ebitda_2025, ks_d_c_book_ratio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ks_r_liquidity
Status: conditional
年末正现金是否掩盖更早缺口？
经营采购和票据结算在CFO内只扣一次；融资本金和现金利息另扣，未把非现金AP转借款再扣为现金。募集金恢复用途是现金限制敏感性，不是新增外部债本金。负数后续行只显示未融资缺口，晚收款不能抹去先前支付失败。
银行续贷、资产变现或真实现金上划可能补足缺口，但须有可执行额度、条件和时点。
实际采购、建设支出或回款季节性可能不同于研究假设，需用实际付款台账替换。
Evidence: ks_d_l_e_cash_actual, ks_d_l_e_season, ks_r_base_cash_min, ks_r_worse_cash_min
Counterevidence: ks_a_e_q1, ks_a_e_maturityAll source records: ks_d_l_e_cash_actual, ks_d_l_e_season, ks_r_base_cash_min, ks_r_worse_cash_min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ks_r_parent_risk
Status: conditional
母公司怎样实际取得偿债资源？
发行人自身经营现金为负，投资收益现金不等于每年可重复的全部子公司分红。集团内票据及往来在合并层抵销，但现金移转仍依赖对手现金、合法决策、少数股东权益、融资约束和实际到账。
子公司分红或往来回收能改善母公司资金，但不能按合并余额自动推算。
债券未来转换可能降低现金本金，须等真实转股事实确认，不能预先免偿。
Evidence: ks_a_e_parent, ks_r_parent_screen, ks_r_parent_maturity_gap
Counterevidence: ks_d_l_f_parent_investment_cash, ks_a_e_equityAll source records: ks_a_e_parent, ks_r_parent_screen, ks_r_parent_maturity_gap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ks_r_support_assessment
Status: conditional
哪些支持能力与意愿证据能够改变独立信用？
政府路径分别核持股/控制、地方重要性、违约声誉影响、成本收益和支持历史：已知自然人控制、可替代竞争及普通补助，未识别具体救助方、独立财力及承诺。企业法人股东分支不能机械套自然人；个人保证有具体对象和财力限制。支持可能性不能与能力分开，也不能把多项潜在支持累加。
地方就业、技术或项目重要性可能增加协助意愿，但需具体规模和可执行资金支持。
股东可投入资金，但股权质押、已有保证和未核个人资源使支持额度未定。
Evidence: ks_r_e_support, ks_b_e_ownership, ks_a_e_related
Counterevidence: ks_a_e_related, ks_a_e_postAll source records: ks_r_e_support, ks_b_e_ownership, ks_a_e_related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ks_r_adjustments
Status: conditional
基础因子之外是否还有改变结果的增量事项？
项目延期和基金调用影响前瞻资本需求；污染/事故、劳工质量披露只代表公司声明和制度，未有监管数据证明风险不重大。担保需与基础债务去重，实际代偿须计入现金。已知付息并不证明所有借款/贸易义务正常；原件两项小额/项目差异需核原因，不能自动转成舞弊分。
整改、投资收缩或真实回款改善可以减轻增量风险，但只有实施证据才能纳入。
新的监管处罚、质量赔偿或已到期代偿可能同时削弱现金与融资渠道，不能只在治理文字中描述。
Evidence: ks_r_e_matrix, ks_a_e_related, ks_a_e_governance, ks_a_e_fixed, ks_b_e_fund, ks_d_e_commitment
Counterevidence: ks_a_e_audit, ks_a_e_controlAll source records: ks_r_e_matrix, ks_a_e_related, ks_a_e_governance, ks_a_e_fixed, ks_b_e_fund, ks_d_e_commitment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ks_r_followup
Status: conditional
哪些变化真正改变建议，而不只是更新比率？
跟踪先更新月度银行现金、实际用途占用、母公司到期表和持续承诺解释，再更新半年度/年度亏损、应收回收、订单及融资。三年完整重述和更可靠预测会改变加权依据；对应结果应重算而非沿用此次分数。没有设置后台监控、没有真实委员会投票。
季度业绩改善可使展望转稳，但需要完整期间现金而不只是利润。
正式解释若证明承诺无新增现金后果，会关闭该项不确定性，其他经营财务风险仍需重评。
Evidence: ks_r_e_definitions, ks_r_e_matrix, ks_r_financial_lower, ks_r_financial_upper, ks_d_e_commitment
Counterevidence: ks_a_e_q1All source records: ks_r_e_definitions, ks_r_e_matrix, ks_r_financial_lower, ks_r_financial_upper, ks_d_e_commitment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ks_a_find_scope
Status: conditional
历史趋势是否同口径？
横琴的金融资产与融资现金影响权益、利润、现金；丰泽失控后恢复控制和保理出表亦影响跨年可比性。
同控追溯使表面同比变化包含范围重置；同一企业原报告与重述比较不是两个可自由拼接的数据源。
丰泽控制变化和保理出表也可能改变现金及资产结构，不能把所有变化归因于横琴。
Evidence: ks_a_e_summary, ks_a_e_old, ks_a_e_invest, ks_a_missing_totaldebt_2023, ks_a_missing_interest_total_2023
Counterevidence: All source records: ks_a_e_summary, ks_a_e_old, ks_a_e_invest, ks_a_missing_totaldebt_2023, ks_a_missing_interest_total_2023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ks_a_find_controls
Status: conditional
能否依无保留意见停止资产质量核查？
控制结论有重大性和时点边界，不能替代余额可回收、可用现金或条款执行验证；亏损净利定量标准及整改时点尚需澄清。
无保留内控意见与公开披露的特定资金管理问题可同时存在，差别可能来自重大性、评价时点和整改。
自评使用亏损期净利润作为定量参照的执行细节尚未验证，不能只凭标准文字推定结论无效。
Evidence: ks_a_e_audit, ks_a_e_control, ks_a_e_self, ks_a_e_proceeds2, ks_a_e_governance
Counterevidence: All source records: ks_a_e_audit, ks_a_e_control, ks_a_e_self, ks_a_e_proceeds2, ks_a_e_governance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ks_a_find_proceeds
Status: supported
年末余额与期后归还续作能否衔接？
仍需关注一般户混用期间用途追踪、专户整改执行及研究截止日占用；不能以续作代表永久资本，也不能将归还额倒填年末。
公告证实旧轮归还并获新授权，可解释不同报告时点的余额，不构成旧轮长期未归还的证据。
新授权可能未全额使用，也可能部分重新投入经营；上限和实际占用不能互换。
Evidence: ks_a_e_proceeds2, ks_a_e_return26, ks_a_e_renew26
Counterevidence: All source records: ks_a_e_proceeds2, ks_a_e_return26, ks_a_e_renew26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ks_a_find_cashbridge
Status: supported
原报告和重述比较列能否直接混用？
原补充表未逐项列出的差额与后续比较列定存质押、冻结和专用款一致。资金可支配性分析应用完整受限金额，再核实际用途限制。
原补充资料可能只列保证金，而完整受限附注包含质押定存、冻结和专用款，支持披露范围不全的解释。
同控现金增加是另一个范围变动，不能与未列明受限资金金额混作现金重分类。
Evidence: ks_a_e_cash2024bridge, ks_a_orig_cash_gap_2024, ks_a_orig_partial_gap_2024, ks_a_newly_itemized_2024, ks_a_cashbook_restate_bridge, ks_a_cce_restate_bridge
Counterevidence: All source records: ks_a_e_cash2024bridge, ks_a_orig_cash_gap_2024, ks_a_orig_partial_gap_2024, ks_a_newly_itemized_2024, ks_a_cashbook_restate_bridge, ks_a_cce_restate_bridge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ks_a_find_operations
Status: supported
毛利改善能否转为持续偿债利润？
价格、原材料成本和结构都会影响毛利；销量下降、工程成本刚性、费用和减值共同决定利润，不由单一毛利率推断信用改善。
主动退出信用质量较低客户可解释部分销量和收入下降，需以客户退出、售价及回款证据区别于竞争力下滑。
原料价格下行与产品结构改善都能抬升毛利率；收入下降时毛利率上升仍可伴随毛利额减少。
Evidence: ks_a_e_revenue, ks_a_e_policies, ks_a_grossprofit_2025, ks_a_grossprofit_2024
Counterevidence: ks_a_e_summaryAll source records: ks_a_e_revenue, ks_a_e_policies, ks_a_grossprofit_2025, ks_a_grossprofit_2024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ks_a_find_earnings
Status: supported
是否把信用损失全部作为一次性剔除？
经营利润、非现金重估、债务重组、税务利益与现金各不相同。会计EBITDA加入折旧及利息但保留资产质量成本，不以减值前利润替代可持续现金。
集中确认历史客户损失可使当期亏损高于近期经营现金消耗，但损失对应的现金不可回收并不会因非现金性质消失。
非经常重估或补偿收益可能短期抵销主营亏损，必须观察对应资产变现和后续冲回。
Evidence: ks_a_e_is, ks_a_e_revenue, ks_a_e_debtassets, ks_a_ebitda_2025, ks_a_perf_fv_2024
Counterevidence: All source records: ks_a_e_is, ks_a_e_revenue, ks_a_e_debtassets, ks_a_ebitda_2025, ks_a_perf_fv_2024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ks_a_find_ar
Status: supported
净应收下降是否证明回收风险消除？
分层账龄、违约概率/回收率与抵债估值共同影响净资产和利润；需客户逐笔期后收现与重组执行证据。
净应收下降可能来自现金回款，也可能主要来自新增准备、核销、债务重组及范围变化。
账龄延长不必然全额违约，但单项高准备客户和以物抵债改变回收期限。
Evidence: ks_a_e_ar, ks_a_e_contract, ks_a_e_indirect, ks_a_ar_res_roll
Counterevidence: ks_a_ar_balance_changeAll source records: ks_a_e_ar, ks_a_e_contract, ks_a_e_indirect, ks_a_ar_res_roll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ks_a_find_otherar
Status: supported
重组款是否具备兑现条件？
保证金、暂付款和重组款具有不同回收路径；关联关系及第三阶段风险使期后收款和担保品可执行性更重要。
重组款可能以折价非现金资产而非银行款收回，收回名义债权不等于恢复等额流动性。
关联保证可能有经济价值，但缺少保证人财力、可执行性和付款期限时不能冲减应收损失。
Evidence: ks_a_e_otherar, ks_a_e_related, ks_a_otherar_res_roll
Counterevidence: All source records: ks_a_e_otherar, ks_a_e_related, ks_a_otherar_res_roll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ks_a_find_contract
Status: supported
工程进度、质保及结算会否改变利润和现金？
工程量验收、总收入与预计成本调整、返利估计及质保期都可能改变毛利及回款；未执行工程现场或截止测试。
工程收入确认与结算条款会造成正常的合同资产形成，期末合同资产本身不能证明提前确认。
工程变更、质保及预计总成本下调也可能推迟损失确认，需检查其审批、客户认可和期后结算。
Evidence: ks_a_e_contract, ks_a_e_policies, ks_a_e_liabs
Counterevidence: All source records: ks_a_e_contract, ks_a_e_policies, ks_a_e_liabs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ks_a_find_noncash
Status: supported
应收转出是否实现偿债现金？
非现金重组改变资产形态和损失时点，后续变现受权属、销售价格和交割制约；不将该资产池当作短期偿债现金。
以物抵债可能比继续持有无担保应收更有利，但价值改善取决于交割、权属和真实售价。
债转股后的公允价值可波动且出售受限，不能按转换时账面金额承诺回款。
Evidence: ks_a_e_debtassets, ks_a_e_fixed, ks_a_e_post, ks_a_asset_risk_pool
Counterevidence: All source records: ks_a_e_debtassets, ks_a_e_fixed, ks_a_e_post, ks_a_asset_risk_pool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ks_a_find_fixed
Status: conditional
低利用率及项目延期的账面价值有无压力？
存货NRV、固定资产使用年限/残值、闲置持续折旧、现金产出单元和商誉预测会影响利润及权益；未获得资产级估值和现金流头寸。
闲置产线可能为周期性检修或备产，不能仅凭暂时闲置认定永久减值。
低利用率、持续亏损或募投延期也可能说明需求与原投资假设脱节，应以产线现金流而非总收入增长推定可收回金额。
Evidence: ks_a_e_inventory, ks_a_e_fixed, ks_a_e_proceeds2, ks_a_ppe_grossroll, ks_a_ppe_resroll
Counterevidence: All source records: ks_a_e_inventory, ks_a_e_fixed, ks_a_e_proceeds2, ks_a_ppe_grossroll, ks_a_ppe_resroll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ks_a_find_cip
Status: unresolved
原表列位误读能否解释差额？
可能是重要项目表列示、范围或重复列项，需逐笔转固/减值/支出桥才能确定会计影响。
其他减少可能在重要项目表重复列示，或与期末余额存在范围差异；原页本身不能唯一判定。
也可能是资本化、转固或明细汇总错误；须与总账、验收及项目支出对照后判定。
Evidence: ks_a_e_fixed, ks_a_chuzhou_roll, ks_a_chuzhou_end
Counterevidence: All source records: ks_a_e_fixed, ks_a_chuzhou_roll, ks_a_chuzhou_end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ks_a_find_tax
Status: conditional
税务资产是否能直接支持偿债？
未来盈利需按纳税主体、适用税率、亏损到期及可利用差异验证；现有未确认亏损并不能证明已确认部分无风险。
亏损和减值形成可抵扣差异不一定失效，盈利子公司未来应税利润可能支持部分回收。
合并层面的预计盈利不能自动抵销各纳税主体亏损或延长亏损结转期限。
Evidence: ks_a_e_tax, ks_a_taxroll, ks_a_dta_equity
Counterevidence: All source records: ks_a_e_tax, ks_a_taxroll, ks_a_dta_equity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ks_a_find_ar_sign
Status: unresolved
小额滚动差异来自读取还是列示？
金额重要性与资产回收风险是不同问题；该差异不改变信用减值大额风险的事实。
原表“其他”负号若实际表示冲回原减少项，可以在符号语义上解释差额。
表格符号或汇总也可能存在小额披露错误，现有原页不足以选定一种解释。
Evidence: ks_a_e_ar_sign, ks_a_ar_res_roll, ks_a_arreserve_2025
Counterevidence: All source records: ks_a_e_ar_sign, ks_a_ar_res_roll, ks_a_arreserve_2025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ks_a_find_cash
Status: conditional
账面现金可多少用于一般偿债？
质押、冻结、保证金与募集金专户/临时补流有不同约束；仅依据账面资金会高估流动性。
现金等价物按准则可随时支付，不等于合同用途完全不受限。
理财或银行承兑票据可能流动性较好，但须区分到期、质押、受限和补偿应收成分。
Evidence: ks_a_e_cash, ks_a_e_proceeds2, ks_a_cashrestrict_2025, ks_a_e_return26, ks_a_e_renew26
Counterevidence: All source records: ks_a_e_cash, ks_a_e_proceeds2, ks_a_cashrestrict_2025, ks_a_e_return26, ks_a_e_renew26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ks_a_find_cfo
Status: supported
正经营现金能覆盖投入和分配吗？
间接桥中大额非现金减值并不产生现金；供应商负债和押金等融资作用支撑现金，全年正值不能掩盖前三季流出和融资依赖。
利润至经营现金的改善可能由非现金信用损失加回形成，不能把加回项目视为经营盈利恢复。
应收净额下降也可能由核销和抵债形成；年末集中收款与下一季现金流出并存时，全年正经营现金不能证明期内无缺口。
Evidence: ks_a_e_cf, ks_a_e_indirect, ks_a_e_summary, ks_a_e_equity, ks_a_indirect_cfo_2025
Counterevidence: All source records: ks_a_e_cf, ks_a_e_indirect, ks_a_e_summary, ks_a_e_equity, ks_a_indirect_cfo_2025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ks_a_find_debt
Status: supported
借款减少是否代表债务负担充分缓解？
利润与权益缩水会抵消债务名义下降。利息含资本化2,735.06 万元人民币，现金还本额不等同借款账面变动。未折现合同期限表含经营负债，不能直接当作有息债。
借款或应付票据减少可能来自现金清偿，也可能来自重分类、票据结算或并表范围变化。
未终止确认背书票据仍有追索风险；是否属于融资债务要与对应其他流动负债核对，不能重复加已计入项目。
Evidence: ks_a_e_liabs, ks_a_e_debtorroll, ks_a_e_maturity, ks_a_bondroll, ks_a_debtorrollcalc
Counterevidence: All source records: ks_a_e_bs, ks_a_e_debtorroll, ks_a_e_liabs, ks_a_e_cash, ks_a_e_maturity, ks_a_bondroll, ks_a_debtorrollcalc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ks_a_find_supplier
Status: conditional
供应商融资是否重复计债或掩盖营运资金压力？
付款期延长、平台支付和AP转借款改变融资依赖；已入借款部分不能再加一次，非现金转项不能计作CFO收现。
AP部分可能仍是正常采购信用，也可能因融资方介入和账期延长而具有借款实质。
短借已包含平台融资，不能因供应商已收款再加同一债务。
Evidence: ks_a_e_supplier, ks_a_e_debtorroll, ks_a_supplier_sum_2025
Counterevidence: All source records: ks_a_e_supplier, ks_a_e_debtorroll, ks_a_supplier_sum_2025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ks_a_find_parent
Status: conditional
合并现金能否直接供发行主体偿债？
子公司分红能力、资金归集、限制性条款与集团内部往来可回收性决定现金上划；合并报表抵销无法证明母公司可自由调动全部现金。
母公司负CFO可能因内部往来结算时点，不必然反映合并外部经营恶化。
子公司分红可支持母公司，但若受股权、契约或流动性约束，账面投资收益不足以覆盖偿债。
Evidence: ks_a_e_parent, ks_a_e_invest, ks_a_p_equityroll
Counterevidence: All source records: ks_a_e_parent, ks_a_e_invest, ks_a_p_equityroll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ks_a_find_scope_deals
Status: conditional
资本运作如何改变实际可得现金及权益？
同控并非经营收益，出表现金减少不同于资本开支，剩余权益估值与可支配资金不同；基金未实缴承诺可能形成未来资金需求。
处置子公司带出现金与取得处置价款属于不同现金方向，不能仅看净投资现金推断投资回报。
同控收购对价、公允价值重估及少数股东交易不都进入损益；权益变动不能用现金分红或融资现金倒挤。
Evidence: ks_a_e_invest, ks_a_e_related, ks_a_e_equity
Counterevidence: All source records: ks_a_e_invest, ks_a_e_related, ks_a_e_equity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ks_a_find_contingent
Status: conditional
表外及或有负担是否被财务比率遗漏？
诉讼/质保支出和经销商代偿可能与客户弱化同时出现；控制人保证、持股及银行未用授信不等于无条件现金支持。
经销商保证有反担保并不消除共同下行时的代偿压力；反担保资产可实现价值须单独核验。
集团内保证对应已并表债务时主要改变追索和现金所在法人，并非额外一份合并本金。
Evidence: ks_a_e_related, ks_a_e_liabs, ks_a_e_governance, ks_a_e_maturity
Counterevidence: All source records: ks_a_e_related, ks_a_e_liabs, ks_a_e_governance, ks_a_e_maturity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 records: ks_a_e_bs, ks_a_e_debtorroll, ks_a_e_liabs, ks_a_e_arf, ks_a_e_cash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 records: ks_a_e_arf, ks_a_e_bs, ks_a_e_cash, ks_a_e_liabs, ks_a_e_indirect, ks_a_e_is, ks_a_e_revenue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 records: ks_a_e_bs, ks_a_e_cf, ks_a_e_debtorroll, ks_a_e_liabs, ks_a_e_summary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 records: ks_a_e_bs, ks_a_e_is, ks_a_e_summary, ks_a_e_old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 records: ks_a_e_bs, ks_a_e_is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ks_a_find_q1
Status: conditional
年度弱项是否在研究截止日前消除？
季节性、原材料预付、银行长短债置换和年度末集中减值会令季度盈利与全年偿债能力不同；部分上年季度比较仍是原披露范围。解释19号实施未披露重大影响。
季节性收付款和提前采购可以使季度利润与经营现金方向不同；不能直接把改善同比推广至全年。
季度表尚缺完整利息、受限现金和同控可比明细，短期借款增加也可能是期限置换而非净融资能力增强。
Evidence: ks_a_e_q1, ks_a_e_policy26, ks_a_q1_cashbridge, ks_a_missing_q1_debt, ks_a_missing_q1_freecash
Counterevidence: All source records: ks_a_e_q1, ks_a_e_policy26, ks_a_q1_cashbridge, ks_a_missing_q1_debt, ks_a_missing_q1_freecash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ks_b_market_position
Status: supported
发行人品牌和规模是否足以穿越行业需求收缩？
科顺防水材料收入46.60 亿元人民币，东方雨虹同名分类191.72 亿元人民币；科顺/北新卷材收入分别30.72 亿元人民币和33.14 亿元人民币，分类及并购口径不同。市场地位研究中心4.00 分（六分制研究刻度）、相邻3.50 分（六分制研究刻度）至4.50 分（六分制研究刻度）；这是分析者判断。
主动压缩高风险客户也可导致收入下滑，不能只解释为份额丧失。
Evidence: ks_b_e_operations, ks_b_e_yuhong, ks_b_e_bnbm
Counterevidence: ks_b_e_structureAll source records: ks_b_e_structure, ks_b_e_operations, ks_b_e_yuhong, ks_b_e_bnbm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ks_b_resources_chain
Status: supported
核心资源及上下游控制是否能稳定利润与现金？
研发投入2.53 亿元人民币、人员378.00 人、有效专利908.00 项；材料成本直接材料占84.12%，最大客户占11.63%。核心资源研究中心4.00 分（六分制研究刻度）（3.50 分（六分制研究刻度）至4.50 分（六分制研究刻度））；产业链控制中心3.00 分（六分制研究刻度）（2.50 分（六分制研究刻度）至3.50 分（六分制研究刻度））。
预付锁价可降低采购不确定性，也可能只是把价格风险转为资金占用。
Evidence: ks_b_e_operations, ks_b_e_cost_risk, ks_b_e_structure
Counterevidence: ks_b_e_q1All source records: ks_b_e_operations, ks_b_e_cost_risk, ks_b_e_structure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ks_b_diversification
Status: supported
新业务能否实质分散地产及建筑周期？
材料加工程收入占95.03%，境内占96.77%、境外占3.23%；多元协同研究中心3.00 分（六分制研究刻度），相邻2.50 分（六分制研究刻度）至3.50 分（六分制研究刻度）。
即便产品类别多，若采购者、工程需求和资金来源相同，相关性仍高。
Evidence: ks_b_e_structure, ks_b_e_operations
Counterevidence: ks_b_e_yuhong, ks_b_e_bnbmAll source records: ks_b_e_structure, ks_b_e_operations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 records: ks_b_e_structure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ks_b_execution
Status: supported
制度是否在关键资金操作中落实？
两名控制人合计持股31.45%，不是全部一致行动人持股。董事7.00 人、独董3.00 人；控制人所持股份质押比例分别49.95%和56.72%。法人治理研究中心4.00 分（六分制研究刻度）（3.50 分（六分制研究刻度）至4.50 分（六分制研究刻度））；管理执行中心3.00 分（六分制研究刻度）（2.50 分（六分制研究刻度）至3.50 分（六分制研究刻度））。主要将账户问题计入执行，避免同一事项在治理与调整项重复全额扣分。
年末、归还日及报告出具日状态不同，不应由余额变化推定矛盾或造假。
Evidence: ks_b_e_governance, ks_b_e_fund_control, ks_b_e_ownership
Counterevidence: ks_b_e_fund_return, ks_b_e_fund_renew, ks_b_e_q1All source records: ks_b_e_governance, ks_b_e_fund_control, ks_b_e_ownership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ks_b_capital_allocation
Status: supported
资本配置是否有利于信用缓冲？
现金分红3.88 亿元人民币，为经营净现金3.20 亿元人民币的121.54%；基金认缴2.40 亿元人民币、拟存续8.00 年，经销商等对外担保余额1.60 亿元人民币。认缴不等于当年已付现金，反担保不消除保证责任。
自有资金投资可带来未来增量能力，但尚无项目盈利与现金退出记录验证；合法审批不等于风险低。
Evidence: ks_b_e_distribution, ks_b_e_cash, ks_b_e_fund, ks_b_e_guarantees
Counterevidence: ks_b_e_2026_dividend, ks_b_e_fund_returnAll source records: ks_b_e_distribution, ks_b_e_cash, ks_b_e_fund, ks_b_e_guarantees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ks_b_disclosure_gap
Status: unresolved
公告与年报关联事项是否同一口径？
初次公告为筹设及认缴，年报经营叙述同时提及基金；缺少足够资料区分设立、认缴、实缴及关系变化时点。
交易当时关联关系可能因人员任职改变；尚未实缴、报告分类或重大性口径也可能造成差异。
Evidence: ks_b_e_fund, ks_b_e_governance
Counterevidence: All source records: ks_b_e_fund, ks_b_e_governance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ks_b_environment
Status: supported
宏观及行业环境怎样传导至公司而非直接决定违约？
GDP实际同比5.00%；截止日前房地产投资同比-16.20%、新开工同比-22.60%、到位资金同比-19.00%；固定投资同比-4.10%、本次口径基建同比0.60%。宏观研究中心4.00 分（六分制研究刻度）（3.50 分（六分制研究刻度）至4.50 分（六分制研究刻度）），行业研究中心2.50 分（六分制研究刻度）（2.00 分（六分制研究刻度）至3.00 分（六分制研究刻度））。
城市更新、质量标准有利于头部企业，但订单兑现和客户付费仍需验证；不能把政策规模当企业收入。
Evidence: ks_b_e_gdp26, ks_b_e_property25, ks_b_e_property26, ks_b_e_investment26
Counterevidence: ks_b_e_renewal, ks_b_e_standard_sheet, ks_b_e_standard_coatingAll source records: ks_b_e_property26, ks_b_e_gdp26, ks_b_e_property25, ks_b_e_investment26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ks_b_q1_improvement
Status: conditional
新近经营数据是否证明转型完成？
季度收入14.56 亿元人民币、同比4.34%；扣非归母净利润5,110.51 万元人民币、经营现金-5,518.29 万元人民币、期末预付款3.05 亿元人民币。 年度报告收现比116.91%并非当年新销售回款率，包含旧款回收及含税等口径影响。
季节性、收旧款、产品组合、锁价策略均可能解释短期变化，应分别观察。
Evidence: ks_b_e_q1
Counterevidence: ks_b_e_structure, ks_b_e_cashAll source records: ks_b_e_q1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ks_b_forecast
Status: conditional
在需求分化条件下怎样给可复算而不伪装确定性的收入输入？
用历史境内58.49 亿元人民币与境外1.95 亿元人民币分别按情景增长再相加。基准境内增长假设-3.00%至3.00%，境外15.00%至35.00%。改善情景64.05 亿元人民币至66.00 亿元人民币须渠道订单与现金共同兑现。
房地产下行可部分由零售、非房和海外抵消；亦可能因回款和采购占用使收入增长不产生现金。
Evidence: ks_b_e_structure, ks_b_e_q1, ks_b_e_property26, ks_b_revenue_base_low, ks_b_revenue_base_high
Counterevidence: ks_b_e_cost_risk, ks_b_e_cashAll source records: ks_b_e_investment26, ks_b_e_property26, ks_b_e_q1, ks_b_e_structure, ks_b_revenue_base_low, ks_b_revenue_base_high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ks_b_forecast
Status: conditional
在需求分化条件下怎样给可复算而不伪装确定性的收入输入？
用历史境内58.49 亿元人民币与境外1.95 亿元人民币分别按情景增长再相加。基准境内增长假设-3.00%至3.00%，境外15.00%至35.00%。改善情景64.05 亿元人民币至66.00 亿元人民币须渠道订单与现金共同兑现。
房地产下行可部分由零售、非房和海外抵消；亦可能因回款和采购占用使收入增长不产生现金。
Evidence: ks_b_e_structure, ks_b_e_q1, ks_b_e_property26, ks_b_revenue_base_low, ks_b_revenue_base_high
Counterevidence: ks_b_e_cost_risk, ks_b_e_cashAll source records: ks_b_e_investment26, ks_b_e_property26, ks_b_e_q1, ks_b_e_structure, ks_b_revenue_base_low, ks_b_revenue_base_high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ks_d_n_cashflow
Status: conditional
合同现金需求在未来各年如何分布？
未来合计 26.22 亿元人民币，其中到期本金 21.98 亿元人民币、内含末息 4,395.64 万元人民币、其他到期溢价 2.86 亿元人民币。每年按合同付息日及顺延规则确定，付息日后五个交易日内支付，到期在2029-08-03之后五个交易日内兑付。此为已取证本金起点的条件情景，不是六月末实际余额或未来转股预测。
后续转股会减少本金和适用付息本金，但不能在没有股价、意愿和实际执行证据时预先当作现金来源。
回售、赎回或有效加速可能提前现金需求；相关情景应单独列示，不能与全期合同现金流重复累计。
Evidence: ks_d_f_face_2025, ks_d_f_face_q1, ks_d_c_face_q1_rollforward, ks_d_c_face_remaining, ks_d_e_issue_coupon, ks_d_e_maturity_call, ks_d_g_cash_2026, ks_d_g_cash_2027, ks_d_g_cash_2028, ks_d_g_cash_2029
Counterevidence: ks_d_f_face_conversion_q1, ks_d_e_put, ks_d_e_maturity_callAll source records: ks_d_e_face_2025, ks_d_e_face_q1, ks_d_e_issue_coupon, ks_d_e_maturity_call, ks_d_e_put, ks_d_f_face_2025, ks_d_f_face_q1, ks_d_c_face_q1_rollforward, ks_d_c_face_remaining, ks_d_g_cash_2026, ks_d_g_cash_2027, ks_d_g_cash_2028, ks_d_g_cash_2029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ks_d_n_cashflow
Status: conditional
合同现金需求在未来各年如何分布？
未来合计 26.22 亿元人民币，其中到期本金 21.98 亿元人民币、内含末息 4,395.64 万元人民币、其他到期溢价 2.86 亿元人民币。每年按合同付息日及顺延规则确定，付息日后五个交易日内支付，到期在2029-08-03之后五个交易日内兑付。此为已取证本金起点的条件情景，不是六月末实际余额或未来转股预测。
后续转股会减少本金和适用付息本金，但不能在没有股价、意愿和实际执行证据时预先当作现金来源。
回售、赎回或有效加速可能提前现金需求；相关情景应单独列示，不能与全期合同现金流重复累计。
Evidence: ks_d_f_face_2025, ks_d_f_face_q1, ks_d_c_face_q1_rollforward, ks_d_c_face_remaining, ks_d_e_issue_coupon, ks_d_e_maturity_call, ks_d_g_cash_2026, ks_d_g_cash_2027, ks_d_g_cash_2028, ks_d_g_cash_2029
Counterevidence: ks_d_f_face_conversion_q1, ks_d_e_put, ks_d_e_maturity_callAll source records: ks_d_e_face_q1, ks_d_e_issue_coupon, ks_d_e_maturity_call, ks_d_e_put, ks_d_f_face_2025, ks_d_f_face_q1, ks_d_c_face_q1_rollforward, ks_d_c_face_remaining, ks_d_g_cash_2026, ks_d_g_cash_2027, ks_d_g_cash_2028, ks_d_g_cash_2029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 records: ks_d_e_face_2025, ks_d_e_face_q1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ks_d_n_covenant
Status: unresolved
年末累计债券余额承诺是否在适用口径下超限，超限是否触发救济？
发行时法规解释采用合并账面余额与合并总权益，但发行条件解释不自动解决单独持续承诺的范围。即使用面值替代账面，敏感性仍为 54.24%。利息计提与摊销使债券账面金额高于面值，不能把二者混用。一般良好履约声明没有给出期间、排除项或调节表。
承诺可能存在已签协议中的特定适用期间或定义，需要以原协议及正式解释证明。
披露可能存在履约状态与财务数值不一致，需要特定更正或补充。
可能存在合法变更、豁免或调节事项，但现有材料未取得，不能推定其存在。
Evidence: ks_d_e_commitment, ks_d_e_commitment_origin, ks_d_e_issuance_law, ks_d_f_bond_book_2025, ks_d_f_equity_total_2025, ks_d_c_book_ratio, ks_d_c_book_excess, ks_d_g_face_equity_ratio
Counterevidence: ks_d_e_bond_accounting, ks_d_e_general_performance, ks_d_e_sponsor_performance, ks_d_e_temporary_reportAll source records: ks_d_e_bond_accounting, ks_d_e_equity, ks_d_e_commitment, ks_d_e_commitment_origin, ks_d_e_issuance_law, ks_d_f_bond_book_2025, ks_d_f_equity_total_2025, ks_d_c_book_ratio, ks_d_c_book_excess, ks_d_g_face_equity_ratio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ks_d_n_covenant
Status: unresolved
年末累计债券余额承诺是否在适用口径下超限，超限是否触发救济？
发行时法规解释采用合并账面余额与合并总权益，但发行条件解释不自动解决单独持续承诺的范围。即使用面值替代账面，敏感性仍为 54.24%。利息计提与摊销使债券账面金额高于面值，不能把二者混用。一般良好履约声明没有给出期间、排除项或调节表。
承诺可能存在已签协议中的特定适用期间或定义，需要以原协议及正式解释证明。
披露可能存在履约状态与财务数值不一致，需要特定更正或补充。
可能存在合法变更、豁免或调节事项，但现有材料未取得，不能推定其存在。
Evidence: ks_d_e_commitment, ks_d_e_commitment_origin, ks_d_e_issuance_law, ks_d_f_bond_book_2025, ks_d_f_equity_total_2025, ks_d_c_book_ratio, ks_d_c_book_excess, ks_d_g_face_equity_ratio
Counterevidence: ks_d_e_bond_accounting, ks_d_e_general_performance, ks_d_e_sponsor_performance, ks_d_e_temporary_reportAll source records: ks_d_e_bond_accounting, ks_d_e_equity, ks_d_e_face_2025, ks_d_e_issuance_law, ks_d_e_commitment, ks_d_e_commitment_origin, ks_d_f_bond_book_2025, ks_d_f_equity_total_2025, ks_d_c_book_ratio, ks_d_c_book_excess, ks_d_g_face_equity_ratio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ks_d_n_remedies
Status: conditional
无担保债项的保护、顺位及违约救济究竟是什么？
募集书的逾期本息救济与一般民事责任已有证据；持续承诺争议是否构成本债约定违约事件及何时可提前请求清偿，仍依合同链、行为及程序。普通无担保顺位不等于对所有子公司资产有直接同顺位追索。
若签署协议明确将该承诺并入违约事件并约定补救及加速，需按条款证据判断触发和履行程序。
如果只产生承诺监管责任或一般违约责任，也不能在没有到期或加速依据时把全额本金列为即期付款。
Evidence: ks_d_e_remedies_contract, ks_d_e_meeting_triggers, ks_d_e_meeting_votes, ks_d_e_civil_remedies, ks_d_e_commitment_regulation, ks_d_e_ranking
Counterevidence: ks_d_e_general_performanceAll source records: ks_d_e_remedies_contract, ks_d_e_meeting_triggers, ks_d_e_meeting_votes, ks_d_e_civil_remedies, ks_d_e_commitment_regulation, ks_d_e_ranking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ks_d_n_option
Status: supported
哪一个价格已经生效，何时可能出现提前现金需求？
普通回售须在适用计息年度内连续 30.00 交易日 每日收盘价低于当期转股价的 70.00%，并按首次触发后的公告窗口申报；下修和有条件赎回是在连续 30.00 交易日 中至少 15.00 交易日 达标，分别为低于 85.00%、不低于 130.00%。附加回售取决于重大实施变化及依法认定改变用途，不限最后两个计息年度。下修须发行人提出及股东会程序；有条件赎回是发行人选择权，另有余额不足 3,000.00 万元人民币 的条件。2026-06-25只是重新计算下修期间的起点。
后续现金分派、资本变动或有效下修可能改变转股价及联动观察线。
一般项目延期若没有法定改变用途事实，不应直接视为附加回售已触发。
Evidence: ks_d_e_price_latest, ks_d_e_distribution, ks_d_f_price_latest, ks_d_e_price_history, ks_d_e_put, ks_d_e_revision, ks_d_e_maturity_call, ks_d_g_put_price, ks_d_g_revision_price, ks_d_g_call_price, ks_d_f_observation_days, ks_d_f_trigger_days
Counterevidence: ks_d_e_temporary_report, ks_d_e_fund_delayAll source records: ks_d_e_price_latest, ks_d_e_distribution, ks_d_e_maturity_call, ks_d_e_price_history, ks_d_e_put, ks_d_e_revision, ks_d_f_price_latest, ks_d_g_put_price, ks_d_g_revision_price, ks_d_g_call_price, ks_d_f_observation_days, ks_d_f_trigger_days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ks_d_n_funds
Status: conditional
募集资金占用和归还如何影响流动性，如何避免与本金双计？
新一期从批准日起至多十二个月、项目需用时须提前归还，按日期推得最长至2027-01-09。实际占用若被营运资金锁定，会产生调回可用资金的压力；集团内部账户转移本身不减少合并现金，但会减少可自由用于一般偿债的资金。批准额度不能替代实际用款和归还流水。
若新一期实际支用低于批准额度，潜在需调回金额相应较低；不能预填最大额度为实际债务。
若可及时收回营运资金并恢复专户，用途恢复压力较小；这不代表资金可不受限制用于付本息。
Evidence: ks_d_e_fund_balance, ks_d_c_fund_balance_parts, ks_d_c_fund_balance_receipts, ks_d_e_fund_return, ks_d_e_fund_new, ks_d_f_fund_temp_cutoff
Counterevidence: ks_d_e_fund_correction, ks_d_e_fund_delay, ks_d_e_sponsor_performanceAll source records: ks_d_e_fund_balance, ks_d_e_fund_return, ks_d_c_fund_balance_parts, ks_d_c_fund_balance_receipts, ks_d_e_fund_new, ks_d_f_fund_temp_cutoff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ks_d_n_funds
Status: conditional
募集资金占用和归还如何影响流动性，如何避免与本金双计？
新一期从批准日起至多十二个月、项目需用时须提前归还，按日期推得最长至2027-01-09。实际占用若被营运资金锁定，会产生调回可用资金的压力；集团内部账户转移本身不减少合并现金，但会减少可自由用于一般偿债的资金。批准额度不能替代实际用款和归还流水。
若新一期实际支用低于批准额度，潜在需调回金额相应较低；不能预填最大额度为实际债务。
若可及时收回营运资金并恢复专户，用途恢复压力较小；这不代表资金可不受限制用于付本息。
Evidence: ks_d_e_fund_balance, ks_d_c_fund_balance_parts, ks_d_c_fund_balance_receipts, ks_d_e_fund_return, ks_d_e_fund_new, ks_d_f_fund_temp_cutoff
Counterevidence: ks_d_e_fund_correction, ks_d_e_fund_delay, ks_d_e_sponsor_performanceAll source records: ks_d_e_fund_new, ks_d_e_fund_balance, ks_d_c_fund_balance_parts, ks_d_c_fund_balance_receipts, ks_d_e_fund_return, ks_d_f_fund_temp_cutoff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ks_r_peer_finding
Status: conditional
经营下行、盈利与资金效率是否仅为行业共同变化？
科顺正CFO与负EBITDA并存，两家同行仍保持正盈利及CFO。雨虹现金下降须连接收购与分配；北新窄口径CCE之外还有较大结构性存款。三家以相同明示融资类别比较，但排除长期应付款等后并非方法全部债务，费用化利息倍数也不是全部利息倍数；本案评级分档仍采用自己的完整方法口径。
北新集团石膏板/涂料业务和两家并购贡献降低防水业务可比性，不能全归因为科顺竞争力差。
减值会缩短净额周期；科顺原值应收敏感性已另算。
Evidence: ks_r_peer_keshun, ks_r_peer_yuhong, ks_r_peer_bnbm
Counterevidence: ks_b_e_operations, ks_a_e_investAll source records: ks_r_peer_keshun, ks_r_peer_yuhong, ks_r_peer_bnbm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ks_r_bond_bucket_finding
Status: unresolved
短期票息与远期兑付的期限分配是否一致？
资料时点、计息年度和现金支付日期分别核验。票息不是期末有效利率利息费用；到期含末息价也不能再加最后一期利息。差额不通过改写原表、改变面值或重复扣息调平。
表格可能采用不同转股/行权或列报假设，须由发行人给出对应明细，不能由分析者臆造。
计息年度滚动或分桶口径也可能影响显示；目前没有足够证据确定原因。
Evidence: ks_r_e_bond_buckets, ks_d_e_issue_coupon, ks_d_e_maturity_call
Counterevidence: ks_a_e_auditAll source records: ks_r_e_bond_buckets, ks_d_e_issue_coupon, ks_d_e_maturity_call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ks_b_revenue_scenarios
explicit_geographic_revenue_scenarios
截至 2026-06-30
输入 ks_b_domestic25, ks_b_overseas25, ks_b_assumed_stress_low_domestic, ks_b_assumed_stress_low_overseas, ks_b_assumed_stress_high_domestic, ks_b_assumed_stress_high_overseas, ks_b_assumed_base_low_domestic, ks_b_assumed_base_low_overseas, ks_b_assumed_base_high_domestic, ks_b_assumed_base_high_overseas, ks_b_assumed_improve_low_domestic, ks_b_assumed_improve_low_overseas, ks_b_assumed_improve_high_domestic, ks_b_assumed_improve_high_overseas
指标 ks_b_revenue_stress_low, ks_b_revenue_stress_high, ks_b_revenue_base_low, ks_b_revenue_base_high, ks_b_revenue_improve_low, ks_b_revenue_improve_high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ks_d_q_cash
Decimal contract_cash_schedule_v1
截至 2026-06-30
输入 ks_d_f_face_q1, ks_d_f_coupon_3, ks_d_f_coupon_4, ks_d_f_coupon_5, ks_d_f_coupon_6, ks_d_f_maturity_multiple
指标 ks_d_g_cash_2026, ks_d_g_cash_2027, ks_d_g_cash_2028, ks_d_g_cash_2029, ks_d_g_maturity_principal, ks_d_g_maturity_coupon, ks_d_g_maturity_premium, ks_d_g_cash_total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ks_d_q_price
Decimal conversion_thresholds_v1
截至 2026-06-30
输入 ks_d_f_price_latest, ks_d_f_price_2025_sep, ks_d_f_dividend_per_share, ks_d_f_put_threshold, ks_d_f_revision_threshold, ks_d_f_call_threshold
指标 ks_d_g_put_price, ks_d_g_revision_price, ks_d_g_call_price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ks_d_q_face_equity
Decimal nominal_to_consolidated_equity_bridge_v1
截至 2026-06-30
输入 ks_d_f_face_2025, ks_d_f_equity_total_2025
指标 ks_d_g_face_equity_ratio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ks_r_business
case_business_application_v1
截至 2026-06-30
输入 ks_a_revenue_2025, ks_a_revenue_2024, ks_a_revenue_2023_restate, ks_b_score_macro_center, ks_b_score_macro_low, ks_b_score_macro_high, ks_b_score_industry_center, ks_b_score_industry_low, ks_b_score_industry_high, ks_b_score_market_center, ks_b_score_market_low, ks_b_score_market_high, ks_b_score_resources_center, ks_b_score_resources_low, ks_b_score_resources_high, ks_b_score_diversity_center, ks_b_score_diversity_low, ks_b_score_diversity_high, ks_b_score_governance_center, ks_b_score_governance_low, ks_b_score_governance_high, ks_b_score_management_center, ks_b_score_management_low, ks_b_score_management_high, ks_b_score_chain_center, ks_b_score_chain_low, ks_b_score_chain_high, ks_a_noc360_2025, ks_a_noc360_gross_2025
指标 ks_r_environment_score, ks_r_competitive_score, ks_r_competitive_down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ks_r_finance
case_financial_application_v1
截至 2026-06-30
输入 ks_a_aged3_2024, ks_a_aged3_2025, ks_a_amort_2024, ks_a_amort_2025, ks_a_amort_long_2024, ks_a_amort_long_2025, ks_a_ar_2024, ks_a_ar_2025, ks_a_ar_gt3_2024, ks_a_ar_gt3_2025, ks_a_arcoverage_2024, ks_a_arcoverage_2025, ks_a_arfin_notes_2024, ks_a_arfin_notes_2025, ks_a_argross_2024, ks_a_argross_2025, ks_a_arreserve_2024, ks_a_arreserve_2025, ks_a_asset_risk_pool, ks_a_asset_risk_share, ks_a_assets_2023_restate, ks_a_assets_2024, ks_a_assets_2025, ks_a_average_assets_2024, ks_a_average_assets_2025, ks_a_cash_2024, ks_a_cash_2025, ks_a_cashbook_2024, ks_a_cashbook_2025, ks_a_cashlike_2024, ks_a_cashlike_2025, ks_a_cashlike_gross_2024, ks_a_cashlike_gross_2025, ks_a_cashlike_quality_st_2024, ks_a_cashlike_quality_st_2025, ks_a_cashlike_st_2024, ks_a_cashlike_st_2025, ks_a_cashlike_without_performance_2024, ks_a_cashlike_without_performance_2025, ks_a_cashst_2024, ks_a_cashst_2025, ks_a_contract_2025, ks_a_currentbank_2024, ks_a_currentbank_2025, ks_a_currentfinancelease_2024, ks_a_currentlease_2024, ks_a_currentlease_2025, ks_a_currentliab_2024, ks_a_currentliab_2025, ks_a_customerscash_2024, ks_a_customerscash_2025, ks_a_debt_2024, ks_a_debt_2025, ks_a_debt_roll_2024, ks_a_debt_roll_2025, ks_a_debtcap_2024, ks_a_debtcap_2025, ks_a_debtpluscap_2024, ks_a_debtpluscap_2025, ks_a_dep_2024, ks_a_dep_2025, ks_a_dep_rou_2024, ks_a_dep_rou_2025, ks_a_dta_2024, ks_a_dta_2025, ks_a_ebit_2024, ks_a_ebit_2025, ks_a_ebitda_2024, ks_a_ebitda_2025, ks_a_ebitda_interest_2024, ks_a_ebitda_interest_2025, ks_a_equity_2024, ks_a_equity_2025, ks_a_idle_ppe, ks_a_interest_cap_2024, ks_a_interest_cap_2025, ks_a_interest_exp_2024, ks_a_interest_exp_2025, ks_a_interest_total_2024, ks_a_interest_total_2025, ks_a_longcontract_2025, ks_a_notes_ap_2024, ks_a_notes_ap_2025, ks_a_notes_ar_2024, ks_a_notes_ar_2025, ks_a_old_amort_2023, ks_a_old_amort_long_2023, ks_a_old_assets_2023, ks_a_old_cashbook_2023, ks_a_old_currentbank_2023, ks_a_old_currentlease_2023, ks_a_old_currentliab_2023, ks_a_old_customerscash_2023, ks_a_old_debt_2023, ks_a_old_debt_roll_2023, ks_a_old_dep_total_2023, ks_a_old_ebitda_2023, ks_a_old_equity_2023, ks_a_old_interest_exp_2023, ks_a_old_notes_ap_2023, ks_a_old_pbt_2023, ks_a_old_restrictedcash_2023, ks_a_old_revenue_2023, ks_a_old_stborrow_2023, ks_a_otherar_2025, ks_a_otherborrow_2024, ks_a_otherborrow_2025, ks_a_pbt_2024, ks_a_pbt_2025, ks_a_performance_asset_2024, ks_a_performance_asset_2025, ks_a_proceeds_authorized26, ks_a_proceeds_return26, ks_a_propertynet_2024, ks_a_propertynet_2025, ks_a_q1_ltborrow, ks_a_q1_stborrow, ks_a_restricted_note_2024, ks_a_restricted_note_2025, ks_a_restrictedassets_2024, ks_a_restrictedassets_2025, ks_a_restrictedcash_2024, ks_a_restrictedcash_2025, ks_a_revenue_2024, ks_a_revenue_2025, ks_a_roa_ebit_2024, ks_a_roa_ebit_2025, ks_a_salescash_currentliab_2024, ks_a_salescash_currentliab_2025, ks_a_stborrow_2024, ks_a_stborrow_2025, ks_a_stdebt_2024, ks_a_stdebt_2025, ks_a_supplier_ap_2024, ks_a_supplier_ap_2025, ks_a_supplierfinance_2025, ks_a_trading_2024, ks_a_trading_2025, ks_a_undrawn
指标 ks_r_financial_score, ks_r_financial_score_alternative, ks_r_financial_lower, ks_r_financial_upper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ks_r_cash_base
case_direct_cash_budget_v1
截至 2026-06-30
输入 ks_a_cashbook_2025, ks_a_cash_2025, ks_a_restrictedcash_2025, ks_a_specialcash_2025, ks_a_revenue_2025, ks_a_revenue_2024, ks_a_customerscash_2025, ks_a_suppliercash_2025, ks_a_employeecash_2025, ks_a_taxcash_2025, ks_a_otheropcashin_2025, ks_a_otheropcashout_2025, ks_a_cfo_2025, ks_a_capex_2025, ks_a_stborrow_2025, ks_a_notes_ap_2025, ks_a_ap_2025, ks_a_supplier_loan_2025, ks_a_supplier_ap_2025, ks_a_supplier_noncash, ks_a_q1_cashbook, ks_a_q1_cash, ks_a_q1_stborrow, ks_a_q1_notes_ap, ks_a_q1_currentlongliab, ks_a_q1_ltborrow, ks_a_q1_revenue, ks_a_q1_cfo, ks_a_q1_cfi, ks_a_q1_cff, ks_a_q1_fxcash, ks_a_q1_cashdelta, ks_a_q1_capex, ks_a_missing_q1_freecash, ks_d_f_face_q1, ks_d_f_coupon_3, ks_d_f_fund_new_cap, ks_d_f_dividend_per_share, ks_d_l_f_q1_2026_customerscash, ks_d_l_f_q1_2025_customerscash, ks_d_l_f_q1_2026_suppliercash, ks_d_l_f_q1_2025_suppliercash, ks_d_l_f_q1_2026_employeecash, ks_d_l_f_q1_2025_employeecash, ks_d_l_f_q1_2026_taxcash, ks_d_l_f_q1_2025_taxcash, ks_d_l_f_q1_2026_otheropcashin, ks_d_l_f_q1_2025_otheropcashin, ks_d_l_f_q1_2026_otheropcashout, ks_d_l_f_q1_2025_otheropcashout, ks_d_l_f_q1_2026_borrowcash, ks_d_l_f_q1_2025_borrowcash, ks_d_l_f_q1_2026_repaycash, ks_d_l_f_q1_2025_repaycash, ks_d_l_f_q1_2026_otherfinin, ks_d_l_f_q1_2025_otherfinin, ks_d_l_f_q1_2026_divinterestcash, ks_d_l_f_q1_2025_divinterestcash, ks_d_l_f_q1_2026_otherfinout, ks_d_l_f_q1_2025_otherfinout, ks_d_l_f_q1_2025_capex, ks_d_l_f_q1_2025_cfo, ks_d_l_f_q1_2025_revenue, ks_d_l_f_2025_q2_revenue, ks_d_l_f_2025_q2_cfo, ks_d_l_f_2025_q3_revenue, ks_d_l_f_2025_q3_cfo, ks_d_l_f_2025_q4_revenue, ks_d_l_f_2025_q4_cfo, ks_d_l_f_taxrefund_2025, ks_d_l_f_q1_ap, ks_d_l_f_q1_trading, ks_d_l_f_st_accrued_2025, ks_d_l_f_current_lt_principal_2025, ks_d_l_f_current_lt_mortgage_2025, ks_d_l_f_current_lt_interest_2025, ks_d_l_f_current_lease_2025, ks_d_l_f_current_provision_2025, ks_d_l_f_unused_facility_2025, ks_d_l_f_dividend_shares, ks_a_p_cash_2025, ks_a_p_cash_2024, ks_a_p_cfo_2025, ks_a_p_cfi_2025, ks_a_p_cff_2025, ks_a_p_fx_2025, ks_a_p_cashdelta_2025, ks_a_p_otherar_2025, ks_a_p_otherap_2025, ks_d_f_face_2025, ks_d_f_maturity_multiple, ks_d_l_f_parent_cashbook, ks_d_l_f_parent_stborrow, ks_d_l_f_parent_notes, ks_d_l_f_parent_ap, ks_d_l_f_parent_currentlong, ks_d_l_f_parent_currentliab, ks_d_l_f_parent_bonds, ks_d_l_f_parent_investment_cash
指标 ks_r_base_cash_min, ks_r_base_cash_end, ks_r_base_reserve650, ks_r_base_receipt_boundary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ks_r_cash_worse
case_direct_cash_budget_v1
截至 2026-06-30
输入 ks_a_cashbook_2025, ks_a_cash_2025, ks_a_restrictedcash_2025, ks_a_specialcash_2025, ks_a_revenue_2025, ks_a_revenue_2024, ks_a_customerscash_2025, ks_a_suppliercash_2025, ks_a_employeecash_2025, ks_a_taxcash_2025, ks_a_otheropcashin_2025, ks_a_otheropcashout_2025, ks_a_cfo_2025, ks_a_capex_2025, ks_a_stborrow_2025, ks_a_notes_ap_2025, ks_a_ap_2025, ks_a_supplier_loan_2025, ks_a_supplier_ap_2025, ks_a_supplier_noncash, ks_a_q1_cashbook, ks_a_q1_cash, ks_a_q1_stborrow, ks_a_q1_notes_ap, ks_a_q1_currentlongliab, ks_a_q1_ltborrow, ks_a_q1_revenue, ks_a_q1_cfo, ks_a_q1_cfi, ks_a_q1_cff, ks_a_q1_fxcash, ks_a_q1_cashdelta, ks_a_q1_capex, ks_a_missing_q1_freecash, ks_d_f_face_q1, ks_d_f_coupon_3, ks_d_f_fund_new_cap, ks_d_f_dividend_per_share, ks_d_l_f_q1_2026_customerscash, ks_d_l_f_q1_2025_customerscash, ks_d_l_f_q1_2026_suppliercash, ks_d_l_f_q1_2025_suppliercash, ks_d_l_f_q1_2026_employeecash, ks_d_l_f_q1_2025_employeecash, ks_d_l_f_q1_2026_taxcash, ks_d_l_f_q1_2025_taxcash, ks_d_l_f_q1_2026_otheropcashin, ks_d_l_f_q1_2025_otheropcashin, ks_d_l_f_q1_2026_otheropcashout, ks_d_l_f_q1_2025_otheropcashout, ks_d_l_f_q1_2026_borrowcash, ks_d_l_f_q1_2025_borrowcash, ks_d_l_f_q1_2026_repaycash, ks_d_l_f_q1_2025_repaycash, ks_d_l_f_q1_2026_otherfinin, ks_d_l_f_q1_2025_otherfinin, ks_d_l_f_q1_2026_divinterestcash, ks_d_l_f_q1_2025_divinterestcash, ks_d_l_f_q1_2026_otherfinout, ks_d_l_f_q1_2025_otherfinout, ks_d_l_f_q1_2025_capex, ks_d_l_f_q1_2025_cfo, ks_d_l_f_q1_2025_revenue, ks_d_l_f_2025_q2_revenue, ks_d_l_f_2025_q2_cfo, ks_d_l_f_2025_q3_revenue, ks_d_l_f_2025_q3_cfo, ks_d_l_f_2025_q4_revenue, ks_d_l_f_2025_q4_cfo, ks_d_l_f_taxrefund_2025, ks_d_l_f_q1_ap, ks_d_l_f_q1_trading, ks_d_l_f_st_accrued_2025, ks_d_l_f_current_lt_principal_2025, ks_d_l_f_current_lt_mortgage_2025, ks_d_l_f_current_lt_interest_2025, ks_d_l_f_current_lease_2025, ks_d_l_f_current_provision_2025, ks_d_l_f_unused_facility_2025, ks_d_l_f_dividend_shares, ks_a_p_cash_2025, ks_a_p_cash_2024, ks_a_p_cfo_2025, ks_a_p_cfi_2025, ks_a_p_cff_2025, ks_a_p_fx_2025, ks_a_p_cashdelta_2025, ks_a_p_otherar_2025, ks_a_p_otherap_2025, ks_d_f_face_2025, ks_d_f_maturity_multiple, ks_d_l_f_parent_cashbook, ks_d_l_f_parent_stborrow, ks_d_l_f_parent_notes, ks_d_l_f_parent_ap, ks_d_l_f_parent_currentlong, ks_d_l_f_parent_currentliab, ks_d_l_f_parent_bonds, ks_d_l_f_parent_investment_cash
指标 ks_r_worse_cash_min, ks_r_worse_cash_end, ks_r_worse_reserve650, ks_r_worse_receipt_boundary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ks_r_cash_better
case_direct_cash_budget_v1
截至 2026-06-30
输入 ks_a_cashbook_2025, ks_a_cash_2025, ks_a_restrictedcash_2025, ks_a_specialcash_2025, ks_a_revenue_2025, ks_a_revenue_2024, ks_a_customerscash_2025, ks_a_suppliercash_2025, ks_a_employeecash_2025, ks_a_taxcash_2025, ks_a_otheropcashin_2025, ks_a_otheropcashout_2025, ks_a_cfo_2025, ks_a_capex_2025, ks_a_stborrow_2025, ks_a_notes_ap_2025, ks_a_ap_2025, ks_a_supplier_loan_2025, ks_a_supplier_ap_2025, ks_a_supplier_noncash, ks_a_q1_cashbook, ks_a_q1_cash, ks_a_q1_stborrow, ks_a_q1_notes_ap, ks_a_q1_currentlongliab, ks_a_q1_ltborrow, ks_a_q1_revenue, ks_a_q1_cfo, ks_a_q1_cfi, ks_a_q1_cff, ks_a_q1_fxcash, ks_a_q1_cashdelta, ks_a_q1_capex, ks_a_missing_q1_freecash, ks_d_f_face_q1, ks_d_f_coupon_3, ks_d_f_fund_new_cap, ks_d_f_dividend_per_share, ks_d_l_f_q1_2026_customerscash, ks_d_l_f_q1_2025_customerscash, ks_d_l_f_q1_2026_suppliercash, ks_d_l_f_q1_2025_suppliercash, ks_d_l_f_q1_2026_employeecash, ks_d_l_f_q1_2025_employeecash, ks_d_l_f_q1_2026_taxcash, ks_d_l_f_q1_2025_taxcash, ks_d_l_f_q1_2026_otheropcashin, ks_d_l_f_q1_2025_otheropcashin, ks_d_l_f_q1_2026_otheropcashout, ks_d_l_f_q1_2025_otheropcashout, ks_d_l_f_q1_2026_borrowcash, ks_d_l_f_q1_2025_borrowcash, ks_d_l_f_q1_2026_repaycash, ks_d_l_f_q1_2025_repaycash, ks_d_l_f_q1_2026_otherfinin, ks_d_l_f_q1_2025_otherfinin, ks_d_l_f_q1_2026_divinterestcash, ks_d_l_f_q1_2025_divinterestcash, ks_d_l_f_q1_2026_otherfinout, ks_d_l_f_q1_2025_otherfinout, ks_d_l_f_q1_2025_capex, ks_d_l_f_q1_2025_cfo, ks_d_l_f_q1_2025_revenue, ks_d_l_f_2025_q2_revenue, ks_d_l_f_2025_q2_cfo, ks_d_l_f_2025_q3_revenue, ks_d_l_f_2025_q3_cfo, ks_d_l_f_2025_q4_revenue, ks_d_l_f_2025_q4_cfo, ks_d_l_f_taxrefund_2025, ks_d_l_f_q1_ap, ks_d_l_f_q1_trading, ks_d_l_f_st_accrued_2025, ks_d_l_f_current_lt_principal_2025, ks_d_l_f_current_lt_mortgage_2025, ks_d_l_f_current_lt_interest_2025, ks_d_l_f_current_lease_2025, ks_d_l_f_current_provision_2025, ks_d_l_f_unused_facility_2025, ks_d_l_f_dividend_shares, ks_a_p_cash_2025, ks_a_p_cash_2024, ks_a_p_cfo_2025, ks_a_p_cfi_2025, ks_a_p_cff_2025, ks_a_p_fx_2025, ks_a_p_cashdelta_2025, ks_a_p_otherar_2025, ks_a_p_otherap_2025, ks_d_f_face_2025, ks_d_f_maturity_multiple, ks_d_l_f_parent_cashbook, ks_d_l_f_parent_stborrow, ks_d_l_f_parent_notes, ks_d_l_f_parent_ap, ks_d_l_f_parent_currentlong, ks_d_l_f_parent_currentliab, ks_d_l_f_parent_bonds, ks_d_l_f_parent_investment_cash
指标 ks_r_better_cash_min, ks_r_better_cash_end, ks_r_better_reserve650, ks_r_better_receipt_boundary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ks_r_parent
case_parent_position_v1
截至 2026-06-30
输入 ks_d_l_f_parent_cashbook, ks_d_l_f_parent_stborrow, ks_d_l_f_parent_notes, ks_d_l_f_parent_ap, ks_d_l_f_parent_currentlong, ks_d_l_f_parent_currentliab, ks_d_l_f_parent_bonds, ks_d_l_f_parent_investment_cash, ks_d_f_face_2025, ks_d_f_maturity_multiple
指标 ks_r_parent_screen, ks_r_parent_maturity_gap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ks_r_rating_chain
case_rating_judgment_v1
截至 2026-06-30
输入 ks_a_ebitda_2025, ks_a_cashst_2025, ks_d_c_book_ratio, ks_d_f_fund_temp_cutoff
指标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ks_r_peers
case_peer_comparison_v1
截至 2026-06-30
输入 ks_a_revenue_2025, ks_a_revenue_2024, ks_a_noc360_2025
指标 ks_r_peer_keshun_revenue_growth, ks_r_peer_keshun_liabilities_assets, ks_r_peer_keshun_noc360, ks_r_peer_yuhong_revenue_growth, ks_r_peer_yuhong_liabilities_assets, ks_r_peer_yuhong_noc360, ks_r_peer_bnbm_revenue_growth, ks_r_peer_bnbm_liabilities_assets, ks_r_peer_bnbm_noc360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ks_r_peers
case_peer_comparison_v1
截至 2026-06-30
输入 ks_a_revenue_2025, ks_a_revenue_2024, ks_a_noc360_2025
指标 ks_r_peer_keshun_revenue_growth, ks_r_peer_keshun_liabilities_assets, ks_r_peer_keshun_noc360, ks_r_peer_yuhong_revenue_growth, ks_r_peer_yuhong_liabilities_assets, ks_r_peer_yuhong_noc360, ks_r_peer_bnbm_revenue_growth, ks_r_peer_bnbm_liabilities_assets, ks_r_peer_bnbm_noc360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ks_r_bond_buckets
case_bond_bucket_comparison_v1
截至 2026-06-30
输入 ks_d_f_face_2025, ks_d_f_coupon_3, ks_d_f_coupon_4, ks_d_f_coupon_5, ks_d_f_maturity_multiple, ks_r_bucket_within_one_year, ks_r_bucket_one_to_three_years, ks_r_bucket_over_three_years, ks_r_bucket_total
指标 ks_r_bucket_2026_contract, ks_r_bucket_2026_gap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ks_a_req_scope: 历史趋势是否同口径？ 所需资料用于检验该判断的金额、期限或执行依据。
Close when: 取得重述调整表后先重建同口径期初和历史指标，再判断变化是否跨越因素档位；仅补齐摘要利润不足以关闭债务及周转分母。ks_a_req_ar: 净应收下降是否证明回收风险消除？ 所需资料用于检验该判断的金额、期限或执行依据。
Close when: 取得逐笔期后现金回收、第三方确认、债务重组执行和ECL参数后，重估损失覆盖、回收速度和资产可用性。ks_a_req_otherar: 重组款是否具备兑现条件？ 所需资料用于检验该判断的金额、期限或执行依据。
Close when: 取得已交割权属、真实期后到账及担保人的独立资源证明后，逐笔更新回收额与时点；资产转让协议签署不等于收到现金。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ks_a_req_contract: 工程进度、质保及结算会否改变利润和现金？ 所需资料用于检验该判断的金额、期限或执行依据。
Close when: 将主要工程履约进度、客户签认、合同总价及最新预计成本逐项桥接，复核期后结算及退款后，区分正常结算周期与减值或收入截止问题。ks_a_req_cash: 账面现金可多少用于一般偿债？ 所需资料用于检验该判断的金额、期限或执行依据。
Close when: 确认银行函证、全部账户用途及理财/票据变现条件后，修订自由现金和现金类短债覆盖。ks_a_req_supplier: 供应商融资是否重复计债或掩盖营运资金压力？ 所需资料用于检验该判断的金额、期限或执行依据。
Close when: 取得融资协议、付款展期和追索安排后确定AP部分重分类；核对银行流水后再调整现金流。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ks_a_req_fixed: 低利用率及项目延期的账面价值有无压力？ 所需资料用于检验该判断的金额、期限或执行依据。
Close when: 逐产线取得产能、利用率、订单、维护支出、处置报价及权属证据，并用实际经营偏差检验现金产出单元预测；验证后重估减值和未来资本需求。ks_a_req_cip: 原表列位误读能否解释差额？ 所需资料用于检验该判断的金额、期限或执行依据。
Close when: 取得滁州项目逐笔期初、增加、转固、其他减少和期末桥，定位差额对应的会计科目、期间及是否影响本期损益，再撤回或确认疑点。ks_a_req_tax: 税务资产是否能直接支持偿债？ 所需资料用于检验该判断的金额、期限或执行依据。
Close when: 按主体税率、优惠期限和亏损到期核验盈利预测，若不足覆盖转回则降低DTA及权益。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ks_a_req_parent: 合并现金能否直接供发行主体偿债？ 所需资料用于检验该判断的金额、期限或执行依据。
Close when: 取得母公司债务到期表、子公司上划决议与现金到账、资金归集合同及往来可回收证据后判断发行主体资源。ks_a_req_contingent: 表外及或有负担是否被财务比率遗漏？ 所需资料用于检验该判断的金额、期限或执行依据。
Close when: 取得债权人、被担保人、已提款余额、追索顺位、反担保资产及触发事件后，按同一经济义务去重并重算或有现金和回收。ks_a_req_proceeds: 年末余额与期后归还续作能否衔接？ 所需资料用于检验该判断的金额、期限或执行依据。
Close when: 以截止日实际占用和用途流水确认应恢复额度、时间及项目需求，并验证混用问题整改执行；已公开的旧轮归还时点不再重复请求。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ks_a_req_q1: 年度弱项是否在研究截止日前消除？ 所需资料用于检验该判断的金额、期限或执行依据。
Close when: 取得半年度完整附注后，用原年度及一季度桥拆出季节性、范围、应收回款与新债；持续现金改善且债务到期与资金用途匹配才支持提高判断。ks_b_req_channels: 检验多元化是否已形成独立现金来源，并解释收入下降与收现改善的机制。
Close when: 取得可与合并收入、回款及客户明细勾稽的完整期间数据。ks_b_req_fund_status: 区分长期承诺和已用现金、判断审批后实际执行及披露一致性。
Close when: 原始协议、登记及银行支付记录与年报附注范围完成勾稽。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ks_d_req_covenant: 需要解释研究账面比率 57.09% 与正常履行披露的差异；一般履约声明不足以替代具体计算。
Close when: 明细可追至原财报并完整调节差额，适用期与定义有原始法律文件支持；对是否不履约给出可核查的特定说明。ks_d_req_trustee_agreement: 募集书转介的具体救济没有全文；已取得会议规则只能证明集体决策程序，不能据此创造自动加速。
Close when: 取得真实有效完整文本及签署/修订适用证据，条款可逐项映射本案事实。ks_d_req_funds: 已知授权上限 13.00 亿元人民币 不等于实际占用或可自由偿债现金；需量化到期恢复专户的资金安排。
Close when: 支用减归还可勾稽截止日实际占用，并与募集专户、一般账户及项目支付计划一致；避免与对外本金重复计入。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ks_d_req_face_cutoff: 现有最新已取得实际面值是 21.98 亿元人民币，其原始时点为一季度末，不能改写为六月末。
Close when: 原始日期、可得日期和面值变动可核验，并在保留旧节点的基础上重跑现金流情景。ks_r_req_bond_buckets: 一年内披露额与固定同日面值的合同票息不同，影响短期现金预算及期限归属。
Close when: 原表与合同时间轴在一致假设下可复算，或有正式说明解释口径及剩余差额。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B45"/>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FFFFFF"/>
                </a:solidFill>
              </a:rPr>
              <a:t>科顺股份与科顺转债：年报及信用研究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B9D1CC"/>
                </a:solidFill>
              </a:rPr>
              <a:t>科顺防水科技股份有限公司  |  2025-12-31  |  keshun-public-research-2026-06-30  |  1</a:t>
            </a:r>
            <a:endParaRPr lang="en-US" sz="900" dirty="0"/>
          </a:p>
        </p:txBody>
      </p:sp>
      <p:sp>
        <p:nvSpPr>
          <p:cNvPr id="5" name="Text 3"/>
          <p:cNvSpPr/>
          <p:nvPr/>
        </p:nvSpPr>
        <p:spPr>
          <a:xfrm>
            <a:off x="640080" y="1645920"/>
            <a:ext cx="10789920" cy="1143000"/>
          </a:xfrm>
          <a:prstGeom prst="rect">
            <a:avLst/>
          </a:prstGeom>
          <a:noFill/>
          <a:ln/>
        </p:spPr>
        <p:txBody>
          <a:bodyPr wrap="square" lIns="0" tIns="0" rIns="0" bIns="0" rtlCol="0" anchor="t"/>
          <a:lstStyle/>
          <a:p>
            <a:pPr indent="0" marL="0">
              <a:lnSpc>
                <a:spcPct val="100000"/>
              </a:lnSpc>
              <a:buNone/>
            </a:pPr>
            <a:r>
              <a:rPr lang="en-US" sz="2400" dirty="0">
                <a:solidFill>
                  <a:srgbClr val="FFFFFF"/>
                </a:solidFill>
              </a:rPr>
              <a:t>截至2026-06-30的境内相对信用研究：基准建议主体及科顺转债</a:t>
            </a:r>
            <a:endParaRPr lang="en-US" sz="2400" dirty="0"/>
          </a:p>
          <a:p>
            <a:pPr indent="0" marL="0">
              <a:lnSpc>
                <a:spcPct val="100000"/>
              </a:lnSpc>
              <a:buNone/>
            </a:pPr>
            <a:r>
              <a:rPr lang="en-US" sz="2400" dirty="0">
                <a:solidFill>
                  <a:srgbClr val="FFFFFF"/>
                </a:solidFill>
              </a:rPr>
              <a:t>BBB+、负面展望；明确实际付款、资金用途和承诺待核条件。</a:t>
            </a:r>
            <a:endParaRPr lang="en-US" sz="2400" dirty="0"/>
          </a:p>
        </p:txBody>
      </p:sp>
      <p:sp>
        <p:nvSpPr>
          <p:cNvPr id="6" name="Text 4"/>
          <p:cNvSpPr/>
          <p:nvPr/>
        </p:nvSpPr>
        <p:spPr>
          <a:xfrm>
            <a:off x="640080" y="3200400"/>
            <a:ext cx="10789920" cy="1371600"/>
          </a:xfrm>
          <a:prstGeom prst="rect">
            <a:avLst/>
          </a:prstGeom>
          <a:noFill/>
          <a:ln/>
        </p:spPr>
        <p:txBody>
          <a:bodyPr wrap="square" lIns="0" tIns="0" rIns="0" bIns="0" rtlCol="0" anchor="ctr"/>
          <a:lstStyle/>
          <a:p>
            <a:pPr indent="0" marL="0">
              <a:buNone/>
            </a:pPr>
            <a:r>
              <a:rPr lang="en-US" sz="1900" dirty="0">
                <a:solidFill>
                  <a:srgbClr val="C6DEDA"/>
                </a:solidFill>
              </a:rPr>
              <a:t>会计基础 中国企业会计准则</a:t>
            </a:r>
            <a:endParaRPr lang="en-US" sz="1900" dirty="0"/>
          </a:p>
          <a:p>
            <a:pPr indent="0" marL="0">
              <a:buNone/>
            </a:pPr>
            <a:r>
              <a:rPr lang="en-US" sz="1900" dirty="0">
                <a:solidFill>
                  <a:srgbClr val="C6DEDA"/>
                </a:solidFill>
              </a:rPr>
              <a:t>范围 合并主体为主，母公司偿债资源单列；期后季度和历史原口径分别列示</a:t>
            </a:r>
            <a:endParaRPr lang="en-US" sz="1900" dirty="0"/>
          </a:p>
          <a:p>
            <a:pPr indent="0" marL="0">
              <a:buNone/>
            </a:pPr>
            <a:r>
              <a:rPr lang="en-US" sz="1900" dirty="0">
                <a:solidFill>
                  <a:srgbClr val="C6DEDA"/>
                </a:solidFill>
              </a:rPr>
              <a:t>信息截止 2026-06-30</a:t>
            </a:r>
            <a:endParaRPr lang="en-US" sz="1900" dirty="0"/>
          </a:p>
        </p:txBody>
      </p:sp>
      <p:sp>
        <p:nvSpPr>
          <p:cNvPr id="8" name="Text 5"/>
          <p:cNvSpPr/>
          <p:nvPr/>
        </p:nvSpPr>
        <p:spPr>
          <a:xfrm>
            <a:off x="640080" y="4892040"/>
            <a:ext cx="10789920" cy="868680"/>
          </a:xfrm>
          <a:prstGeom prst="rect">
            <a:avLst/>
          </a:prstGeom>
          <a:noFill/>
          <a:ln/>
        </p:spPr>
        <p:txBody>
          <a:bodyPr wrap="square" lIns="0" tIns="0" rIns="0" bIns="0" rtlCol="0" anchor="ctr">
            <a:normAutofit/>
          </a:bodyPr>
          <a:lstStyle/>
          <a:p>
            <a:pPr indent="0" marL="0">
              <a:buNone/>
            </a:pPr>
            <a:r>
              <a:rPr lang="en-US" sz="1600" dirty="0">
                <a:solidFill>
                  <a:srgbClr val="FFFFFF"/>
                </a:solidFill>
              </a:rPr>
              <a:t>来源 ks_r_issue 公布日期未核验。不得将当前内容分析称为历史时点可用性验证。</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采用方法与适用范围</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联合一般工商V4.1.202606及总论/支持V4.1.202605、债项V3.0.202207；采用</a:t>
            </a:r>
            <a:endParaRPr lang="en-US" sz="1600" dirty="0"/>
          </a:p>
          <a:p>
            <a:pPr indent="0" marL="0">
              <a:lnSpc>
                <a:spcPct val="100000"/>
              </a:lnSpc>
              <a:buNone/>
            </a:pPr>
            <a:r>
              <a:rPr lang="en-US" sz="1600" dirty="0">
                <a:solidFill>
                  <a:srgbClr val="1F2933"/>
                </a:solidFill>
              </a:rPr>
              <a:t>公开规则并明示研究适配，不是机构评级复现或发布。</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四表及附注取证、确定性计算、经营/财务因素与现金条件情景使用同一底稿。</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分析范围与限制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公开资料分析，不构成审计；未执行函证、盘点、穿行测试、凭证抽查、管理层访谈或合同原件核验。</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2025年报PDF第1—92、97—245页完成文本阅读；第93—96页未读未用。视觉复核选页另见覆盖</a:t>
            </a:r>
            <a:endParaRPr lang="en-US" sz="1600" dirty="0"/>
          </a:p>
          <a:p>
            <a:pPr indent="0" marL="0">
              <a:lnSpc>
                <a:spcPct val="100000"/>
              </a:lnSpc>
              <a:buNone/>
            </a:pPr>
            <a:r>
              <a:rPr lang="en-US" sz="1600" dirty="0">
                <a:solidFill>
                  <a:srgbClr val="1F2933"/>
                </a:solidFill>
              </a:rPr>
              <a:t>证据，不声称全文视觉审阅。</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2023年同控重述仅有摘要指标；2024原年报的2023明细保留原范围，不能据其补齐同口径指标。</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2026一季报未经审计；对比季报未统一作横琴同控重述，不按季度数据年度化。</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没有完整同控重述三年细项；财务两年30/70和最新周期输入是明确研究适配，非短存续例外的当然适用。</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来源覆盖底稿保留适用章节和未完成项。没有完成内部合同、母公司未来资金、行业总体统计或真实评级委员会，</a:t>
            </a:r>
            <a:endParaRPr lang="en-US" sz="1600" dirty="0"/>
          </a:p>
          <a:p>
            <a:pPr indent="0" marL="0">
              <a:lnSpc>
                <a:spcPct val="100000"/>
              </a:lnSpc>
              <a:buNone/>
            </a:pPr>
            <a:r>
              <a:rPr lang="en-US" sz="1600" dirty="0">
                <a:solidFill>
                  <a:srgbClr val="1F2933"/>
                </a:solidFill>
              </a:rPr>
              <a:t>不能据本例宣称生产验收通过。</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来源 ks_r_issue 的正式公布日期未核验；不得据此证明在信息截止日前已公开。当前披露内容可以</a:t>
            </a:r>
            <a:endParaRPr lang="en-US" sz="1600" dirty="0"/>
          </a:p>
          <a:p>
            <a:pPr indent="0" marL="0">
              <a:lnSpc>
                <a:spcPct val="100000"/>
              </a:lnSpc>
              <a:buNone/>
            </a:pPr>
            <a:r>
              <a:rPr lang="en-US" sz="1600" dirty="0">
                <a:solidFill>
                  <a:srgbClr val="1F2933"/>
                </a:solidFill>
              </a:rPr>
              <a:t>继续分析，历史时点结论须补充公告时间证据。</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建议、成立条件与形成链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基准研究建议：主体与科顺转债BBB+，负面展望</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以信息截止日的公开证据和明示判断，基准建议主体及科顺转债为BBB+、负面展望。经营C、财务</a:t>
            </a:r>
            <a:endParaRPr lang="en-US" sz="1800" dirty="0"/>
          </a:p>
          <a:p>
            <a:pPr indent="0" marL="0">
              <a:lnSpc>
                <a:spcPct val="100000"/>
              </a:lnSpc>
              <a:buNone/>
            </a:pPr>
            <a:r>
              <a:rPr lang="en-US" sz="1800" dirty="0">
                <a:solidFill>
                  <a:srgbClr val="1F2933"/>
                </a:solidFill>
              </a:rPr>
              <a:t>F4的指示单元格为a-/bbb+，选择bbb+；不计可证实的额外支持增益，普通无担保直接债项</a:t>
            </a:r>
            <a:endParaRPr lang="en-US" sz="1800" dirty="0"/>
          </a:p>
          <a:p>
            <a:pPr indent="0" marL="0">
              <a:lnSpc>
                <a:spcPct val="100000"/>
              </a:lnSpc>
              <a:buNone/>
            </a:pPr>
            <a:r>
              <a:rPr lang="en-US" sz="1800" dirty="0">
                <a:solidFill>
                  <a:srgbClr val="1F2933"/>
                </a:solidFill>
              </a:rPr>
              <a:t>暂同级。建议以常态融资渠道仍运行、未证实到期不支付，且实际付款日前资金与用途安排足以覆盖为</a:t>
            </a:r>
            <a:endParaRPr lang="en-US" sz="1800" dirty="0"/>
          </a:p>
          <a:p>
            <a:pPr indent="0" marL="0">
              <a:lnSpc>
                <a:spcPct val="100000"/>
              </a:lnSpc>
              <a:buNone/>
            </a:pPr>
            <a:r>
              <a:rPr lang="en-US" sz="1800" dirty="0">
                <a:solidFill>
                  <a:srgbClr val="1F2933"/>
                </a:solidFill>
              </a:rPr>
              <a:t>条件。母公司可调度资金和持续承诺后果未核实，不能作为无条件正式评级发布。</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若更新事实使经营D、财务仍F4，研究分支为BB+；经营C而财务F5为BBB-；两者同时恶化为</a:t>
            </a:r>
            <a:endParaRPr lang="en-US" sz="1800" dirty="0"/>
          </a:p>
          <a:p>
            <a:pPr indent="0" marL="0">
              <a:lnSpc>
                <a:spcPct val="100000"/>
              </a:lnSpc>
              <a:buNone/>
            </a:pPr>
            <a:r>
              <a:rPr lang="en-US" sz="1800" dirty="0">
                <a:solidFill>
                  <a:srgbClr val="1F2933"/>
                </a:solidFill>
              </a:rPr>
              <a:t>BB。若证实近期无法按约付款，立即退出上述常态分支，不能只保留负面展望。</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ks_r_e_business / ks_r_e_finance / ks_r_e_matrix 等；全部来源及位置见报告、底稿与备注</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建议、成立条件与形成链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季度现金压力决定跟踪顺序</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从三月末实际集团现金接续的无新增融资模型中，基准季度低点1.44 亿元人民币，恶化低点-</a:t>
            </a:r>
            <a:endParaRPr lang="en-US" sz="1800" dirty="0"/>
          </a:p>
          <a:p>
            <a:pPr indent="0" marL="0">
              <a:lnSpc>
                <a:spcPct val="100000"/>
              </a:lnSpc>
              <a:buNone/>
            </a:pPr>
            <a:r>
              <a:rPr lang="en-US" sz="1800" dirty="0">
                <a:solidFill>
                  <a:srgbClr val="1F2933"/>
                </a:solidFill>
              </a:rPr>
              <a:t>3.38 亿元人民币；基准再少收4.88%客户现金即触及季度末零现金。基准另预留用途资金后低</a:t>
            </a:r>
            <a:endParaRPr lang="en-US" sz="1800" dirty="0"/>
          </a:p>
          <a:p>
            <a:pPr indent="0" marL="0">
              <a:lnSpc>
                <a:spcPct val="100000"/>
              </a:lnSpc>
              <a:buNone/>
            </a:pPr>
            <a:r>
              <a:rPr lang="en-US" sz="1800" dirty="0">
                <a:solidFill>
                  <a:srgbClr val="1F2933"/>
                </a:solidFill>
              </a:rPr>
              <a:t>点-5.06 亿元人民币。这些是条件值，不能替代六月实际数或月内、母公司支付证明。</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若现金短缺由已落实融资或可合法延后支出覆盖，重跑现金表并判断是否足以维持BBB+；若缺口在已</a:t>
            </a:r>
            <a:endParaRPr lang="en-US" sz="1800" dirty="0"/>
          </a:p>
          <a:p>
            <a:pPr indent="0" marL="0">
              <a:lnSpc>
                <a:spcPct val="100000"/>
              </a:lnSpc>
              <a:buNone/>
            </a:pPr>
            <a:r>
              <a:rPr lang="en-US" sz="1800" dirty="0">
                <a:solidFill>
                  <a:srgbClr val="1F2933"/>
                </a:solidFill>
              </a:rPr>
              <a:t>核实付款日仍存在，先确认具体偿付事件并重定主体及受影响债项。</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ks_d_l_e_cash_actual / ks_d_l_e_season / ks_r_base_cash_min 等；全部来源及位置见报告、底稿与备注</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发行主体、支持和增量调整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集团资源不能直接当作发行人已到手现金</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母公司年末现金减短借及一年内非流动账面代理后余量1.05 亿元人民币，不能证明完整短期覆盖；</a:t>
            </a:r>
            <a:endParaRPr lang="en-US" sz="1800" dirty="0"/>
          </a:p>
          <a:p>
            <a:pPr indent="0" marL="0">
              <a:lnSpc>
                <a:spcPct val="100000"/>
              </a:lnSpc>
              <a:buNone/>
            </a:pPr>
            <a:r>
              <a:rPr lang="en-US" sz="1800" dirty="0">
                <a:solidFill>
                  <a:srgbClr val="1F2933"/>
                </a:solidFill>
              </a:rPr>
              <a:t>与固定本金未来到期价的静态差额为-12.24 亿元人民币。后者说明未来需产现、上划或融资的量</a:t>
            </a:r>
            <a:endParaRPr lang="en-US" sz="1800" dirty="0"/>
          </a:p>
          <a:p>
            <a:pPr indent="0" marL="0">
              <a:lnSpc>
                <a:spcPct val="100000"/>
              </a:lnSpc>
              <a:buNone/>
            </a:pPr>
            <a:r>
              <a:rPr lang="en-US" sz="1800" dirty="0">
                <a:solidFill>
                  <a:srgbClr val="1F2933"/>
                </a:solidFill>
              </a:rPr>
              <a:t>级，并非债券在本年到期或已经发生缺口。缺一季末母公司表，集团一季现金不替代。</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取得主要子公司的可分配现金、债务和用途限制、上划决议及实际到账后，重建发行人月度来源用途；若</a:t>
            </a:r>
            <a:endParaRPr lang="en-US" sz="1800" dirty="0"/>
          </a:p>
          <a:p>
            <a:pPr indent="0" marL="0">
              <a:lnSpc>
                <a:spcPct val="100000"/>
              </a:lnSpc>
              <a:buNone/>
            </a:pPr>
            <a:r>
              <a:rPr lang="en-US" sz="1800" dirty="0">
                <a:solidFill>
                  <a:srgbClr val="1F2933"/>
                </a:solidFill>
              </a:rPr>
              <a:t>可上划路径受阻且本部不足，主体与直接债项结论须同步下调。</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ks_a_e_parent / ks_r_parent_screen / ks_r_parent_maturity_gap；全部来源及位置见报告、底稿与备注</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发行主体、支持和增量调整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外部支持：不计未经证实的评级增益</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基准不计额外支持增益。自然人控制及对特定银行义务的保证未证明本债或全部偿债需要有及时支持；</a:t>
            </a:r>
            <a:endParaRPr lang="en-US" sz="1800" dirty="0"/>
          </a:p>
          <a:p>
            <a:pPr indent="0" marL="0">
              <a:lnSpc>
                <a:spcPct val="100000"/>
              </a:lnSpc>
              <a:buNone/>
            </a:pPr>
            <a:r>
              <a:rPr lang="en-US" sz="1800" dirty="0">
                <a:solidFill>
                  <a:srgbClr val="1F2933"/>
                </a:solidFill>
              </a:rPr>
              <a:t>普通政府补助未证明困难时救助。该选择是现有证据下的研究处理，不是“民企无支持”或未来不会支持</a:t>
            </a:r>
            <a:endParaRPr lang="en-US" sz="1800" dirty="0"/>
          </a:p>
          <a:p>
            <a:pPr indent="0" marL="0">
              <a:lnSpc>
                <a:spcPct val="100000"/>
              </a:lnSpc>
              <a:buNone/>
            </a:pPr>
            <a:r>
              <a:rPr lang="en-US" sz="1800" dirty="0">
                <a:solidFill>
                  <a:srgbClr val="1F2933"/>
                </a:solidFill>
              </a:rPr>
              <a:t>的事实判断。</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取得具体支持方独立偿债能力、合法决策、覆盖义务、付款触发及到账时间，再按同一支持方法重做提升</a:t>
            </a:r>
            <a:endParaRPr lang="en-US" sz="1800" dirty="0"/>
          </a:p>
          <a:p>
            <a:pPr indent="0" marL="0">
              <a:lnSpc>
                <a:spcPct val="100000"/>
              </a:lnSpc>
              <a:buNone/>
            </a:pPr>
            <a:r>
              <a:rPr lang="en-US" sz="1800" dirty="0">
                <a:solidFill>
                  <a:srgbClr val="1F2933"/>
                </a:solidFill>
              </a:rPr>
              <a:t>；不把普通授信或既有补助重新加成一档。</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ks_r_e_support / ks_b_e_ownership / ks_a_e_related；全部来源及位置见报告、底稿与备注</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发行主体、支持和增量调整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个体调整逐项判断及不重复计入</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未来投资及基金承诺、ESG、表外义务、信用记录与其他事项逐项保留。当前研究不在已反映的亏损、</a:t>
            </a:r>
            <a:endParaRPr lang="en-US" sz="1800" dirty="0"/>
          </a:p>
          <a:p>
            <a:pPr indent="0" marL="0">
              <a:lnSpc>
                <a:spcPct val="100000"/>
              </a:lnSpc>
              <a:buNone/>
            </a:pPr>
            <a:r>
              <a:rPr lang="en-US" sz="1800" dirty="0">
                <a:solidFill>
                  <a:srgbClr val="1F2933"/>
                </a:solidFill>
              </a:rPr>
              <a:t>资产质量和治理弱项之外再机械扣档；持续承诺的具体后果和用途恢复若形成新增近期现金需要，基准评</a:t>
            </a:r>
            <a:endParaRPr lang="en-US" sz="1800" dirty="0"/>
          </a:p>
          <a:p>
            <a:pPr indent="0" marL="0">
              <a:lnSpc>
                <a:spcPct val="100000"/>
              </a:lnSpc>
              <a:buNone/>
            </a:pPr>
            <a:r>
              <a:rPr lang="en-US" sz="1800" dirty="0">
                <a:solidFill>
                  <a:srgbClr val="1F2933"/>
                </a:solidFill>
              </a:rPr>
              <a:t>级条件即失效，必须重新分析。</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新事实先量化对现金、资产和基础因素的影响，再识别未被反映的增量风险；若需个体档差，说明具体</a:t>
            </a:r>
            <a:endParaRPr lang="en-US" sz="1800" dirty="0"/>
          </a:p>
          <a:p>
            <a:pPr indent="0" marL="0">
              <a:lnSpc>
                <a:spcPct val="100000"/>
              </a:lnSpc>
              <a:buNone/>
            </a:pPr>
            <a:r>
              <a:rPr lang="en-US" sz="1800" dirty="0">
                <a:solidFill>
                  <a:srgbClr val="1F2933"/>
                </a:solidFill>
              </a:rPr>
              <a:t>传导及不重复计入依据。不能把所有未知事项直接当中性已核实。</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ks_r_e_matrix / ks_a_e_related / ks_a_e_governance 等；全部来源及位置见报告、底稿与备注</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评级敏感性及跟踪</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展望与后续评级行动有明确决定边界</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负面展望反映未来约一年中的行业需求、回收、用途约束与融资压力。经营D/F4对应BB+，C/</a:t>
            </a:r>
            <a:endParaRPr lang="en-US" sz="1800" dirty="0"/>
          </a:p>
          <a:p>
            <a:pPr indent="0" marL="0">
              <a:lnSpc>
                <a:spcPct val="100000"/>
              </a:lnSpc>
              <a:buNone/>
            </a:pPr>
            <a:r>
              <a:rPr lang="en-US" sz="1800" dirty="0">
                <a:solidFill>
                  <a:srgbClr val="1F2933"/>
                </a:solidFill>
              </a:rPr>
              <a:t>F5对应BBB-，D/F5对应BB；持续改善达到C/F3且资金及承诺问题解决时才讨论A分支。</a:t>
            </a:r>
            <a:endParaRPr lang="en-US" sz="1800" dirty="0"/>
          </a:p>
          <a:p>
            <a:pPr indent="0" marL="0">
              <a:lnSpc>
                <a:spcPct val="100000"/>
              </a:lnSpc>
              <a:buNone/>
            </a:pPr>
            <a:r>
              <a:rPr lang="en-US" sz="1800" dirty="0">
                <a:solidFill>
                  <a:srgbClr val="1F2933"/>
                </a:solidFill>
              </a:rPr>
              <a:t>现有因子区间上确界跨F3本身不是升级证据。</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按本研究截止日安排下一次检查于下一份实际半年度披露及任何提前到期、用途变更或支持事件；若已</a:t>
            </a:r>
            <a:endParaRPr lang="en-US" sz="1800" dirty="0"/>
          </a:p>
          <a:p>
            <a:pPr indent="0" marL="0">
              <a:lnSpc>
                <a:spcPct val="100000"/>
              </a:lnSpc>
              <a:buNone/>
            </a:pPr>
            <a:r>
              <a:rPr lang="en-US" sz="1800" dirty="0">
                <a:solidFill>
                  <a:srgbClr val="1F2933"/>
                </a:solidFill>
              </a:rPr>
              <a:t>发生应立即反映的偿付问题，不等待下一年度或用展望推迟调整。</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ks_r_e_definitions / ks_r_e_matrix / ks_r_financial_lower 等；全部来源及位置见报告、底稿与备注</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范围、报告基础及控制证据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三年比较与同控重述</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同控收购使重述摘要与原报表不同。重述收入依次为79.44 亿元人民币、68.29 亿元人民币</a:t>
            </a:r>
            <a:endParaRPr lang="en-US" sz="1800" dirty="0"/>
          </a:p>
          <a:p>
            <a:pPr indent="0" marL="0">
              <a:lnSpc>
                <a:spcPct val="100000"/>
              </a:lnSpc>
              <a:buNone/>
            </a:pPr>
            <a:r>
              <a:rPr lang="en-US" sz="1800" dirty="0">
                <a:solidFill>
                  <a:srgbClr val="1F2933"/>
                </a:solidFill>
              </a:rPr>
              <a:t>、60.44 亿元人民币；重述扣非持续为负。完整重述历史负债、利息和折旧仍缺，原口径对照不</a:t>
            </a:r>
            <a:endParaRPr lang="en-US" sz="1800" dirty="0"/>
          </a:p>
          <a:p>
            <a:pPr indent="0" marL="0">
              <a:lnSpc>
                <a:spcPct val="100000"/>
              </a:lnSpc>
              <a:buNone/>
            </a:pPr>
            <a:r>
              <a:rPr lang="en-US" sz="1800" dirty="0">
                <a:solidFill>
                  <a:srgbClr val="1F2933"/>
                </a:solidFill>
              </a:rPr>
              <a:t>混入同口径评级输入。</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取得重述调整表后先重建同口径期初和历史指标，再判断变化是否跨越因素档位；仅补齐摘要利润不足以</a:t>
            </a:r>
            <a:endParaRPr lang="en-US" sz="1800" dirty="0"/>
          </a:p>
          <a:p>
            <a:pPr indent="0" marL="0">
              <a:lnSpc>
                <a:spcPct val="100000"/>
              </a:lnSpc>
              <a:buNone/>
            </a:pPr>
            <a:r>
              <a:rPr lang="en-US" sz="1800" dirty="0">
                <a:solidFill>
                  <a:srgbClr val="1F2933"/>
                </a:solidFill>
              </a:rPr>
              <a:t>关闭债务及周转分母。</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ks_a_e_summary / ks_a_e_old / ks_a_e_invest 等；全部来源及位置见报告、底稿与备注</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范围、报告基础及控制证据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外部审计、自评与已披露整改</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财报和内控意见提供有限层次支持；自评未认定重大/重要缺陷，募集金报告却披露混用与整改。正反</a:t>
            </a:r>
            <a:endParaRPr lang="en-US" sz="1800" dirty="0"/>
          </a:p>
          <a:p>
            <a:pPr indent="0" marL="0">
              <a:lnSpc>
                <a:spcPct val="100000"/>
              </a:lnSpc>
              <a:buNone/>
            </a:pPr>
            <a:r>
              <a:rPr lang="en-US" sz="1800" dirty="0">
                <a:solidFill>
                  <a:srgbClr val="1F2933"/>
                </a:solidFill>
              </a:rPr>
              <a:t>证据同时保留，未认定舞弊或所有控制无效。</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取得缺陷评价、重要性基准实际应用、整改日期及整改后银行流程测试证据后，重新判断资金治理影响；</a:t>
            </a:r>
            <a:endParaRPr lang="en-US" sz="1800" dirty="0"/>
          </a:p>
          <a:p>
            <a:pPr indent="0" marL="0">
              <a:lnSpc>
                <a:spcPct val="100000"/>
              </a:lnSpc>
              <a:buNone/>
            </a:pPr>
            <a:r>
              <a:rPr lang="en-US" sz="1800" dirty="0">
                <a:solidFill>
                  <a:srgbClr val="1F2933"/>
                </a:solidFill>
              </a:rPr>
              <a:t>本研究不把原审计意见当自身控制测试。</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ks_a_e_audit / ks_a_e_control / ks_a_e_self 等；全部来源及位置见报告、底稿与备注</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范围、报告基础及控制证据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临时补流年后归还并重新授权</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年末未归还12.75 亿元人民币；公告次年初旧轮已归还13.00 亿元人民币，并批准新一轮</a:t>
            </a:r>
            <a:endParaRPr lang="en-US" sz="1800" dirty="0"/>
          </a:p>
          <a:p>
            <a:pPr indent="0" marL="0">
              <a:lnSpc>
                <a:spcPct val="100000"/>
              </a:lnSpc>
              <a:buNone/>
            </a:pPr>
            <a:r>
              <a:rPr lang="en-US" sz="1800" dirty="0">
                <a:solidFill>
                  <a:srgbClr val="1F2933"/>
                </a:solidFill>
              </a:rPr>
              <a:t>上限13.00 亿元人民币。时点疑点已由公告澄清，授权上限不等于六月实际占用。</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以截止日实际占用和用途流水确认应恢复额度、时间及项目需求，并验证混用问题整改执行；已公开的旧</a:t>
            </a:r>
            <a:endParaRPr lang="en-US" sz="1800" dirty="0"/>
          </a:p>
          <a:p>
            <a:pPr indent="0" marL="0">
              <a:lnSpc>
                <a:spcPct val="100000"/>
              </a:lnSpc>
              <a:buNone/>
            </a:pPr>
            <a:r>
              <a:rPr lang="en-US" sz="1800" dirty="0">
                <a:solidFill>
                  <a:srgbClr val="1F2933"/>
                </a:solidFill>
              </a:rPr>
              <a:t>轮归还时点不再重复请求。</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ks_a_e_proceeds2 / ks_a_e_return26 / ks_a_e_renew26；全部来源及位置见报告、底稿与备注</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范围、报告基础及控制证据 4</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13</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历史现金补充表未列全与同控现金桥</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原现金补充表保证金小计不是全部限制资金。原货币资金减CCE可与完整受限金额闭合，同控现金新增</a:t>
            </a:r>
            <a:endParaRPr lang="en-US" sz="1800" dirty="0"/>
          </a:p>
          <a:p>
            <a:pPr indent="0" marL="0">
              <a:lnSpc>
                <a:spcPct val="100000"/>
              </a:lnSpc>
              <a:buNone/>
            </a:pPr>
            <a:r>
              <a:rPr lang="en-US" sz="1800" dirty="0">
                <a:solidFill>
                  <a:srgbClr val="1F2933"/>
                </a:solidFill>
              </a:rPr>
              <a:t>亦闭合；未据此宣称大额现金重分类。</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若原公司现金定义说明或银行限制文件证明不同列报边界，应按该证据更新历史桥；目前原始货币资金、</a:t>
            </a:r>
            <a:endParaRPr lang="en-US" sz="1800" dirty="0"/>
          </a:p>
          <a:p>
            <a:pPr indent="0" marL="0">
              <a:lnSpc>
                <a:spcPct val="100000"/>
              </a:lnSpc>
              <a:buNone/>
            </a:pPr>
            <a:r>
              <a:rPr lang="en-US" sz="1800" dirty="0">
                <a:solidFill>
                  <a:srgbClr val="1F2933"/>
                </a:solidFill>
              </a:rPr>
              <a:t>CCE和完整限制金额的关系已闭合。</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800" dirty="0">
                <a:solidFill>
                  <a:srgbClr val="586874"/>
                </a:solidFill>
              </a:rPr>
              <a:t>来源记录 ks_a_e_cash2024bridge / ks_a_orig_cash_gap_2024 / ks_a_orig_partial_gap_2024 等；全部来源及位置见报告、底稿与备注</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14</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规模收缩、产品毛利分化</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收入同比-11.49%，毛利率24.20%，施工毛利率6.25%。总毛利14.63 亿元人民</a:t>
            </a:r>
            <a:endParaRPr lang="en-US" sz="1800" dirty="0"/>
          </a:p>
          <a:p>
            <a:pPr indent="0" marL="0">
              <a:lnSpc>
                <a:spcPct val="100000"/>
              </a:lnSpc>
              <a:buNone/>
            </a:pPr>
            <a:r>
              <a:rPr lang="en-US" sz="1800" dirty="0">
                <a:solidFill>
                  <a:srgbClr val="1F2933"/>
                </a:solidFill>
              </a:rPr>
              <a:t>币低于上期14.87 亿元人民币；材料降本不能完全抵消收入收缩及工程压力。</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取得同产品数量、售价、采购成本和客户退出桥后重新分解毛利额；只有收入、回款和毛利同时可持续</a:t>
            </a:r>
            <a:endParaRPr lang="en-US" sz="1800" dirty="0"/>
          </a:p>
          <a:p>
            <a:pPr indent="0" marL="0">
              <a:lnSpc>
                <a:spcPct val="100000"/>
              </a:lnSpc>
              <a:buNone/>
            </a:pPr>
            <a:r>
              <a:rPr lang="en-US" sz="1800" dirty="0">
                <a:solidFill>
                  <a:srgbClr val="1F2933"/>
                </a:solidFill>
              </a:rPr>
              <a:t>改善，才支持上调经营评价。</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ks_a_e_revenue / ks_a_e_policies / ks_a_grossprofit_2025 等；全部来源及位置见报告、底稿与备注</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15</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减值与盈利质量</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净亏损-5.48 亿元人民币，信用与资产损失合计7.87 亿元人民币，会计EBITDA-</a:t>
            </a:r>
            <a:endParaRPr lang="en-US" sz="1800" dirty="0"/>
          </a:p>
          <a:p>
            <a:pPr indent="0" marL="0">
              <a:lnSpc>
                <a:spcPct val="100000"/>
              </a:lnSpc>
              <a:buNone/>
            </a:pPr>
            <a:r>
              <a:rPr lang="en-US" sz="1800" dirty="0">
                <a:solidFill>
                  <a:srgbClr val="1F2933"/>
                </a:solidFill>
              </a:rPr>
              <a:t>2.11 亿元人民币。信用损失连续多年存在，不在基础偿债收益中自动全额加回；上期公允价值及</a:t>
            </a:r>
            <a:endParaRPr lang="en-US" sz="1800" dirty="0"/>
          </a:p>
          <a:p>
            <a:pPr indent="0" marL="0">
              <a:lnSpc>
                <a:spcPct val="100000"/>
              </a:lnSpc>
              <a:buNone/>
            </a:pPr>
            <a:r>
              <a:rPr lang="en-US" sz="1800" dirty="0">
                <a:solidFill>
                  <a:srgbClr val="1F2933"/>
                </a:solidFill>
              </a:rPr>
              <a:t>补偿收益影响亦需保留。</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按客户和年度拆分新增信用损失、已计提损失与实际回收，并证明常态业务现金足以覆盖利息及必要投入</a:t>
            </a:r>
            <a:endParaRPr lang="en-US" sz="1800" dirty="0"/>
          </a:p>
          <a:p>
            <a:pPr indent="0" marL="0">
              <a:lnSpc>
                <a:spcPct val="100000"/>
              </a:lnSpc>
              <a:buNone/>
            </a:pPr>
            <a:r>
              <a:rPr lang="en-US" sz="1800" dirty="0">
                <a:solidFill>
                  <a:srgbClr val="1F2933"/>
                </a:solidFill>
              </a:rPr>
              <a:t>后，才调整可持续盈利判断。</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ks_a_e_is / ks_a_e_revenue / ks_a_e_debtassets 等；全部来源及位置见报告、底稿与备注</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16</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应收老化及客户集中</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应收原值51.61 亿元人民币，准备率36.17%，三年以上占比32.56%；净额下降含新增</a:t>
            </a:r>
            <a:endParaRPr lang="en-US" sz="1800" dirty="0"/>
          </a:p>
          <a:p>
            <a:pPr indent="0" marL="0">
              <a:lnSpc>
                <a:spcPct val="100000"/>
              </a:lnSpc>
              <a:buNone/>
            </a:pPr>
            <a:r>
              <a:rPr lang="en-US" sz="1800" dirty="0">
                <a:solidFill>
                  <a:srgbClr val="1F2933"/>
                </a:solidFill>
              </a:rPr>
              <a:t>准备、核销及抵债，经营应收现金调节仍为-5.64 亿元人民币。</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取得逐笔期后现金回收、第三方确认、债务重组执行和ECL参数后，重估损失覆盖、回收速度和资产</a:t>
            </a:r>
            <a:endParaRPr lang="en-US" sz="1800" dirty="0"/>
          </a:p>
          <a:p>
            <a:pPr indent="0" marL="0">
              <a:lnSpc>
                <a:spcPct val="100000"/>
              </a:lnSpc>
              <a:buNone/>
            </a:pPr>
            <a:r>
              <a:rPr lang="en-US" sz="1800" dirty="0">
                <a:solidFill>
                  <a:srgbClr val="1F2933"/>
                </a:solidFill>
              </a:rPr>
              <a:t>可用性。</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ks_a_e_ar / ks_a_e_contract / ks_a_e_indirect 等；全部来源及位置见报告、底稿与备注</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4</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17</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其他应收与关联重组款</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其他应收准备2.86 亿元人民币；中天盈债务重组款1.18 亿元人民币对应准备</a:t>
            </a:r>
            <a:endParaRPr lang="en-US" sz="1800" dirty="0"/>
          </a:p>
          <a:p>
            <a:pPr indent="0" marL="0">
              <a:lnSpc>
                <a:spcPct val="100000"/>
              </a:lnSpc>
              <a:buNone/>
            </a:pPr>
            <a:r>
              <a:rPr lang="en-US" sz="1800" dirty="0">
                <a:solidFill>
                  <a:srgbClr val="1F2933"/>
                </a:solidFill>
              </a:rPr>
              <a:t>9,404.00 万元人民币。不能将相关应收与关联人保证互相抵销。</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取得已交割权属、真实期后到账及担保人的独立资源证明后，逐笔更新回收额与时点；资产转让协议签署</a:t>
            </a:r>
            <a:endParaRPr lang="en-US" sz="1800" dirty="0"/>
          </a:p>
          <a:p>
            <a:pPr indent="0" marL="0">
              <a:lnSpc>
                <a:spcPct val="100000"/>
              </a:lnSpc>
              <a:buNone/>
            </a:pPr>
            <a:r>
              <a:rPr lang="en-US" sz="1800" dirty="0">
                <a:solidFill>
                  <a:srgbClr val="1F2933"/>
                </a:solidFill>
              </a:rPr>
              <a:t>不等于收到现金。</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ks_a_e_otherar / ks_a_e_related / ks_a_otherar_res_roll；全部来源及位置见报告、底稿与备注</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5</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18</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工程收入与合同资产</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流动合同资产净额3.91 亿元人民币，长期质保等8,383.77 万元人民币。收入依据客户</a:t>
            </a:r>
            <a:endParaRPr lang="en-US" sz="1800" dirty="0"/>
          </a:p>
          <a:p>
            <a:pPr indent="0" marL="0">
              <a:lnSpc>
                <a:spcPct val="100000"/>
              </a:lnSpc>
              <a:buNone/>
            </a:pPr>
            <a:r>
              <a:rPr lang="en-US" sz="1800" dirty="0">
                <a:solidFill>
                  <a:srgbClr val="1F2933"/>
                </a:solidFill>
              </a:rPr>
              <a:t>确认工程量；无条件应收、合同资产和预提返利分列，不能用订单叙述替代结算证据。</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将主要工程履约进度、客户签认、合同总价及最新预计成本逐项桥接，复核期后结算及退款后，区分正常</a:t>
            </a:r>
            <a:endParaRPr lang="en-US" sz="1800" dirty="0"/>
          </a:p>
          <a:p>
            <a:pPr indent="0" marL="0">
              <a:lnSpc>
                <a:spcPct val="100000"/>
              </a:lnSpc>
              <a:buNone/>
            </a:pPr>
            <a:r>
              <a:rPr lang="en-US" sz="1800" dirty="0">
                <a:solidFill>
                  <a:srgbClr val="1F2933"/>
                </a:solidFill>
              </a:rPr>
              <a:t>结算周期与减值或收入截止问题。</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ks_a_e_contract / ks_a_e_policies / ks_a_e_liabs；全部来源及位置见报告、底稿与备注</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6</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19</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抵债资产及融创债转股</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抵债房产等净额7.86 亿元人民币；融创债转股权益价值2,459.20 万元人民币，相关减值</a:t>
            </a:r>
            <a:endParaRPr lang="en-US" sz="1800" dirty="0"/>
          </a:p>
          <a:p>
            <a:pPr indent="0" marL="0">
              <a:lnSpc>
                <a:spcPct val="100000"/>
              </a:lnSpc>
              <a:buNone/>
            </a:pPr>
            <a:r>
              <a:rPr lang="en-US" sz="1800" dirty="0">
                <a:solidFill>
                  <a:srgbClr val="1F2933"/>
                </a:solidFill>
              </a:rPr>
              <a:t>和重组损失分开列。净应收、合同、抵债和其他应收合计占资产39.48%。</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取得可执行产权、抵押查询、独立交易价格、处置成本和实际到账后才计入偿债资源；用途或权利未解锁</a:t>
            </a:r>
            <a:endParaRPr lang="en-US" sz="1800" dirty="0"/>
          </a:p>
          <a:p>
            <a:pPr indent="0" marL="0">
              <a:lnSpc>
                <a:spcPct val="100000"/>
              </a:lnSpc>
              <a:buNone/>
            </a:pPr>
            <a:r>
              <a:rPr lang="en-US" sz="1800" dirty="0">
                <a:solidFill>
                  <a:srgbClr val="1F2933"/>
                </a:solidFill>
              </a:rPr>
              <a:t>时继续排除即时现金。</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ks_a_e_debtassets / ks_a_e_fixed / ks_a_e_post 等；全部来源及位置见报告、底稿与备注</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7</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20</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存货、产能与资产减值</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存货准备4,338.43 万元人民币，闲置PPE净额5,583.11 万元人民币；在建、无证</a:t>
            </a:r>
            <a:endParaRPr lang="en-US" sz="1800" dirty="0"/>
          </a:p>
          <a:p>
            <a:pPr indent="0" marL="0">
              <a:lnSpc>
                <a:spcPct val="100000"/>
              </a:lnSpc>
              <a:buNone/>
            </a:pPr>
            <a:r>
              <a:rPr lang="en-US" sz="1800" dirty="0">
                <a:solidFill>
                  <a:srgbClr val="1F2933"/>
                </a:solidFill>
              </a:rPr>
              <a:t>房产、商誉和抵债资产需分别检验现金产生能力。</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逐产线取得产能、利用率、订单、维护支出、处置报价及权属证据，并用实际经营偏差检验现金产出单元</a:t>
            </a:r>
            <a:endParaRPr lang="en-US" sz="1800" dirty="0"/>
          </a:p>
          <a:p>
            <a:pPr indent="0" marL="0">
              <a:lnSpc>
                <a:spcPct val="100000"/>
              </a:lnSpc>
              <a:buNone/>
            </a:pPr>
            <a:r>
              <a:rPr lang="en-US" sz="1800" dirty="0">
                <a:solidFill>
                  <a:srgbClr val="1F2933"/>
                </a:solidFill>
              </a:rPr>
              <a:t>预测；验证后重估减值和未来资本需求。</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ks_a_e_inventory / ks_a_e_fixed / ks_a_e_proceeds2 等；全部来源及位置见报告、底稿与备注</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8</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21</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[unresolved] 滁州在建滚动披露未闭合</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原表期初、增加和其他减少重算3,132.58 万元人民币，期末披露4,417.84 万元人民</a:t>
            </a:r>
            <a:endParaRPr lang="en-US" sz="1800" dirty="0"/>
          </a:p>
          <a:p>
            <a:pPr indent="0" marL="0">
              <a:lnSpc>
                <a:spcPct val="100000"/>
              </a:lnSpc>
              <a:buNone/>
            </a:pPr>
            <a:r>
              <a:rPr lang="en-US" sz="1800" dirty="0">
                <a:solidFill>
                  <a:srgbClr val="1F2933"/>
                </a:solidFill>
              </a:rPr>
              <a:t>币。独立图像阅读仍未闭合，保留未解释差额；没有擅自调平或认定财报整体错报。</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取得滁州项目逐笔期初、增加、转固、其他减少和期末桥，定位差额对应的会计科目、期间及是否影响</a:t>
            </a:r>
            <a:endParaRPr lang="en-US" sz="1800" dirty="0"/>
          </a:p>
          <a:p>
            <a:pPr indent="0" marL="0">
              <a:lnSpc>
                <a:spcPct val="100000"/>
              </a:lnSpc>
              <a:buNone/>
            </a:pPr>
            <a:r>
              <a:rPr lang="en-US" sz="1800" dirty="0">
                <a:solidFill>
                  <a:srgbClr val="1F2933"/>
                </a:solidFill>
              </a:rPr>
              <a:t>本期损益，再撤回或确认疑点。</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ks_a_e_fixed / ks_a_chuzhou_roll / ks_a_chuzhou_end；全部来源及位置见报告、底稿与备注</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9</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22</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递延税及税收优惠</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净DTA5.03 亿元人民币、占权益12.41%，亏损相关DTA7,146.12 万元人民币</a:t>
            </a:r>
            <a:endParaRPr lang="en-US" sz="1800" dirty="0"/>
          </a:p>
          <a:p>
            <a:pPr indent="0" marL="0">
              <a:lnSpc>
                <a:spcPct val="100000"/>
              </a:lnSpc>
              <a:buNone/>
            </a:pPr>
            <a:r>
              <a:rPr lang="en-US" sz="1800" dirty="0">
                <a:solidFill>
                  <a:srgbClr val="1F2933"/>
                </a:solidFill>
              </a:rPr>
              <a:t>。递延税收益缓冲当年亏损，但并非当年现金流入。</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按主体税率、优惠期限和亏损到期核验盈利预测，若不足覆盖转回则降低DTA及权益。</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ks_a_e_tax / ks_a_taxroll / ks_a_dta_equity；全部来源及位置见报告、底稿与备注</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业务、盈利及资产质量 10</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23</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[unresolved] 应收准备其他行的符号语义</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按原负号滚动未闭合；“其他”若表示冲回减少项可以解释差异。两次读取均保留原负号；未把小额列示</a:t>
            </a:r>
            <a:endParaRPr lang="en-US" sz="1800" dirty="0"/>
          </a:p>
          <a:p>
            <a:pPr indent="0" marL="0">
              <a:lnSpc>
                <a:spcPct val="100000"/>
              </a:lnSpc>
              <a:buNone/>
            </a:pPr>
            <a:r>
              <a:rPr lang="en-US" sz="1800" dirty="0">
                <a:solidFill>
                  <a:srgbClr val="1F2933"/>
                </a:solidFill>
              </a:rPr>
              <a:t>差异扩展为全报错报。</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取得该“其他”事项的凭证方向与对应准备变动，并使完整滚动可追溯闭合；确认金额后仍独立评估重大</a:t>
            </a:r>
            <a:endParaRPr lang="en-US" sz="1800" dirty="0"/>
          </a:p>
          <a:p>
            <a:pPr indent="0" marL="0">
              <a:lnSpc>
                <a:spcPct val="100000"/>
              </a:lnSpc>
              <a:buNone/>
            </a:pPr>
            <a:r>
              <a:rPr lang="en-US" sz="1800" dirty="0">
                <a:solidFill>
                  <a:srgbClr val="1F2933"/>
                </a:solidFill>
              </a:rPr>
              <a:t>客户回收风险。</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ks_a_e_ar_sign / ks_a_ar_res_roll / ks_a_arreserve_2025；全部来源及位置见报告、底稿与备注</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24</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现金可用性与募集金用途</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货币资金23.19 亿元人民币，受限7.12 亿元人民币，现金等价物16.08 亿元人民币。</a:t>
            </a:r>
            <a:endParaRPr lang="en-US" sz="1800" dirty="0"/>
          </a:p>
          <a:p>
            <a:pPr indent="0" marL="0">
              <a:lnSpc>
                <a:spcPct val="100000"/>
              </a:lnSpc>
              <a:buNone/>
            </a:pPr>
            <a:r>
              <a:rPr lang="en-US" sz="1800" dirty="0">
                <a:solidFill>
                  <a:srgbClr val="1F2933"/>
                </a:solidFill>
              </a:rPr>
              <a:t>后者也未核实全部无用途限制；理财、公允价值补偿资产及抵债房产不加入基础现金。</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确认银行函证、全部账户用途及理财/票据变现条件后，修订自由现金和现金类短债覆盖。</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ks_a_e_cash / ks_a_e_proceeds2 / ks_a_cashrestrict_2025 等；全部来源及位置见报告、底稿与备注</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25</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现金质量、季节性及分红</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全年CFO3.20 亿元人民币，扣现金资本开支后1.47 亿元人民币，再扣已分红后-2.41</a:t>
            </a:r>
            <a:endParaRPr lang="en-US" sz="1800" dirty="0"/>
          </a:p>
          <a:p>
            <a:pPr indent="0" marL="0">
              <a:lnSpc>
                <a:spcPct val="100000"/>
              </a:lnSpc>
              <a:buNone/>
            </a:pPr>
            <a:r>
              <a:rPr lang="en-US" sz="1800" dirty="0">
                <a:solidFill>
                  <a:srgbClr val="1F2933"/>
                </a:solidFill>
              </a:rPr>
              <a:t> 亿元人民币。末季贡献11.44 亿元人民币，期间现金波动明显。</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取得按客户的季度及月度银行收现、非现金重组和供应商付款桥，并证明现金覆盖利息、必要资本投入和</a:t>
            </a:r>
            <a:endParaRPr lang="en-US" sz="1800" dirty="0"/>
          </a:p>
          <a:p>
            <a:pPr indent="0" marL="0">
              <a:lnSpc>
                <a:spcPct val="100000"/>
              </a:lnSpc>
              <a:buNone/>
            </a:pPr>
            <a:r>
              <a:rPr lang="en-US" sz="1800" dirty="0">
                <a:solidFill>
                  <a:srgbClr val="1F2933"/>
                </a:solidFill>
              </a:rPr>
              <a:t>分红后仍有余量，才提高现金生成质量判断。</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ks_a_e_cf / ks_a_e_indirect / ks_a_e_summary 等；全部来源及位置见报告、底稿与备注</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26</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债务定义、期限和利息</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含票据及其他借款的广义债务52.73 亿元人民币，债务资本</a:t>
            </a:r>
            <a:endParaRPr lang="en-US" sz="1800" dirty="0"/>
          </a:p>
          <a:p>
            <a:pPr indent="0" marL="0">
              <a:lnSpc>
                <a:spcPct val="100000"/>
              </a:lnSpc>
              <a:buNone/>
            </a:pPr>
            <a:r>
              <a:rPr lang="en-US" sz="1800" dirty="0">
                <a:solidFill>
                  <a:srgbClr val="1F2933"/>
                </a:solidFill>
              </a:rPr>
              <a:t>化率56.55%，现金/短期债0.57 倍。转债摊余成本、</a:t>
            </a:r>
            <a:endParaRPr lang="en-US" sz="1800" dirty="0"/>
          </a:p>
          <a:p>
            <a:pPr indent="0" marL="0">
              <a:lnSpc>
                <a:spcPct val="100000"/>
              </a:lnSpc>
              <a:buNone/>
            </a:pPr>
            <a:r>
              <a:rPr lang="en-US" sz="1800" dirty="0">
                <a:solidFill>
                  <a:srgbClr val="1F2933"/>
                </a:solidFill>
              </a:rPr>
              <a:t>租赁及非现金融资需纳入；预计质量负债从利息债中剔开。</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拿到账面至合同本金的逐笔调节、债权人和到期日，并确认背书</a:t>
            </a:r>
            <a:endParaRPr lang="en-US" sz="1800" dirty="0"/>
          </a:p>
          <a:p>
            <a:pPr indent="0" marL="0">
              <a:lnSpc>
                <a:spcPct val="100000"/>
              </a:lnSpc>
              <a:buNone/>
            </a:pPr>
            <a:r>
              <a:rPr lang="en-US" sz="1800" dirty="0">
                <a:solidFill>
                  <a:srgbClr val="1F2933"/>
                </a:solidFill>
              </a:rPr>
              <a:t>追索及供应商融资性质后重算债务、短债覆盖和融资缺口。</a:t>
            </a: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广义利息债（含全部应付票据）</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52.73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现金等价物/短期债务</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0.57 倍</a:t>
            </a:r>
            <a:endParaRPr lang="en-US" sz="18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全部债务资本化比率</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56.55%</a:t>
            </a:r>
            <a:endParaRPr lang="en-US" sz="1800" dirty="0"/>
          </a:p>
        </p:txBody>
      </p:sp>
      <p:sp>
        <p:nvSpPr>
          <p:cNvPr id="17" name="Text 14"/>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ks_a_e_bs / ks_a_e_debtorroll / ks_a_e_liabs 等；全部来源及位置见报告、底稿与备注</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 4</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27</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供应商融资与现金分类</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安排总额4.60 亿元人民币，已入短借2.83 亿元人民币，余AP1.77 亿元人民币。若</a:t>
            </a:r>
            <a:endParaRPr lang="en-US" sz="1800" dirty="0"/>
          </a:p>
          <a:p>
            <a:pPr indent="0" marL="0">
              <a:lnSpc>
                <a:spcPct val="100000"/>
              </a:lnSpc>
              <a:buNone/>
            </a:pPr>
            <a:r>
              <a:rPr lang="en-US" sz="1800" dirty="0">
                <a:solidFill>
                  <a:srgbClr val="1F2933"/>
                </a:solidFill>
              </a:rPr>
              <a:t>AP部分全部视为融资，债务为54.51 亿元人民币，资本化比率57.36%；属于有条件敏感性</a:t>
            </a:r>
            <a:endParaRPr lang="en-US" sz="1800" dirty="0"/>
          </a:p>
          <a:p>
            <a:pPr indent="0" marL="0">
              <a:lnSpc>
                <a:spcPct val="100000"/>
              </a:lnSpc>
              <a:buNone/>
            </a:pPr>
            <a:r>
              <a:rPr lang="en-US" sz="1800" dirty="0">
                <a:solidFill>
                  <a:srgbClr val="1F2933"/>
                </a:solidFill>
              </a:rPr>
              <a:t>。</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取得融资协议、付款展期和追索安排后确定AP部分重分类；核对银行流水后再调整现金流。</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ks_a_e_supplier / ks_a_e_debtorroll / ks_a_supplier_sum_2025；全部来源及位置见报告、底稿与备注</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 5</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28</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母公司偿债资源与集团往来</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母公司盈利1.41 亿元人民币但CFO-7.32 亿元人民币；投资收益4.51 亿元人民币及</a:t>
            </a:r>
            <a:endParaRPr lang="en-US" sz="1800" dirty="0"/>
          </a:p>
          <a:p>
            <a:pPr indent="0" marL="0">
              <a:lnSpc>
                <a:spcPct val="100000"/>
              </a:lnSpc>
              <a:buNone/>
            </a:pPr>
            <a:r>
              <a:rPr lang="en-US" sz="1800" dirty="0">
                <a:solidFill>
                  <a:srgbClr val="1F2933"/>
                </a:solidFill>
              </a:rPr>
              <a:t>巨额集团往来影响现金。母公司权益表期初另追溯78.57 万元人民币已单列桥接。</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取得母公司债务到期表、子公司上划决议与现金到账、资金归集合同及往来可回收证据后判断发行主体</a:t>
            </a:r>
            <a:endParaRPr lang="en-US" sz="1800" dirty="0"/>
          </a:p>
          <a:p>
            <a:pPr indent="0" marL="0">
              <a:lnSpc>
                <a:spcPct val="100000"/>
              </a:lnSpc>
              <a:buNone/>
            </a:pPr>
            <a:r>
              <a:rPr lang="en-US" sz="1800" dirty="0">
                <a:solidFill>
                  <a:srgbClr val="1F2933"/>
                </a:solidFill>
              </a:rPr>
              <a:t>资源。</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ks_a_e_parent / ks_a_e_invest / ks_a_p_equityroll；全部来源及位置见报告、底稿与备注</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 6</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29</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收购、出表、少数权益与基金承诺</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同控收购支付8,200.00 万元人民币，顺控保理出表带出净现金1.15 亿元人民币；少数</a:t>
            </a:r>
            <a:endParaRPr lang="en-US" sz="1800" dirty="0"/>
          </a:p>
          <a:p>
            <a:pPr indent="0" marL="0">
              <a:lnSpc>
                <a:spcPct val="100000"/>
              </a:lnSpc>
              <a:buNone/>
            </a:pPr>
            <a:r>
              <a:rPr lang="en-US" sz="1800" dirty="0">
                <a:solidFill>
                  <a:srgbClr val="1F2933"/>
                </a:solidFill>
              </a:rPr>
              <a:t>权益收购、金融资产重估和基金承诺分别处理。</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取得交割协议、付款/收款、剩余股权估值和基金实际实缴及资本调用计划后，更新权益、未来支出和</a:t>
            </a:r>
            <a:endParaRPr lang="en-US" sz="1800" dirty="0"/>
          </a:p>
          <a:p>
            <a:pPr indent="0" marL="0">
              <a:lnSpc>
                <a:spcPct val="100000"/>
              </a:lnSpc>
              <a:buNone/>
            </a:pPr>
            <a:r>
              <a:rPr lang="en-US" sz="1800" dirty="0">
                <a:solidFill>
                  <a:srgbClr val="1F2933"/>
                </a:solidFill>
              </a:rPr>
              <a:t>集团现金分配。</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ks_a_e_invest / ks_a_e_related / ks_a_e_equity；全部来源及位置见报告、底稿与备注</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 7</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30</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保证、诉讼、质量与关联支持</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外部经销商保证余额1.60 亿元人民币、保函1.66 亿元人民币及产品质量预计负债需逐项追踪</a:t>
            </a:r>
            <a:endParaRPr lang="en-US" sz="1800" dirty="0"/>
          </a:p>
          <a:p>
            <a:pPr indent="0" marL="0">
              <a:lnSpc>
                <a:spcPct val="100000"/>
              </a:lnSpc>
              <a:buNone/>
            </a:pPr>
            <a:r>
              <a:rPr lang="en-US" sz="1800" dirty="0">
                <a:solidFill>
                  <a:srgbClr val="1F2933"/>
                </a:solidFill>
              </a:rPr>
              <a:t>。集团内部保证不得与已并表基础债务重复加总。</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取得债权人、被担保人、已提款余额、追索顺位、反担保资产及触发事件后，按同一经济义务去重并重算</a:t>
            </a:r>
            <a:endParaRPr lang="en-US" sz="1800" dirty="0"/>
          </a:p>
          <a:p>
            <a:pPr indent="0" marL="0">
              <a:lnSpc>
                <a:spcPct val="100000"/>
              </a:lnSpc>
              <a:buNone/>
            </a:pPr>
            <a:r>
              <a:rPr lang="en-US" sz="1800" dirty="0">
                <a:solidFill>
                  <a:srgbClr val="1F2933"/>
                </a:solidFill>
              </a:rPr>
              <a:t>或有现金和回收。</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ks_a_e_related / ks_a_e_liabs / ks_a_e_governance 等；全部来源及位置见报告、底稿与备注</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现金、债务及资本资源：章节指标 8</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31</a:t>
            </a:r>
            <a:endParaRPr lang="en-US" sz="900" dirty="0"/>
          </a:p>
        </p:txBody>
      </p:sp>
      <p:sp>
        <p:nvSpPr>
          <p:cNvPr id="5" name="Shape 3"/>
          <p:cNvSpPr/>
          <p:nvPr/>
        </p:nvSpPr>
        <p:spPr>
          <a:xfrm>
            <a:off x="594360" y="1508760"/>
            <a:ext cx="5394960" cy="950976"/>
          </a:xfrm>
          <a:prstGeom prst="rect">
            <a:avLst/>
          </a:prstGeom>
          <a:solidFill>
            <a:srgbClr val="E6EFEC"/>
          </a:solidFill>
          <a:ln w="12700">
            <a:solidFill>
              <a:srgbClr val="E6EFEC"/>
            </a:solidFill>
            <a:prstDash val="solid"/>
          </a:ln>
        </p:spPr>
      </p:sp>
      <p:sp>
        <p:nvSpPr>
          <p:cNvPr id="6" name="Text 4"/>
          <p:cNvSpPr/>
          <p:nvPr/>
        </p:nvSpPr>
        <p:spPr>
          <a:xfrm>
            <a:off x="77724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广义利息债（含全部应付票据）</a:t>
            </a:r>
            <a:endParaRPr lang="en-US" sz="1200" dirty="0"/>
          </a:p>
        </p:txBody>
      </p:sp>
      <p:sp>
        <p:nvSpPr>
          <p:cNvPr id="7" name="Text 5"/>
          <p:cNvSpPr/>
          <p:nvPr/>
        </p:nvSpPr>
        <p:spPr>
          <a:xfrm>
            <a:off x="77724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60.46 亿元人民币</a:t>
            </a:r>
            <a:endParaRPr lang="en-US" sz="1800" dirty="0"/>
          </a:p>
        </p:txBody>
      </p:sp>
      <p:sp>
        <p:nvSpPr>
          <p:cNvPr id="8" name="Shape 6"/>
          <p:cNvSpPr/>
          <p:nvPr/>
        </p:nvSpPr>
        <p:spPr>
          <a:xfrm>
            <a:off x="6172200" y="1508760"/>
            <a:ext cx="5394960" cy="950976"/>
          </a:xfrm>
          <a:prstGeom prst="rect">
            <a:avLst/>
          </a:prstGeom>
          <a:solidFill>
            <a:srgbClr val="E6EFEC"/>
          </a:solidFill>
          <a:ln w="12700">
            <a:solidFill>
              <a:srgbClr val="E6EFEC"/>
            </a:solidFill>
            <a:prstDash val="solid"/>
          </a:ln>
        </p:spPr>
      </p:sp>
      <p:sp>
        <p:nvSpPr>
          <p:cNvPr id="9" name="Text 7"/>
          <p:cNvSpPr/>
          <p:nvPr/>
        </p:nvSpPr>
        <p:spPr>
          <a:xfrm>
            <a:off x="635508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一年内广义利息债</a:t>
            </a:r>
            <a:endParaRPr lang="en-US" sz="1200" dirty="0"/>
          </a:p>
        </p:txBody>
      </p:sp>
      <p:sp>
        <p:nvSpPr>
          <p:cNvPr id="10" name="Text 8"/>
          <p:cNvSpPr/>
          <p:nvPr/>
        </p:nvSpPr>
        <p:spPr>
          <a:xfrm>
            <a:off x="635508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32.95 亿元人民币</a:t>
            </a:r>
            <a:endParaRPr lang="en-US" sz="1800" dirty="0"/>
          </a:p>
        </p:txBody>
      </p:sp>
      <p:sp>
        <p:nvSpPr>
          <p:cNvPr id="11" name="Shape 9"/>
          <p:cNvSpPr/>
          <p:nvPr/>
        </p:nvSpPr>
        <p:spPr>
          <a:xfrm>
            <a:off x="594360" y="3063240"/>
            <a:ext cx="5394960" cy="950976"/>
          </a:xfrm>
          <a:prstGeom prst="rect">
            <a:avLst/>
          </a:prstGeom>
          <a:solidFill>
            <a:srgbClr val="E6EFEC"/>
          </a:solidFill>
          <a:ln w="12700">
            <a:solidFill>
              <a:srgbClr val="E6EFEC"/>
            </a:solidFill>
            <a:prstDash val="solid"/>
          </a:ln>
        </p:spPr>
      </p:sp>
      <p:sp>
        <p:nvSpPr>
          <p:cNvPr id="12" name="Text 10"/>
          <p:cNvSpPr/>
          <p:nvPr/>
        </p:nvSpPr>
        <p:spPr>
          <a:xfrm>
            <a:off x="777240" y="314553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一年内广义利息债</a:t>
            </a:r>
            <a:endParaRPr lang="en-US" sz="1200" dirty="0"/>
          </a:p>
        </p:txBody>
      </p:sp>
      <p:sp>
        <p:nvSpPr>
          <p:cNvPr id="13" name="Text 11"/>
          <p:cNvSpPr/>
          <p:nvPr/>
        </p:nvSpPr>
        <p:spPr>
          <a:xfrm>
            <a:off x="777240" y="351129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28.06 亿元人民币</a:t>
            </a:r>
            <a:endParaRPr lang="en-US" sz="1800" dirty="0"/>
          </a:p>
        </p:txBody>
      </p:sp>
      <p:sp>
        <p:nvSpPr>
          <p:cNvPr id="14" name="Shape 12"/>
          <p:cNvSpPr/>
          <p:nvPr/>
        </p:nvSpPr>
        <p:spPr>
          <a:xfrm>
            <a:off x="6172200" y="3063240"/>
            <a:ext cx="5394960" cy="950976"/>
          </a:xfrm>
          <a:prstGeom prst="rect">
            <a:avLst/>
          </a:prstGeom>
          <a:solidFill>
            <a:srgbClr val="E6EFEC"/>
          </a:solidFill>
          <a:ln w="12700">
            <a:solidFill>
              <a:srgbClr val="E6EFEC"/>
            </a:solidFill>
            <a:prstDash val="solid"/>
          </a:ln>
        </p:spPr>
      </p:sp>
      <p:sp>
        <p:nvSpPr>
          <p:cNvPr id="15" name="Text 13"/>
          <p:cNvSpPr/>
          <p:nvPr/>
        </p:nvSpPr>
        <p:spPr>
          <a:xfrm>
            <a:off x="6355080" y="314553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方法现金类资产扣除已披露受限部分</a:t>
            </a:r>
            <a:endParaRPr lang="en-US" sz="1200" dirty="0"/>
          </a:p>
        </p:txBody>
      </p:sp>
      <p:sp>
        <p:nvSpPr>
          <p:cNvPr id="16" name="Text 14"/>
          <p:cNvSpPr/>
          <p:nvPr/>
        </p:nvSpPr>
        <p:spPr>
          <a:xfrm>
            <a:off x="6355080" y="351129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29.91 亿元人民币</a:t>
            </a:r>
            <a:endParaRPr lang="en-US" sz="1800" dirty="0"/>
          </a:p>
        </p:txBody>
      </p:sp>
      <p:sp>
        <p:nvSpPr>
          <p:cNvPr id="17" name="Shape 15"/>
          <p:cNvSpPr/>
          <p:nvPr/>
        </p:nvSpPr>
        <p:spPr>
          <a:xfrm>
            <a:off x="594360" y="4617720"/>
            <a:ext cx="5394960" cy="950976"/>
          </a:xfrm>
          <a:prstGeom prst="rect">
            <a:avLst/>
          </a:prstGeom>
          <a:solidFill>
            <a:srgbClr val="E6EFEC"/>
          </a:solidFill>
          <a:ln w="12700">
            <a:solidFill>
              <a:srgbClr val="E6EFEC"/>
            </a:solidFill>
            <a:prstDash val="solid"/>
          </a:ln>
        </p:spPr>
      </p:sp>
      <p:sp>
        <p:nvSpPr>
          <p:cNvPr id="18" name="Text 16"/>
          <p:cNvSpPr/>
          <p:nvPr/>
        </p:nvSpPr>
        <p:spPr>
          <a:xfrm>
            <a:off x="777240" y="470001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方法现金类资产扣除已披露受限部分</a:t>
            </a:r>
            <a:endParaRPr lang="en-US" sz="1200" dirty="0"/>
          </a:p>
        </p:txBody>
      </p:sp>
      <p:sp>
        <p:nvSpPr>
          <p:cNvPr id="19" name="Text 17"/>
          <p:cNvSpPr/>
          <p:nvPr/>
        </p:nvSpPr>
        <p:spPr>
          <a:xfrm>
            <a:off x="777240" y="506577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22.79 亿元人民币</a:t>
            </a:r>
            <a:endParaRPr lang="en-US" sz="1800" dirty="0"/>
          </a:p>
        </p:txBody>
      </p:sp>
      <p:sp>
        <p:nvSpPr>
          <p:cNvPr id="20" name="Shape 18"/>
          <p:cNvSpPr/>
          <p:nvPr/>
        </p:nvSpPr>
        <p:spPr>
          <a:xfrm>
            <a:off x="6172200" y="4617720"/>
            <a:ext cx="5394960" cy="950976"/>
          </a:xfrm>
          <a:prstGeom prst="rect">
            <a:avLst/>
          </a:prstGeom>
          <a:solidFill>
            <a:srgbClr val="E6EFEC"/>
          </a:solidFill>
          <a:ln w="12700">
            <a:solidFill>
              <a:srgbClr val="E6EFEC"/>
            </a:solidFill>
            <a:prstDash val="solid"/>
          </a:ln>
        </p:spPr>
      </p:sp>
      <p:sp>
        <p:nvSpPr>
          <p:cNvPr id="21" name="Text 19"/>
          <p:cNvSpPr/>
          <p:nvPr/>
        </p:nvSpPr>
        <p:spPr>
          <a:xfrm>
            <a:off x="6355080" y="470001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方法现金类资产/短债</a:t>
            </a:r>
            <a:endParaRPr lang="en-US" sz="1200" dirty="0"/>
          </a:p>
        </p:txBody>
      </p:sp>
      <p:sp>
        <p:nvSpPr>
          <p:cNvPr id="22" name="Text 20"/>
          <p:cNvSpPr/>
          <p:nvPr/>
        </p:nvSpPr>
        <p:spPr>
          <a:xfrm>
            <a:off x="6355080" y="506577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0.91 倍</a:t>
            </a:r>
            <a:endParaRPr lang="en-US" sz="1800" dirty="0"/>
          </a:p>
        </p:txBody>
      </p:sp>
      <p:sp>
        <p:nvSpPr>
          <p:cNvPr id="23" name="Text 2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ks_a_e_bs / ks_a_e_debtorroll / ks_a_e_liabs 等；全部来源及位置见报告、底稿与备注</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现金、债务及资本资源：章节指标 9</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32</a:t>
            </a:r>
            <a:endParaRPr lang="en-US" sz="900" dirty="0"/>
          </a:p>
        </p:txBody>
      </p:sp>
      <p:sp>
        <p:nvSpPr>
          <p:cNvPr id="5" name="Shape 3"/>
          <p:cNvSpPr/>
          <p:nvPr/>
        </p:nvSpPr>
        <p:spPr>
          <a:xfrm>
            <a:off x="594360" y="1508760"/>
            <a:ext cx="5394960" cy="950976"/>
          </a:xfrm>
          <a:prstGeom prst="rect">
            <a:avLst/>
          </a:prstGeom>
          <a:solidFill>
            <a:srgbClr val="E6EFEC"/>
          </a:solidFill>
          <a:ln w="12700">
            <a:solidFill>
              <a:srgbClr val="E6EFEC"/>
            </a:solidFill>
            <a:prstDash val="solid"/>
          </a:ln>
        </p:spPr>
      </p:sp>
      <p:sp>
        <p:nvSpPr>
          <p:cNvPr id="6" name="Text 4"/>
          <p:cNvSpPr/>
          <p:nvPr/>
        </p:nvSpPr>
        <p:spPr>
          <a:xfrm>
            <a:off x="77724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方法现金类资产/短债</a:t>
            </a:r>
            <a:endParaRPr lang="en-US" sz="1200" dirty="0"/>
          </a:p>
        </p:txBody>
      </p:sp>
      <p:sp>
        <p:nvSpPr>
          <p:cNvPr id="7" name="Text 5"/>
          <p:cNvSpPr/>
          <p:nvPr/>
        </p:nvSpPr>
        <p:spPr>
          <a:xfrm>
            <a:off x="77724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0.81 倍</a:t>
            </a:r>
            <a:endParaRPr lang="en-US" sz="1800" dirty="0"/>
          </a:p>
        </p:txBody>
      </p:sp>
      <p:sp>
        <p:nvSpPr>
          <p:cNvPr id="8" name="Shape 6"/>
          <p:cNvSpPr/>
          <p:nvPr/>
        </p:nvSpPr>
        <p:spPr>
          <a:xfrm>
            <a:off x="6172200" y="1508760"/>
            <a:ext cx="5394960" cy="950976"/>
          </a:xfrm>
          <a:prstGeom prst="rect">
            <a:avLst/>
          </a:prstGeom>
          <a:solidFill>
            <a:srgbClr val="E6EFEC"/>
          </a:solidFill>
          <a:ln w="12700">
            <a:solidFill>
              <a:srgbClr val="E6EFEC"/>
            </a:solidFill>
            <a:prstDash val="solid"/>
          </a:ln>
        </p:spPr>
      </p:sp>
      <p:sp>
        <p:nvSpPr>
          <p:cNvPr id="9" name="Text 7"/>
          <p:cNvSpPr/>
          <p:nvPr/>
        </p:nvSpPr>
        <p:spPr>
          <a:xfrm>
            <a:off x="635508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现金等价物/短期债务</a:t>
            </a:r>
            <a:endParaRPr lang="en-US" sz="1200" dirty="0"/>
          </a:p>
        </p:txBody>
      </p:sp>
      <p:sp>
        <p:nvSpPr>
          <p:cNvPr id="10" name="Text 8"/>
          <p:cNvSpPr/>
          <p:nvPr/>
        </p:nvSpPr>
        <p:spPr>
          <a:xfrm>
            <a:off x="635508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0.71 倍</a:t>
            </a:r>
            <a:endParaRPr lang="en-US" sz="1800" dirty="0"/>
          </a:p>
        </p:txBody>
      </p:sp>
      <p:sp>
        <p:nvSpPr>
          <p:cNvPr id="11" name="Shape 9"/>
          <p:cNvSpPr/>
          <p:nvPr/>
        </p:nvSpPr>
        <p:spPr>
          <a:xfrm>
            <a:off x="594360" y="3063240"/>
            <a:ext cx="5394960" cy="950976"/>
          </a:xfrm>
          <a:prstGeom prst="rect">
            <a:avLst/>
          </a:prstGeom>
          <a:solidFill>
            <a:srgbClr val="E6EFEC"/>
          </a:solidFill>
          <a:ln w="12700">
            <a:solidFill>
              <a:srgbClr val="E6EFEC"/>
            </a:solidFill>
            <a:prstDash val="solid"/>
          </a:ln>
        </p:spPr>
      </p:sp>
      <p:sp>
        <p:nvSpPr>
          <p:cNvPr id="12" name="Text 10"/>
          <p:cNvSpPr/>
          <p:nvPr/>
        </p:nvSpPr>
        <p:spPr>
          <a:xfrm>
            <a:off x="777240" y="314553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会计EBITDA（含减值影响）</a:t>
            </a:r>
            <a:endParaRPr lang="en-US" sz="1200" dirty="0"/>
          </a:p>
        </p:txBody>
      </p:sp>
      <p:sp>
        <p:nvSpPr>
          <p:cNvPr id="13" name="Text 11"/>
          <p:cNvSpPr/>
          <p:nvPr/>
        </p:nvSpPr>
        <p:spPr>
          <a:xfrm>
            <a:off x="777240" y="351129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4.34 亿元人民币</a:t>
            </a:r>
            <a:endParaRPr lang="en-US" sz="1800" dirty="0"/>
          </a:p>
        </p:txBody>
      </p:sp>
      <p:sp>
        <p:nvSpPr>
          <p:cNvPr id="14" name="Shape 12"/>
          <p:cNvSpPr/>
          <p:nvPr/>
        </p:nvSpPr>
        <p:spPr>
          <a:xfrm>
            <a:off x="6172200" y="3063240"/>
            <a:ext cx="5394960" cy="950976"/>
          </a:xfrm>
          <a:prstGeom prst="rect">
            <a:avLst/>
          </a:prstGeom>
          <a:solidFill>
            <a:srgbClr val="E6EFEC"/>
          </a:solidFill>
          <a:ln w="12700">
            <a:solidFill>
              <a:srgbClr val="E6EFEC"/>
            </a:solidFill>
            <a:prstDash val="solid"/>
          </a:ln>
        </p:spPr>
      </p:sp>
      <p:sp>
        <p:nvSpPr>
          <p:cNvPr id="15" name="Text 13"/>
          <p:cNvSpPr/>
          <p:nvPr/>
        </p:nvSpPr>
        <p:spPr>
          <a:xfrm>
            <a:off x="6355080" y="314553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会计EBITDA（含减值影响）</a:t>
            </a:r>
            <a:endParaRPr lang="en-US" sz="1200" dirty="0"/>
          </a:p>
        </p:txBody>
      </p:sp>
      <p:sp>
        <p:nvSpPr>
          <p:cNvPr id="16" name="Text 14"/>
          <p:cNvSpPr/>
          <p:nvPr/>
        </p:nvSpPr>
        <p:spPr>
          <a:xfrm>
            <a:off x="6355080" y="351129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-2.11 亿元人民币</a:t>
            </a:r>
            <a:endParaRPr lang="en-US" sz="1800" dirty="0"/>
          </a:p>
        </p:txBody>
      </p:sp>
      <p:sp>
        <p:nvSpPr>
          <p:cNvPr id="17" name="Shape 15"/>
          <p:cNvSpPr/>
          <p:nvPr/>
        </p:nvSpPr>
        <p:spPr>
          <a:xfrm>
            <a:off x="594360" y="4617720"/>
            <a:ext cx="5394960" cy="950976"/>
          </a:xfrm>
          <a:prstGeom prst="rect">
            <a:avLst/>
          </a:prstGeom>
          <a:solidFill>
            <a:srgbClr val="E6EFEC"/>
          </a:solidFill>
          <a:ln w="12700">
            <a:solidFill>
              <a:srgbClr val="E6EFEC"/>
            </a:solidFill>
            <a:prstDash val="solid"/>
          </a:ln>
        </p:spPr>
      </p:sp>
      <p:sp>
        <p:nvSpPr>
          <p:cNvPr id="18" name="Text 16"/>
          <p:cNvSpPr/>
          <p:nvPr/>
        </p:nvSpPr>
        <p:spPr>
          <a:xfrm>
            <a:off x="777240" y="470001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会计EBITDA/全部利息</a:t>
            </a:r>
            <a:endParaRPr lang="en-US" sz="1200" dirty="0"/>
          </a:p>
        </p:txBody>
      </p:sp>
      <p:sp>
        <p:nvSpPr>
          <p:cNvPr id="19" name="Text 17"/>
          <p:cNvSpPr/>
          <p:nvPr/>
        </p:nvSpPr>
        <p:spPr>
          <a:xfrm>
            <a:off x="777240" y="506577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2.87 倍</a:t>
            </a:r>
            <a:endParaRPr lang="en-US" sz="1800" dirty="0"/>
          </a:p>
        </p:txBody>
      </p:sp>
      <p:sp>
        <p:nvSpPr>
          <p:cNvPr id="20" name="Shape 18"/>
          <p:cNvSpPr/>
          <p:nvPr/>
        </p:nvSpPr>
        <p:spPr>
          <a:xfrm>
            <a:off x="6172200" y="4617720"/>
            <a:ext cx="5394960" cy="950976"/>
          </a:xfrm>
          <a:prstGeom prst="rect">
            <a:avLst/>
          </a:prstGeom>
          <a:solidFill>
            <a:srgbClr val="E6EFEC"/>
          </a:solidFill>
          <a:ln w="12700">
            <a:solidFill>
              <a:srgbClr val="E6EFEC"/>
            </a:solidFill>
            <a:prstDash val="solid"/>
          </a:ln>
        </p:spPr>
      </p:sp>
      <p:sp>
        <p:nvSpPr>
          <p:cNvPr id="21" name="Text 19"/>
          <p:cNvSpPr/>
          <p:nvPr/>
        </p:nvSpPr>
        <p:spPr>
          <a:xfrm>
            <a:off x="6355080" y="470001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会计EBITDA/全部利息</a:t>
            </a:r>
            <a:endParaRPr lang="en-US" sz="1200" dirty="0"/>
          </a:p>
        </p:txBody>
      </p:sp>
      <p:sp>
        <p:nvSpPr>
          <p:cNvPr id="22" name="Text 20"/>
          <p:cNvSpPr/>
          <p:nvPr/>
        </p:nvSpPr>
        <p:spPr>
          <a:xfrm>
            <a:off x="6355080" y="506577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-1.66 倍</a:t>
            </a:r>
            <a:endParaRPr lang="en-US" sz="1800" dirty="0"/>
          </a:p>
        </p:txBody>
      </p:sp>
      <p:sp>
        <p:nvSpPr>
          <p:cNvPr id="23" name="Text 2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ks_a_e_arf / ks_a_e_bs / ks_a_e_cash 等；全部来源及位置见报告、底稿与备注</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现金、债务及资本资源：章节指标 10</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33</a:t>
            </a:r>
            <a:endParaRPr lang="en-US" sz="900" dirty="0"/>
          </a:p>
        </p:txBody>
      </p:sp>
      <p:sp>
        <p:nvSpPr>
          <p:cNvPr id="5" name="Shape 3"/>
          <p:cNvSpPr/>
          <p:nvPr/>
        </p:nvSpPr>
        <p:spPr>
          <a:xfrm>
            <a:off x="594360" y="1508760"/>
            <a:ext cx="5394960" cy="950976"/>
          </a:xfrm>
          <a:prstGeom prst="rect">
            <a:avLst/>
          </a:prstGeom>
          <a:solidFill>
            <a:srgbClr val="E6EFEC"/>
          </a:solidFill>
          <a:ln w="12700">
            <a:solidFill>
              <a:srgbClr val="E6EFEC"/>
            </a:solidFill>
            <a:prstDash val="solid"/>
          </a:ln>
        </p:spPr>
      </p:sp>
      <p:sp>
        <p:nvSpPr>
          <p:cNvPr id="6" name="Text 4"/>
          <p:cNvSpPr/>
          <p:nvPr/>
        </p:nvSpPr>
        <p:spPr>
          <a:xfrm>
            <a:off x="77724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销售收现/期末流动负债</a:t>
            </a:r>
            <a:endParaRPr lang="en-US" sz="1200" dirty="0"/>
          </a:p>
        </p:txBody>
      </p:sp>
      <p:sp>
        <p:nvSpPr>
          <p:cNvPr id="7" name="Text 5"/>
          <p:cNvSpPr/>
          <p:nvPr/>
        </p:nvSpPr>
        <p:spPr>
          <a:xfrm>
            <a:off x="77724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1.20 倍</a:t>
            </a:r>
            <a:endParaRPr lang="en-US" sz="1800" dirty="0"/>
          </a:p>
        </p:txBody>
      </p:sp>
      <p:sp>
        <p:nvSpPr>
          <p:cNvPr id="8" name="Shape 6"/>
          <p:cNvSpPr/>
          <p:nvPr/>
        </p:nvSpPr>
        <p:spPr>
          <a:xfrm>
            <a:off x="6172200" y="1508760"/>
            <a:ext cx="5394960" cy="950976"/>
          </a:xfrm>
          <a:prstGeom prst="rect">
            <a:avLst/>
          </a:prstGeom>
          <a:solidFill>
            <a:srgbClr val="E6EFEC"/>
          </a:solidFill>
          <a:ln w="12700">
            <a:solidFill>
              <a:srgbClr val="E6EFEC"/>
            </a:solidFill>
            <a:prstDash val="solid"/>
          </a:ln>
        </p:spPr>
      </p:sp>
      <p:sp>
        <p:nvSpPr>
          <p:cNvPr id="9" name="Text 7"/>
          <p:cNvSpPr/>
          <p:nvPr/>
        </p:nvSpPr>
        <p:spPr>
          <a:xfrm>
            <a:off x="635508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销售收现/期末流动负债</a:t>
            </a:r>
            <a:endParaRPr lang="en-US" sz="1200" dirty="0"/>
          </a:p>
        </p:txBody>
      </p:sp>
      <p:sp>
        <p:nvSpPr>
          <p:cNvPr id="10" name="Text 8"/>
          <p:cNvSpPr/>
          <p:nvPr/>
        </p:nvSpPr>
        <p:spPr>
          <a:xfrm>
            <a:off x="635508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1.24 倍</a:t>
            </a:r>
            <a:endParaRPr lang="en-US" sz="1800" dirty="0"/>
          </a:p>
        </p:txBody>
      </p:sp>
      <p:sp>
        <p:nvSpPr>
          <p:cNvPr id="11" name="Shape 9"/>
          <p:cNvSpPr/>
          <p:nvPr/>
        </p:nvSpPr>
        <p:spPr>
          <a:xfrm>
            <a:off x="594360" y="3063240"/>
            <a:ext cx="5394960" cy="950976"/>
          </a:xfrm>
          <a:prstGeom prst="rect">
            <a:avLst/>
          </a:prstGeom>
          <a:solidFill>
            <a:srgbClr val="E6EFEC"/>
          </a:solidFill>
          <a:ln w="12700">
            <a:solidFill>
              <a:srgbClr val="E6EFEC"/>
            </a:solidFill>
            <a:prstDash val="solid"/>
          </a:ln>
        </p:spPr>
      </p:sp>
      <p:sp>
        <p:nvSpPr>
          <p:cNvPr id="12" name="Text 10"/>
          <p:cNvSpPr/>
          <p:nvPr/>
        </p:nvSpPr>
        <p:spPr>
          <a:xfrm>
            <a:off x="777240" y="314553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全部债务资本化比率</a:t>
            </a:r>
            <a:endParaRPr lang="en-US" sz="1200" dirty="0"/>
          </a:p>
        </p:txBody>
      </p:sp>
      <p:sp>
        <p:nvSpPr>
          <p:cNvPr id="13" name="Text 11"/>
          <p:cNvSpPr/>
          <p:nvPr/>
        </p:nvSpPr>
        <p:spPr>
          <a:xfrm>
            <a:off x="777240" y="351129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54.40%</a:t>
            </a:r>
            <a:endParaRPr lang="en-US" sz="1800" dirty="0"/>
          </a:p>
        </p:txBody>
      </p:sp>
      <p:sp>
        <p:nvSpPr>
          <p:cNvPr id="14" name="Shape 12"/>
          <p:cNvSpPr/>
          <p:nvPr/>
        </p:nvSpPr>
        <p:spPr>
          <a:xfrm>
            <a:off x="6172200" y="3063240"/>
            <a:ext cx="5394960" cy="950976"/>
          </a:xfrm>
          <a:prstGeom prst="rect">
            <a:avLst/>
          </a:prstGeom>
          <a:solidFill>
            <a:srgbClr val="E6EFEC"/>
          </a:solidFill>
          <a:ln w="12700">
            <a:solidFill>
              <a:srgbClr val="E6EFEC"/>
            </a:solidFill>
            <a:prstDash val="solid"/>
          </a:ln>
        </p:spPr>
      </p:sp>
      <p:sp>
        <p:nvSpPr>
          <p:cNvPr id="15" name="Text 13"/>
          <p:cNvSpPr/>
          <p:nvPr/>
        </p:nvSpPr>
        <p:spPr>
          <a:xfrm>
            <a:off x="6355080" y="314553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CFO/全部债务</a:t>
            </a:r>
            <a:endParaRPr lang="en-US" sz="1200" dirty="0"/>
          </a:p>
        </p:txBody>
      </p:sp>
      <p:sp>
        <p:nvSpPr>
          <p:cNvPr id="16" name="Text 14"/>
          <p:cNvSpPr/>
          <p:nvPr/>
        </p:nvSpPr>
        <p:spPr>
          <a:xfrm>
            <a:off x="6355080" y="351129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5.21%</a:t>
            </a:r>
            <a:endParaRPr lang="en-US" sz="1800" dirty="0"/>
          </a:p>
        </p:txBody>
      </p:sp>
      <p:sp>
        <p:nvSpPr>
          <p:cNvPr id="17" name="Shape 15"/>
          <p:cNvSpPr/>
          <p:nvPr/>
        </p:nvSpPr>
        <p:spPr>
          <a:xfrm>
            <a:off x="594360" y="4617720"/>
            <a:ext cx="5394960" cy="950976"/>
          </a:xfrm>
          <a:prstGeom prst="rect">
            <a:avLst/>
          </a:prstGeom>
          <a:solidFill>
            <a:srgbClr val="E6EFEC"/>
          </a:solidFill>
          <a:ln w="12700">
            <a:solidFill>
              <a:srgbClr val="E6EFEC"/>
            </a:solidFill>
            <a:prstDash val="solid"/>
          </a:ln>
        </p:spPr>
      </p:sp>
      <p:sp>
        <p:nvSpPr>
          <p:cNvPr id="18" name="Text 16"/>
          <p:cNvSpPr/>
          <p:nvPr/>
        </p:nvSpPr>
        <p:spPr>
          <a:xfrm>
            <a:off x="777240" y="470001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CFO/全部债务</a:t>
            </a:r>
            <a:endParaRPr lang="en-US" sz="1200" dirty="0"/>
          </a:p>
        </p:txBody>
      </p:sp>
      <p:sp>
        <p:nvSpPr>
          <p:cNvPr id="19" name="Text 17"/>
          <p:cNvSpPr/>
          <p:nvPr/>
        </p:nvSpPr>
        <p:spPr>
          <a:xfrm>
            <a:off x="777240" y="506577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6.06%</a:t>
            </a:r>
            <a:endParaRPr lang="en-US" sz="1800" dirty="0"/>
          </a:p>
        </p:txBody>
      </p:sp>
      <p:sp>
        <p:nvSpPr>
          <p:cNvPr id="20" name="Shape 18"/>
          <p:cNvSpPr/>
          <p:nvPr/>
        </p:nvSpPr>
        <p:spPr>
          <a:xfrm>
            <a:off x="6172200" y="4617720"/>
            <a:ext cx="5394960" cy="950976"/>
          </a:xfrm>
          <a:prstGeom prst="rect">
            <a:avLst/>
          </a:prstGeom>
          <a:solidFill>
            <a:srgbClr val="E6EFEC"/>
          </a:solidFill>
          <a:ln w="12700">
            <a:solidFill>
              <a:srgbClr val="E6EFEC"/>
            </a:solidFill>
            <a:prstDash val="solid"/>
          </a:ln>
        </p:spPr>
      </p:sp>
      <p:sp>
        <p:nvSpPr>
          <p:cNvPr id="21" name="Text 19"/>
          <p:cNvSpPr/>
          <p:nvPr/>
        </p:nvSpPr>
        <p:spPr>
          <a:xfrm>
            <a:off x="6355080" y="470001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年初年末平均总资产</a:t>
            </a:r>
            <a:endParaRPr lang="en-US" sz="1200" dirty="0"/>
          </a:p>
        </p:txBody>
      </p:sp>
      <p:sp>
        <p:nvSpPr>
          <p:cNvPr id="22" name="Text 20"/>
          <p:cNvSpPr/>
          <p:nvPr/>
        </p:nvSpPr>
        <p:spPr>
          <a:xfrm>
            <a:off x="6355080" y="506577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140.36 亿元人民币</a:t>
            </a:r>
            <a:endParaRPr lang="en-US" sz="1800" dirty="0"/>
          </a:p>
        </p:txBody>
      </p:sp>
      <p:sp>
        <p:nvSpPr>
          <p:cNvPr id="23" name="Text 2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ks_a_e_bs / ks_a_e_cf / ks_a_e_debtorroll 等；全部来源及位置见报告、底稿与备注</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现金、债务及资本资源：章节指标 11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34</a:t>
            </a:r>
            <a:endParaRPr lang="en-US" sz="900" dirty="0"/>
          </a:p>
        </p:txBody>
      </p:sp>
      <p:sp>
        <p:nvSpPr>
          <p:cNvPr id="5" name="Shape 3"/>
          <p:cNvSpPr/>
          <p:nvPr/>
        </p:nvSpPr>
        <p:spPr>
          <a:xfrm>
            <a:off x="594360" y="1508760"/>
            <a:ext cx="5394960" cy="950976"/>
          </a:xfrm>
          <a:prstGeom prst="rect">
            <a:avLst/>
          </a:prstGeom>
          <a:solidFill>
            <a:srgbClr val="E6EFEC"/>
          </a:solidFill>
          <a:ln w="12700">
            <a:solidFill>
              <a:srgbClr val="E6EFEC"/>
            </a:solidFill>
            <a:prstDash val="solid"/>
          </a:ln>
        </p:spPr>
      </p:sp>
      <p:sp>
        <p:nvSpPr>
          <p:cNvPr id="6" name="Text 4"/>
          <p:cNvSpPr/>
          <p:nvPr/>
        </p:nvSpPr>
        <p:spPr>
          <a:xfrm>
            <a:off x="77724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年初年末平均总资产</a:t>
            </a:r>
            <a:endParaRPr lang="en-US" sz="1200" dirty="0"/>
          </a:p>
        </p:txBody>
      </p:sp>
      <p:sp>
        <p:nvSpPr>
          <p:cNvPr id="7" name="Text 5"/>
          <p:cNvSpPr/>
          <p:nvPr/>
        </p:nvSpPr>
        <p:spPr>
          <a:xfrm>
            <a:off x="77724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132.72 亿元人民币</a:t>
            </a:r>
            <a:endParaRPr lang="en-US" sz="1800" dirty="0"/>
          </a:p>
        </p:txBody>
      </p:sp>
      <p:sp>
        <p:nvSpPr>
          <p:cNvPr id="8" name="Shape 6"/>
          <p:cNvSpPr/>
          <p:nvPr/>
        </p:nvSpPr>
        <p:spPr>
          <a:xfrm>
            <a:off x="6172200" y="1508760"/>
            <a:ext cx="5394960" cy="950976"/>
          </a:xfrm>
          <a:prstGeom prst="rect">
            <a:avLst/>
          </a:prstGeom>
          <a:solidFill>
            <a:srgbClr val="E6EFEC"/>
          </a:solidFill>
          <a:ln w="12700">
            <a:solidFill>
              <a:srgbClr val="E6EFEC"/>
            </a:solidFill>
            <a:prstDash val="solid"/>
          </a:ln>
        </p:spPr>
      </p:sp>
      <p:sp>
        <p:nvSpPr>
          <p:cNvPr id="9" name="Text 7"/>
          <p:cNvSpPr/>
          <p:nvPr/>
        </p:nvSpPr>
        <p:spPr>
          <a:xfrm>
            <a:off x="635508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EBIT/平均总资产</a:t>
            </a:r>
            <a:endParaRPr lang="en-US" sz="1200" dirty="0"/>
          </a:p>
        </p:txBody>
      </p:sp>
      <p:sp>
        <p:nvSpPr>
          <p:cNvPr id="10" name="Text 8"/>
          <p:cNvSpPr/>
          <p:nvPr/>
        </p:nvSpPr>
        <p:spPr>
          <a:xfrm>
            <a:off x="635508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1.11%</a:t>
            </a:r>
            <a:endParaRPr lang="en-US" sz="1800" dirty="0"/>
          </a:p>
        </p:txBody>
      </p:sp>
      <p:sp>
        <p:nvSpPr>
          <p:cNvPr id="11" name="Shape 9"/>
          <p:cNvSpPr/>
          <p:nvPr/>
        </p:nvSpPr>
        <p:spPr>
          <a:xfrm>
            <a:off x="594360" y="3063240"/>
            <a:ext cx="5394960" cy="950976"/>
          </a:xfrm>
          <a:prstGeom prst="rect">
            <a:avLst/>
          </a:prstGeom>
          <a:solidFill>
            <a:srgbClr val="E6EFEC"/>
          </a:solidFill>
          <a:ln w="12700">
            <a:solidFill>
              <a:srgbClr val="E6EFEC"/>
            </a:solidFill>
            <a:prstDash val="solid"/>
          </a:ln>
        </p:spPr>
      </p:sp>
      <p:sp>
        <p:nvSpPr>
          <p:cNvPr id="12" name="Text 10"/>
          <p:cNvSpPr/>
          <p:nvPr/>
        </p:nvSpPr>
        <p:spPr>
          <a:xfrm>
            <a:off x="777240" y="314553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EBIT/平均总资产</a:t>
            </a:r>
            <a:endParaRPr lang="en-US" sz="1200" dirty="0"/>
          </a:p>
        </p:txBody>
      </p:sp>
      <p:sp>
        <p:nvSpPr>
          <p:cNvPr id="13" name="Text 11"/>
          <p:cNvSpPr/>
          <p:nvPr/>
        </p:nvSpPr>
        <p:spPr>
          <a:xfrm>
            <a:off x="777240" y="351129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-3.71%</a:t>
            </a:r>
            <a:endParaRPr lang="en-US" sz="1800" dirty="0"/>
          </a:p>
        </p:txBody>
      </p:sp>
      <p:sp>
        <p:nvSpPr>
          <p:cNvPr id="14" name="Shape 12"/>
          <p:cNvSpPr/>
          <p:nvPr/>
        </p:nvSpPr>
        <p:spPr>
          <a:xfrm>
            <a:off x="6172200" y="3063240"/>
            <a:ext cx="5394960" cy="950976"/>
          </a:xfrm>
          <a:prstGeom prst="rect">
            <a:avLst/>
          </a:prstGeom>
          <a:solidFill>
            <a:srgbClr val="E6EFEC"/>
          </a:solidFill>
          <a:ln w="12700">
            <a:solidFill>
              <a:srgbClr val="E6EFEC"/>
            </a:solidFill>
            <a:prstDash val="solid"/>
          </a:ln>
        </p:spPr>
      </p:sp>
      <p:sp>
        <p:nvSpPr>
          <p:cNvPr id="15" name="Text 13"/>
          <p:cNvSpPr/>
          <p:nvPr/>
        </p:nvSpPr>
        <p:spPr>
          <a:xfrm>
            <a:off x="6355080" y="314553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营业利润率（收入减成本及税附加口径）</a:t>
            </a:r>
            <a:endParaRPr lang="en-US" sz="1200" dirty="0"/>
          </a:p>
        </p:txBody>
      </p:sp>
      <p:sp>
        <p:nvSpPr>
          <p:cNvPr id="16" name="Text 14"/>
          <p:cNvSpPr/>
          <p:nvPr/>
        </p:nvSpPr>
        <p:spPr>
          <a:xfrm>
            <a:off x="6355080" y="351129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21.14%</a:t>
            </a:r>
            <a:endParaRPr lang="en-US" sz="1800" dirty="0"/>
          </a:p>
        </p:txBody>
      </p:sp>
      <p:sp>
        <p:nvSpPr>
          <p:cNvPr id="17" name="Shape 15"/>
          <p:cNvSpPr/>
          <p:nvPr/>
        </p:nvSpPr>
        <p:spPr>
          <a:xfrm>
            <a:off x="594360" y="4617720"/>
            <a:ext cx="5394960" cy="950976"/>
          </a:xfrm>
          <a:prstGeom prst="rect">
            <a:avLst/>
          </a:prstGeom>
          <a:solidFill>
            <a:srgbClr val="E6EFEC"/>
          </a:solidFill>
          <a:ln w="12700">
            <a:solidFill>
              <a:srgbClr val="E6EFEC"/>
            </a:solidFill>
            <a:prstDash val="solid"/>
          </a:ln>
        </p:spPr>
      </p:sp>
      <p:sp>
        <p:nvSpPr>
          <p:cNvPr id="18" name="Text 16"/>
          <p:cNvSpPr/>
          <p:nvPr/>
        </p:nvSpPr>
        <p:spPr>
          <a:xfrm>
            <a:off x="777240" y="470001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营业利润率（收入减成本及税附加口径）</a:t>
            </a:r>
            <a:endParaRPr lang="en-US" sz="1200" dirty="0"/>
          </a:p>
        </p:txBody>
      </p:sp>
      <p:sp>
        <p:nvSpPr>
          <p:cNvPr id="19" name="Text 17"/>
          <p:cNvSpPr/>
          <p:nvPr/>
        </p:nvSpPr>
        <p:spPr>
          <a:xfrm>
            <a:off x="777240" y="506577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23.44%</a:t>
            </a:r>
            <a:endParaRPr lang="en-US" sz="1800" dirty="0"/>
          </a:p>
        </p:txBody>
      </p:sp>
      <p:sp>
        <p:nvSpPr>
          <p:cNvPr id="20" name="Shape 18"/>
          <p:cNvSpPr/>
          <p:nvPr/>
        </p:nvSpPr>
        <p:spPr>
          <a:xfrm>
            <a:off x="6172200" y="4617720"/>
            <a:ext cx="5394960" cy="950976"/>
          </a:xfrm>
          <a:prstGeom prst="rect">
            <a:avLst/>
          </a:prstGeom>
          <a:solidFill>
            <a:srgbClr val="E6EFEC"/>
          </a:solidFill>
          <a:ln w="12700">
            <a:solidFill>
              <a:srgbClr val="E6EFEC"/>
            </a:solidFill>
            <a:prstDash val="solid"/>
          </a:ln>
        </p:spPr>
      </p:sp>
      <p:sp>
        <p:nvSpPr>
          <p:cNvPr id="21" name="Text 19"/>
          <p:cNvSpPr/>
          <p:nvPr/>
        </p:nvSpPr>
        <p:spPr>
          <a:xfrm>
            <a:off x="6355080" y="470001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净营业周期（净额，360天）</a:t>
            </a:r>
            <a:endParaRPr lang="en-US" sz="1200" dirty="0"/>
          </a:p>
        </p:txBody>
      </p:sp>
      <p:sp>
        <p:nvSpPr>
          <p:cNvPr id="22" name="Text 20"/>
          <p:cNvSpPr/>
          <p:nvPr/>
        </p:nvSpPr>
        <p:spPr>
          <a:xfrm>
            <a:off x="6355080" y="506577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未计算 / unavailable</a:t>
            </a:r>
            <a:endParaRPr lang="en-US" sz="1800" dirty="0"/>
          </a:p>
        </p:txBody>
      </p:sp>
      <p:sp>
        <p:nvSpPr>
          <p:cNvPr id="23" name="Text 2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ks_a_e_bs / ks_a_e_is / ks_a_e_summary 等；全部来源及位置见报告、底稿与备注</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现金、债务及资本资源：章节指标 12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35</a:t>
            </a:r>
            <a:endParaRPr lang="en-US" sz="900" dirty="0"/>
          </a:p>
        </p:txBody>
      </p:sp>
      <p:sp>
        <p:nvSpPr>
          <p:cNvPr id="5" name="Shape 3"/>
          <p:cNvSpPr/>
          <p:nvPr/>
        </p:nvSpPr>
        <p:spPr>
          <a:xfrm>
            <a:off x="594360" y="1508760"/>
            <a:ext cx="5394960" cy="950976"/>
          </a:xfrm>
          <a:prstGeom prst="rect">
            <a:avLst/>
          </a:prstGeom>
          <a:solidFill>
            <a:srgbClr val="E6EFEC"/>
          </a:solidFill>
          <a:ln w="12700">
            <a:solidFill>
              <a:srgbClr val="E6EFEC"/>
            </a:solidFill>
            <a:prstDash val="solid"/>
          </a:ln>
        </p:spPr>
      </p:sp>
      <p:sp>
        <p:nvSpPr>
          <p:cNvPr id="6" name="Text 4"/>
          <p:cNvSpPr/>
          <p:nvPr/>
        </p:nvSpPr>
        <p:spPr>
          <a:xfrm>
            <a:off x="77724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净营业周期（净额，360天）</a:t>
            </a:r>
            <a:endParaRPr lang="en-US" sz="1200" dirty="0"/>
          </a:p>
        </p:txBody>
      </p:sp>
      <p:sp>
        <p:nvSpPr>
          <p:cNvPr id="7" name="Text 5"/>
          <p:cNvSpPr/>
          <p:nvPr/>
        </p:nvSpPr>
        <p:spPr>
          <a:xfrm>
            <a:off x="77724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130.28 days</a:t>
            </a:r>
            <a:endParaRPr lang="en-US" sz="1800" dirty="0"/>
          </a:p>
        </p:txBody>
      </p:sp>
      <p:sp>
        <p:nvSpPr>
          <p:cNvPr id="8" name="Text 6"/>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ks_a_e_bs / ks_a_e_is；全部来源及位置见报告、底稿与备注</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截止日前季度信息</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36</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期后季度改善与年度约束</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未经审计Q1归母利润6,355.24 万元人民币、毛利率27.51%，CFO仍-</a:t>
            </a:r>
            <a:endParaRPr lang="en-US" sz="1800" dirty="0"/>
          </a:p>
          <a:p>
            <a:pPr indent="0" marL="0">
              <a:lnSpc>
                <a:spcPct val="100000"/>
              </a:lnSpc>
              <a:buNone/>
            </a:pPr>
            <a:r>
              <a:rPr lang="en-US" sz="1800" dirty="0">
                <a:solidFill>
                  <a:srgbClr val="1F2933"/>
                </a:solidFill>
              </a:rPr>
              <a:t>5,518.29 万元人民币。季度现金年初桥闭合；信用减值继续且缺完整债务及受限现金附注，不</a:t>
            </a:r>
            <a:endParaRPr lang="en-US" sz="1800" dirty="0"/>
          </a:p>
          <a:p>
            <a:pPr indent="0" marL="0">
              <a:lnSpc>
                <a:spcPct val="100000"/>
              </a:lnSpc>
              <a:buNone/>
            </a:pPr>
            <a:r>
              <a:rPr lang="en-US" sz="1800" dirty="0">
                <a:solidFill>
                  <a:srgbClr val="1F2933"/>
                </a:solidFill>
              </a:rPr>
              <a:t>按一季乘四替换全年。</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取得半年度完整附注后，用原年度及一季度桥拆出季节性、范围、应收回款与新债；持续现金改善且债务</a:t>
            </a:r>
            <a:endParaRPr lang="en-US" sz="1800" dirty="0"/>
          </a:p>
          <a:p>
            <a:pPr indent="0" marL="0">
              <a:lnSpc>
                <a:spcPct val="100000"/>
              </a:lnSpc>
              <a:buNone/>
            </a:pPr>
            <a:r>
              <a:rPr lang="en-US" sz="1800" dirty="0">
                <a:solidFill>
                  <a:srgbClr val="1F2933"/>
                </a:solidFill>
              </a:rPr>
              <a:t>到期与资金用途匹配才支持提高判断。</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ks_a_e_q1 / ks_a_e_policy26 / ks_a_q1_cashbridge 等；全部来源及位置见报告、底稿与备注</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经营结构、竞争与资源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37</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有全国覆盖的防水竞争者，</a:t>
            </a:r>
            <a:endParaRPr lang="en-US" sz="2200" dirty="0"/>
          </a:p>
          <a:p>
            <a:pPr indent="0" marL="0">
              <a:lnSpc>
                <a:spcPct val="100000"/>
              </a:lnSpc>
              <a:buNone/>
            </a:pPr>
            <a:r>
              <a:rPr lang="en-US" sz="2200" b="1" dirty="0">
                <a:solidFill>
                  <a:srgbClr val="213B45"/>
                </a:solidFill>
              </a:rPr>
              <a:t>未证实市场支配力</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科顺全国网络、研发和工程经验支持较强细分竞争力；规模明显小</a:t>
            </a:r>
            <a:endParaRPr lang="en-US" sz="1800" dirty="0"/>
          </a:p>
          <a:p>
            <a:pPr indent="0" marL="0">
              <a:lnSpc>
                <a:spcPct val="100000"/>
              </a:lnSpc>
              <a:buNone/>
            </a:pPr>
            <a:r>
              <a:rPr lang="en-US" sz="1800" dirty="0">
                <a:solidFill>
                  <a:srgbClr val="1F2933"/>
                </a:solidFill>
              </a:rPr>
              <a:t>于东方雨虹，不能给出未经核实的全国市场份额。</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若可核实活跃渠道、同口径销量份额和多期间收款质量共同改善，</a:t>
            </a:r>
            <a:endParaRPr lang="en-US" sz="1800" dirty="0"/>
          </a:p>
          <a:p>
            <a:pPr indent="0" marL="0">
              <a:lnSpc>
                <a:spcPct val="100000"/>
              </a:lnSpc>
              <a:buNone/>
            </a:pPr>
            <a:r>
              <a:rPr lang="en-US" sz="1800" dirty="0">
                <a:solidFill>
                  <a:srgbClr val="1F2933"/>
                </a:solidFill>
              </a:rPr>
              <a:t>可上移判断；若主要渠道失效或相对同业持续衰退则下移。</a:t>
            </a: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2025防水材料收入</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46.60 亿元人民币</a:t>
            </a:r>
            <a:endParaRPr lang="en-US" sz="1800" dirty="0"/>
          </a:p>
        </p:txBody>
      </p:sp>
      <p:sp>
        <p:nvSpPr>
          <p:cNvPr id="11" name="Text 8"/>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ks_b_e_structure / ks_b_e_operations / ks_b_e_yuhong 等；全部来源及位置见报告、底稿与备注</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经营结构、竞争与资源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38</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研发渠道有价值，关键原料与客户仍有约束</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研发、全国制造与渠道可缓冲竞争，石化原料和客户账期限制产业链控制，不能把套保等同完全对冲。</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若获得产能利用率、单位成本、价格转嫁和客户账期的连续改善证据，可提高判断；若预付/赊销占用</a:t>
            </a:r>
            <a:endParaRPr lang="en-US" sz="1800" dirty="0"/>
          </a:p>
          <a:p>
            <a:pPr indent="0" marL="0">
              <a:lnSpc>
                <a:spcPct val="100000"/>
              </a:lnSpc>
              <a:buNone/>
            </a:pPr>
            <a:r>
              <a:rPr lang="en-US" sz="1800" dirty="0">
                <a:solidFill>
                  <a:srgbClr val="1F2933"/>
                </a:solidFill>
              </a:rPr>
              <a:t>增大则下调。</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ks_b_e_operations / ks_b_e_cost_risk / ks_b_e_structure；全部来源及位置见报告、底稿与备注</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经营结构、竞争与资源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39</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业务协同存在，现金来源仍</a:t>
            </a:r>
            <a:endParaRPr lang="en-US" sz="2200" dirty="0"/>
          </a:p>
          <a:p>
            <a:pPr indent="0" marL="0">
              <a:lnSpc>
                <a:spcPct val="100000"/>
              </a:lnSpc>
              <a:buNone/>
            </a:pPr>
            <a:r>
              <a:rPr lang="en-US" sz="2200" b="1" dirty="0">
                <a:solidFill>
                  <a:srgbClr val="213B45"/>
                </a:solidFill>
              </a:rPr>
              <a:t>较集中</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多渠道、多场景具有协同基础，已实现收入仍主要来自境内防水，</a:t>
            </a:r>
            <a:endParaRPr lang="en-US" sz="1800" dirty="0"/>
          </a:p>
          <a:p>
            <a:pPr indent="0" marL="0">
              <a:lnSpc>
                <a:spcPct val="100000"/>
              </a:lnSpc>
              <a:buNone/>
            </a:pPr>
            <a:r>
              <a:rPr lang="en-US" sz="1800" dirty="0">
                <a:solidFill>
                  <a:srgbClr val="1F2933"/>
                </a:solidFill>
              </a:rPr>
              <a:t>海外和新材料计划尚不能视为成熟的周期分散。</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若海外、零售和非房渠道形成独立且持续的收入/现金流分表，</a:t>
            </a:r>
            <a:endParaRPr lang="en-US" sz="1800" dirty="0"/>
          </a:p>
          <a:p>
            <a:pPr indent="0" marL="0">
              <a:lnSpc>
                <a:spcPct val="100000"/>
              </a:lnSpc>
              <a:buNone/>
            </a:pPr>
            <a:r>
              <a:rPr lang="en-US" sz="1800" dirty="0">
                <a:solidFill>
                  <a:srgbClr val="1F2933"/>
                </a:solidFill>
              </a:rPr>
              <a:t>判断上移；仅项目新闻或规划不改变结论。</a:t>
            </a: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防水材料及工程收入合计占比</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95.03%</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境内收入占比</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96.77%</a:t>
            </a:r>
            <a:endParaRPr lang="en-US" sz="18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境外收入占比</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3.23%</a:t>
            </a:r>
            <a:endParaRPr lang="en-US" sz="1800" dirty="0"/>
          </a:p>
        </p:txBody>
      </p:sp>
      <p:sp>
        <p:nvSpPr>
          <p:cNvPr id="17" name="Text 14"/>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ks_b_e_structure / ks_b_e_operations；全部来源及位置见报告、底稿与备注</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经营结构、竞争与资源：章节指标 4</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40</a:t>
            </a:r>
            <a:endParaRPr lang="en-US" sz="900" dirty="0"/>
          </a:p>
        </p:txBody>
      </p:sp>
      <p:sp>
        <p:nvSpPr>
          <p:cNvPr id="5" name="Shape 3"/>
          <p:cNvSpPr/>
          <p:nvPr/>
        </p:nvSpPr>
        <p:spPr>
          <a:xfrm>
            <a:off x="594360" y="1508760"/>
            <a:ext cx="5394960" cy="950976"/>
          </a:xfrm>
          <a:prstGeom prst="rect">
            <a:avLst/>
          </a:prstGeom>
          <a:solidFill>
            <a:srgbClr val="E6EFEC"/>
          </a:solidFill>
          <a:ln w="12700">
            <a:solidFill>
              <a:srgbClr val="E6EFEC"/>
            </a:solidFill>
            <a:prstDash val="solid"/>
          </a:ln>
        </p:spPr>
      </p:sp>
      <p:sp>
        <p:nvSpPr>
          <p:cNvPr id="6" name="Text 4"/>
          <p:cNvSpPr/>
          <p:nvPr/>
        </p:nvSpPr>
        <p:spPr>
          <a:xfrm>
            <a:off x="77724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2025防水工程收入</a:t>
            </a:r>
            <a:endParaRPr lang="en-US" sz="1200" dirty="0"/>
          </a:p>
        </p:txBody>
      </p:sp>
      <p:sp>
        <p:nvSpPr>
          <p:cNvPr id="7" name="Text 5"/>
          <p:cNvSpPr/>
          <p:nvPr/>
        </p:nvSpPr>
        <p:spPr>
          <a:xfrm>
            <a:off x="77724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10.84 亿元人民币</a:t>
            </a:r>
            <a:endParaRPr lang="en-US" sz="1800" dirty="0"/>
          </a:p>
        </p:txBody>
      </p:sp>
      <p:sp>
        <p:nvSpPr>
          <p:cNvPr id="8" name="Text 6"/>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ks_b_e_structure；全部来源及位置见报告、底稿与备注</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治理执行和资本配置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41</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治理结构较完整，实际资金管理存在执行反证</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治理框架和审计意见提供正面证据，但募集资金曾与一般资金混用，不能仅凭制度声明给予很强管理执行</a:t>
            </a:r>
            <a:endParaRPr lang="en-US" sz="1800" dirty="0"/>
          </a:p>
          <a:p>
            <a:pPr indent="0" marL="0">
              <a:lnSpc>
                <a:spcPct val="100000"/>
              </a:lnSpc>
              <a:buNone/>
            </a:pPr>
            <a:r>
              <a:rPr lang="en-US" sz="1800" dirty="0">
                <a:solidFill>
                  <a:srgbClr val="1F2933"/>
                </a:solidFill>
              </a:rPr>
              <a:t>判断；整改降低后果，不抹去原缺口。</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若专户与银行流水证明持续隔离、归还来源和募投用款安排清晰可上移；若混用重复、归还依赖短期滚动</a:t>
            </a:r>
            <a:endParaRPr lang="en-US" sz="1800" dirty="0"/>
          </a:p>
          <a:p>
            <a:pPr indent="0" marL="0">
              <a:lnSpc>
                <a:spcPct val="100000"/>
              </a:lnSpc>
              <a:buNone/>
            </a:pPr>
            <a:r>
              <a:rPr lang="en-US" sz="1800" dirty="0">
                <a:solidFill>
                  <a:srgbClr val="1F2933"/>
                </a:solidFill>
              </a:rPr>
              <a:t>加深则下移。</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ks_b_e_governance / ks_b_e_fund_control / ks_b_e_ownership；全部来源及位置见报告、底稿与备注</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治理执行和资本配置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42</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现金分配和长期认缴约束</a:t>
            </a:r>
            <a:endParaRPr lang="en-US" sz="2200" dirty="0"/>
          </a:p>
          <a:p>
            <a:pPr indent="0" marL="0">
              <a:lnSpc>
                <a:spcPct val="100000"/>
              </a:lnSpc>
              <a:buNone/>
            </a:pPr>
            <a:r>
              <a:rPr lang="en-US" sz="2200" b="1" dirty="0">
                <a:solidFill>
                  <a:srgbClr val="213B45"/>
                </a:solidFill>
              </a:rPr>
              <a:t>留存资金</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现金分配高于同期经营净现金，另有长期基金认缴及经销担保；在</a:t>
            </a:r>
            <a:endParaRPr lang="en-US" sz="1800" dirty="0"/>
          </a:p>
          <a:p>
            <a:pPr indent="0" marL="0">
              <a:lnSpc>
                <a:spcPct val="100000"/>
              </a:lnSpc>
              <a:buNone/>
            </a:pPr>
            <a:r>
              <a:rPr lang="en-US" sz="1800" dirty="0">
                <a:solidFill>
                  <a:srgbClr val="1F2933"/>
                </a:solidFill>
              </a:rPr>
              <a:t>回款修复阶段削弱现金余量，属于信用审慎性问题，不直接构成</a:t>
            </a:r>
            <a:endParaRPr lang="en-US" sz="1800" dirty="0"/>
          </a:p>
          <a:p>
            <a:pPr indent="0" marL="0">
              <a:lnSpc>
                <a:spcPct val="100000"/>
              </a:lnSpc>
              <a:buNone/>
            </a:pPr>
            <a:r>
              <a:rPr lang="en-US" sz="1800" dirty="0">
                <a:solidFill>
                  <a:srgbClr val="1F2933"/>
                </a:solidFill>
              </a:rPr>
              <a:t>侵占或违约。</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若基金实际支付明显低于承诺且后续分配与现金创造匹配，压力</a:t>
            </a:r>
            <a:endParaRPr lang="en-US" sz="1800" dirty="0"/>
          </a:p>
          <a:p>
            <a:pPr indent="0" marL="0">
              <a:lnSpc>
                <a:spcPct val="100000"/>
              </a:lnSpc>
              <a:buNone/>
            </a:pPr>
            <a:r>
              <a:rPr lang="en-US" sz="1800" dirty="0">
                <a:solidFill>
                  <a:srgbClr val="1F2933"/>
                </a:solidFill>
              </a:rPr>
              <a:t>降低；若基金催缴、经销代偿及募投支出同时发生，压力上升。</a:t>
            </a: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2025实际现金分红合计</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3.88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2025现金分红与经营净现金之比</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121.54%</a:t>
            </a:r>
            <a:endParaRPr lang="en-US" sz="18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科顺子公司基金认缴</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2.40 亿元人民币</a:t>
            </a:r>
            <a:endParaRPr lang="en-US" sz="1800" dirty="0"/>
          </a:p>
        </p:txBody>
      </p:sp>
      <p:sp>
        <p:nvSpPr>
          <p:cNvPr id="17" name="Shape 14"/>
          <p:cNvSpPr/>
          <p:nvPr/>
        </p:nvSpPr>
        <p:spPr>
          <a:xfrm>
            <a:off x="7955280" y="4745736"/>
            <a:ext cx="3657600" cy="950976"/>
          </a:xfrm>
          <a:prstGeom prst="rect">
            <a:avLst/>
          </a:prstGeom>
          <a:solidFill>
            <a:srgbClr val="E6EFEC"/>
          </a:solidFill>
          <a:ln w="12700">
            <a:solidFill>
              <a:srgbClr val="E6EFEC"/>
            </a:solidFill>
            <a:prstDash val="solid"/>
          </a:ln>
        </p:spPr>
      </p:sp>
      <p:sp>
        <p:nvSpPr>
          <p:cNvPr id="18" name="Text 15"/>
          <p:cNvSpPr/>
          <p:nvPr/>
        </p:nvSpPr>
        <p:spPr>
          <a:xfrm>
            <a:off x="8138160" y="4828032"/>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对外担保余额不含子公司</a:t>
            </a:r>
            <a:endParaRPr lang="en-US" sz="1200" dirty="0"/>
          </a:p>
        </p:txBody>
      </p:sp>
      <p:sp>
        <p:nvSpPr>
          <p:cNvPr id="19" name="Text 16"/>
          <p:cNvSpPr/>
          <p:nvPr/>
        </p:nvSpPr>
        <p:spPr>
          <a:xfrm>
            <a:off x="8138160" y="5193792"/>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1.60 亿元人民币</a:t>
            </a:r>
            <a:endParaRPr lang="en-US" sz="1800" dirty="0"/>
          </a:p>
        </p:txBody>
      </p:sp>
      <p:sp>
        <p:nvSpPr>
          <p:cNvPr id="20" name="Text 17"/>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ks_b_e_distribution / ks_b_e_cash / ks_b_e_fund 等；全部来源及位置见报告、底稿与备注</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治理执行和资本配置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43</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[unresolved] 基金关联事项状态仍需勾稽</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基金公告明确当时关联关系与审批，年报关联共同投资栏列无；实际签署、实缴、关联身份变化与重大性</a:t>
            </a:r>
            <a:endParaRPr lang="en-US" sz="1800" dirty="0"/>
          </a:p>
          <a:p>
            <a:pPr indent="0" marL="0">
              <a:lnSpc>
                <a:spcPct val="100000"/>
              </a:lnSpc>
              <a:buNone/>
            </a:pPr>
            <a:r>
              <a:rPr lang="en-US" sz="1800" dirty="0">
                <a:solidFill>
                  <a:srgbClr val="1F2933"/>
                </a:solidFill>
              </a:rPr>
              <a:t>口径未完全勾稽，当前仅列待核，不认定虚假披露。</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取得完整基金成立/登记/实缴流水、人员任职变更及年报分类说明后可关闭。</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ks_b_e_fund / ks_b_e_governance；全部来源及位置见报告、底稿与备注</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宏观行业与近期经营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44</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总量经济增长与建设需求</a:t>
            </a:r>
            <a:endParaRPr lang="en-US" sz="2200" dirty="0"/>
          </a:p>
          <a:p>
            <a:pPr indent="0" marL="0">
              <a:lnSpc>
                <a:spcPct val="100000"/>
              </a:lnSpc>
              <a:buNone/>
            </a:pPr>
            <a:r>
              <a:rPr lang="en-US" sz="2200" b="1" dirty="0">
                <a:solidFill>
                  <a:srgbClr val="213B45"/>
                </a:solidFill>
              </a:rPr>
              <a:t>收缩并存</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总量经济仍增长，但房地产开工、投资和资金连续收缩，非房投资</a:t>
            </a:r>
            <a:endParaRPr lang="en-US" sz="1800" dirty="0"/>
          </a:p>
          <a:p>
            <a:pPr indent="0" marL="0">
              <a:lnSpc>
                <a:spcPct val="100000"/>
              </a:lnSpc>
              <a:buNone/>
            </a:pPr>
            <a:r>
              <a:rPr lang="en-US" sz="1800" dirty="0">
                <a:solidFill>
                  <a:srgbClr val="1F2933"/>
                </a:solidFill>
              </a:rPr>
              <a:t>也分化；行业风险偏高，不能由行业下行直接判定本公司违约。</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若截止后新增披露显示连续需求及资金恢复，可重新判断；本结论</a:t>
            </a:r>
            <a:endParaRPr lang="en-US" sz="1800" dirty="0"/>
          </a:p>
          <a:p>
            <a:pPr indent="0" marL="0">
              <a:lnSpc>
                <a:spcPct val="100000"/>
              </a:lnSpc>
              <a:buNone/>
            </a:pPr>
            <a:r>
              <a:rPr lang="en-US" sz="1800" dirty="0">
                <a:solidFill>
                  <a:srgbClr val="1F2933"/>
                </a:solidFill>
              </a:rPr>
              <a:t>不使用截止日后数据。</a:t>
            </a: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全国2026年1至5月房屋新开工同比</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-22.60%</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100" dirty="0">
                <a:solidFill>
                  <a:srgbClr val="213B45"/>
                </a:solidFill>
              </a:rPr>
              <a:t>全国2026年1至5月开发企业到位资金同比</a:t>
            </a:r>
            <a:endParaRPr lang="en-US" sz="11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-19.00%</a:t>
            </a:r>
            <a:endParaRPr lang="en-US" sz="1800" dirty="0"/>
          </a:p>
        </p:txBody>
      </p:sp>
      <p:sp>
        <p:nvSpPr>
          <p:cNvPr id="14" name="Text 1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ks_b_e_property26 / ks_b_e_gdp26 / ks_b_e_property25 等；全部来源及位置见报告、底稿与备注</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宏观行业与近期经营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45</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季度改善是初步信号，</a:t>
            </a:r>
            <a:endParaRPr lang="en-US" sz="2200" dirty="0"/>
          </a:p>
          <a:p>
            <a:pPr indent="0" marL="0">
              <a:lnSpc>
                <a:spcPct val="100000"/>
              </a:lnSpc>
              <a:buNone/>
            </a:pPr>
            <a:r>
              <a:rPr lang="en-US" sz="2200" b="1" dirty="0">
                <a:solidFill>
                  <a:srgbClr val="213B45"/>
                </a:solidFill>
              </a:rPr>
              <a:t>现金风险仍未出清</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未审计季度收入、扣非利润与经营现金表现改善，但经营现金仍为</a:t>
            </a:r>
            <a:endParaRPr lang="en-US" sz="1800" dirty="0"/>
          </a:p>
          <a:p>
            <a:pPr indent="0" marL="0">
              <a:lnSpc>
                <a:spcPct val="100000"/>
              </a:lnSpc>
              <a:buNone/>
            </a:pPr>
            <a:r>
              <a:rPr lang="en-US" sz="1800" dirty="0">
                <a:solidFill>
                  <a:srgbClr val="1F2933"/>
                </a:solidFill>
              </a:rPr>
              <a:t>净流出，应收账龄压力与预付款占用持续；一个季度不能证明全年</a:t>
            </a:r>
            <a:endParaRPr lang="en-US" sz="1800" dirty="0"/>
          </a:p>
          <a:p>
            <a:pPr indent="0" marL="0">
              <a:lnSpc>
                <a:spcPct val="100000"/>
              </a:lnSpc>
              <a:buNone/>
            </a:pPr>
            <a:r>
              <a:rPr lang="en-US" sz="1800" dirty="0">
                <a:solidFill>
                  <a:srgbClr val="1F2933"/>
                </a:solidFill>
              </a:rPr>
              <a:t>或历史坏账已解决。</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若多个期间的新订单、旧款现金回收和经销/零售分表共同改善，</a:t>
            </a:r>
            <a:endParaRPr lang="en-US" sz="1800" dirty="0"/>
          </a:p>
          <a:p>
            <a:pPr indent="0" marL="0">
              <a:lnSpc>
                <a:spcPct val="100000"/>
              </a:lnSpc>
              <a:buNone/>
            </a:pPr>
            <a:r>
              <a:rPr lang="en-US" sz="1800" dirty="0">
                <a:solidFill>
                  <a:srgbClr val="1F2933"/>
                </a:solidFill>
              </a:rPr>
              <a:t>证据强化；否则保留条件判断。</a:t>
            </a: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2026Q1营业收入</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14.56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2026Q1经营净现金流</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600" b="1" dirty="0">
                <a:solidFill>
                  <a:srgbClr val="237F72"/>
                </a:solidFill>
              </a:rPr>
              <a:t>-5,518.29 万元人民币</a:t>
            </a:r>
            <a:endParaRPr lang="en-US" sz="1600" dirty="0"/>
          </a:p>
        </p:txBody>
      </p:sp>
      <p:sp>
        <p:nvSpPr>
          <p:cNvPr id="14" name="Text 1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ks_b_e_q1；全部来源及位置见报告、底稿与备注</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前瞻经营输入及适用边界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46</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收入区间为显式研究</a:t>
            </a:r>
            <a:endParaRPr lang="en-US" sz="2200" dirty="0"/>
          </a:p>
          <a:p>
            <a:pPr indent="0" marL="0">
              <a:lnSpc>
                <a:spcPct val="100000"/>
              </a:lnSpc>
              <a:buNone/>
            </a:pPr>
            <a:r>
              <a:rPr lang="en-US" sz="2200" b="1" dirty="0">
                <a:solidFill>
                  <a:srgbClr val="213B45"/>
                </a:solidFill>
              </a:rPr>
              <a:t>情景，不是已知未来</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基准研究收入区间为58.98 亿元人民币至62.88 亿元</a:t>
            </a:r>
            <a:endParaRPr lang="en-US" sz="1800" dirty="0"/>
          </a:p>
          <a:p>
            <a:pPr indent="0" marL="0">
              <a:lnSpc>
                <a:spcPct val="100000"/>
              </a:lnSpc>
              <a:buNone/>
            </a:pPr>
            <a:r>
              <a:rPr lang="en-US" sz="1800" dirty="0">
                <a:solidFill>
                  <a:srgbClr val="1F2933"/>
                </a:solidFill>
              </a:rPr>
              <a:t>人民币；压力区间54.59 亿元人民币至57.91 亿元</a:t>
            </a:r>
            <a:endParaRPr lang="en-US" sz="1800" dirty="0"/>
          </a:p>
          <a:p>
            <a:pPr indent="0" marL="0">
              <a:lnSpc>
                <a:spcPct val="100000"/>
              </a:lnSpc>
              <a:buNone/>
            </a:pPr>
            <a:r>
              <a:rPr lang="en-US" sz="1800" dirty="0">
                <a:solidFill>
                  <a:srgbClr val="1F2933"/>
                </a:solidFill>
              </a:rPr>
              <a:t>人民币。这些是显式分析者假设，不是发行人预测或既定结果，</a:t>
            </a:r>
            <a:endParaRPr lang="en-US" sz="1800" dirty="0"/>
          </a:p>
          <a:p>
            <a:pPr indent="0" marL="0">
              <a:lnSpc>
                <a:spcPct val="100000"/>
              </a:lnSpc>
              <a:buNone/>
            </a:pPr>
            <a:r>
              <a:rPr lang="en-US" sz="1800" dirty="0">
                <a:solidFill>
                  <a:srgbClr val="1F2933"/>
                </a:solidFill>
              </a:rPr>
              <a:t>也不等于信用结论。</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取得新渠道收入、实际订单、旧账现金回收及海外运营数据后重设</a:t>
            </a:r>
            <a:endParaRPr lang="en-US" sz="1800" dirty="0"/>
          </a:p>
          <a:p>
            <a:pPr indent="0" marL="0">
              <a:lnSpc>
                <a:spcPct val="100000"/>
              </a:lnSpc>
              <a:buNone/>
            </a:pPr>
            <a:r>
              <a:rPr lang="en-US" sz="1800" dirty="0">
                <a:solidFill>
                  <a:srgbClr val="1F2933"/>
                </a:solidFill>
              </a:rPr>
              <a:t>假设并重算；成本和现金另建模型，不从收入区间直接推导。</a:t>
            </a: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压力下界2026收入</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54.59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压力上界2026收入</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57.91 亿元人民币</a:t>
            </a:r>
            <a:endParaRPr lang="en-US" sz="18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基准下界2026收入</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58.98 亿元人民币</a:t>
            </a:r>
            <a:endParaRPr lang="en-US" sz="1800" dirty="0"/>
          </a:p>
        </p:txBody>
      </p:sp>
      <p:sp>
        <p:nvSpPr>
          <p:cNvPr id="17" name="Shape 14"/>
          <p:cNvSpPr/>
          <p:nvPr/>
        </p:nvSpPr>
        <p:spPr>
          <a:xfrm>
            <a:off x="7955280" y="4745736"/>
            <a:ext cx="3657600" cy="950976"/>
          </a:xfrm>
          <a:prstGeom prst="rect">
            <a:avLst/>
          </a:prstGeom>
          <a:solidFill>
            <a:srgbClr val="E6EFEC"/>
          </a:solidFill>
          <a:ln w="12700">
            <a:solidFill>
              <a:srgbClr val="E6EFEC"/>
            </a:solidFill>
            <a:prstDash val="solid"/>
          </a:ln>
        </p:spPr>
      </p:sp>
      <p:sp>
        <p:nvSpPr>
          <p:cNvPr id="18" name="Text 15"/>
          <p:cNvSpPr/>
          <p:nvPr/>
        </p:nvSpPr>
        <p:spPr>
          <a:xfrm>
            <a:off x="8138160" y="4828032"/>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基准上界2026收入</a:t>
            </a:r>
            <a:endParaRPr lang="en-US" sz="1200" dirty="0"/>
          </a:p>
        </p:txBody>
      </p:sp>
      <p:sp>
        <p:nvSpPr>
          <p:cNvPr id="19" name="Text 16"/>
          <p:cNvSpPr/>
          <p:nvPr/>
        </p:nvSpPr>
        <p:spPr>
          <a:xfrm>
            <a:off x="8138160" y="5193792"/>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62.88 亿元人民币</a:t>
            </a:r>
            <a:endParaRPr lang="en-US" sz="1800" dirty="0"/>
          </a:p>
        </p:txBody>
      </p:sp>
      <p:sp>
        <p:nvSpPr>
          <p:cNvPr id="20" name="Text 17"/>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ks_b_e_investment26 / ks_b_e_property26 / ks_b_e_q1 等；全部来源及位置见报告、底稿与备注</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前瞻经营输入及适用边界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47</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收入区间为显式研究</a:t>
            </a:r>
            <a:endParaRPr lang="en-US" sz="2200" dirty="0"/>
          </a:p>
          <a:p>
            <a:pPr indent="0" marL="0">
              <a:lnSpc>
                <a:spcPct val="100000"/>
              </a:lnSpc>
              <a:buNone/>
            </a:pPr>
            <a:r>
              <a:rPr lang="en-US" sz="2200" b="1" dirty="0">
                <a:solidFill>
                  <a:srgbClr val="213B45"/>
                </a:solidFill>
              </a:rPr>
              <a:t>情景，不是已知未来</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改善下界2026收入</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64.05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改善上界2026收入</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66.00 亿元人民币</a:t>
            </a:r>
            <a:endParaRPr lang="en-US" sz="1800" dirty="0"/>
          </a:p>
        </p:txBody>
      </p:sp>
      <p:sp>
        <p:nvSpPr>
          <p:cNvPr id="14" name="Text 1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ks_b_e_investment26 / ks_b_e_property26 / ks_b_e_q1 等；全部来源及位置见报告、底稿与备注</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债项本金、票息与到期现金需求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48</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转股消减有限，固定</a:t>
            </a:r>
            <a:endParaRPr lang="en-US" sz="2200" dirty="0"/>
          </a:p>
          <a:p>
            <a:pPr indent="0" marL="0">
              <a:lnSpc>
                <a:spcPct val="100000"/>
              </a:lnSpc>
              <a:buNone/>
            </a:pPr>
            <a:r>
              <a:rPr lang="en-US" sz="2200" b="1" dirty="0">
                <a:solidFill>
                  <a:srgbClr val="213B45"/>
                </a:solidFill>
              </a:rPr>
              <a:t>本金情景到期支付集中</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截至已取得的一季度末，实际未转股面值 21.98 亿元人民币，占</a:t>
            </a:r>
            <a:endParaRPr lang="en-US" sz="1600" dirty="0"/>
          </a:p>
          <a:p>
            <a:pPr indent="0" marL="0">
              <a:lnSpc>
                <a:spcPct val="100000"/>
              </a:lnSpc>
              <a:buNone/>
            </a:pPr>
            <a:r>
              <a:rPr lang="en-US" sz="1600" dirty="0">
                <a:solidFill>
                  <a:srgbClr val="1F2933"/>
                </a:solidFill>
              </a:rPr>
              <a:t>发行额 99.99%。保持该本金且不发生后续转股、提前行权或加速时</a:t>
            </a:r>
            <a:endParaRPr lang="en-US" sz="1600" dirty="0"/>
          </a:p>
          <a:p>
            <a:pPr indent="0" marL="0">
              <a:lnSpc>
                <a:spcPct val="100000"/>
              </a:lnSpc>
              <a:buNone/>
            </a:pPr>
            <a:r>
              <a:rPr lang="en-US" sz="1600" dirty="0">
                <a:solidFill>
                  <a:srgbClr val="1F2933"/>
                </a:solidFill>
              </a:rPr>
              <a:t>，年度合同支付依次为：2026年 2,197.82 万元人民币、</a:t>
            </a:r>
            <a:endParaRPr lang="en-US" sz="1600" dirty="0"/>
          </a:p>
          <a:p>
            <a:pPr indent="0" marL="0">
              <a:lnSpc>
                <a:spcPct val="100000"/>
              </a:lnSpc>
              <a:buNone/>
            </a:pPr>
            <a:r>
              <a:rPr lang="en-US" sz="1600" dirty="0">
                <a:solidFill>
                  <a:srgbClr val="1F2933"/>
                </a:solidFill>
              </a:rPr>
              <a:t>2027年 3,296.73 万元人民币、2028年 </a:t>
            </a:r>
            <a:endParaRPr lang="en-US" sz="1600" dirty="0"/>
          </a:p>
          <a:p>
            <a:pPr indent="0" marL="0">
              <a:lnSpc>
                <a:spcPct val="100000"/>
              </a:lnSpc>
              <a:buNone/>
            </a:pPr>
            <a:r>
              <a:rPr lang="en-US" sz="1600" dirty="0">
                <a:solidFill>
                  <a:srgbClr val="1F2933"/>
                </a:solidFill>
              </a:rPr>
              <a:t>3,956.08 万元人民币、2029年 25.27 亿元人民币。</a:t>
            </a:r>
            <a:endParaRPr lang="en-US" sz="1600" dirty="0"/>
          </a:p>
          <a:p>
            <a:pPr indent="0" marL="0">
              <a:lnSpc>
                <a:spcPct val="100000"/>
              </a:lnSpc>
              <a:buNone/>
            </a:pPr>
            <a:r>
              <a:rPr lang="en-US" sz="1600" dirty="0">
                <a:solidFill>
                  <a:srgbClr val="1F2933"/>
                </a:solidFill>
              </a:rPr>
              <a:t>到期合同倍数 115.00% 已含最后一期利息；不能再另加末息。</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判断改变条件</a:t>
            </a:r>
            <a:endParaRPr lang="en-US" sz="1600" dirty="0"/>
          </a:p>
          <a:p>
            <a:pPr indent="0" marL="0">
              <a:lnSpc>
                <a:spcPct val="100000"/>
              </a:lnSpc>
              <a:buNone/>
            </a:pPr>
            <a:r>
              <a:rPr lang="en-US" sz="1600" dirty="0">
                <a:solidFill>
                  <a:srgbClr val="1F2933"/>
                </a:solidFill>
              </a:rPr>
              <a:t>取得截止日内新的有效面值余额或已经执行的转股、赎回、回售及合同变更</a:t>
            </a:r>
            <a:endParaRPr lang="en-US" sz="1600" dirty="0"/>
          </a:p>
          <a:p>
            <a:pPr indent="0" marL="0">
              <a:lnSpc>
                <a:spcPct val="100000"/>
              </a:lnSpc>
              <a:buNone/>
            </a:pPr>
            <a:r>
              <a:rPr lang="en-US" sz="1600" dirty="0">
                <a:solidFill>
                  <a:srgbClr val="1F2933"/>
                </a:solidFill>
              </a:rPr>
              <a:t>后，保留原始日期并重跑现金流情景；现有情景不代表资金来源已落实。</a:t>
            </a:r>
            <a:endParaRPr lang="en-US" sz="16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年末未转股面值</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21.98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一季度末未转股面值</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21.98 亿元人民币</a:t>
            </a:r>
            <a:endParaRPr lang="en-US" sz="18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一季度末未转股面值占发行额</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99.99%</a:t>
            </a:r>
            <a:endParaRPr lang="en-US" sz="1800" dirty="0"/>
          </a:p>
        </p:txBody>
      </p:sp>
      <p:sp>
        <p:nvSpPr>
          <p:cNvPr id="17" name="Shape 14"/>
          <p:cNvSpPr/>
          <p:nvPr/>
        </p:nvSpPr>
        <p:spPr>
          <a:xfrm>
            <a:off x="7955280" y="4745736"/>
            <a:ext cx="3657600" cy="950976"/>
          </a:xfrm>
          <a:prstGeom prst="rect">
            <a:avLst/>
          </a:prstGeom>
          <a:solidFill>
            <a:srgbClr val="E6EFEC"/>
          </a:solidFill>
          <a:ln w="12700">
            <a:solidFill>
              <a:srgbClr val="E6EFEC"/>
            </a:solidFill>
            <a:prstDash val="solid"/>
          </a:ln>
        </p:spPr>
      </p:sp>
      <p:sp>
        <p:nvSpPr>
          <p:cNvPr id="18" name="Text 15"/>
          <p:cNvSpPr/>
          <p:nvPr/>
        </p:nvSpPr>
        <p:spPr>
          <a:xfrm>
            <a:off x="8138160" y="4828032"/>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2026年固定本金情景合同现金支付</a:t>
            </a:r>
            <a:endParaRPr lang="en-US" sz="1200" dirty="0"/>
          </a:p>
        </p:txBody>
      </p:sp>
      <p:sp>
        <p:nvSpPr>
          <p:cNvPr id="19" name="Text 16"/>
          <p:cNvSpPr/>
          <p:nvPr/>
        </p:nvSpPr>
        <p:spPr>
          <a:xfrm>
            <a:off x="8138160" y="5193792"/>
            <a:ext cx="3291840" cy="393192"/>
          </a:xfrm>
          <a:prstGeom prst="rect">
            <a:avLst/>
          </a:prstGeom>
          <a:noFill/>
          <a:ln/>
        </p:spPr>
        <p:txBody>
          <a:bodyPr wrap="square" lIns="0" tIns="0" rIns="0" bIns="0" rtlCol="0" anchor="t"/>
          <a:lstStyle/>
          <a:p>
            <a:pPr indent="0" marL="0">
              <a:lnSpc>
                <a:spcPct val="100000"/>
              </a:lnSpc>
              <a:buNone/>
            </a:pPr>
            <a:r>
              <a:rPr lang="en-US" sz="1700" b="1" dirty="0">
                <a:solidFill>
                  <a:srgbClr val="237F72"/>
                </a:solidFill>
              </a:rPr>
              <a:t>2,197.82 万元人民币</a:t>
            </a:r>
            <a:endParaRPr lang="en-US" sz="1700" dirty="0"/>
          </a:p>
        </p:txBody>
      </p:sp>
      <p:sp>
        <p:nvSpPr>
          <p:cNvPr id="20" name="Text 17"/>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ks_d_e_face_2025 / ks_d_e_face_q1 / ks_d_e_issue_coupon 等；全部来源及位置见报告、底稿与备注</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债项本金、票息与到期现金需求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49</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转股消减有限，固定</a:t>
            </a:r>
            <a:endParaRPr lang="en-US" sz="2200" dirty="0"/>
          </a:p>
          <a:p>
            <a:pPr indent="0" marL="0">
              <a:lnSpc>
                <a:spcPct val="100000"/>
              </a:lnSpc>
              <a:buNone/>
            </a:pPr>
            <a:r>
              <a:rPr lang="en-US" sz="2200" b="1" dirty="0">
                <a:solidFill>
                  <a:srgbClr val="213B45"/>
                </a:solidFill>
              </a:rPr>
              <a:t>本金情景到期支付集中</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2027年固定本金情景合同现金支付</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700" b="1" dirty="0">
                <a:solidFill>
                  <a:srgbClr val="237F72"/>
                </a:solidFill>
              </a:rPr>
              <a:t>3,296.73 万元人民币</a:t>
            </a:r>
            <a:endParaRPr lang="en-US" sz="17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2028年固定本金情景合同现金支付</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700" b="1" dirty="0">
                <a:solidFill>
                  <a:srgbClr val="237F72"/>
                </a:solidFill>
              </a:rPr>
              <a:t>3,956.08 万元人民币</a:t>
            </a:r>
            <a:endParaRPr lang="en-US" sz="17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2029年固定本金情景合同现金支付</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25.27 亿元人民币</a:t>
            </a:r>
            <a:endParaRPr lang="en-US" sz="1800" dirty="0"/>
          </a:p>
        </p:txBody>
      </p:sp>
      <p:sp>
        <p:nvSpPr>
          <p:cNvPr id="17" name="Shape 14"/>
          <p:cNvSpPr/>
          <p:nvPr/>
        </p:nvSpPr>
        <p:spPr>
          <a:xfrm>
            <a:off x="7955280" y="4745736"/>
            <a:ext cx="3657600" cy="950976"/>
          </a:xfrm>
          <a:prstGeom prst="rect">
            <a:avLst/>
          </a:prstGeom>
          <a:solidFill>
            <a:srgbClr val="E6EFEC"/>
          </a:solidFill>
          <a:ln w="12700">
            <a:solidFill>
              <a:srgbClr val="E6EFEC"/>
            </a:solidFill>
            <a:prstDash val="solid"/>
          </a:ln>
        </p:spPr>
      </p:sp>
      <p:sp>
        <p:nvSpPr>
          <p:cNvPr id="18" name="Text 15"/>
          <p:cNvSpPr/>
          <p:nvPr/>
        </p:nvSpPr>
        <p:spPr>
          <a:xfrm>
            <a:off x="8138160" y="4828032"/>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固定本金情景未来合同现金合计</a:t>
            </a:r>
            <a:endParaRPr lang="en-US" sz="1200" dirty="0"/>
          </a:p>
        </p:txBody>
      </p:sp>
      <p:sp>
        <p:nvSpPr>
          <p:cNvPr id="19" name="Text 16"/>
          <p:cNvSpPr/>
          <p:nvPr/>
        </p:nvSpPr>
        <p:spPr>
          <a:xfrm>
            <a:off x="8138160" y="5193792"/>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26.22 亿元人民币</a:t>
            </a:r>
            <a:endParaRPr lang="en-US" sz="1800" dirty="0"/>
          </a:p>
        </p:txBody>
      </p:sp>
      <p:sp>
        <p:nvSpPr>
          <p:cNvPr id="20" name="Text 17"/>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ks_d_e_face_q1 / ks_d_e_issue_coupon / ks_d_e_maturity_call 等；全部来源及位置见报告、底稿与备注</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债项本金、票息与到期现金需求：章节指标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50</a:t>
            </a:r>
            <a:endParaRPr lang="en-US" sz="900" dirty="0"/>
          </a:p>
        </p:txBody>
      </p:sp>
      <p:sp>
        <p:nvSpPr>
          <p:cNvPr id="5" name="Shape 3"/>
          <p:cNvSpPr/>
          <p:nvPr/>
        </p:nvSpPr>
        <p:spPr>
          <a:xfrm>
            <a:off x="594360" y="1508760"/>
            <a:ext cx="5394960" cy="950976"/>
          </a:xfrm>
          <a:prstGeom prst="rect">
            <a:avLst/>
          </a:prstGeom>
          <a:solidFill>
            <a:srgbClr val="E6EFEC"/>
          </a:solidFill>
          <a:ln w="12700">
            <a:solidFill>
              <a:srgbClr val="E6EFEC"/>
            </a:solidFill>
            <a:prstDash val="solid"/>
          </a:ln>
        </p:spPr>
      </p:sp>
      <p:sp>
        <p:nvSpPr>
          <p:cNvPr id="6" name="Text 4"/>
          <p:cNvSpPr/>
          <p:nvPr/>
        </p:nvSpPr>
        <p:spPr>
          <a:xfrm>
            <a:off x="77724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期初未转股面值</a:t>
            </a:r>
            <a:endParaRPr lang="en-US" sz="1200" dirty="0"/>
          </a:p>
        </p:txBody>
      </p:sp>
      <p:sp>
        <p:nvSpPr>
          <p:cNvPr id="7" name="Text 5"/>
          <p:cNvSpPr/>
          <p:nvPr/>
        </p:nvSpPr>
        <p:spPr>
          <a:xfrm>
            <a:off x="77724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21.98 亿元人民币</a:t>
            </a:r>
            <a:endParaRPr lang="en-US" sz="1800" dirty="0"/>
          </a:p>
        </p:txBody>
      </p:sp>
      <p:sp>
        <p:nvSpPr>
          <p:cNvPr id="8" name="Shape 6"/>
          <p:cNvSpPr/>
          <p:nvPr/>
        </p:nvSpPr>
        <p:spPr>
          <a:xfrm>
            <a:off x="6172200" y="1508760"/>
            <a:ext cx="5394960" cy="950976"/>
          </a:xfrm>
          <a:prstGeom prst="rect">
            <a:avLst/>
          </a:prstGeom>
          <a:solidFill>
            <a:srgbClr val="E6EFEC"/>
          </a:solidFill>
          <a:ln w="12700">
            <a:solidFill>
              <a:srgbClr val="E6EFEC"/>
            </a:solidFill>
            <a:prstDash val="solid"/>
          </a:ln>
        </p:spPr>
      </p:sp>
      <p:sp>
        <p:nvSpPr>
          <p:cNvPr id="9" name="Text 7"/>
          <p:cNvSpPr/>
          <p:nvPr/>
        </p:nvSpPr>
        <p:spPr>
          <a:xfrm>
            <a:off x="6355080" y="1591056"/>
            <a:ext cx="502920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截止日实际未转股面值</a:t>
            </a:r>
            <a:endParaRPr lang="en-US" sz="1200" dirty="0"/>
          </a:p>
        </p:txBody>
      </p:sp>
      <p:sp>
        <p:nvSpPr>
          <p:cNvPr id="10" name="Text 8"/>
          <p:cNvSpPr/>
          <p:nvPr/>
        </p:nvSpPr>
        <p:spPr>
          <a:xfrm>
            <a:off x="6355080" y="1956816"/>
            <a:ext cx="502920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未计算 / unavailable</a:t>
            </a:r>
            <a:endParaRPr lang="en-US" sz="1800" dirty="0"/>
          </a:p>
        </p:txBody>
      </p:sp>
      <p:sp>
        <p:nvSpPr>
          <p:cNvPr id="11" name="Text 9"/>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ks_d_e_face_2025 / ks_d_e_face_q1；全部来源及位置见报告、底稿与备注</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持续承诺、反证和救济边界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51</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[unresolved] 持续承诺的履约解释尚未</a:t>
            </a:r>
            <a:endParaRPr lang="en-US" sz="2200" dirty="0"/>
          </a:p>
          <a:p>
            <a:pPr indent="0" marL="0">
              <a:lnSpc>
                <a:spcPct val="100000"/>
              </a:lnSpc>
              <a:buNone/>
            </a:pPr>
            <a:r>
              <a:rPr lang="en-US" sz="2200" b="1" dirty="0">
                <a:solidFill>
                  <a:srgbClr val="213B45"/>
                </a:solidFill>
              </a:rPr>
              <a:t>闭合</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700" dirty="0">
                <a:solidFill>
                  <a:srgbClr val="1F2933"/>
                </a:solidFill>
              </a:rPr>
              <a:t>年末账面债券 23.13 亿元人民币 除合并总权益 40.52</a:t>
            </a:r>
            <a:endParaRPr lang="en-US" sz="1700" dirty="0"/>
          </a:p>
          <a:p>
            <a:pPr indent="0" marL="0">
              <a:lnSpc>
                <a:spcPct val="100000"/>
              </a:lnSpc>
              <a:buNone/>
            </a:pPr>
            <a:r>
              <a:rPr lang="en-US" sz="1700" dirty="0">
                <a:solidFill>
                  <a:srgbClr val="1F2933"/>
                </a:solidFill>
              </a:rPr>
              <a:t> 亿元人民币 得 57.09%，高于原文所列 50.00%；</a:t>
            </a:r>
            <a:endParaRPr lang="en-US" sz="1700" dirty="0"/>
          </a:p>
          <a:p>
            <a:pPr indent="0" marL="0">
              <a:lnSpc>
                <a:spcPct val="100000"/>
              </a:lnSpc>
              <a:buNone/>
            </a:pPr>
            <a:r>
              <a:rPr lang="en-US" sz="1700" dirty="0">
                <a:solidFill>
                  <a:srgbClr val="1F2933"/>
                </a:solidFill>
              </a:rPr>
              <a:t>差额为 2.87 亿元人民币。公司同时披露长期有效且正常履行、</a:t>
            </a:r>
            <a:endParaRPr lang="en-US" sz="1700" dirty="0"/>
          </a:p>
          <a:p>
            <a:pPr indent="0" marL="0">
              <a:lnSpc>
                <a:spcPct val="100000"/>
              </a:lnSpc>
              <a:buNone/>
            </a:pPr>
            <a:r>
              <a:rPr lang="en-US" sz="1700" dirty="0">
                <a:solidFill>
                  <a:srgbClr val="1F2933"/>
                </a:solidFill>
              </a:rPr>
              <a:t>债券未违约。现有公开材料没有逐项解释冲突，因此保留重大待解释</a:t>
            </a:r>
            <a:endParaRPr lang="en-US" sz="1700" dirty="0"/>
          </a:p>
          <a:p>
            <a:pPr indent="0" marL="0">
              <a:lnSpc>
                <a:spcPct val="100000"/>
              </a:lnSpc>
              <a:buNone/>
            </a:pPr>
            <a:r>
              <a:rPr lang="en-US" sz="1700" dirty="0">
                <a:solidFill>
                  <a:srgbClr val="1F2933"/>
                </a:solidFill>
              </a:rPr>
              <a:t>事项，不能认定已违约、自动加速或已获豁免。</a:t>
            </a:r>
            <a:endParaRPr lang="en-US" sz="1700" dirty="0"/>
          </a:p>
          <a:p>
            <a:pPr indent="0" marL="0">
              <a:lnSpc>
                <a:spcPct val="100000"/>
              </a:lnSpc>
              <a:buNone/>
            </a:pPr>
            <a:endParaRPr lang="en-US" sz="1700" dirty="0"/>
          </a:p>
          <a:p>
            <a:pPr indent="0" marL="0">
              <a:lnSpc>
                <a:spcPct val="100000"/>
              </a:lnSpc>
              <a:buNone/>
            </a:pPr>
            <a:r>
              <a:rPr lang="en-US" sz="1700" dirty="0">
                <a:solidFill>
                  <a:srgbClr val="1F2933"/>
                </a:solidFill>
              </a:rPr>
              <a:t>判断改变条件</a:t>
            </a:r>
            <a:endParaRPr lang="en-US" sz="1700" dirty="0"/>
          </a:p>
          <a:p>
            <a:pPr indent="0" marL="0">
              <a:lnSpc>
                <a:spcPct val="100000"/>
              </a:lnSpc>
              <a:buNone/>
            </a:pPr>
            <a:r>
              <a:rPr lang="en-US" sz="1700" dirty="0">
                <a:solidFill>
                  <a:srgbClr val="1F2933"/>
                </a:solidFill>
              </a:rPr>
              <a:t>取得原承诺适用期间、累计余额及净资产定义、逐期计算调节表、正式</a:t>
            </a:r>
            <a:endParaRPr lang="en-US" sz="1700" dirty="0"/>
          </a:p>
          <a:p>
            <a:pPr indent="0" marL="0">
              <a:lnSpc>
                <a:spcPct val="100000"/>
              </a:lnSpc>
              <a:buNone/>
            </a:pPr>
            <a:r>
              <a:rPr lang="en-US" sz="1700" dirty="0">
                <a:solidFill>
                  <a:srgbClr val="1F2933"/>
                </a:solidFill>
              </a:rPr>
              <a:t>解释和依法有效的变更/豁免文件后，按相同原始数字重作结论；仅</a:t>
            </a:r>
            <a:endParaRPr lang="en-US" sz="1700" dirty="0"/>
          </a:p>
          <a:p>
            <a:pPr indent="0" marL="0">
              <a:lnSpc>
                <a:spcPct val="100000"/>
              </a:lnSpc>
              <a:buNone/>
            </a:pPr>
            <a:r>
              <a:rPr lang="en-US" sz="1700" dirty="0">
                <a:solidFill>
                  <a:srgbClr val="1F2933"/>
                </a:solidFill>
              </a:rPr>
              <a:t>重复一般“正常履行”不能关闭差异。</a:t>
            </a:r>
            <a:endParaRPr lang="en-US" sz="17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年末应付债券账面余额</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23.13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年末合并所有者权益合计</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40.52 亿元人民币</a:t>
            </a:r>
            <a:endParaRPr lang="en-US" sz="18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债券账面余额占合并总权益</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57.09%</a:t>
            </a:r>
            <a:endParaRPr lang="en-US" sz="1800" dirty="0"/>
          </a:p>
        </p:txBody>
      </p:sp>
      <p:sp>
        <p:nvSpPr>
          <p:cNvPr id="17" name="Shape 14"/>
          <p:cNvSpPr/>
          <p:nvPr/>
        </p:nvSpPr>
        <p:spPr>
          <a:xfrm>
            <a:off x="7955280" y="4745736"/>
            <a:ext cx="3657600" cy="950976"/>
          </a:xfrm>
          <a:prstGeom prst="rect">
            <a:avLst/>
          </a:prstGeom>
          <a:solidFill>
            <a:srgbClr val="E6EFEC"/>
          </a:solidFill>
          <a:ln w="12700">
            <a:solidFill>
              <a:srgbClr val="E6EFEC"/>
            </a:solidFill>
            <a:prstDash val="solid"/>
          </a:ln>
        </p:spPr>
      </p:sp>
      <p:sp>
        <p:nvSpPr>
          <p:cNvPr id="18" name="Text 15"/>
          <p:cNvSpPr/>
          <p:nvPr/>
        </p:nvSpPr>
        <p:spPr>
          <a:xfrm>
            <a:off x="8138160" y="4828032"/>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持续财务承诺比例上限</a:t>
            </a:r>
            <a:endParaRPr lang="en-US" sz="1200" dirty="0"/>
          </a:p>
        </p:txBody>
      </p:sp>
      <p:sp>
        <p:nvSpPr>
          <p:cNvPr id="19" name="Text 16"/>
          <p:cNvSpPr/>
          <p:nvPr/>
        </p:nvSpPr>
        <p:spPr>
          <a:xfrm>
            <a:off x="8138160" y="5193792"/>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50.00%</a:t>
            </a:r>
            <a:endParaRPr lang="en-US" sz="1800" dirty="0"/>
          </a:p>
        </p:txBody>
      </p:sp>
      <p:sp>
        <p:nvSpPr>
          <p:cNvPr id="20" name="Text 17"/>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ks_d_e_bond_accounting / ks_d_e_equity / ks_d_e_commitment 等；全部来源及位置见报告、底稿与备注</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持续承诺、反证和救济边界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52</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[unresolved] 持续承诺的履约解释尚未</a:t>
            </a:r>
            <a:endParaRPr lang="en-US" sz="2200" dirty="0"/>
          </a:p>
          <a:p>
            <a:pPr indent="0" marL="0">
              <a:lnSpc>
                <a:spcPct val="100000"/>
              </a:lnSpc>
              <a:buNone/>
            </a:pPr>
            <a:r>
              <a:rPr lang="en-US" sz="2200" b="1" dirty="0">
                <a:solidFill>
                  <a:srgbClr val="213B45"/>
                </a:solidFill>
              </a:rPr>
              <a:t>闭合</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账面筛查金额超出比例限额</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2.87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合同面值占合并总权益敏感性</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54.24%</a:t>
            </a:r>
            <a:endParaRPr lang="en-US" sz="1800" dirty="0"/>
          </a:p>
        </p:txBody>
      </p:sp>
      <p:sp>
        <p:nvSpPr>
          <p:cNvPr id="14" name="Text 1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ks_d_e_bond_accounting / ks_d_e_equity / ks_d_e_face_2025 等；全部来源及位置见报告、底稿与备注</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持续承诺、反证和救济边界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53</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无担保债项保护与加速条件需分别判断</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本债不提供担保，按发行人无担保债权分析。持有人会议提供集体决策及诉讼路径，但其他债务逾期等</a:t>
            </a:r>
            <a:endParaRPr lang="en-US" sz="1800" dirty="0"/>
          </a:p>
          <a:p>
            <a:pPr indent="0" marL="0">
              <a:lnSpc>
                <a:spcPct val="100000"/>
              </a:lnSpc>
              <a:buNone/>
            </a:pPr>
            <a:r>
              <a:rPr lang="en-US" sz="1800" dirty="0">
                <a:solidFill>
                  <a:srgbClr val="1F2933"/>
                </a:solidFill>
              </a:rPr>
              <a:t>会议触发条件不等于自动交叉违约或立即加速。未取得完整已签受托管理协议，累计余额承诺相关通知、</a:t>
            </a:r>
            <a:endParaRPr lang="en-US" sz="1800" dirty="0"/>
          </a:p>
          <a:p>
            <a:pPr indent="0" marL="0">
              <a:lnSpc>
                <a:spcPct val="100000"/>
              </a:lnSpc>
              <a:buNone/>
            </a:pPr>
            <a:r>
              <a:rPr lang="en-US" sz="1800" dirty="0">
                <a:solidFill>
                  <a:srgbClr val="1F2933"/>
                </a:solidFill>
              </a:rPr>
              <a:t>补救期、加速权限及豁免规则仍待明确；这一缺口不妨碍企业经营及一般偿债能力分析。</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取得已签受托协议、补充及有效修订，并能定位义务并入、违约事件、通知、补救、加速表决、豁免与</a:t>
            </a:r>
            <a:endParaRPr lang="en-US" sz="1800" dirty="0"/>
          </a:p>
          <a:p>
            <a:pPr indent="0" marL="0">
              <a:lnSpc>
                <a:spcPct val="100000"/>
              </a:lnSpc>
              <a:buNone/>
            </a:pPr>
            <a:r>
              <a:rPr lang="en-US" sz="1800" dirty="0">
                <a:solidFill>
                  <a:srgbClr val="1F2933"/>
                </a:solidFill>
              </a:rPr>
              <a:t>撤销条款，才可给出本债明确救济路径。</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800" dirty="0">
                <a:solidFill>
                  <a:srgbClr val="586874"/>
                </a:solidFill>
              </a:rPr>
              <a:t>来源记录 ks_d_e_remedies_contract / ks_d_e_meeting_triggers / ks_d_e_meeting_votes 等；全部来源及位置见报告、底稿与备注</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最新转股价与或有提前偿付</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54</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[supported] 最新转股价、行权窗口和</a:t>
            </a:r>
            <a:endParaRPr lang="en-US" sz="2200" dirty="0"/>
          </a:p>
          <a:p>
            <a:pPr indent="0" marL="0">
              <a:lnSpc>
                <a:spcPct val="100000"/>
              </a:lnSpc>
              <a:buNone/>
            </a:pPr>
            <a:r>
              <a:rPr lang="en-US" sz="2200" b="1" dirty="0">
                <a:solidFill>
                  <a:srgbClr val="213B45"/>
                </a:solidFill>
              </a:rPr>
              <a:t>触发条件分开</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截止日前已取得的最新执行价为每股 6.61 元人民币，自2026-</a:t>
            </a:r>
            <a:endParaRPr lang="en-US" sz="1600" dirty="0"/>
          </a:p>
          <a:p>
            <a:pPr indent="0" marL="0">
              <a:lnSpc>
                <a:spcPct val="100000"/>
              </a:lnSpc>
              <a:buNone/>
            </a:pPr>
            <a:r>
              <a:rPr lang="en-US" sz="1600" dirty="0">
                <a:solidFill>
                  <a:srgbClr val="1F2933"/>
                </a:solidFill>
              </a:rPr>
              <a:t>05-26生效；旧报告首页价格已经过时。普通回售限最后两个计息年度</a:t>
            </a:r>
            <a:endParaRPr lang="en-US" sz="1600" dirty="0"/>
          </a:p>
          <a:p>
            <a:pPr indent="0" marL="0">
              <a:lnSpc>
                <a:spcPct val="100000"/>
              </a:lnSpc>
              <a:buNone/>
            </a:pPr>
            <a:r>
              <a:rPr lang="en-US" sz="1600" dirty="0">
                <a:solidFill>
                  <a:srgbClr val="1F2933"/>
                </a:solidFill>
              </a:rPr>
              <a:t>，据合同日期推得首个年度自2027-08-04开始。仅按当前条款价</a:t>
            </a:r>
            <a:endParaRPr lang="en-US" sz="1600" dirty="0"/>
          </a:p>
          <a:p>
            <a:pPr indent="0" marL="0">
              <a:lnSpc>
                <a:spcPct val="100000"/>
              </a:lnSpc>
              <a:buNone/>
            </a:pPr>
            <a:r>
              <a:rPr lang="en-US" sz="1600" dirty="0">
                <a:solidFill>
                  <a:srgbClr val="1F2933"/>
                </a:solidFill>
              </a:rPr>
              <a:t>映射，回售、下修、赎回观察线分别为每股 4.63 元人民币、</a:t>
            </a:r>
            <a:endParaRPr lang="en-US" sz="1600" dirty="0"/>
          </a:p>
          <a:p>
            <a:pPr indent="0" marL="0">
              <a:lnSpc>
                <a:spcPct val="100000"/>
              </a:lnSpc>
              <a:buNone/>
            </a:pPr>
            <a:r>
              <a:rPr lang="en-US" sz="1600" dirty="0">
                <a:solidFill>
                  <a:srgbClr val="1F2933"/>
                </a:solidFill>
              </a:rPr>
              <a:t>5.62 元人民币、8.59 元人民币；这些条件价格不是未来市场价</a:t>
            </a:r>
            <a:endParaRPr lang="en-US" sz="1600" dirty="0"/>
          </a:p>
          <a:p>
            <a:pPr indent="0" marL="0">
              <a:lnSpc>
                <a:spcPct val="100000"/>
              </a:lnSpc>
              <a:buNone/>
            </a:pPr>
            <a:r>
              <a:rPr lang="en-US" sz="1600" dirty="0">
                <a:solidFill>
                  <a:srgbClr val="1F2933"/>
                </a:solidFill>
              </a:rPr>
              <a:t>或已确认行权事件。</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判断改变条件</a:t>
            </a:r>
            <a:endParaRPr lang="en-US" sz="1600" dirty="0"/>
          </a:p>
          <a:p>
            <a:pPr indent="0" marL="0">
              <a:lnSpc>
                <a:spcPct val="100000"/>
              </a:lnSpc>
              <a:buNone/>
            </a:pPr>
            <a:r>
              <a:rPr lang="en-US" sz="1600" dirty="0">
                <a:solidFill>
                  <a:srgbClr val="1F2933"/>
                </a:solidFill>
              </a:rPr>
              <a:t>出现截止日前新的有效价格或正式行权公告时更新；只有观察期股价记录、</a:t>
            </a:r>
            <a:endParaRPr lang="en-US" sz="1600" dirty="0"/>
          </a:p>
          <a:p>
            <a:pPr indent="0" marL="0">
              <a:lnSpc>
                <a:spcPct val="100000"/>
              </a:lnSpc>
              <a:buNone/>
            </a:pPr>
            <a:r>
              <a:rPr lang="en-US" sz="1600" dirty="0">
                <a:solidFill>
                  <a:srgbClr val="1F2933"/>
                </a:solidFill>
              </a:rPr>
              <a:t>当期有效转股价、适用计息年度及程序证据共同满足时，才将相关提前支付</a:t>
            </a:r>
            <a:endParaRPr lang="en-US" sz="1600" dirty="0"/>
          </a:p>
          <a:p>
            <a:pPr indent="0" marL="0">
              <a:lnSpc>
                <a:spcPct val="100000"/>
              </a:lnSpc>
              <a:buNone/>
            </a:pPr>
            <a:r>
              <a:rPr lang="en-US" sz="1600" dirty="0">
                <a:solidFill>
                  <a:srgbClr val="1F2933"/>
                </a:solidFill>
              </a:rPr>
              <a:t>列为已触发义务。</a:t>
            </a:r>
            <a:endParaRPr lang="en-US" sz="16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五月实施后转股价</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6.61 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普通回售条件股价</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4.63 元人民币</a:t>
            </a:r>
            <a:endParaRPr lang="en-US" sz="18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下修条件股价</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5.62 元人民币</a:t>
            </a:r>
            <a:endParaRPr lang="en-US" sz="1800" dirty="0"/>
          </a:p>
        </p:txBody>
      </p:sp>
      <p:sp>
        <p:nvSpPr>
          <p:cNvPr id="17" name="Shape 14"/>
          <p:cNvSpPr/>
          <p:nvPr/>
        </p:nvSpPr>
        <p:spPr>
          <a:xfrm>
            <a:off x="7955280" y="4745736"/>
            <a:ext cx="3657600" cy="950976"/>
          </a:xfrm>
          <a:prstGeom prst="rect">
            <a:avLst/>
          </a:prstGeom>
          <a:solidFill>
            <a:srgbClr val="E6EFEC"/>
          </a:solidFill>
          <a:ln w="12700">
            <a:solidFill>
              <a:srgbClr val="E6EFEC"/>
            </a:solidFill>
            <a:prstDash val="solid"/>
          </a:ln>
        </p:spPr>
      </p:sp>
      <p:sp>
        <p:nvSpPr>
          <p:cNvPr id="18" name="Text 15"/>
          <p:cNvSpPr/>
          <p:nvPr/>
        </p:nvSpPr>
        <p:spPr>
          <a:xfrm>
            <a:off x="8138160" y="4828032"/>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赎回条件股价</a:t>
            </a:r>
            <a:endParaRPr lang="en-US" sz="1200" dirty="0"/>
          </a:p>
        </p:txBody>
      </p:sp>
      <p:sp>
        <p:nvSpPr>
          <p:cNvPr id="19" name="Text 16"/>
          <p:cNvSpPr/>
          <p:nvPr/>
        </p:nvSpPr>
        <p:spPr>
          <a:xfrm>
            <a:off x="8138160" y="5193792"/>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8.59 元人民币</a:t>
            </a:r>
            <a:endParaRPr lang="en-US" sz="1800" dirty="0"/>
          </a:p>
        </p:txBody>
      </p:sp>
      <p:sp>
        <p:nvSpPr>
          <p:cNvPr id="20" name="Text 17"/>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ks_d_e_price_latest / ks_d_e_distribution / ks_d_e_maturity_call 等；全部来源及位置见报告、底稿与备注</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募集资金补流及用途恢复压力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55</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补流归还恢复专款用途</a:t>
            </a:r>
            <a:endParaRPr lang="en-US" sz="2200" dirty="0"/>
          </a:p>
          <a:p>
            <a:pPr indent="0" marL="0">
              <a:lnSpc>
                <a:spcPct val="100000"/>
              </a:lnSpc>
              <a:buNone/>
            </a:pPr>
            <a:r>
              <a:rPr lang="en-US" sz="2200" b="1" dirty="0">
                <a:solidFill>
                  <a:srgbClr val="213B45"/>
                </a:solidFill>
              </a:rPr>
              <a:t>，不新增转债本金</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年末尚未使用募集资金 13.61 亿元人民币 中，12.75 亿元</a:t>
            </a:r>
            <a:endParaRPr lang="en-US" sz="1600" dirty="0"/>
          </a:p>
          <a:p>
            <a:pPr indent="0" marL="0">
              <a:lnSpc>
                <a:spcPct val="100000"/>
              </a:lnSpc>
              <a:buNone/>
            </a:pPr>
            <a:r>
              <a:rPr lang="en-US" sz="1600" dirty="0">
                <a:solidFill>
                  <a:srgbClr val="1F2933"/>
                </a:solidFill>
              </a:rPr>
              <a:t>人民币 已暂用于补流，专户余额为 8,643.12 万元人民币。旧</a:t>
            </a:r>
            <a:endParaRPr lang="en-US" sz="1600" dirty="0"/>
          </a:p>
          <a:p>
            <a:pPr indent="0" marL="0">
              <a:lnSpc>
                <a:spcPct val="100000"/>
              </a:lnSpc>
              <a:buNone/>
            </a:pPr>
            <a:r>
              <a:rPr lang="en-US" sz="1600" dirty="0">
                <a:solidFill>
                  <a:srgbClr val="1F2933"/>
                </a:solidFill>
              </a:rPr>
              <a:t>一期实际使用的 13.00 亿元人民币 已于2026-01-06前</a:t>
            </a:r>
            <a:endParaRPr lang="en-US" sz="1600" dirty="0"/>
          </a:p>
          <a:p>
            <a:pPr indent="0" marL="0">
              <a:lnSpc>
                <a:spcPct val="100000"/>
              </a:lnSpc>
              <a:buNone/>
            </a:pPr>
            <a:r>
              <a:rPr lang="en-US" sz="1600" dirty="0">
                <a:solidFill>
                  <a:srgbClr val="1F2933"/>
                </a:solidFill>
              </a:rPr>
              <a:t>归还；新一期2026-01-09批准上限 13.00 亿元人民币，</a:t>
            </a:r>
            <a:endParaRPr lang="en-US" sz="1600" dirty="0"/>
          </a:p>
          <a:p>
            <a:pPr indent="0" marL="0">
              <a:lnSpc>
                <a:spcPct val="100000"/>
              </a:lnSpc>
              <a:buNone/>
            </a:pPr>
            <a:r>
              <a:rPr lang="en-US" sz="1600" dirty="0">
                <a:solidFill>
                  <a:srgbClr val="1F2933"/>
                </a:solidFill>
              </a:rPr>
              <a:t>实际截止日占用尚未确定。归还募集专户是恢复资金用途约束，不是新增</a:t>
            </a:r>
            <a:endParaRPr lang="en-US" sz="1600" dirty="0"/>
          </a:p>
          <a:p>
            <a:pPr indent="0" marL="0">
              <a:lnSpc>
                <a:spcPct val="100000"/>
              </a:lnSpc>
              <a:buNone/>
            </a:pPr>
            <a:r>
              <a:rPr lang="en-US" sz="1600" dirty="0">
                <a:solidFill>
                  <a:srgbClr val="1F2933"/>
                </a:solidFill>
              </a:rPr>
              <a:t>对外金融债偿还，不能再加到转债本金上。</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判断改变条件</a:t>
            </a:r>
            <a:endParaRPr lang="en-US" sz="1600" dirty="0"/>
          </a:p>
          <a:p>
            <a:pPr indent="0" marL="0">
              <a:lnSpc>
                <a:spcPct val="100000"/>
              </a:lnSpc>
              <a:buNone/>
            </a:pPr>
            <a:r>
              <a:rPr lang="en-US" sz="1600" dirty="0">
                <a:solidFill>
                  <a:srgbClr val="1F2933"/>
                </a:solidFill>
              </a:rPr>
              <a:t>取得截止日及到期前专户/一般户对账、逐笔支用归还、项目支付计划和</a:t>
            </a:r>
            <a:endParaRPr lang="en-US" sz="1600" dirty="0"/>
          </a:p>
          <a:p>
            <a:pPr indent="0" marL="0">
              <a:lnSpc>
                <a:spcPct val="100000"/>
              </a:lnSpc>
              <a:buNone/>
            </a:pPr>
            <a:r>
              <a:rPr lang="en-US" sz="1600" dirty="0">
                <a:solidFill>
                  <a:srgbClr val="1F2933"/>
                </a:solidFill>
              </a:rPr>
              <a:t>资金可调回证据后量化用途恢复缺口；清除旧一期占用不能自动证明新一期</a:t>
            </a:r>
            <a:endParaRPr lang="en-US" sz="1600" dirty="0"/>
          </a:p>
          <a:p>
            <a:pPr indent="0" marL="0">
              <a:lnSpc>
                <a:spcPct val="100000"/>
              </a:lnSpc>
              <a:buNone/>
            </a:pPr>
            <a:r>
              <a:rPr lang="en-US" sz="1600" dirty="0">
                <a:solidFill>
                  <a:srgbClr val="1F2933"/>
                </a:solidFill>
              </a:rPr>
              <a:t>占用为零。</a:t>
            </a:r>
            <a:endParaRPr lang="en-US" sz="16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期末尚未使用募集资金总额</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13.61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期末暂时补流资金余额</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12.75 亿元人民币</a:t>
            </a:r>
            <a:endParaRPr lang="en-US" sz="1800" dirty="0"/>
          </a:p>
        </p:txBody>
      </p:sp>
      <p:sp>
        <p:nvSpPr>
          <p:cNvPr id="14" name="Shape 11"/>
          <p:cNvSpPr/>
          <p:nvPr/>
        </p:nvSpPr>
        <p:spPr>
          <a:xfrm>
            <a:off x="7955280" y="3666744"/>
            <a:ext cx="3657600" cy="950976"/>
          </a:xfrm>
          <a:prstGeom prst="rect">
            <a:avLst/>
          </a:prstGeom>
          <a:solidFill>
            <a:srgbClr val="E6EFEC"/>
          </a:solidFill>
          <a:ln w="12700">
            <a:solidFill>
              <a:srgbClr val="E6EFEC"/>
            </a:solidFill>
            <a:prstDash val="solid"/>
          </a:ln>
        </p:spPr>
      </p:sp>
      <p:sp>
        <p:nvSpPr>
          <p:cNvPr id="15" name="Text 12"/>
          <p:cNvSpPr/>
          <p:nvPr/>
        </p:nvSpPr>
        <p:spPr>
          <a:xfrm>
            <a:off x="8138160" y="3749040"/>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期末募集专户余额</a:t>
            </a:r>
            <a:endParaRPr lang="en-US" sz="1200" dirty="0"/>
          </a:p>
        </p:txBody>
      </p:sp>
      <p:sp>
        <p:nvSpPr>
          <p:cNvPr id="16" name="Text 13"/>
          <p:cNvSpPr/>
          <p:nvPr/>
        </p:nvSpPr>
        <p:spPr>
          <a:xfrm>
            <a:off x="8138160" y="4114800"/>
            <a:ext cx="3291840" cy="393192"/>
          </a:xfrm>
          <a:prstGeom prst="rect">
            <a:avLst/>
          </a:prstGeom>
          <a:noFill/>
          <a:ln/>
        </p:spPr>
        <p:txBody>
          <a:bodyPr wrap="square" lIns="0" tIns="0" rIns="0" bIns="0" rtlCol="0" anchor="t"/>
          <a:lstStyle/>
          <a:p>
            <a:pPr indent="0" marL="0">
              <a:lnSpc>
                <a:spcPct val="100000"/>
              </a:lnSpc>
              <a:buNone/>
            </a:pPr>
            <a:r>
              <a:rPr lang="en-US" sz="1700" b="1" dirty="0">
                <a:solidFill>
                  <a:srgbClr val="237F72"/>
                </a:solidFill>
              </a:rPr>
              <a:t>8,643.12 万元人民币</a:t>
            </a:r>
            <a:endParaRPr lang="en-US" sz="1700" dirty="0"/>
          </a:p>
        </p:txBody>
      </p:sp>
      <p:sp>
        <p:nvSpPr>
          <p:cNvPr id="17" name="Shape 14"/>
          <p:cNvSpPr/>
          <p:nvPr/>
        </p:nvSpPr>
        <p:spPr>
          <a:xfrm>
            <a:off x="7955280" y="4745736"/>
            <a:ext cx="3657600" cy="950976"/>
          </a:xfrm>
          <a:prstGeom prst="rect">
            <a:avLst/>
          </a:prstGeom>
          <a:solidFill>
            <a:srgbClr val="E6EFEC"/>
          </a:solidFill>
          <a:ln w="12700">
            <a:solidFill>
              <a:srgbClr val="E6EFEC"/>
            </a:solidFill>
            <a:prstDash val="solid"/>
          </a:ln>
        </p:spPr>
      </p:sp>
      <p:sp>
        <p:nvSpPr>
          <p:cNvPr id="18" name="Text 15"/>
          <p:cNvSpPr/>
          <p:nvPr/>
        </p:nvSpPr>
        <p:spPr>
          <a:xfrm>
            <a:off x="8138160" y="4828032"/>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旧一期实际归还专户总额</a:t>
            </a:r>
            <a:endParaRPr lang="en-US" sz="1200" dirty="0"/>
          </a:p>
        </p:txBody>
      </p:sp>
      <p:sp>
        <p:nvSpPr>
          <p:cNvPr id="19" name="Text 16"/>
          <p:cNvSpPr/>
          <p:nvPr/>
        </p:nvSpPr>
        <p:spPr>
          <a:xfrm>
            <a:off x="8138160" y="5193792"/>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13.00 亿元人民币</a:t>
            </a:r>
            <a:endParaRPr lang="en-US" sz="1800" dirty="0"/>
          </a:p>
        </p:txBody>
      </p:sp>
      <p:sp>
        <p:nvSpPr>
          <p:cNvPr id="20" name="Text 17"/>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ks_d_e_fund_balance / ks_d_e_fund_return / ks_d_c_fund_balance_parts 等；全部来源及位置见报告、底稿与备注</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募集资金补流及用途恢复压力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56</a:t>
            </a:r>
            <a:endParaRPr lang="en-US" sz="900" dirty="0"/>
          </a:p>
        </p:txBody>
      </p:sp>
      <p:sp>
        <p:nvSpPr>
          <p:cNvPr id="5" name="Text 3"/>
          <p:cNvSpPr/>
          <p:nvPr/>
        </p:nvSpPr>
        <p:spPr>
          <a:xfrm>
            <a:off x="594360" y="1444752"/>
            <a:ext cx="699516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补流归还恢复专款用途</a:t>
            </a:r>
            <a:endParaRPr lang="en-US" sz="2200" dirty="0"/>
          </a:p>
          <a:p>
            <a:pPr indent="0" marL="0">
              <a:lnSpc>
                <a:spcPct val="100000"/>
              </a:lnSpc>
              <a:buNone/>
            </a:pPr>
            <a:r>
              <a:rPr lang="en-US" sz="2200" b="1" dirty="0">
                <a:solidFill>
                  <a:srgbClr val="213B45"/>
                </a:solidFill>
              </a:rPr>
              <a:t>，不新增转债本金</a:t>
            </a:r>
            <a:endParaRPr lang="en-US" sz="2200" dirty="0"/>
          </a:p>
        </p:txBody>
      </p:sp>
      <p:sp>
        <p:nvSpPr>
          <p:cNvPr id="6" name="Text 4"/>
          <p:cNvSpPr/>
          <p:nvPr/>
        </p:nvSpPr>
        <p:spPr>
          <a:xfrm>
            <a:off x="594360" y="2624328"/>
            <a:ext cx="6995160" cy="3063240"/>
          </a:xfrm>
          <a:prstGeom prst="rect">
            <a:avLst/>
          </a:prstGeom>
          <a:noFill/>
          <a:ln/>
        </p:spPr>
        <p:txBody>
          <a:bodyPr wrap="square" lIns="0" tIns="0" rIns="0" bIns="0" rtlCol="0" anchor="t"/>
          <a:lstStyle/>
          <a:p>
            <a:pPr indent="0" marL="0">
              <a:lnSpc>
                <a:spcPct val="100000"/>
              </a:lnSpc>
              <a:buNone/>
            </a:pPr>
            <a:endParaRPr lang="en-US" sz="1800" dirty="0"/>
          </a:p>
        </p:txBody>
      </p:sp>
      <p:sp>
        <p:nvSpPr>
          <p:cNvPr id="8" name="Shape 5"/>
          <p:cNvSpPr/>
          <p:nvPr/>
        </p:nvSpPr>
        <p:spPr>
          <a:xfrm>
            <a:off x="7955280" y="1508760"/>
            <a:ext cx="3657600" cy="950976"/>
          </a:xfrm>
          <a:prstGeom prst="rect">
            <a:avLst/>
          </a:prstGeom>
          <a:solidFill>
            <a:srgbClr val="E6EFEC"/>
          </a:solidFill>
          <a:ln w="12700">
            <a:solidFill>
              <a:srgbClr val="E6EFEC"/>
            </a:solidFill>
            <a:prstDash val="solid"/>
          </a:ln>
        </p:spPr>
      </p:sp>
      <p:sp>
        <p:nvSpPr>
          <p:cNvPr id="9" name="Text 6"/>
          <p:cNvSpPr/>
          <p:nvPr/>
        </p:nvSpPr>
        <p:spPr>
          <a:xfrm>
            <a:off x="8138160" y="1591056"/>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新一期批准临时补流额度上限</a:t>
            </a:r>
            <a:endParaRPr lang="en-US" sz="1200" dirty="0"/>
          </a:p>
        </p:txBody>
      </p:sp>
      <p:sp>
        <p:nvSpPr>
          <p:cNvPr id="10" name="Text 7"/>
          <p:cNvSpPr/>
          <p:nvPr/>
        </p:nvSpPr>
        <p:spPr>
          <a:xfrm>
            <a:off x="8138160" y="1956816"/>
            <a:ext cx="3291840" cy="393192"/>
          </a:xfrm>
          <a:prstGeom prst="rect">
            <a:avLst/>
          </a:prstGeom>
          <a:noFill/>
          <a:ln/>
        </p:spPr>
        <p:txBody>
          <a:bodyPr wrap="square" lIns="0" tIns="0" rIns="0" bIns="0" rtlCol="0" anchor="t"/>
          <a:lstStyle/>
          <a:p>
            <a:pPr indent="0" marL="0">
              <a:lnSpc>
                <a:spcPct val="100000"/>
              </a:lnSpc>
              <a:buNone/>
            </a:pPr>
            <a:r>
              <a:rPr lang="en-US" sz="1800" b="1" dirty="0">
                <a:solidFill>
                  <a:srgbClr val="237F72"/>
                </a:solidFill>
              </a:rPr>
              <a:t>13.00 亿元人民币</a:t>
            </a:r>
            <a:endParaRPr lang="en-US" sz="1800" dirty="0"/>
          </a:p>
        </p:txBody>
      </p:sp>
      <p:sp>
        <p:nvSpPr>
          <p:cNvPr id="11" name="Shape 8"/>
          <p:cNvSpPr/>
          <p:nvPr/>
        </p:nvSpPr>
        <p:spPr>
          <a:xfrm>
            <a:off x="7955280" y="2587752"/>
            <a:ext cx="3657600" cy="950976"/>
          </a:xfrm>
          <a:prstGeom prst="rect">
            <a:avLst/>
          </a:prstGeom>
          <a:solidFill>
            <a:srgbClr val="E6EFEC"/>
          </a:solidFill>
          <a:ln w="12700">
            <a:solidFill>
              <a:srgbClr val="E6EFEC"/>
            </a:solidFill>
            <a:prstDash val="solid"/>
          </a:ln>
        </p:spPr>
      </p:sp>
      <p:sp>
        <p:nvSpPr>
          <p:cNvPr id="12" name="Text 9"/>
          <p:cNvSpPr/>
          <p:nvPr/>
        </p:nvSpPr>
        <p:spPr>
          <a:xfrm>
            <a:off x="8138160" y="2670048"/>
            <a:ext cx="3291840" cy="274320"/>
          </a:xfrm>
          <a:prstGeom prst="rect">
            <a:avLst/>
          </a:prstGeom>
          <a:noFill/>
          <a:ln/>
        </p:spPr>
        <p:txBody>
          <a:bodyPr wrap="square" lIns="0" tIns="0" rIns="0" bIns="0" rtlCol="0" anchor="t"/>
          <a:lstStyle/>
          <a:p>
            <a:pPr indent="0" marL="0">
              <a:lnSpc>
                <a:spcPct val="100000"/>
              </a:lnSpc>
              <a:buNone/>
            </a:pPr>
            <a:r>
              <a:rPr lang="en-US" sz="1200" dirty="0">
                <a:solidFill>
                  <a:srgbClr val="213B45"/>
                </a:solidFill>
              </a:rPr>
              <a:t>截止日新一期实际临时补流占用</a:t>
            </a:r>
            <a:endParaRPr lang="en-US" sz="1200" dirty="0"/>
          </a:p>
        </p:txBody>
      </p:sp>
      <p:sp>
        <p:nvSpPr>
          <p:cNvPr id="13" name="Text 10"/>
          <p:cNvSpPr/>
          <p:nvPr/>
        </p:nvSpPr>
        <p:spPr>
          <a:xfrm>
            <a:off x="8138160" y="3035808"/>
            <a:ext cx="3291840" cy="393192"/>
          </a:xfrm>
          <a:prstGeom prst="rect">
            <a:avLst/>
          </a:prstGeom>
          <a:noFill/>
          <a:ln/>
        </p:spPr>
        <p:txBody>
          <a:bodyPr wrap="square" lIns="0" tIns="0" rIns="0" bIns="0" rtlCol="0" anchor="t"/>
          <a:lstStyle/>
          <a:p>
            <a:pPr indent="0" marL="0">
              <a:lnSpc>
                <a:spcPct val="100000"/>
              </a:lnSpc>
              <a:buNone/>
            </a:pPr>
            <a:r>
              <a:rPr lang="en-US" sz="1400" b="1" dirty="0">
                <a:solidFill>
                  <a:srgbClr val="237F72"/>
                </a:solidFill>
              </a:rPr>
              <a:t>未计算 / unavailable</a:t>
            </a:r>
            <a:endParaRPr lang="en-US" sz="1400" dirty="0"/>
          </a:p>
        </p:txBody>
      </p:sp>
      <p:sp>
        <p:nvSpPr>
          <p:cNvPr id="14" name="Text 11"/>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ks_d_e_fund_new / ks_d_e_fund_balance / ks_d_c_fund_balance_parts 等；全部来源及位置见报告、底稿与备注</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同行证据及可比性</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57</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[conditional] 同业证据支持相对弱势，但不代表行业总体</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三家收入均下降：科顺-11.49%、东方雨虹-1.70%、北新-2.09%。科顺CAS</a:t>
            </a:r>
            <a:endParaRPr lang="en-US" sz="1800" dirty="0"/>
          </a:p>
          <a:p>
            <a:pPr indent="0" marL="0">
              <a:lnSpc>
                <a:spcPct val="100000"/>
              </a:lnSpc>
              <a:buNone/>
            </a:pPr>
            <a:r>
              <a:rPr lang="en-US" sz="1800" dirty="0">
                <a:solidFill>
                  <a:srgbClr val="1F2933"/>
                </a:solidFill>
              </a:rPr>
              <a:t>资产负债率67.32%，高于两家样本；净额营业周期130.28 days，亦长于雨虹</a:t>
            </a:r>
            <a:endParaRPr lang="en-US" sz="1800" dirty="0"/>
          </a:p>
          <a:p>
            <a:pPr indent="0" marL="0">
              <a:lnSpc>
                <a:spcPct val="100000"/>
              </a:lnSpc>
              <a:buNone/>
            </a:pPr>
            <a:r>
              <a:rPr lang="en-US" sz="1800" dirty="0">
                <a:solidFill>
                  <a:srgbClr val="1F2933"/>
                </a:solidFill>
              </a:rPr>
              <a:t>69.89 days、北新38.28 days。这些差异支持结合公司自身回款和资本质量分析，</a:t>
            </a:r>
            <a:endParaRPr lang="en-US" sz="1800" dirty="0"/>
          </a:p>
          <a:p>
            <a:pPr indent="0" marL="0">
              <a:lnSpc>
                <a:spcPct val="100000"/>
              </a:lnSpc>
              <a:buNone/>
            </a:pPr>
            <a:r>
              <a:rPr lang="en-US" sz="1800" dirty="0">
                <a:solidFill>
                  <a:srgbClr val="1F2933"/>
                </a:solidFill>
              </a:rPr>
              <a:t>不能直接转成级差。</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取得纯防水行业分布、固定范围收入、完整资本化利息及真实收付款周期后重做可比分析；此前不计算</a:t>
            </a:r>
            <a:endParaRPr lang="en-US" sz="1800" dirty="0"/>
          </a:p>
          <a:p>
            <a:pPr indent="0" marL="0">
              <a:lnSpc>
                <a:spcPct val="100000"/>
              </a:lnSpc>
              <a:buNone/>
            </a:pPr>
            <a:r>
              <a:rPr lang="en-US" sz="1800" dirty="0">
                <a:solidFill>
                  <a:srgbClr val="1F2933"/>
                </a:solidFill>
              </a:rPr>
              <a:t>行业均值或借同业等级校准本案分数。</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ks_r_peer_keshun / ks_r_peer_yuhong / ks_r_peer_bnbm；全部来源及位置见报告、底稿与备注</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合同时间轴与披露期限表核对</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58</a:t>
            </a:r>
            <a:endParaRPr lang="en-US" sz="900" dirty="0"/>
          </a:p>
        </p:txBody>
      </p:sp>
      <p:sp>
        <p:nvSpPr>
          <p:cNvPr id="5" name="Text 3"/>
          <p:cNvSpPr/>
          <p:nvPr/>
        </p:nvSpPr>
        <p:spPr>
          <a:xfrm>
            <a:off x="594360" y="1444752"/>
            <a:ext cx="10972800" cy="1005840"/>
          </a:xfrm>
          <a:prstGeom prst="rect">
            <a:avLst/>
          </a:prstGeom>
          <a:noFill/>
          <a:ln/>
        </p:spPr>
        <p:txBody>
          <a:bodyPr wrap="square" lIns="0" tIns="0" rIns="0" bIns="0" rtlCol="0" anchor="t"/>
          <a:lstStyle/>
          <a:p>
            <a:pPr indent="0" marL="0">
              <a:lnSpc>
                <a:spcPct val="100000"/>
              </a:lnSpc>
              <a:buNone/>
            </a:pPr>
            <a:r>
              <a:rPr lang="en-US" sz="2200" b="1" dirty="0">
                <a:solidFill>
                  <a:srgbClr val="213B45"/>
                </a:solidFill>
              </a:rPr>
              <a:t>[unresolved] 年报债券期限表不能直接代替已核合同时间轴</a:t>
            </a:r>
            <a:endParaRPr lang="en-US" sz="2200" dirty="0"/>
          </a:p>
        </p:txBody>
      </p:sp>
      <p:sp>
        <p:nvSpPr>
          <p:cNvPr id="6" name="Text 4"/>
          <p:cNvSpPr/>
          <p:nvPr/>
        </p:nvSpPr>
        <p:spPr>
          <a:xfrm>
            <a:off x="594360" y="2624328"/>
            <a:ext cx="10972800" cy="3063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年报一年内未折现应付债券现金流为1,098.92 万元人民币；同日面值保持不变的合同第三年票</a:t>
            </a:r>
            <a:endParaRPr lang="en-US" sz="1800" dirty="0"/>
          </a:p>
          <a:p>
            <a:pPr indent="0" marL="0">
              <a:lnSpc>
                <a:spcPct val="100000"/>
              </a:lnSpc>
              <a:buNone/>
            </a:pPr>
            <a:r>
              <a:rPr lang="en-US" sz="1800" dirty="0">
                <a:solidFill>
                  <a:srgbClr val="1F2933"/>
                </a:solidFill>
              </a:rPr>
              <a:t>息为2,197.83 万元人民币，两者差-1,098.91 万元人民币。其他期限栏也存在条件</a:t>
            </a:r>
            <a:endParaRPr lang="en-US" sz="1800" dirty="0"/>
          </a:p>
          <a:p>
            <a:pPr indent="0" marL="0">
              <a:lnSpc>
                <a:spcPct val="100000"/>
              </a:lnSpc>
              <a:buNone/>
            </a:pPr>
            <a:r>
              <a:rPr lang="en-US" sz="1800" dirty="0">
                <a:solidFill>
                  <a:srgbClr val="1F2933"/>
                </a:solidFill>
              </a:rPr>
              <a:t>比较差额，未取得表内假设解释。</a:t>
            </a:r>
            <a:endParaRPr lang="en-US" sz="1800" dirty="0"/>
          </a:p>
          <a:p>
            <a:pPr indent="0" marL="0">
              <a:lnSpc>
                <a:spcPct val="100000"/>
              </a:lnSpc>
              <a:buNone/>
            </a:pPr>
            <a:endParaRPr lang="en-US" sz="1800" dirty="0"/>
          </a:p>
          <a:p>
            <a:pPr indent="0" marL="0">
              <a:lnSpc>
                <a:spcPct val="100000"/>
              </a:lnSpc>
              <a:buNone/>
            </a:pPr>
            <a:r>
              <a:rPr lang="en-US" sz="1800" dirty="0">
                <a:solidFill>
                  <a:srgbClr val="1F2933"/>
                </a:solidFill>
              </a:rPr>
              <a:t>判断改变条件</a:t>
            </a:r>
            <a:endParaRPr lang="en-US" sz="1800" dirty="0"/>
          </a:p>
          <a:p>
            <a:pPr indent="0" marL="0">
              <a:lnSpc>
                <a:spcPct val="100000"/>
              </a:lnSpc>
              <a:buNone/>
            </a:pPr>
            <a:r>
              <a:rPr lang="en-US" sz="1800" dirty="0">
                <a:solidFill>
                  <a:srgbClr val="1F2933"/>
                </a:solidFill>
              </a:rPr>
              <a:t>取得发行人未折现表的本金、票息、日期、转股及行权假设明细后对齐比较，更新现金预算；不以原表</a:t>
            </a:r>
            <a:endParaRPr lang="en-US" sz="1800" dirty="0"/>
          </a:p>
          <a:p>
            <a:pPr indent="0" marL="0">
              <a:lnSpc>
                <a:spcPct val="100000"/>
              </a:lnSpc>
              <a:buNone/>
            </a:pPr>
            <a:r>
              <a:rPr lang="en-US" sz="1800" dirty="0">
                <a:solidFill>
                  <a:srgbClr val="1F2933"/>
                </a:solidFill>
              </a:rPr>
              <a:t>一年内金额直接替代本年合同付息需求。</a:t>
            </a:r>
            <a:endParaRPr lang="en-US" sz="1800" dirty="0"/>
          </a:p>
        </p:txBody>
      </p:sp>
      <p:sp>
        <p:nvSpPr>
          <p:cNvPr id="8" name="Text 5"/>
          <p:cNvSpPr/>
          <p:nvPr/>
        </p:nvSpPr>
        <p:spPr>
          <a:xfrm>
            <a:off x="594360" y="6007608"/>
            <a:ext cx="10972800" cy="274320"/>
          </a:xfrm>
          <a:prstGeom prst="rect">
            <a:avLst/>
          </a:prstGeom>
          <a:noFill/>
          <a:ln/>
        </p:spPr>
        <p:txBody>
          <a:bodyPr wrap="square" lIns="0" tIns="0" rIns="0" bIns="0" rtlCol="0" anchor="t"/>
          <a:lstStyle/>
          <a:p>
            <a:pPr indent="0" marL="0">
              <a:lnSpc>
                <a:spcPct val="100000"/>
              </a:lnSpc>
              <a:buNone/>
            </a:pPr>
            <a:r>
              <a:rPr lang="en-US" sz="900" dirty="0">
                <a:solidFill>
                  <a:srgbClr val="586874"/>
                </a:solidFill>
              </a:rPr>
              <a:t>来源记录 ks_r_e_bond_buckets / ks_d_e_issue_coupon / ks_d_e_maturity_call；全部来源及位置见报告、底稿与备注</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按境内境外构建的2026收入情景：指标摘要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59</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压力下界2026收入：54.59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压力上界2026收入：57.91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基准下界2026收入：58.98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基准上界2026收入：62.88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改善下界2026收入：64.05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改善上界2026收入：66.00 亿元人民币</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ks_b_e_structure, ks_b_e_q1, ks_b_e_property26, ks_b_e_investment26；计算快照</a:t>
            </a:r>
            <a:endParaRPr lang="en-US" sz="1100" dirty="0"/>
          </a:p>
          <a:p>
            <a:pPr indent="0" marL="0">
              <a:lnSpc>
                <a:spcPct val="100000"/>
              </a:lnSpc>
              <a:buNone/>
            </a:pPr>
            <a:r>
              <a:rPr lang="en-US" sz="1100" dirty="0">
                <a:solidFill>
                  <a:srgbClr val="56646C"/>
                </a:solidFill>
              </a:rPr>
              <a:t>。全量结果、公式与精度见Excel/JSON；本次未复算。</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按境内境外构建的2026收入情景：方法、假设与限制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60</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explicit_geographic_revenue_scenarios；截至 2026-06</a:t>
            </a:r>
            <a:endParaRPr lang="en-US" sz="1600" dirty="0"/>
          </a:p>
          <a:p>
            <a:pPr indent="0" marL="0">
              <a:lnSpc>
                <a:spcPct val="100000"/>
              </a:lnSpc>
              <a:buNone/>
            </a:pPr>
            <a:r>
              <a:rPr lang="en-US" sz="1600" dirty="0">
                <a:solidFill>
                  <a:srgbClr val="1F2933"/>
                </a:solidFill>
              </a:rPr>
              <a:t>-30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ks_b_domestic25, ks_b_overseas25, </a:t>
            </a:r>
            <a:endParaRPr lang="en-US" sz="1600" dirty="0"/>
          </a:p>
          <a:p>
            <a:pPr indent="0" marL="0">
              <a:lnSpc>
                <a:spcPct val="100000"/>
              </a:lnSpc>
              <a:buNone/>
            </a:pPr>
            <a:r>
              <a:rPr lang="en-US" sz="1600" dirty="0">
                <a:solidFill>
                  <a:srgbClr val="1F2933"/>
                </a:solidFill>
              </a:rPr>
              <a:t>ks_b_assumed_stress_low_domestic, </a:t>
            </a:r>
            <a:endParaRPr lang="en-US" sz="1600" dirty="0"/>
          </a:p>
          <a:p>
            <a:pPr indent="0" marL="0">
              <a:lnSpc>
                <a:spcPct val="100000"/>
              </a:lnSpc>
              <a:buNone/>
            </a:pPr>
            <a:r>
              <a:rPr lang="en-US" sz="1600" dirty="0">
                <a:solidFill>
                  <a:srgbClr val="1F2933"/>
                </a:solidFill>
              </a:rPr>
              <a:t>ks_b_assumed_stress_low_overseas, </a:t>
            </a:r>
            <a:endParaRPr lang="en-US" sz="1600" dirty="0"/>
          </a:p>
          <a:p>
            <a:pPr indent="0" marL="0">
              <a:lnSpc>
                <a:spcPct val="100000"/>
              </a:lnSpc>
              <a:buNone/>
            </a:pPr>
            <a:r>
              <a:rPr lang="en-US" sz="1600" dirty="0">
                <a:solidFill>
                  <a:srgbClr val="1F2933"/>
                </a:solidFill>
              </a:rPr>
              <a:t>ks_b_assumed_stress_high_domestic, </a:t>
            </a:r>
            <a:endParaRPr lang="en-US" sz="1600" dirty="0"/>
          </a:p>
          <a:p>
            <a:pPr indent="0" marL="0">
              <a:lnSpc>
                <a:spcPct val="100000"/>
              </a:lnSpc>
              <a:buNone/>
            </a:pPr>
            <a:r>
              <a:rPr lang="en-US" sz="1600" dirty="0">
                <a:solidFill>
                  <a:srgbClr val="1F2933"/>
                </a:solidFill>
              </a:rPr>
              <a:t>ks_b_assumed_stress_high_overseas, </a:t>
            </a:r>
            <a:endParaRPr lang="en-US" sz="1600" dirty="0"/>
          </a:p>
          <a:p>
            <a:pPr indent="0" marL="0">
              <a:lnSpc>
                <a:spcPct val="100000"/>
              </a:lnSpc>
              <a:buNone/>
            </a:pPr>
            <a:r>
              <a:rPr lang="en-US" sz="1600" dirty="0">
                <a:solidFill>
                  <a:srgbClr val="1F2933"/>
                </a:solidFill>
              </a:rPr>
              <a:t>ks_b_assumed_base_low_domestic, </a:t>
            </a:r>
            <a:endParaRPr lang="en-US" sz="1600" dirty="0"/>
          </a:p>
          <a:p>
            <a:pPr indent="0" marL="0">
              <a:lnSpc>
                <a:spcPct val="100000"/>
              </a:lnSpc>
              <a:buNone/>
            </a:pPr>
            <a:r>
              <a:rPr lang="en-US" sz="1600" dirty="0">
                <a:solidFill>
                  <a:srgbClr val="1F2933"/>
                </a:solidFill>
              </a:rPr>
              <a:t>ks_b_assumed_base_low_overseas, </a:t>
            </a:r>
            <a:endParaRPr lang="en-US" sz="1600" dirty="0"/>
          </a:p>
          <a:p>
            <a:pPr indent="0" marL="0">
              <a:lnSpc>
                <a:spcPct val="100000"/>
              </a:lnSpc>
              <a:buNone/>
            </a:pPr>
            <a:r>
              <a:rPr lang="en-US" sz="1600" dirty="0">
                <a:solidFill>
                  <a:srgbClr val="1F2933"/>
                </a:solidFill>
              </a:rPr>
              <a:t>ks_b_assumed_base_high_domestic, </a:t>
            </a:r>
            <a:endParaRPr lang="en-US" sz="1600" dirty="0"/>
          </a:p>
          <a:p>
            <a:pPr indent="0" marL="0">
              <a:lnSpc>
                <a:spcPct val="100000"/>
              </a:lnSpc>
              <a:buNone/>
            </a:pPr>
            <a:r>
              <a:rPr lang="en-US" sz="1600" dirty="0">
                <a:solidFill>
                  <a:srgbClr val="1F2933"/>
                </a:solidFill>
              </a:rPr>
              <a:t>ks_b_assumed_base_high_overseas, </a:t>
            </a:r>
            <a:endParaRPr lang="en-US" sz="1600" dirty="0"/>
          </a:p>
          <a:p>
            <a:pPr indent="0" marL="0">
              <a:lnSpc>
                <a:spcPct val="100000"/>
              </a:lnSpc>
              <a:buNone/>
            </a:pPr>
            <a:r>
              <a:rPr lang="en-US" sz="1600" dirty="0">
                <a:solidFill>
                  <a:srgbClr val="1F2933"/>
                </a:solidFill>
              </a:rPr>
              <a:t>ks_b_assumed_improve_low_domestic, </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按境内境外构建的2026收入情景：方法、假设与限制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61</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ks_b_assumed_improve_low_overseas, </a:t>
            </a:r>
            <a:endParaRPr lang="en-US" sz="1600" dirty="0"/>
          </a:p>
          <a:p>
            <a:pPr indent="0" marL="0">
              <a:lnSpc>
                <a:spcPct val="100000"/>
              </a:lnSpc>
              <a:buNone/>
            </a:pPr>
            <a:r>
              <a:rPr lang="en-US" sz="1600" dirty="0">
                <a:solidFill>
                  <a:srgbClr val="1F2933"/>
                </a:solidFill>
              </a:rPr>
              <a:t>ks_b_assumed_improve_high_domestic, </a:t>
            </a:r>
            <a:endParaRPr lang="en-US" sz="1600" dirty="0"/>
          </a:p>
          <a:p>
            <a:pPr indent="0" marL="0">
              <a:lnSpc>
                <a:spcPct val="100000"/>
              </a:lnSpc>
              <a:buNone/>
            </a:pPr>
            <a:r>
              <a:rPr lang="en-US" sz="1600" dirty="0">
                <a:solidFill>
                  <a:srgbClr val="1F2933"/>
                </a:solidFill>
              </a:rPr>
              <a:t>ks_b_assumed_improve_high_overseas</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ks_b_e_structure, ks_b_e_q1, ks_b_e_property26</a:t>
            </a:r>
            <a:endParaRPr lang="en-US" sz="1600" dirty="0"/>
          </a:p>
          <a:p>
            <a:pPr indent="0" marL="0">
              <a:lnSpc>
                <a:spcPct val="100000"/>
              </a:lnSpc>
              <a:buNone/>
            </a:pPr>
            <a:r>
              <a:rPr lang="en-US" sz="1600" dirty="0">
                <a:solidFill>
                  <a:srgbClr val="1F2933"/>
                </a:solidFill>
              </a:rPr>
              <a:t>, ks_b_e_investment26</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假设：按境内与境外历史收入分别乘以一加假设增速后相加，不变更合并范围。</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假设：低/高端采用同向组合，不解释为概率分布；未机械年化季度。</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限制：只有收入桥，不直接预测利润、经营现金及债务服务能力。</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限制：缺少渠道分表、明确订单和海外基地现金回收记录，假设不能冒充已验证结果。</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保留实际本金时点的合同现金流情景：指标摘要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62</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2026年固定本金情景合同现金支付：2,197.82 万元人民币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2027年固定本金情景合同现金支付：3,296.73 万元人民币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2028年固定本金情景合同现金支付：3,956.08 万元人民币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2029年固定本金情景合同现金支付：25.27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到期情景本金：21.98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到期兑付内含末期票息：4,395.64 万元人民币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到期兑付扣本金及末息后的溢价：2.86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固定本金情景未来合同现金合计：26.22 亿元人民币</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ks_d_e_face_q1, ks_d_e_issue_coupon, ks_d_e_maturity_call, ks_d_e_put；计算</a:t>
            </a:r>
            <a:endParaRPr lang="en-US" sz="1100" dirty="0"/>
          </a:p>
          <a:p>
            <a:pPr indent="0" marL="0">
              <a:lnSpc>
                <a:spcPct val="100000"/>
              </a:lnSpc>
              <a:buNone/>
            </a:pPr>
            <a:r>
              <a:rPr lang="en-US" sz="1100" dirty="0">
                <a:solidFill>
                  <a:srgbClr val="56646C"/>
                </a:solidFill>
              </a:rPr>
              <a:t>快照。全量结果、公式与精度见Excel/JSON；本次未复算。</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保留实际本金时点的合同现金流情景：方法、假设与限制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63</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Decimal contract_cash_schedule_v1；截至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ks_d_f_face_q1, ks_d_f_coupon_3, </a:t>
            </a:r>
            <a:endParaRPr lang="en-US" sz="1600" dirty="0"/>
          </a:p>
          <a:p>
            <a:pPr indent="0" marL="0">
              <a:lnSpc>
                <a:spcPct val="100000"/>
              </a:lnSpc>
              <a:buNone/>
            </a:pPr>
            <a:r>
              <a:rPr lang="en-US" sz="1600" dirty="0">
                <a:solidFill>
                  <a:srgbClr val="1F2933"/>
                </a:solidFill>
              </a:rPr>
              <a:t>ks_d_f_coupon_4, ks_d_f_coupon_5, ks_d_f_coupon_6, </a:t>
            </a:r>
            <a:endParaRPr lang="en-US" sz="1600" dirty="0"/>
          </a:p>
          <a:p>
            <a:pPr indent="0" marL="0">
              <a:lnSpc>
                <a:spcPct val="100000"/>
              </a:lnSpc>
              <a:buNone/>
            </a:pPr>
            <a:r>
              <a:rPr lang="en-US" sz="1600" dirty="0">
                <a:solidFill>
                  <a:srgbClr val="1F2933"/>
                </a:solidFill>
              </a:rPr>
              <a:t>ks_d_f_maturity_multiple</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ks_d_e_face_q1, ks_d_e_issue_coupon, </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保留实际本金时点的合同现金流情景：方法、假设与限制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64</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ks_d_e_maturity_call, ks_d_e_put</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假设：以一季度末实际未转股本金作为固定本金情景起点；六月末实际本金尚未取得。</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假设：之后无转股、无提前赎回或回售、无违约加速、无条款变化；未来利率仅取已约定的票面利率。</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限制：这是偿债需求情景而非预测；没有计入可选行权造成的提前现金需求。</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限制：未来法定节假日及交易日日历未推定；到期末息已含在合同兑付比例内。</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已执行转股价下的条件观察线：指标摘要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65</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普通回售条件股价：4.63 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下修条件股价：5.62 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赎回条件股价：8.59 元人民币</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ks_d_e_price_latest, ks_d_e_put, ks_d_e_revision, ks_d_e_maturity_call；</a:t>
            </a:r>
            <a:endParaRPr lang="en-US" sz="1100" dirty="0"/>
          </a:p>
          <a:p>
            <a:pPr indent="0" marL="0">
              <a:lnSpc>
                <a:spcPct val="100000"/>
              </a:lnSpc>
              <a:buNone/>
            </a:pPr>
            <a:r>
              <a:rPr lang="en-US" sz="1100" dirty="0">
                <a:solidFill>
                  <a:srgbClr val="56646C"/>
                </a:solidFill>
              </a:rPr>
              <a:t>计算快照。全量结果、公式与精度见Excel/JSON；本次未复算。</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已执行转股价下的条件观察线：方法、假设与限制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66</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Decimal conversion_thresholds_v1；截至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ks_d_f_price_latest, ks_d_f_price_2025_sep, </a:t>
            </a:r>
            <a:endParaRPr lang="en-US" sz="1600" dirty="0"/>
          </a:p>
          <a:p>
            <a:pPr indent="0" marL="0">
              <a:lnSpc>
                <a:spcPct val="100000"/>
              </a:lnSpc>
              <a:buNone/>
            </a:pPr>
            <a:r>
              <a:rPr lang="en-US" sz="1600" dirty="0">
                <a:solidFill>
                  <a:srgbClr val="1F2933"/>
                </a:solidFill>
              </a:rPr>
              <a:t>ks_d_f_dividend_per_share, ks_d_f_put_threshold, </a:t>
            </a:r>
            <a:endParaRPr lang="en-US" sz="1600" dirty="0"/>
          </a:p>
          <a:p>
            <a:pPr indent="0" marL="0">
              <a:lnSpc>
                <a:spcPct val="100000"/>
              </a:lnSpc>
              <a:buNone/>
            </a:pPr>
            <a:r>
              <a:rPr lang="en-US" sz="1600" dirty="0">
                <a:solidFill>
                  <a:srgbClr val="1F2933"/>
                </a:solidFill>
              </a:rPr>
              <a:t>ks_d_f_revision_threshold, ks_d_f_call_threshold</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ks_d_e_price_latest, ks_d_e_put, </a:t>
            </a:r>
            <a:endParaRPr lang="en-US" sz="1600" dirty="0"/>
          </a:p>
          <a:p>
            <a:pPr indent="0" marL="0">
              <a:lnSpc>
                <a:spcPct val="100000"/>
              </a:lnSpc>
              <a:buNone/>
            </a:pPr>
            <a:r>
              <a:rPr lang="en-US" sz="1600" dirty="0">
                <a:solidFill>
                  <a:srgbClr val="1F2933"/>
                </a:solidFill>
              </a:rPr>
              <a:t>ks_d_e_revision, ks_d_e_maturity_call</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假设：以已生效转股价为条件基数，仅展示条款比例对应价格，不使用市场价格推断未来行权。</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限制：转股价再变动时观察线须重算；满足价格线仍须满足计息年度、观察天数及程序要求。</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限制：下修和有条件赎回包含发行人决策，不能把价格触线视为已执行。</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发行人合同面值与合并权益的明确跨口径敏感性：指标摘要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67</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合同面值占合并总权益敏感性：54.24%</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ks_d_e_face_2025, ks_d_e_equity, ks_d_e_issuance_law；计算快照。全量结果、公式与精度见</a:t>
            </a:r>
            <a:endParaRPr lang="en-US" sz="1100" dirty="0"/>
          </a:p>
          <a:p>
            <a:pPr indent="0" marL="0">
              <a:lnSpc>
                <a:spcPct val="100000"/>
              </a:lnSpc>
              <a:buNone/>
            </a:pPr>
            <a:r>
              <a:rPr lang="en-US" sz="1100" dirty="0">
                <a:solidFill>
                  <a:srgbClr val="56646C"/>
                </a:solidFill>
              </a:rPr>
              <a:t>Excel/JSON；本次未复算。</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发行人合同面值与合并权益的明确跨口径敏感性：方法、假设与限制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68</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Decimal nominal_to_consolidated_equity_bridge_v1</a:t>
            </a:r>
            <a:endParaRPr lang="en-US" sz="1600" dirty="0"/>
          </a:p>
          <a:p>
            <a:pPr indent="0" marL="0">
              <a:lnSpc>
                <a:spcPct val="100000"/>
              </a:lnSpc>
              <a:buNone/>
            </a:pPr>
            <a:r>
              <a:rPr lang="en-US" sz="1600" dirty="0">
                <a:solidFill>
                  <a:srgbClr val="1F2933"/>
                </a:solidFill>
              </a:rPr>
              <a:t>；截至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ks_d_f_face_2025, ks_d_f_equity_total_2025</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ks_d_e_face_2025, ks_d_e_equity, </a:t>
            </a:r>
            <a:endParaRPr lang="en-US" sz="1600" dirty="0"/>
          </a:p>
          <a:p>
            <a:pPr indent="0" marL="0">
              <a:lnSpc>
                <a:spcPct val="100000"/>
              </a:lnSpc>
              <a:buNone/>
            </a:pPr>
            <a:r>
              <a:rPr lang="en-US" sz="1600" dirty="0">
                <a:solidFill>
                  <a:srgbClr val="1F2933"/>
                </a:solidFill>
              </a:rPr>
              <a:t>ks_d_e_issuance_law</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假设：仅把发行人对外转债合同面值与合并总权益比较；分子不是合并应付债券账面价值，无会计重分类或净额抵消</a:t>
            </a:r>
            <a:endParaRPr lang="en-US" sz="1600" dirty="0"/>
          </a:p>
          <a:p>
            <a:pPr indent="0" marL="0">
              <a:lnSpc>
                <a:spcPct val="100000"/>
              </a:lnSpc>
              <a:buNone/>
            </a:pPr>
            <a:r>
              <a:rPr lang="en-US" sz="1600" dirty="0">
                <a:solidFill>
                  <a:srgbClr val="1F2933"/>
                </a:solidFill>
              </a:rPr>
              <a:t>调整。</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限制：该数仅用于确认面值口径也不能自动消除表面差异；不得替代监管发行条件的合并账面口径或正式存续承诺</a:t>
            </a:r>
            <a:endParaRPr lang="en-US" sz="1600" dirty="0"/>
          </a:p>
          <a:p>
            <a:pPr indent="0" marL="0">
              <a:lnSpc>
                <a:spcPct val="100000"/>
              </a:lnSpc>
              <a:buNone/>
            </a:pPr>
            <a:r>
              <a:rPr lang="en-US" sz="1600" dirty="0">
                <a:solidFill>
                  <a:srgbClr val="1F2933"/>
                </a:solidFill>
              </a:rPr>
              <a:t>测试。</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经营因素形成及相邻判断：指标摘要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69</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环境因素研究分：3.25 分</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自身竞争力研究分：3.78 分</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定性共同恶化时竞争力分：3.38 分</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ks_r_e_business, ks_r_e_history, ks_b_e_operations, ks_b_e_ownership；计算</a:t>
            </a:r>
            <a:endParaRPr lang="en-US" sz="1100" dirty="0"/>
          </a:p>
          <a:p>
            <a:pPr indent="0" marL="0">
              <a:lnSpc>
                <a:spcPct val="100000"/>
              </a:lnSpc>
              <a:buNone/>
            </a:pPr>
            <a:r>
              <a:rPr lang="en-US" sz="1100" dirty="0">
                <a:solidFill>
                  <a:srgbClr val="56646C"/>
                </a:solidFill>
              </a:rPr>
              <a:t>快照。全量结果、公式与精度见Excel/JSON；本次未复算。</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经营因素形成及相邻判断：方法、假设与限制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70</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case_business_application_v1；截至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ks_a_revenue_2025, ks_a_revenue_2024, </a:t>
            </a:r>
            <a:endParaRPr lang="en-US" sz="1600" dirty="0"/>
          </a:p>
          <a:p>
            <a:pPr indent="0" marL="0">
              <a:lnSpc>
                <a:spcPct val="100000"/>
              </a:lnSpc>
              <a:buNone/>
            </a:pPr>
            <a:r>
              <a:rPr lang="en-US" sz="1600" dirty="0">
                <a:solidFill>
                  <a:srgbClr val="1F2933"/>
                </a:solidFill>
              </a:rPr>
              <a:t>ks_a_revenue_2023_restate, ks_b_score_macro_center,</a:t>
            </a:r>
            <a:endParaRPr lang="en-US" sz="1600" dirty="0"/>
          </a:p>
          <a:p>
            <a:pPr indent="0" marL="0">
              <a:lnSpc>
                <a:spcPct val="100000"/>
              </a:lnSpc>
              <a:buNone/>
            </a:pPr>
            <a:r>
              <a:rPr lang="en-US" sz="1600" dirty="0">
                <a:solidFill>
                  <a:srgbClr val="1F2933"/>
                </a:solidFill>
              </a:rPr>
              <a:t> ks_b_score_macro_low, ks_b_score_macro_high, </a:t>
            </a:r>
            <a:endParaRPr lang="en-US" sz="1600" dirty="0"/>
          </a:p>
          <a:p>
            <a:pPr indent="0" marL="0">
              <a:lnSpc>
                <a:spcPct val="100000"/>
              </a:lnSpc>
              <a:buNone/>
            </a:pPr>
            <a:r>
              <a:rPr lang="en-US" sz="1600" dirty="0">
                <a:solidFill>
                  <a:srgbClr val="1F2933"/>
                </a:solidFill>
              </a:rPr>
              <a:t>ks_b_score_industry_center, ks_b_score_industry_low</a:t>
            </a:r>
            <a:endParaRPr lang="en-US" sz="1600" dirty="0"/>
          </a:p>
          <a:p>
            <a:pPr indent="0" marL="0">
              <a:lnSpc>
                <a:spcPct val="100000"/>
              </a:lnSpc>
              <a:buNone/>
            </a:pPr>
            <a:r>
              <a:rPr lang="en-US" sz="1600" dirty="0">
                <a:solidFill>
                  <a:srgbClr val="1F2933"/>
                </a:solidFill>
              </a:rPr>
              <a:t>, ks_b_score_industry_high, </a:t>
            </a:r>
            <a:endParaRPr lang="en-US" sz="1600" dirty="0"/>
          </a:p>
          <a:p>
            <a:pPr indent="0" marL="0">
              <a:lnSpc>
                <a:spcPct val="100000"/>
              </a:lnSpc>
              <a:buNone/>
            </a:pPr>
            <a:r>
              <a:rPr lang="en-US" sz="1600" dirty="0">
                <a:solidFill>
                  <a:srgbClr val="1F2933"/>
                </a:solidFill>
              </a:rPr>
              <a:t>ks_b_score_market_center, ks_b_score_market_low, </a:t>
            </a:r>
            <a:endParaRPr lang="en-US" sz="1600" dirty="0"/>
          </a:p>
          <a:p>
            <a:pPr indent="0" marL="0">
              <a:lnSpc>
                <a:spcPct val="100000"/>
              </a:lnSpc>
              <a:buNone/>
            </a:pPr>
            <a:r>
              <a:rPr lang="en-US" sz="1600" dirty="0">
                <a:solidFill>
                  <a:srgbClr val="1F2933"/>
                </a:solidFill>
              </a:rPr>
              <a:t>ks_b_score_market_high, ks_b_score_resources_center</a:t>
            </a:r>
            <a:endParaRPr lang="en-US" sz="1600" dirty="0"/>
          </a:p>
          <a:p>
            <a:pPr indent="0" marL="0">
              <a:lnSpc>
                <a:spcPct val="100000"/>
              </a:lnSpc>
              <a:buNone/>
            </a:pPr>
            <a:r>
              <a:rPr lang="en-US" sz="1600" dirty="0">
                <a:solidFill>
                  <a:srgbClr val="1F2933"/>
                </a:solidFill>
              </a:rPr>
              <a:t>, ks_b_score_resources_low, </a:t>
            </a:r>
            <a:endParaRPr lang="en-US" sz="1600" dirty="0"/>
          </a:p>
          <a:p>
            <a:pPr indent="0" marL="0">
              <a:lnSpc>
                <a:spcPct val="100000"/>
              </a:lnSpc>
              <a:buNone/>
            </a:pPr>
            <a:r>
              <a:rPr lang="en-US" sz="1600" dirty="0">
                <a:solidFill>
                  <a:srgbClr val="1F2933"/>
                </a:solidFill>
              </a:rPr>
              <a:t>ks_b_score_resources_high, </a:t>
            </a:r>
            <a:endParaRPr lang="en-US" sz="1600" dirty="0"/>
          </a:p>
          <a:p>
            <a:pPr indent="0" marL="0">
              <a:lnSpc>
                <a:spcPct val="100000"/>
              </a:lnSpc>
              <a:buNone/>
            </a:pPr>
            <a:r>
              <a:rPr lang="en-US" sz="1600" dirty="0">
                <a:solidFill>
                  <a:srgbClr val="1F2933"/>
                </a:solidFill>
              </a:rPr>
              <a:t>ks_b_score_diversity_center, </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经营因素形成及相邻判断：方法、假设与限制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71</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ks_b_score_diversity_low, ks_b_score_diversity_high</a:t>
            </a:r>
            <a:endParaRPr lang="en-US" sz="1600" dirty="0"/>
          </a:p>
          <a:p>
            <a:pPr indent="0" marL="0">
              <a:lnSpc>
                <a:spcPct val="100000"/>
              </a:lnSpc>
              <a:buNone/>
            </a:pPr>
            <a:r>
              <a:rPr lang="en-US" sz="1600" dirty="0">
                <a:solidFill>
                  <a:srgbClr val="1F2933"/>
                </a:solidFill>
              </a:rPr>
              <a:t>, ks_b_score_governance_center, </a:t>
            </a:r>
            <a:endParaRPr lang="en-US" sz="1600" dirty="0"/>
          </a:p>
          <a:p>
            <a:pPr indent="0" marL="0">
              <a:lnSpc>
                <a:spcPct val="100000"/>
              </a:lnSpc>
              <a:buNone/>
            </a:pPr>
            <a:r>
              <a:rPr lang="en-US" sz="1600" dirty="0">
                <a:solidFill>
                  <a:srgbClr val="1F2933"/>
                </a:solidFill>
              </a:rPr>
              <a:t>ks_b_score_governance_low, </a:t>
            </a:r>
            <a:endParaRPr lang="en-US" sz="1600" dirty="0"/>
          </a:p>
          <a:p>
            <a:pPr indent="0" marL="0">
              <a:lnSpc>
                <a:spcPct val="100000"/>
              </a:lnSpc>
              <a:buNone/>
            </a:pPr>
            <a:r>
              <a:rPr lang="en-US" sz="1600" dirty="0">
                <a:solidFill>
                  <a:srgbClr val="1F2933"/>
                </a:solidFill>
              </a:rPr>
              <a:t>ks_b_score_governance_high, </a:t>
            </a:r>
            <a:endParaRPr lang="en-US" sz="1600" dirty="0"/>
          </a:p>
          <a:p>
            <a:pPr indent="0" marL="0">
              <a:lnSpc>
                <a:spcPct val="100000"/>
              </a:lnSpc>
              <a:buNone/>
            </a:pPr>
            <a:r>
              <a:rPr lang="en-US" sz="1600" dirty="0">
                <a:solidFill>
                  <a:srgbClr val="1F2933"/>
                </a:solidFill>
              </a:rPr>
              <a:t>ks_b_score_management_center, </a:t>
            </a:r>
            <a:endParaRPr lang="en-US" sz="1600" dirty="0"/>
          </a:p>
          <a:p>
            <a:pPr indent="0" marL="0">
              <a:lnSpc>
                <a:spcPct val="100000"/>
              </a:lnSpc>
              <a:buNone/>
            </a:pPr>
            <a:r>
              <a:rPr lang="en-US" sz="1600" dirty="0">
                <a:solidFill>
                  <a:srgbClr val="1F2933"/>
                </a:solidFill>
              </a:rPr>
              <a:t>ks_b_score_management_low, </a:t>
            </a:r>
            <a:endParaRPr lang="en-US" sz="1600" dirty="0"/>
          </a:p>
          <a:p>
            <a:pPr indent="0" marL="0">
              <a:lnSpc>
                <a:spcPct val="100000"/>
              </a:lnSpc>
              <a:buNone/>
            </a:pPr>
            <a:r>
              <a:rPr lang="en-US" sz="1600" dirty="0">
                <a:solidFill>
                  <a:srgbClr val="1F2933"/>
                </a:solidFill>
              </a:rPr>
              <a:t>ks_b_score_management_high, ks_b_score_chain_center</a:t>
            </a:r>
            <a:endParaRPr lang="en-US" sz="1600" dirty="0"/>
          </a:p>
          <a:p>
            <a:pPr indent="0" marL="0">
              <a:lnSpc>
                <a:spcPct val="100000"/>
              </a:lnSpc>
              <a:buNone/>
            </a:pPr>
            <a:r>
              <a:rPr lang="en-US" sz="1600" dirty="0">
                <a:solidFill>
                  <a:srgbClr val="1F2933"/>
                </a:solidFill>
              </a:rPr>
              <a:t>, ks_b_score_chain_low, ks_b_score_chain_high, </a:t>
            </a:r>
            <a:endParaRPr lang="en-US" sz="1600" dirty="0"/>
          </a:p>
          <a:p>
            <a:pPr indent="0" marL="0">
              <a:lnSpc>
                <a:spcPct val="100000"/>
              </a:lnSpc>
              <a:buNone/>
            </a:pPr>
            <a:r>
              <a:rPr lang="en-US" sz="1600" dirty="0">
                <a:solidFill>
                  <a:srgbClr val="1F2933"/>
                </a:solidFill>
              </a:rPr>
              <a:t>ks_a_noc360_2025, ks_a_noc360_gross_2025</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ks_r_e_business, ks_r_e_history, </a:t>
            </a:r>
            <a:endParaRPr lang="en-US" sz="1600" dirty="0"/>
          </a:p>
          <a:p>
            <a:pPr indent="0" marL="0">
              <a:lnSpc>
                <a:spcPct val="100000"/>
              </a:lnSpc>
              <a:buNone/>
            </a:pPr>
            <a:r>
              <a:rPr lang="en-US" sz="1600" dirty="0">
                <a:solidFill>
                  <a:srgbClr val="1F2933"/>
                </a:solidFill>
              </a:rPr>
              <a:t>ks_b_e_operations, ks_b_e_ownership</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假设：原文营收区间[50,120)亿元、净周期(50,200]天分别给出[4,5)分；4.5只是明确的</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经营因素形成及相邻判断：方法、假设与限制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72</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区间代表值，不声称机构内部插值。</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假设：营收有三年同口径实际金额，按原文20/30/50权重执行。</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假设：净周期只有2025同控可比均值；以最新实际周期进入中央研究判断是显式适配，不是完整机构三年算法。</a:t>
            </a:r>
            <a:endParaRPr lang="en-US" sz="1600" dirty="0"/>
          </a:p>
          <a:p>
            <a:pPr indent="0" marL="0">
              <a:lnSpc>
                <a:spcPct val="100000"/>
              </a:lnSpc>
              <a:buNone/>
            </a:pPr>
            <a:r>
              <a:rPr lang="en-US" sz="1600" dirty="0">
                <a:solidFill>
                  <a:srgbClr val="1F2933"/>
                </a:solidFill>
              </a:rPr>
              <a:t>另给原值敏感性和未知历史可能改变档位的条件分支。</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假设：定性分值依据独立经营证据，分数越高越强；档次编号1最好，不能混用。</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假设：同向半分场景是判断不确定性，不是统计置信区间；没有按已公布等级校准。</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限制：宏观、行业与定性因素是研究判断；没有使用已公布等级作为校准目标。</a:t>
            </a:r>
            <a:endParaRPr lang="en-US" sz="1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73</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主方案财务研究分：4.17 分</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先权金额财务研究分：3.74 分</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公开区间合成下界：3.74 分</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公开区间合成上确界：4.59 分</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ks_r_e_finance, ks_r_e_history, ks_a_e_is, ks_a_e_cash, ks_a_e_ar；计算快照。</a:t>
            </a:r>
            <a:endParaRPr lang="en-US" sz="1100" dirty="0"/>
          </a:p>
          <a:p>
            <a:pPr indent="0" marL="0">
              <a:lnSpc>
                <a:spcPct val="100000"/>
              </a:lnSpc>
              <a:buNone/>
            </a:pPr>
            <a:r>
              <a:rPr lang="en-US" sz="1100" dirty="0">
                <a:solidFill>
                  <a:srgbClr val="56646C"/>
                </a:solidFill>
              </a:rPr>
              <a:t>全量结果、公式与精度见Excel/JSON；本次未复算。</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74</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case_financial_application_v1；截至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ks_a_aged3_2024, ks_a_aged3_2025, </a:t>
            </a:r>
            <a:endParaRPr lang="en-US" sz="1600" dirty="0"/>
          </a:p>
          <a:p>
            <a:pPr indent="0" marL="0">
              <a:lnSpc>
                <a:spcPct val="100000"/>
              </a:lnSpc>
              <a:buNone/>
            </a:pPr>
            <a:r>
              <a:rPr lang="en-US" sz="1600" dirty="0">
                <a:solidFill>
                  <a:srgbClr val="1F2933"/>
                </a:solidFill>
              </a:rPr>
              <a:t>ks_a_amort_2024, ks_a_amort_2025, </a:t>
            </a:r>
            <a:endParaRPr lang="en-US" sz="1600" dirty="0"/>
          </a:p>
          <a:p>
            <a:pPr indent="0" marL="0">
              <a:lnSpc>
                <a:spcPct val="100000"/>
              </a:lnSpc>
              <a:buNone/>
            </a:pPr>
            <a:r>
              <a:rPr lang="en-US" sz="1600" dirty="0">
                <a:solidFill>
                  <a:srgbClr val="1F2933"/>
                </a:solidFill>
              </a:rPr>
              <a:t>ks_a_amort_long_2024, ks_a_amort_long_2025, </a:t>
            </a:r>
            <a:endParaRPr lang="en-US" sz="1600" dirty="0"/>
          </a:p>
          <a:p>
            <a:pPr indent="0" marL="0">
              <a:lnSpc>
                <a:spcPct val="100000"/>
              </a:lnSpc>
              <a:buNone/>
            </a:pPr>
            <a:r>
              <a:rPr lang="en-US" sz="1600" dirty="0">
                <a:solidFill>
                  <a:srgbClr val="1F2933"/>
                </a:solidFill>
              </a:rPr>
              <a:t>ks_a_ar_2024, ks_a_ar_2025, ks_a_ar_gt3_2024, </a:t>
            </a:r>
            <a:endParaRPr lang="en-US" sz="1600" dirty="0"/>
          </a:p>
          <a:p>
            <a:pPr indent="0" marL="0">
              <a:lnSpc>
                <a:spcPct val="100000"/>
              </a:lnSpc>
              <a:buNone/>
            </a:pPr>
            <a:r>
              <a:rPr lang="en-US" sz="1600" dirty="0">
                <a:solidFill>
                  <a:srgbClr val="1F2933"/>
                </a:solidFill>
              </a:rPr>
              <a:t>ks_a_ar_gt3_2025, ks_a_arcoverage_2024, </a:t>
            </a:r>
            <a:endParaRPr lang="en-US" sz="1600" dirty="0"/>
          </a:p>
          <a:p>
            <a:pPr indent="0" marL="0">
              <a:lnSpc>
                <a:spcPct val="100000"/>
              </a:lnSpc>
              <a:buNone/>
            </a:pPr>
            <a:r>
              <a:rPr lang="en-US" sz="1600" dirty="0">
                <a:solidFill>
                  <a:srgbClr val="1F2933"/>
                </a:solidFill>
              </a:rPr>
              <a:t>ks_a_arcoverage_2025, ks_a_arfin_notes_2024, </a:t>
            </a:r>
            <a:endParaRPr lang="en-US" sz="1600" dirty="0"/>
          </a:p>
          <a:p>
            <a:pPr indent="0" marL="0">
              <a:lnSpc>
                <a:spcPct val="100000"/>
              </a:lnSpc>
              <a:buNone/>
            </a:pPr>
            <a:r>
              <a:rPr lang="en-US" sz="1600" dirty="0">
                <a:solidFill>
                  <a:srgbClr val="1F2933"/>
                </a:solidFill>
              </a:rPr>
              <a:t>ks_a_arfin_notes_2025, ks_a_argross_2024, </a:t>
            </a:r>
            <a:endParaRPr lang="en-US" sz="1600" dirty="0"/>
          </a:p>
          <a:p>
            <a:pPr indent="0" marL="0">
              <a:lnSpc>
                <a:spcPct val="100000"/>
              </a:lnSpc>
              <a:buNone/>
            </a:pPr>
            <a:r>
              <a:rPr lang="en-US" sz="1600" dirty="0">
                <a:solidFill>
                  <a:srgbClr val="1F2933"/>
                </a:solidFill>
              </a:rPr>
              <a:t>ks_a_argross_2025, ks_a_arreserve_2024, </a:t>
            </a:r>
            <a:endParaRPr lang="en-US" sz="1600" dirty="0"/>
          </a:p>
          <a:p>
            <a:pPr indent="0" marL="0">
              <a:lnSpc>
                <a:spcPct val="100000"/>
              </a:lnSpc>
              <a:buNone/>
            </a:pPr>
            <a:r>
              <a:rPr lang="en-US" sz="1600" dirty="0">
                <a:solidFill>
                  <a:srgbClr val="1F2933"/>
                </a:solidFill>
              </a:rPr>
              <a:t>ks_a_arreserve_2025, ks_a_asset_risk_pool, </a:t>
            </a:r>
            <a:endParaRPr lang="en-US" sz="1600" dirty="0"/>
          </a:p>
          <a:p>
            <a:pPr indent="0" marL="0">
              <a:lnSpc>
                <a:spcPct val="100000"/>
              </a:lnSpc>
              <a:buNone/>
            </a:pPr>
            <a:r>
              <a:rPr lang="en-US" sz="1600" dirty="0">
                <a:solidFill>
                  <a:srgbClr val="1F2933"/>
                </a:solidFill>
              </a:rPr>
              <a:t>ks_a_asset_risk_share, ks_a_assets_2023_restate, </a:t>
            </a:r>
            <a:endParaRPr lang="en-US" sz="1600" dirty="0"/>
          </a:p>
          <a:p>
            <a:pPr indent="0" marL="0">
              <a:lnSpc>
                <a:spcPct val="100000"/>
              </a:lnSpc>
              <a:buNone/>
            </a:pPr>
            <a:r>
              <a:rPr lang="en-US" sz="1600" dirty="0">
                <a:solidFill>
                  <a:srgbClr val="1F2933"/>
                </a:solidFill>
              </a:rPr>
              <a:t>ks_a_assets_2024, ks_a_assets_2025, </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75</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ks_a_average_assets_2024, ks_a_average_assets_2025,</a:t>
            </a:r>
            <a:endParaRPr lang="en-US" sz="1600" dirty="0"/>
          </a:p>
          <a:p>
            <a:pPr indent="0" marL="0">
              <a:lnSpc>
                <a:spcPct val="100000"/>
              </a:lnSpc>
              <a:buNone/>
            </a:pPr>
            <a:r>
              <a:rPr lang="en-US" sz="1600" dirty="0">
                <a:solidFill>
                  <a:srgbClr val="1F2933"/>
                </a:solidFill>
              </a:rPr>
              <a:t> ks_a_cash_2024, ks_a_cash_2025, ks_a_cashbook_2024</a:t>
            </a:r>
            <a:endParaRPr lang="en-US" sz="1600" dirty="0"/>
          </a:p>
          <a:p>
            <a:pPr indent="0" marL="0">
              <a:lnSpc>
                <a:spcPct val="100000"/>
              </a:lnSpc>
              <a:buNone/>
            </a:pPr>
            <a:r>
              <a:rPr lang="en-US" sz="1600" dirty="0">
                <a:solidFill>
                  <a:srgbClr val="1F2933"/>
                </a:solidFill>
              </a:rPr>
              <a:t>, ks_a_cashbook_2025, ks_a_cashlike_2024, </a:t>
            </a:r>
            <a:endParaRPr lang="en-US" sz="1600" dirty="0"/>
          </a:p>
          <a:p>
            <a:pPr indent="0" marL="0">
              <a:lnSpc>
                <a:spcPct val="100000"/>
              </a:lnSpc>
              <a:buNone/>
            </a:pPr>
            <a:r>
              <a:rPr lang="en-US" sz="1600" dirty="0">
                <a:solidFill>
                  <a:srgbClr val="1F2933"/>
                </a:solidFill>
              </a:rPr>
              <a:t>ks_a_cashlike_2025, ks_a_cashlike_gross_2024, </a:t>
            </a:r>
            <a:endParaRPr lang="en-US" sz="1600" dirty="0"/>
          </a:p>
          <a:p>
            <a:pPr indent="0" marL="0">
              <a:lnSpc>
                <a:spcPct val="100000"/>
              </a:lnSpc>
              <a:buNone/>
            </a:pPr>
            <a:r>
              <a:rPr lang="en-US" sz="1600" dirty="0">
                <a:solidFill>
                  <a:srgbClr val="1F2933"/>
                </a:solidFill>
              </a:rPr>
              <a:t>ks_a_cashlike_gross_2025, </a:t>
            </a:r>
            <a:endParaRPr lang="en-US" sz="1600" dirty="0"/>
          </a:p>
          <a:p>
            <a:pPr indent="0" marL="0">
              <a:lnSpc>
                <a:spcPct val="100000"/>
              </a:lnSpc>
              <a:buNone/>
            </a:pPr>
            <a:r>
              <a:rPr lang="en-US" sz="1600" dirty="0">
                <a:solidFill>
                  <a:srgbClr val="1F2933"/>
                </a:solidFill>
              </a:rPr>
              <a:t>ks_a_cashlike_quality_st_2024, </a:t>
            </a:r>
            <a:endParaRPr lang="en-US" sz="1600" dirty="0"/>
          </a:p>
          <a:p>
            <a:pPr indent="0" marL="0">
              <a:lnSpc>
                <a:spcPct val="100000"/>
              </a:lnSpc>
              <a:buNone/>
            </a:pPr>
            <a:r>
              <a:rPr lang="en-US" sz="1600" dirty="0">
                <a:solidFill>
                  <a:srgbClr val="1F2933"/>
                </a:solidFill>
              </a:rPr>
              <a:t>ks_a_cashlike_quality_st_2025, </a:t>
            </a:r>
            <a:endParaRPr lang="en-US" sz="1600" dirty="0"/>
          </a:p>
          <a:p>
            <a:pPr indent="0" marL="0">
              <a:lnSpc>
                <a:spcPct val="100000"/>
              </a:lnSpc>
              <a:buNone/>
            </a:pPr>
            <a:r>
              <a:rPr lang="en-US" sz="1600" dirty="0">
                <a:solidFill>
                  <a:srgbClr val="1F2933"/>
                </a:solidFill>
              </a:rPr>
              <a:t>ks_a_cashlike_st_2024, ks_a_cashlike_st_2025, </a:t>
            </a:r>
            <a:endParaRPr lang="en-US" sz="1600" dirty="0"/>
          </a:p>
          <a:p>
            <a:pPr indent="0" marL="0">
              <a:lnSpc>
                <a:spcPct val="100000"/>
              </a:lnSpc>
              <a:buNone/>
            </a:pPr>
            <a:r>
              <a:rPr lang="en-US" sz="1600" dirty="0">
                <a:solidFill>
                  <a:srgbClr val="1F2933"/>
                </a:solidFill>
              </a:rPr>
              <a:t>ks_a_cashlike_without_performance_2024, </a:t>
            </a:r>
            <a:endParaRPr lang="en-US" sz="1600" dirty="0"/>
          </a:p>
          <a:p>
            <a:pPr indent="0" marL="0">
              <a:lnSpc>
                <a:spcPct val="100000"/>
              </a:lnSpc>
              <a:buNone/>
            </a:pPr>
            <a:r>
              <a:rPr lang="en-US" sz="1600" dirty="0">
                <a:solidFill>
                  <a:srgbClr val="1F2933"/>
                </a:solidFill>
              </a:rPr>
              <a:t>ks_a_cashlike_without_performance_2025, </a:t>
            </a:r>
            <a:endParaRPr lang="en-US" sz="1600" dirty="0"/>
          </a:p>
          <a:p>
            <a:pPr indent="0" marL="0">
              <a:lnSpc>
                <a:spcPct val="100000"/>
              </a:lnSpc>
              <a:buNone/>
            </a:pPr>
            <a:r>
              <a:rPr lang="en-US" sz="1600" dirty="0">
                <a:solidFill>
                  <a:srgbClr val="1F2933"/>
                </a:solidFill>
              </a:rPr>
              <a:t>ks_a_cashst_2024, ks_a_cashst_2025, </a:t>
            </a:r>
            <a:endParaRPr lang="en-US" sz="1600" dirty="0"/>
          </a:p>
          <a:p>
            <a:pPr indent="0" marL="0">
              <a:lnSpc>
                <a:spcPct val="100000"/>
              </a:lnSpc>
              <a:buNone/>
            </a:pPr>
            <a:r>
              <a:rPr lang="en-US" sz="1600" dirty="0">
                <a:solidFill>
                  <a:srgbClr val="1F2933"/>
                </a:solidFill>
              </a:rPr>
              <a:t>ks_a_contract_2025, ks_a_currentbank_2024, </a:t>
            </a:r>
            <a:endParaRPr lang="en-US" sz="1600" dirty="0"/>
          </a:p>
          <a:p>
            <a:pPr indent="0" marL="0">
              <a:lnSpc>
                <a:spcPct val="100000"/>
              </a:lnSpc>
              <a:buNone/>
            </a:pPr>
            <a:r>
              <a:rPr lang="en-US" sz="1600" dirty="0">
                <a:solidFill>
                  <a:srgbClr val="1F2933"/>
                </a:solidFill>
              </a:rPr>
              <a:t>ks_a_currentbank_2025, </a:t>
            </a:r>
            <a:endParaRPr lang="en-US" sz="1600" dirty="0"/>
          </a:p>
          <a:p>
            <a:pPr indent="0" marL="0">
              <a:lnSpc>
                <a:spcPct val="100000"/>
              </a:lnSpc>
              <a:buNone/>
            </a:pPr>
            <a:r>
              <a:rPr lang="en-US" sz="1600" dirty="0">
                <a:solidFill>
                  <a:srgbClr val="1F2933"/>
                </a:solidFill>
              </a:rPr>
              <a:t>ks_a_currentfinancelease_2024, </a:t>
            </a:r>
            <a:endParaRPr lang="en-US" sz="1600" dirty="0"/>
          </a:p>
          <a:p>
            <a:pPr indent="0" marL="0">
              <a:lnSpc>
                <a:spcPct val="100000"/>
              </a:lnSpc>
              <a:buNone/>
            </a:pPr>
            <a:r>
              <a:rPr lang="en-US" sz="1600" dirty="0">
                <a:solidFill>
                  <a:srgbClr val="1F2933"/>
                </a:solidFill>
              </a:rPr>
              <a:t>ks_a_currentlease_2024, ks_a_currentlease_2025, </a:t>
            </a:r>
            <a:endParaRPr lang="en-US" sz="1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76</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ks_a_currentliab_2024, ks_a_currentliab_2025, </a:t>
            </a:r>
            <a:endParaRPr lang="en-US" sz="1600" dirty="0"/>
          </a:p>
          <a:p>
            <a:pPr indent="0" marL="0">
              <a:lnSpc>
                <a:spcPct val="100000"/>
              </a:lnSpc>
              <a:buNone/>
            </a:pPr>
            <a:r>
              <a:rPr lang="en-US" sz="1600" dirty="0">
                <a:solidFill>
                  <a:srgbClr val="1F2933"/>
                </a:solidFill>
              </a:rPr>
              <a:t>ks_a_customerscash_2024, ks_a_customerscash_2025, </a:t>
            </a:r>
            <a:endParaRPr lang="en-US" sz="1600" dirty="0"/>
          </a:p>
          <a:p>
            <a:pPr indent="0" marL="0">
              <a:lnSpc>
                <a:spcPct val="100000"/>
              </a:lnSpc>
              <a:buNone/>
            </a:pPr>
            <a:r>
              <a:rPr lang="en-US" sz="1600" dirty="0">
                <a:solidFill>
                  <a:srgbClr val="1F2933"/>
                </a:solidFill>
              </a:rPr>
              <a:t>ks_a_debt_2024, ks_a_debt_2025, ks_a_debt_roll_2024</a:t>
            </a:r>
            <a:endParaRPr lang="en-US" sz="1600" dirty="0"/>
          </a:p>
          <a:p>
            <a:pPr indent="0" marL="0">
              <a:lnSpc>
                <a:spcPct val="100000"/>
              </a:lnSpc>
              <a:buNone/>
            </a:pPr>
            <a:r>
              <a:rPr lang="en-US" sz="1600" dirty="0">
                <a:solidFill>
                  <a:srgbClr val="1F2933"/>
                </a:solidFill>
              </a:rPr>
              <a:t>, ks_a_debt_roll_2025, ks_a_debtcap_2024, </a:t>
            </a:r>
            <a:endParaRPr lang="en-US" sz="1600" dirty="0"/>
          </a:p>
          <a:p>
            <a:pPr indent="0" marL="0">
              <a:lnSpc>
                <a:spcPct val="100000"/>
              </a:lnSpc>
              <a:buNone/>
            </a:pPr>
            <a:r>
              <a:rPr lang="en-US" sz="1600" dirty="0">
                <a:solidFill>
                  <a:srgbClr val="1F2933"/>
                </a:solidFill>
              </a:rPr>
              <a:t>ks_a_debtcap_2025, ks_a_debtpluscap_2024, </a:t>
            </a:r>
            <a:endParaRPr lang="en-US" sz="1600" dirty="0"/>
          </a:p>
          <a:p>
            <a:pPr indent="0" marL="0">
              <a:lnSpc>
                <a:spcPct val="100000"/>
              </a:lnSpc>
              <a:buNone/>
            </a:pPr>
            <a:r>
              <a:rPr lang="en-US" sz="1600" dirty="0">
                <a:solidFill>
                  <a:srgbClr val="1F2933"/>
                </a:solidFill>
              </a:rPr>
              <a:t>ks_a_debtpluscap_2025, ks_a_dep_2024, ks_a_dep_2025</a:t>
            </a:r>
            <a:endParaRPr lang="en-US" sz="1600" dirty="0"/>
          </a:p>
          <a:p>
            <a:pPr indent="0" marL="0">
              <a:lnSpc>
                <a:spcPct val="100000"/>
              </a:lnSpc>
              <a:buNone/>
            </a:pPr>
            <a:r>
              <a:rPr lang="en-US" sz="1600" dirty="0">
                <a:solidFill>
                  <a:srgbClr val="1F2933"/>
                </a:solidFill>
              </a:rPr>
              <a:t>, ks_a_dep_rou_2024, ks_a_dep_rou_2025, </a:t>
            </a:r>
            <a:endParaRPr lang="en-US" sz="1600" dirty="0"/>
          </a:p>
          <a:p>
            <a:pPr indent="0" marL="0">
              <a:lnSpc>
                <a:spcPct val="100000"/>
              </a:lnSpc>
              <a:buNone/>
            </a:pPr>
            <a:r>
              <a:rPr lang="en-US" sz="1600" dirty="0">
                <a:solidFill>
                  <a:srgbClr val="1F2933"/>
                </a:solidFill>
              </a:rPr>
              <a:t>ks_a_dta_2024, ks_a_dta_2025, ks_a_ebit_2024, </a:t>
            </a:r>
            <a:endParaRPr lang="en-US" sz="1600" dirty="0"/>
          </a:p>
          <a:p>
            <a:pPr indent="0" marL="0">
              <a:lnSpc>
                <a:spcPct val="100000"/>
              </a:lnSpc>
              <a:buNone/>
            </a:pPr>
            <a:r>
              <a:rPr lang="en-US" sz="1600" dirty="0">
                <a:solidFill>
                  <a:srgbClr val="1F2933"/>
                </a:solidFill>
              </a:rPr>
              <a:t>ks_a_ebit_2025, ks_a_ebitda_2024, ks_a_ebitda_2025,</a:t>
            </a:r>
            <a:endParaRPr lang="en-US" sz="1600" dirty="0"/>
          </a:p>
          <a:p>
            <a:pPr indent="0" marL="0">
              <a:lnSpc>
                <a:spcPct val="100000"/>
              </a:lnSpc>
              <a:buNone/>
            </a:pPr>
            <a:r>
              <a:rPr lang="en-US" sz="1600" dirty="0">
                <a:solidFill>
                  <a:srgbClr val="1F2933"/>
                </a:solidFill>
              </a:rPr>
              <a:t> ks_a_ebitda_interest_2024, </a:t>
            </a:r>
            <a:endParaRPr lang="en-US" sz="1600" dirty="0"/>
          </a:p>
          <a:p>
            <a:pPr indent="0" marL="0">
              <a:lnSpc>
                <a:spcPct val="100000"/>
              </a:lnSpc>
              <a:buNone/>
            </a:pPr>
            <a:r>
              <a:rPr lang="en-US" sz="1600" dirty="0">
                <a:solidFill>
                  <a:srgbClr val="1F2933"/>
                </a:solidFill>
              </a:rPr>
              <a:t>ks_a_ebitda_interest_2025, ks_a_equity_2024, </a:t>
            </a:r>
            <a:endParaRPr lang="en-US" sz="1600" dirty="0"/>
          </a:p>
          <a:p>
            <a:pPr indent="0" marL="0">
              <a:lnSpc>
                <a:spcPct val="100000"/>
              </a:lnSpc>
              <a:buNone/>
            </a:pPr>
            <a:r>
              <a:rPr lang="en-US" sz="1600" dirty="0">
                <a:solidFill>
                  <a:srgbClr val="1F2933"/>
                </a:solidFill>
              </a:rPr>
              <a:t>ks_a_equity_2025, ks_a_idle_ppe, </a:t>
            </a:r>
            <a:endParaRPr lang="en-US" sz="1600" dirty="0"/>
          </a:p>
          <a:p>
            <a:pPr indent="0" marL="0">
              <a:lnSpc>
                <a:spcPct val="100000"/>
              </a:lnSpc>
              <a:buNone/>
            </a:pPr>
            <a:r>
              <a:rPr lang="en-US" sz="1600" dirty="0">
                <a:solidFill>
                  <a:srgbClr val="1F2933"/>
                </a:solidFill>
              </a:rPr>
              <a:t>ks_a_interest_cap_2024, ks_a_interest_cap_2025, </a:t>
            </a:r>
            <a:endParaRPr lang="en-US" sz="1600" dirty="0"/>
          </a:p>
          <a:p>
            <a:pPr indent="0" marL="0">
              <a:lnSpc>
                <a:spcPct val="100000"/>
              </a:lnSpc>
              <a:buNone/>
            </a:pPr>
            <a:r>
              <a:rPr lang="en-US" sz="1600" dirty="0">
                <a:solidFill>
                  <a:srgbClr val="1F2933"/>
                </a:solidFill>
              </a:rPr>
              <a:t>ks_a_interest_exp_2024, ks_a_interest_exp_2025, </a:t>
            </a:r>
            <a:endParaRPr lang="en-US" sz="1600" dirty="0"/>
          </a:p>
          <a:p>
            <a:pPr indent="0" marL="0">
              <a:lnSpc>
                <a:spcPct val="100000"/>
              </a:lnSpc>
              <a:buNone/>
            </a:pPr>
            <a:r>
              <a:rPr lang="en-US" sz="1600" dirty="0">
                <a:solidFill>
                  <a:srgbClr val="1F2933"/>
                </a:solidFill>
              </a:rPr>
              <a:t>ks_a_interest_total_2024, ks_a_interest_total_2025,</a:t>
            </a:r>
            <a:endParaRPr lang="en-US" sz="16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77</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 ks_a_longcontract_2025, ks_a_notes_ap_2024, </a:t>
            </a:r>
            <a:endParaRPr lang="en-US" sz="1600" dirty="0"/>
          </a:p>
          <a:p>
            <a:pPr indent="0" marL="0">
              <a:lnSpc>
                <a:spcPct val="100000"/>
              </a:lnSpc>
              <a:buNone/>
            </a:pPr>
            <a:r>
              <a:rPr lang="en-US" sz="1600" dirty="0">
                <a:solidFill>
                  <a:srgbClr val="1F2933"/>
                </a:solidFill>
              </a:rPr>
              <a:t>ks_a_notes_ap_2025, ks_a_notes_ar_2024, </a:t>
            </a:r>
            <a:endParaRPr lang="en-US" sz="1600" dirty="0"/>
          </a:p>
          <a:p>
            <a:pPr indent="0" marL="0">
              <a:lnSpc>
                <a:spcPct val="100000"/>
              </a:lnSpc>
              <a:buNone/>
            </a:pPr>
            <a:r>
              <a:rPr lang="en-US" sz="1600" dirty="0">
                <a:solidFill>
                  <a:srgbClr val="1F2933"/>
                </a:solidFill>
              </a:rPr>
              <a:t>ks_a_notes_ar_2025, ks_a_old_amort_2023, </a:t>
            </a:r>
            <a:endParaRPr lang="en-US" sz="1600" dirty="0"/>
          </a:p>
          <a:p>
            <a:pPr indent="0" marL="0">
              <a:lnSpc>
                <a:spcPct val="100000"/>
              </a:lnSpc>
              <a:buNone/>
            </a:pPr>
            <a:r>
              <a:rPr lang="en-US" sz="1600" dirty="0">
                <a:solidFill>
                  <a:srgbClr val="1F2933"/>
                </a:solidFill>
              </a:rPr>
              <a:t>ks_a_old_amort_long_2023, ks_a_old_assets_2023, </a:t>
            </a:r>
            <a:endParaRPr lang="en-US" sz="1600" dirty="0"/>
          </a:p>
          <a:p>
            <a:pPr indent="0" marL="0">
              <a:lnSpc>
                <a:spcPct val="100000"/>
              </a:lnSpc>
              <a:buNone/>
            </a:pPr>
            <a:r>
              <a:rPr lang="en-US" sz="1600" dirty="0">
                <a:solidFill>
                  <a:srgbClr val="1F2933"/>
                </a:solidFill>
              </a:rPr>
              <a:t>ks_a_old_cashbook_2023, ks_a_old_currentbank_2023, </a:t>
            </a:r>
            <a:endParaRPr lang="en-US" sz="1600" dirty="0"/>
          </a:p>
          <a:p>
            <a:pPr indent="0" marL="0">
              <a:lnSpc>
                <a:spcPct val="100000"/>
              </a:lnSpc>
              <a:buNone/>
            </a:pPr>
            <a:r>
              <a:rPr lang="en-US" sz="1600" dirty="0">
                <a:solidFill>
                  <a:srgbClr val="1F2933"/>
                </a:solidFill>
              </a:rPr>
              <a:t>ks_a_old_currentlease_2023, </a:t>
            </a:r>
            <a:endParaRPr lang="en-US" sz="1600" dirty="0"/>
          </a:p>
          <a:p>
            <a:pPr indent="0" marL="0">
              <a:lnSpc>
                <a:spcPct val="100000"/>
              </a:lnSpc>
              <a:buNone/>
            </a:pPr>
            <a:r>
              <a:rPr lang="en-US" sz="1600" dirty="0">
                <a:solidFill>
                  <a:srgbClr val="1F2933"/>
                </a:solidFill>
              </a:rPr>
              <a:t>ks_a_old_currentliab_2023, </a:t>
            </a:r>
            <a:endParaRPr lang="en-US" sz="1600" dirty="0"/>
          </a:p>
          <a:p>
            <a:pPr indent="0" marL="0">
              <a:lnSpc>
                <a:spcPct val="100000"/>
              </a:lnSpc>
              <a:buNone/>
            </a:pPr>
            <a:r>
              <a:rPr lang="en-US" sz="1600" dirty="0">
                <a:solidFill>
                  <a:srgbClr val="1F2933"/>
                </a:solidFill>
              </a:rPr>
              <a:t>ks_a_old_customerscash_2023, ks_a_old_debt_2023, </a:t>
            </a:r>
            <a:endParaRPr lang="en-US" sz="1600" dirty="0"/>
          </a:p>
          <a:p>
            <a:pPr indent="0" marL="0">
              <a:lnSpc>
                <a:spcPct val="100000"/>
              </a:lnSpc>
              <a:buNone/>
            </a:pPr>
            <a:r>
              <a:rPr lang="en-US" sz="1600" dirty="0">
                <a:solidFill>
                  <a:srgbClr val="1F2933"/>
                </a:solidFill>
              </a:rPr>
              <a:t>ks_a_old_debt_roll_2023, ks_a_old_dep_total_2023, </a:t>
            </a:r>
            <a:endParaRPr lang="en-US" sz="1600" dirty="0"/>
          </a:p>
          <a:p>
            <a:pPr indent="0" marL="0">
              <a:lnSpc>
                <a:spcPct val="100000"/>
              </a:lnSpc>
              <a:buNone/>
            </a:pPr>
            <a:r>
              <a:rPr lang="en-US" sz="1600" dirty="0">
                <a:solidFill>
                  <a:srgbClr val="1F2933"/>
                </a:solidFill>
              </a:rPr>
              <a:t>ks_a_old_ebitda_2023, ks_a_old_equity_2023, </a:t>
            </a:r>
            <a:endParaRPr lang="en-US" sz="1600" dirty="0"/>
          </a:p>
          <a:p>
            <a:pPr indent="0" marL="0">
              <a:lnSpc>
                <a:spcPct val="100000"/>
              </a:lnSpc>
              <a:buNone/>
            </a:pPr>
            <a:r>
              <a:rPr lang="en-US" sz="1600" dirty="0">
                <a:solidFill>
                  <a:srgbClr val="1F2933"/>
                </a:solidFill>
              </a:rPr>
              <a:t>ks_a_old_interest_exp_2023, ks_a_old_notes_ap_2023,</a:t>
            </a:r>
            <a:endParaRPr lang="en-US" sz="1600" dirty="0"/>
          </a:p>
          <a:p>
            <a:pPr indent="0" marL="0">
              <a:lnSpc>
                <a:spcPct val="100000"/>
              </a:lnSpc>
              <a:buNone/>
            </a:pPr>
            <a:r>
              <a:rPr lang="en-US" sz="1600" dirty="0">
                <a:solidFill>
                  <a:srgbClr val="1F2933"/>
                </a:solidFill>
              </a:rPr>
              <a:t> ks_a_old_pbt_2023, ks_a_old_restrictedcash_2023, </a:t>
            </a:r>
            <a:endParaRPr lang="en-US" sz="1600" dirty="0"/>
          </a:p>
          <a:p>
            <a:pPr indent="0" marL="0">
              <a:lnSpc>
                <a:spcPct val="100000"/>
              </a:lnSpc>
              <a:buNone/>
            </a:pPr>
            <a:r>
              <a:rPr lang="en-US" sz="1600" dirty="0">
                <a:solidFill>
                  <a:srgbClr val="1F2933"/>
                </a:solidFill>
              </a:rPr>
              <a:t>ks_a_old_revenue_2023, ks_a_old_stborrow_2023, </a:t>
            </a:r>
            <a:endParaRPr lang="en-US" sz="1600" dirty="0"/>
          </a:p>
          <a:p>
            <a:pPr indent="0" marL="0">
              <a:lnSpc>
                <a:spcPct val="100000"/>
              </a:lnSpc>
              <a:buNone/>
            </a:pPr>
            <a:r>
              <a:rPr lang="en-US" sz="1600" dirty="0">
                <a:solidFill>
                  <a:srgbClr val="1F2933"/>
                </a:solidFill>
              </a:rPr>
              <a:t>ks_a_otherar_2025, ks_a_otherborrow_2024, </a:t>
            </a:r>
            <a:endParaRPr lang="en-US" sz="1600" dirty="0"/>
          </a:p>
          <a:p>
            <a:pPr indent="0" marL="0">
              <a:lnSpc>
                <a:spcPct val="100000"/>
              </a:lnSpc>
              <a:buNone/>
            </a:pPr>
            <a:r>
              <a:rPr lang="en-US" sz="1600" dirty="0">
                <a:solidFill>
                  <a:srgbClr val="1F2933"/>
                </a:solidFill>
              </a:rPr>
              <a:t>ks_a_otherborrow_2025, ks_a_pbt_2024, ks_a_pbt_2025</a:t>
            </a:r>
            <a:endParaRPr lang="en-US" sz="16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78</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 ks_a_performance_asset_2024, </a:t>
            </a:r>
            <a:endParaRPr lang="en-US" sz="1600" dirty="0"/>
          </a:p>
          <a:p>
            <a:pPr indent="0" marL="0">
              <a:lnSpc>
                <a:spcPct val="100000"/>
              </a:lnSpc>
              <a:buNone/>
            </a:pPr>
            <a:r>
              <a:rPr lang="en-US" sz="1600" dirty="0">
                <a:solidFill>
                  <a:srgbClr val="1F2933"/>
                </a:solidFill>
              </a:rPr>
              <a:t>ks_a_performance_asset_2025, </a:t>
            </a:r>
            <a:endParaRPr lang="en-US" sz="1600" dirty="0"/>
          </a:p>
          <a:p>
            <a:pPr indent="0" marL="0">
              <a:lnSpc>
                <a:spcPct val="100000"/>
              </a:lnSpc>
              <a:buNone/>
            </a:pPr>
            <a:r>
              <a:rPr lang="en-US" sz="1600" dirty="0">
                <a:solidFill>
                  <a:srgbClr val="1F2933"/>
                </a:solidFill>
              </a:rPr>
              <a:t>ks_a_proceeds_authorized26, ks_a_proceeds_return26,</a:t>
            </a:r>
            <a:endParaRPr lang="en-US" sz="1600" dirty="0"/>
          </a:p>
          <a:p>
            <a:pPr indent="0" marL="0">
              <a:lnSpc>
                <a:spcPct val="100000"/>
              </a:lnSpc>
              <a:buNone/>
            </a:pPr>
            <a:r>
              <a:rPr lang="en-US" sz="1600" dirty="0">
                <a:solidFill>
                  <a:srgbClr val="1F2933"/>
                </a:solidFill>
              </a:rPr>
              <a:t> ks_a_propertynet_2024, ks_a_propertynet_2025, </a:t>
            </a:r>
            <a:endParaRPr lang="en-US" sz="1600" dirty="0"/>
          </a:p>
          <a:p>
            <a:pPr indent="0" marL="0">
              <a:lnSpc>
                <a:spcPct val="100000"/>
              </a:lnSpc>
              <a:buNone/>
            </a:pPr>
            <a:r>
              <a:rPr lang="en-US" sz="1600" dirty="0">
                <a:solidFill>
                  <a:srgbClr val="1F2933"/>
                </a:solidFill>
              </a:rPr>
              <a:t>ks_a_q1_ltborrow, ks_a_q1_stborrow, </a:t>
            </a:r>
            <a:endParaRPr lang="en-US" sz="1600" dirty="0"/>
          </a:p>
          <a:p>
            <a:pPr indent="0" marL="0">
              <a:lnSpc>
                <a:spcPct val="100000"/>
              </a:lnSpc>
              <a:buNone/>
            </a:pPr>
            <a:r>
              <a:rPr lang="en-US" sz="1600" dirty="0">
                <a:solidFill>
                  <a:srgbClr val="1F2933"/>
                </a:solidFill>
              </a:rPr>
              <a:t>ks_a_restricted_note_2024, </a:t>
            </a:r>
            <a:endParaRPr lang="en-US" sz="1600" dirty="0"/>
          </a:p>
          <a:p>
            <a:pPr indent="0" marL="0">
              <a:lnSpc>
                <a:spcPct val="100000"/>
              </a:lnSpc>
              <a:buNone/>
            </a:pPr>
            <a:r>
              <a:rPr lang="en-US" sz="1600" dirty="0">
                <a:solidFill>
                  <a:srgbClr val="1F2933"/>
                </a:solidFill>
              </a:rPr>
              <a:t>ks_a_restricted_note_2025, </a:t>
            </a:r>
            <a:endParaRPr lang="en-US" sz="1600" dirty="0"/>
          </a:p>
          <a:p>
            <a:pPr indent="0" marL="0">
              <a:lnSpc>
                <a:spcPct val="100000"/>
              </a:lnSpc>
              <a:buNone/>
            </a:pPr>
            <a:r>
              <a:rPr lang="en-US" sz="1600" dirty="0">
                <a:solidFill>
                  <a:srgbClr val="1F2933"/>
                </a:solidFill>
              </a:rPr>
              <a:t>ks_a_restrictedassets_2024, </a:t>
            </a:r>
            <a:endParaRPr lang="en-US" sz="1600" dirty="0"/>
          </a:p>
          <a:p>
            <a:pPr indent="0" marL="0">
              <a:lnSpc>
                <a:spcPct val="100000"/>
              </a:lnSpc>
              <a:buNone/>
            </a:pPr>
            <a:r>
              <a:rPr lang="en-US" sz="1600" dirty="0">
                <a:solidFill>
                  <a:srgbClr val="1F2933"/>
                </a:solidFill>
              </a:rPr>
              <a:t>ks_a_restrictedassets_2025, </a:t>
            </a:r>
            <a:endParaRPr lang="en-US" sz="1600" dirty="0"/>
          </a:p>
          <a:p>
            <a:pPr indent="0" marL="0">
              <a:lnSpc>
                <a:spcPct val="100000"/>
              </a:lnSpc>
              <a:buNone/>
            </a:pPr>
            <a:r>
              <a:rPr lang="en-US" sz="1600" dirty="0">
                <a:solidFill>
                  <a:srgbClr val="1F2933"/>
                </a:solidFill>
              </a:rPr>
              <a:t>ks_a_restrictedcash_2024, ks_a_restrictedcash_2025,</a:t>
            </a:r>
            <a:endParaRPr lang="en-US" sz="1600" dirty="0"/>
          </a:p>
          <a:p>
            <a:pPr indent="0" marL="0">
              <a:lnSpc>
                <a:spcPct val="100000"/>
              </a:lnSpc>
              <a:buNone/>
            </a:pPr>
            <a:r>
              <a:rPr lang="en-US" sz="1600" dirty="0">
                <a:solidFill>
                  <a:srgbClr val="1F2933"/>
                </a:solidFill>
              </a:rPr>
              <a:t> ks_a_revenue_2024, ks_a_revenue_2025, </a:t>
            </a:r>
            <a:endParaRPr lang="en-US" sz="1600" dirty="0"/>
          </a:p>
          <a:p>
            <a:pPr indent="0" marL="0">
              <a:lnSpc>
                <a:spcPct val="100000"/>
              </a:lnSpc>
              <a:buNone/>
            </a:pPr>
            <a:r>
              <a:rPr lang="en-US" sz="1600" dirty="0">
                <a:solidFill>
                  <a:srgbClr val="1F2933"/>
                </a:solidFill>
              </a:rPr>
              <a:t>ks_a_roa_ebit_2024, ks_a_roa_ebit_2025, </a:t>
            </a:r>
            <a:endParaRPr lang="en-US" sz="1600" dirty="0"/>
          </a:p>
          <a:p>
            <a:pPr indent="0" marL="0">
              <a:lnSpc>
                <a:spcPct val="100000"/>
              </a:lnSpc>
              <a:buNone/>
            </a:pPr>
            <a:r>
              <a:rPr lang="en-US" sz="1600" dirty="0">
                <a:solidFill>
                  <a:srgbClr val="1F2933"/>
                </a:solidFill>
              </a:rPr>
              <a:t>ks_a_salescash_currentliab_2024, </a:t>
            </a:r>
            <a:endParaRPr lang="en-US" sz="1600" dirty="0"/>
          </a:p>
          <a:p>
            <a:pPr indent="0" marL="0">
              <a:lnSpc>
                <a:spcPct val="100000"/>
              </a:lnSpc>
              <a:buNone/>
            </a:pPr>
            <a:r>
              <a:rPr lang="en-US" sz="1600" dirty="0">
                <a:solidFill>
                  <a:srgbClr val="1F2933"/>
                </a:solidFill>
              </a:rPr>
              <a:t>ks_a_salescash_currentliab_2025, ks_a_stborrow_2024</a:t>
            </a:r>
            <a:endParaRPr lang="en-US" sz="1600" dirty="0"/>
          </a:p>
          <a:p>
            <a:pPr indent="0" marL="0">
              <a:lnSpc>
                <a:spcPct val="100000"/>
              </a:lnSpc>
              <a:buNone/>
            </a:pPr>
            <a:r>
              <a:rPr lang="en-US" sz="1600" dirty="0">
                <a:solidFill>
                  <a:srgbClr val="1F2933"/>
                </a:solidFill>
              </a:rPr>
              <a:t>, ks_a_stborrow_2025, ks_a_stdebt_2024, </a:t>
            </a:r>
            <a:endParaRPr 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79</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ks_a_stdebt_2025, ks_a_supplier_ap_2024, 
ks_a_supplier_ap_2025, ks_a_supplierfinance_2025, 
ks_a_trading_2024, ks_a_trading_2025, ks_a_undrawn
证据记录 ks_r_e_finance, ks_r_e_history, ks_a_e_is, 
ks_a_e_cash, ks_a_e_ar
假设：仅记录本企业财务因子的研究赋值，不产生最终发行人等级、机构认证或违约概率。
假设：原文PDF26：通常三年20%/30%/50%；仅存近两年报表时30%/70%。科顺有较长历史，
缺的是完整同控重述明细，因此不符合仅存续两年的字面条件。
假设：本案选可比2024/2025年度分项先落分档、后以30%/70%加权，属于明确披露的研究适配，
不是机构唯一或已知内部算法。未把2023旧范围数补进重述序列。
</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80</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假设：原文给分数区间而未公布区间内唯一插值函数；量化区间采用中点作透明代表值，保留区间边界。定性分值是
本案研究判断，原文没有公布可机械复现的定性阈值。
假设：盈利模型使用EBITDA利润率，未用营业利润率替代；使用权折旧计入EBITDA，总资产报酬率以税
前利润加费用化利息除以年初年末平均资产。
假设：负EBITDA先按偿债表最低档识别；不把正负债务/EBITDA直接平均。先加权金额再形成比率只
作为计算顺序敏感性。
假设：现金类资产使用广义方法定义并扣已知受限部分；CCE即时支付口径及剔业绩补偿作为替代口径敏感性，
不能混名。
假设：资产质量评价针对真实可回收价值及变现限制；减值对盈利已有直接作用，不再将同一减值损失机械重复扣分
。再融资判断衡量实际融资资源与约束，不承诺未来续贷。
</a:t>
            </a:r>
            <a:endParaRPr lang="en-US" sz="1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财务因素、加权及计算顺序：方法、假设与限制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81</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限制：完整同控重述2023财务明细及2022期初不足，不能无标识运用标准三年20/30/50。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限制：原2023资本化全部利息缺失，精确利息倍数不计算；负EBITDA最低档由符号确定。</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限制：资产权属、抵债实际成交/ECL回收参数、DTA按主体盈利、募集金用途及可提款授信条件未获得底层</a:t>
            </a:r>
            <a:endParaRPr lang="en-US" sz="1600" dirty="0"/>
          </a:p>
          <a:p>
            <a:pPr indent="0" marL="0">
              <a:lnSpc>
                <a:spcPct val="100000"/>
              </a:lnSpc>
              <a:buNone/>
            </a:pPr>
            <a:r>
              <a:rPr lang="en-US" sz="1600" dirty="0">
                <a:solidFill>
                  <a:srgbClr val="1F2933"/>
                </a:solidFill>
              </a:rPr>
              <a:t>验证，定性研究分值留区间。</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限制：公示方法未给区间内唯一赋分、先算年度分数还是先权金额的完整内部算法；本稿两条路径均透明列出。</a:t>
            </a:r>
            <a:endParaRPr lang="en-US" sz="1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基准研究情景：实际起点至条件现金路径：指标摘要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82</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基准研究情景季度最低现金：1.44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基准研究情景年末现金：7.03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基准研究情景另留用途资金后低点：-5.06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基准研究情景额外收款折扣边界：4.88%</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800" dirty="0">
                <a:solidFill>
                  <a:srgbClr val="56646C"/>
                </a:solidFill>
              </a:rPr>
              <a:t>证据 ks_d_l_e_cash_actual, ks_d_l_e_season, ks_d_l_e_debt_split, ks_d_l_e_facility, ks_d_l_e_dividend, </a:t>
            </a:r>
            <a:endParaRPr lang="en-US" sz="800" dirty="0"/>
          </a:p>
          <a:p>
            <a:pPr indent="0" marL="0">
              <a:lnSpc>
                <a:spcPct val="100000"/>
              </a:lnSpc>
              <a:buNone/>
            </a:pPr>
            <a:r>
              <a:rPr lang="en-US" sz="800" dirty="0">
                <a:solidFill>
                  <a:srgbClr val="56646C"/>
                </a:solidFill>
              </a:rPr>
              <a:t>ks_d_l_e_coupon, ks_d_l_e_fund_use, ks_d_l_e_parent, ks_a_e_bs, ks_a_e_cash, ks_a_e_is, ks_a_e_cf, </a:t>
            </a:r>
            <a:endParaRPr lang="en-US" sz="800" dirty="0"/>
          </a:p>
          <a:p>
            <a:pPr indent="0" marL="0">
              <a:lnSpc>
                <a:spcPct val="100000"/>
              </a:lnSpc>
              <a:buNone/>
            </a:pPr>
            <a:r>
              <a:rPr lang="en-US" sz="800" dirty="0">
                <a:solidFill>
                  <a:srgbClr val="56646C"/>
                </a:solidFill>
              </a:rPr>
              <a:t>ks_a_e_supplier, ks_a_e_q1, ks_d_e_face_q1, ks_d_e_issue_coupon, ks_d_e_fund_new, ks_d_e_price_latest, </a:t>
            </a:r>
            <a:endParaRPr lang="en-US" sz="800" dirty="0"/>
          </a:p>
          <a:p>
            <a:pPr indent="0" marL="0">
              <a:lnSpc>
                <a:spcPct val="100000"/>
              </a:lnSpc>
              <a:buNone/>
            </a:pPr>
            <a:r>
              <a:rPr lang="en-US" sz="800" dirty="0">
                <a:solidFill>
                  <a:srgbClr val="56646C"/>
                </a:solidFill>
              </a:rPr>
              <a:t>ks_a_e_parent, ks_d_e_face_2025, ks_d_e_maturity_call；计算快照。全量结果、公式与精度见Excel/JSON；本次未复算。</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基准研究情景：实际起点至条件现金路径：方法、假设与限制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83</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case_direct_cash_budget_v1；截至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ks_a_cashbook_2025, ks_a_cash_2025, </a:t>
            </a:r>
            <a:endParaRPr lang="en-US" sz="1600" dirty="0"/>
          </a:p>
          <a:p>
            <a:pPr indent="0" marL="0">
              <a:lnSpc>
                <a:spcPct val="100000"/>
              </a:lnSpc>
              <a:buNone/>
            </a:pPr>
            <a:r>
              <a:rPr lang="en-US" sz="1600" dirty="0">
                <a:solidFill>
                  <a:srgbClr val="1F2933"/>
                </a:solidFill>
              </a:rPr>
              <a:t>ks_a_restrictedcash_2025, ks_a_specialcash_2025, </a:t>
            </a:r>
            <a:endParaRPr lang="en-US" sz="1600" dirty="0"/>
          </a:p>
          <a:p>
            <a:pPr indent="0" marL="0">
              <a:lnSpc>
                <a:spcPct val="100000"/>
              </a:lnSpc>
              <a:buNone/>
            </a:pPr>
            <a:r>
              <a:rPr lang="en-US" sz="1600" dirty="0">
                <a:solidFill>
                  <a:srgbClr val="1F2933"/>
                </a:solidFill>
              </a:rPr>
              <a:t>ks_a_revenue_2025, ks_a_revenue_2024, </a:t>
            </a:r>
            <a:endParaRPr lang="en-US" sz="1600" dirty="0"/>
          </a:p>
          <a:p>
            <a:pPr indent="0" marL="0">
              <a:lnSpc>
                <a:spcPct val="100000"/>
              </a:lnSpc>
              <a:buNone/>
            </a:pPr>
            <a:r>
              <a:rPr lang="en-US" sz="1600" dirty="0">
                <a:solidFill>
                  <a:srgbClr val="1F2933"/>
                </a:solidFill>
              </a:rPr>
              <a:t>ks_a_customerscash_2025, ks_a_suppliercash_2025, </a:t>
            </a:r>
            <a:endParaRPr lang="en-US" sz="1600" dirty="0"/>
          </a:p>
          <a:p>
            <a:pPr indent="0" marL="0">
              <a:lnSpc>
                <a:spcPct val="100000"/>
              </a:lnSpc>
              <a:buNone/>
            </a:pPr>
            <a:r>
              <a:rPr lang="en-US" sz="1600" dirty="0">
                <a:solidFill>
                  <a:srgbClr val="1F2933"/>
                </a:solidFill>
              </a:rPr>
              <a:t>ks_a_employeecash_2025, ks_a_taxcash_2025, </a:t>
            </a:r>
            <a:endParaRPr lang="en-US" sz="1600" dirty="0"/>
          </a:p>
          <a:p>
            <a:pPr indent="0" marL="0">
              <a:lnSpc>
                <a:spcPct val="100000"/>
              </a:lnSpc>
              <a:buNone/>
            </a:pPr>
            <a:r>
              <a:rPr lang="en-US" sz="1600" dirty="0">
                <a:solidFill>
                  <a:srgbClr val="1F2933"/>
                </a:solidFill>
              </a:rPr>
              <a:t>ks_a_otheropcashin_2025, ks_a_otheropcashout_2025, </a:t>
            </a:r>
            <a:endParaRPr lang="en-US" sz="1600" dirty="0"/>
          </a:p>
          <a:p>
            <a:pPr indent="0" marL="0">
              <a:lnSpc>
                <a:spcPct val="100000"/>
              </a:lnSpc>
              <a:buNone/>
            </a:pPr>
            <a:r>
              <a:rPr lang="en-US" sz="1600" dirty="0">
                <a:solidFill>
                  <a:srgbClr val="1F2933"/>
                </a:solidFill>
              </a:rPr>
              <a:t>ks_a_cfo_2025, ks_a_capex_2025, ks_a_stborrow_2025,</a:t>
            </a:r>
            <a:endParaRPr lang="en-US" sz="1600" dirty="0"/>
          </a:p>
          <a:p>
            <a:pPr indent="0" marL="0">
              <a:lnSpc>
                <a:spcPct val="100000"/>
              </a:lnSpc>
              <a:buNone/>
            </a:pPr>
            <a:r>
              <a:rPr lang="en-US" sz="1600" dirty="0">
                <a:solidFill>
                  <a:srgbClr val="1F2933"/>
                </a:solidFill>
              </a:rPr>
              <a:t> ks_a_notes_ap_2025, ks_a_ap_2025, </a:t>
            </a:r>
            <a:endParaRPr lang="en-US" sz="1600" dirty="0"/>
          </a:p>
          <a:p>
            <a:pPr indent="0" marL="0">
              <a:lnSpc>
                <a:spcPct val="100000"/>
              </a:lnSpc>
              <a:buNone/>
            </a:pPr>
            <a:r>
              <a:rPr lang="en-US" sz="1600" dirty="0">
                <a:solidFill>
                  <a:srgbClr val="1F2933"/>
                </a:solidFill>
              </a:rPr>
              <a:t>ks_a_supplier_loan_2025, ks_a_supplier_ap_2025, </a:t>
            </a:r>
            <a:endParaRPr lang="en-US" sz="1600" dirty="0"/>
          </a:p>
          <a:p>
            <a:pPr indent="0" marL="0">
              <a:lnSpc>
                <a:spcPct val="100000"/>
              </a:lnSpc>
              <a:buNone/>
            </a:pPr>
            <a:r>
              <a:rPr lang="en-US" sz="1600" dirty="0">
                <a:solidFill>
                  <a:srgbClr val="1F2933"/>
                </a:solidFill>
              </a:rPr>
              <a:t>ks_a_supplier_noncash, ks_a_q1_cashbook, </a:t>
            </a:r>
            <a:endParaRPr lang="en-US" sz="1600" dirty="0"/>
          </a:p>
          <a:p>
            <a:pPr indent="0" marL="0">
              <a:lnSpc>
                <a:spcPct val="100000"/>
              </a:lnSpc>
              <a:buNone/>
            </a:pPr>
            <a:r>
              <a:rPr lang="en-US" sz="1600" dirty="0">
                <a:solidFill>
                  <a:srgbClr val="1F2933"/>
                </a:solidFill>
              </a:rPr>
              <a:t>ks_a_q1_cash, ks_a_q1_stborrow, ks_a_q1_notes_ap, </a:t>
            </a:r>
            <a:endParaRPr lang="en-US" sz="1600" dirty="0"/>
          </a:p>
          <a:p>
            <a:pPr indent="0" marL="0">
              <a:lnSpc>
                <a:spcPct val="100000"/>
              </a:lnSpc>
              <a:buNone/>
            </a:pPr>
            <a:r>
              <a:rPr lang="en-US" sz="1600" dirty="0">
                <a:solidFill>
                  <a:srgbClr val="1F2933"/>
                </a:solidFill>
              </a:rPr>
              <a:t>ks_a_q1_currentlongliab, ks_a_q1_ltborrow, </a:t>
            </a:r>
            <a:endParaRPr lang="en-US"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基准研究情景：实际起点至条件现金路径：方法、假设与限制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84</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ks_a_q1_revenue, ks_a_q1_cfo, ks_a_q1_cfi, </a:t>
            </a:r>
            <a:endParaRPr lang="en-US" sz="1600" dirty="0"/>
          </a:p>
          <a:p>
            <a:pPr indent="0" marL="0">
              <a:lnSpc>
                <a:spcPct val="100000"/>
              </a:lnSpc>
              <a:buNone/>
            </a:pPr>
            <a:r>
              <a:rPr lang="en-US" sz="1600" dirty="0">
                <a:solidFill>
                  <a:srgbClr val="1F2933"/>
                </a:solidFill>
              </a:rPr>
              <a:t>ks_a_q1_cff, ks_a_q1_fxcash, ks_a_q1_cashdelta, </a:t>
            </a:r>
            <a:endParaRPr lang="en-US" sz="1600" dirty="0"/>
          </a:p>
          <a:p>
            <a:pPr indent="0" marL="0">
              <a:lnSpc>
                <a:spcPct val="100000"/>
              </a:lnSpc>
              <a:buNone/>
            </a:pPr>
            <a:r>
              <a:rPr lang="en-US" sz="1600" dirty="0">
                <a:solidFill>
                  <a:srgbClr val="1F2933"/>
                </a:solidFill>
              </a:rPr>
              <a:t>ks_a_q1_capex, ks_a_missing_q1_freecash, </a:t>
            </a:r>
            <a:endParaRPr lang="en-US" sz="1600" dirty="0"/>
          </a:p>
          <a:p>
            <a:pPr indent="0" marL="0">
              <a:lnSpc>
                <a:spcPct val="100000"/>
              </a:lnSpc>
              <a:buNone/>
            </a:pPr>
            <a:r>
              <a:rPr lang="en-US" sz="1600" dirty="0">
                <a:solidFill>
                  <a:srgbClr val="1F2933"/>
                </a:solidFill>
              </a:rPr>
              <a:t>ks_d_f_face_q1, ks_d_f_coupon_3, </a:t>
            </a:r>
            <a:endParaRPr lang="en-US" sz="1600" dirty="0"/>
          </a:p>
          <a:p>
            <a:pPr indent="0" marL="0">
              <a:lnSpc>
                <a:spcPct val="100000"/>
              </a:lnSpc>
              <a:buNone/>
            </a:pPr>
            <a:r>
              <a:rPr lang="en-US" sz="1600" dirty="0">
                <a:solidFill>
                  <a:srgbClr val="1F2933"/>
                </a:solidFill>
              </a:rPr>
              <a:t>ks_d_f_fund_new_cap, ks_d_f_dividend_per_share, </a:t>
            </a:r>
            <a:endParaRPr lang="en-US" sz="1600" dirty="0"/>
          </a:p>
          <a:p>
            <a:pPr indent="0" marL="0">
              <a:lnSpc>
                <a:spcPct val="100000"/>
              </a:lnSpc>
              <a:buNone/>
            </a:pPr>
            <a:r>
              <a:rPr lang="en-US" sz="1600" dirty="0">
                <a:solidFill>
                  <a:srgbClr val="1F2933"/>
                </a:solidFill>
              </a:rPr>
              <a:t>ks_d_l_f_q1_2026_customerscash, </a:t>
            </a:r>
            <a:endParaRPr lang="en-US" sz="1600" dirty="0"/>
          </a:p>
          <a:p>
            <a:pPr indent="0" marL="0">
              <a:lnSpc>
                <a:spcPct val="100000"/>
              </a:lnSpc>
              <a:buNone/>
            </a:pPr>
            <a:r>
              <a:rPr lang="en-US" sz="1600" dirty="0">
                <a:solidFill>
                  <a:srgbClr val="1F2933"/>
                </a:solidFill>
              </a:rPr>
              <a:t>ks_d_l_f_q1_2025_customerscash, </a:t>
            </a:r>
            <a:endParaRPr lang="en-US" sz="1600" dirty="0"/>
          </a:p>
          <a:p>
            <a:pPr indent="0" marL="0">
              <a:lnSpc>
                <a:spcPct val="100000"/>
              </a:lnSpc>
              <a:buNone/>
            </a:pPr>
            <a:r>
              <a:rPr lang="en-US" sz="1600" dirty="0">
                <a:solidFill>
                  <a:srgbClr val="1F2933"/>
                </a:solidFill>
              </a:rPr>
              <a:t>ks_d_l_f_q1_2026_suppliercash, </a:t>
            </a:r>
            <a:endParaRPr lang="en-US" sz="1600" dirty="0"/>
          </a:p>
          <a:p>
            <a:pPr indent="0" marL="0">
              <a:lnSpc>
                <a:spcPct val="100000"/>
              </a:lnSpc>
              <a:buNone/>
            </a:pPr>
            <a:r>
              <a:rPr lang="en-US" sz="1600" dirty="0">
                <a:solidFill>
                  <a:srgbClr val="1F2933"/>
                </a:solidFill>
              </a:rPr>
              <a:t>ks_d_l_f_q1_2025_suppliercash, </a:t>
            </a:r>
            <a:endParaRPr lang="en-US" sz="1600" dirty="0"/>
          </a:p>
          <a:p>
            <a:pPr indent="0" marL="0">
              <a:lnSpc>
                <a:spcPct val="100000"/>
              </a:lnSpc>
              <a:buNone/>
            </a:pPr>
            <a:r>
              <a:rPr lang="en-US" sz="1600" dirty="0">
                <a:solidFill>
                  <a:srgbClr val="1F2933"/>
                </a:solidFill>
              </a:rPr>
              <a:t>ks_d_l_f_q1_2026_employeecash, </a:t>
            </a:r>
            <a:endParaRPr lang="en-US" sz="1600" dirty="0"/>
          </a:p>
          <a:p>
            <a:pPr indent="0" marL="0">
              <a:lnSpc>
                <a:spcPct val="100000"/>
              </a:lnSpc>
              <a:buNone/>
            </a:pPr>
            <a:r>
              <a:rPr lang="en-US" sz="1600" dirty="0">
                <a:solidFill>
                  <a:srgbClr val="1F2933"/>
                </a:solidFill>
              </a:rPr>
              <a:t>ks_d_l_f_q1_2025_employeecash, </a:t>
            </a:r>
            <a:endParaRPr lang="en-US" sz="1600" dirty="0"/>
          </a:p>
          <a:p>
            <a:pPr indent="0" marL="0">
              <a:lnSpc>
                <a:spcPct val="100000"/>
              </a:lnSpc>
              <a:buNone/>
            </a:pPr>
            <a:r>
              <a:rPr lang="en-US" sz="1600" dirty="0">
                <a:solidFill>
                  <a:srgbClr val="1F2933"/>
                </a:solidFill>
              </a:rPr>
              <a:t>ks_d_l_f_q1_2026_taxcash, ks_d_l_f_q1_2025_taxcash,</a:t>
            </a:r>
            <a:endParaRPr lang="en-US" sz="1600" dirty="0"/>
          </a:p>
          <a:p>
            <a:pPr indent="0" marL="0">
              <a:lnSpc>
                <a:spcPct val="100000"/>
              </a:lnSpc>
              <a:buNone/>
            </a:pPr>
            <a:r>
              <a:rPr lang="en-US" sz="1600" dirty="0">
                <a:solidFill>
                  <a:srgbClr val="1F2933"/>
                </a:solidFill>
              </a:rPr>
              <a:t> ks_d_l_f_q1_2026_otheropcashin, </a:t>
            </a:r>
            <a:endParaRPr lang="en-US" sz="1600" dirty="0"/>
          </a:p>
          <a:p>
            <a:pPr indent="0" marL="0">
              <a:lnSpc>
                <a:spcPct val="100000"/>
              </a:lnSpc>
              <a:buNone/>
            </a:pPr>
            <a:r>
              <a:rPr lang="en-US" sz="1600" dirty="0">
                <a:solidFill>
                  <a:srgbClr val="1F2933"/>
                </a:solidFill>
              </a:rPr>
              <a:t>ks_d_l_f_q1_2025_otheropcashin, </a:t>
            </a:r>
            <a:endParaRPr lang="en-US" sz="1600" dirty="0"/>
          </a:p>
          <a:p>
            <a:pPr indent="0" marL="0">
              <a:lnSpc>
                <a:spcPct val="100000"/>
              </a:lnSpc>
              <a:buNone/>
            </a:pPr>
            <a:r>
              <a:rPr lang="en-US" sz="1600" dirty="0">
                <a:solidFill>
                  <a:srgbClr val="1F2933"/>
                </a:solidFill>
              </a:rPr>
              <a:t>ks_d_l_f_q1_2026_otheropcashout, </a:t>
            </a:r>
            <a:endParaRPr lang="en-US" sz="1600" dirty="0"/>
          </a:p>
          <a:p>
            <a:pPr indent="0" marL="0">
              <a:lnSpc>
                <a:spcPct val="100000"/>
              </a:lnSpc>
              <a:buNone/>
            </a:pPr>
            <a:r>
              <a:rPr lang="en-US" sz="1600" dirty="0">
                <a:solidFill>
                  <a:srgbClr val="1F2933"/>
                </a:solidFill>
              </a:rPr>
              <a:t>ks_d_l_f_q1_2025_otheropcashout, </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基准研究情景：实际起点至条件现金路径：方法、假设与限制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85</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ks_d_l_f_q1_2026_borrowcash, </a:t>
            </a:r>
            <a:endParaRPr lang="en-US" sz="1600" dirty="0"/>
          </a:p>
          <a:p>
            <a:pPr indent="0" marL="0">
              <a:lnSpc>
                <a:spcPct val="100000"/>
              </a:lnSpc>
              <a:buNone/>
            </a:pPr>
            <a:r>
              <a:rPr lang="en-US" sz="1600" dirty="0">
                <a:solidFill>
                  <a:srgbClr val="1F2933"/>
                </a:solidFill>
              </a:rPr>
              <a:t>ks_d_l_f_q1_2025_borrowcash, </a:t>
            </a:r>
            <a:endParaRPr lang="en-US" sz="1600" dirty="0"/>
          </a:p>
          <a:p>
            <a:pPr indent="0" marL="0">
              <a:lnSpc>
                <a:spcPct val="100000"/>
              </a:lnSpc>
              <a:buNone/>
            </a:pPr>
            <a:r>
              <a:rPr lang="en-US" sz="1600" dirty="0">
                <a:solidFill>
                  <a:srgbClr val="1F2933"/>
                </a:solidFill>
              </a:rPr>
              <a:t>ks_d_l_f_q1_2026_repaycash, </a:t>
            </a:r>
            <a:endParaRPr lang="en-US" sz="1600" dirty="0"/>
          </a:p>
          <a:p>
            <a:pPr indent="0" marL="0">
              <a:lnSpc>
                <a:spcPct val="100000"/>
              </a:lnSpc>
              <a:buNone/>
            </a:pPr>
            <a:r>
              <a:rPr lang="en-US" sz="1600" dirty="0">
                <a:solidFill>
                  <a:srgbClr val="1F2933"/>
                </a:solidFill>
              </a:rPr>
              <a:t>ks_d_l_f_q1_2025_repaycash, </a:t>
            </a:r>
            <a:endParaRPr lang="en-US" sz="1600" dirty="0"/>
          </a:p>
          <a:p>
            <a:pPr indent="0" marL="0">
              <a:lnSpc>
                <a:spcPct val="100000"/>
              </a:lnSpc>
              <a:buNone/>
            </a:pPr>
            <a:r>
              <a:rPr lang="en-US" sz="1600" dirty="0">
                <a:solidFill>
                  <a:srgbClr val="1F2933"/>
                </a:solidFill>
              </a:rPr>
              <a:t>ks_d_l_f_q1_2026_otherfinin, </a:t>
            </a:r>
            <a:endParaRPr lang="en-US" sz="1600" dirty="0"/>
          </a:p>
          <a:p>
            <a:pPr indent="0" marL="0">
              <a:lnSpc>
                <a:spcPct val="100000"/>
              </a:lnSpc>
              <a:buNone/>
            </a:pPr>
            <a:r>
              <a:rPr lang="en-US" sz="1600" dirty="0">
                <a:solidFill>
                  <a:srgbClr val="1F2933"/>
                </a:solidFill>
              </a:rPr>
              <a:t>ks_d_l_f_q1_2025_otherfinin, </a:t>
            </a:r>
            <a:endParaRPr lang="en-US" sz="1600" dirty="0"/>
          </a:p>
          <a:p>
            <a:pPr indent="0" marL="0">
              <a:lnSpc>
                <a:spcPct val="100000"/>
              </a:lnSpc>
              <a:buNone/>
            </a:pPr>
            <a:r>
              <a:rPr lang="en-US" sz="1600" dirty="0">
                <a:solidFill>
                  <a:srgbClr val="1F2933"/>
                </a:solidFill>
              </a:rPr>
              <a:t>ks_d_l_f_q1_2026_divinterestcash, </a:t>
            </a:r>
            <a:endParaRPr lang="en-US" sz="1600" dirty="0"/>
          </a:p>
          <a:p>
            <a:pPr indent="0" marL="0">
              <a:lnSpc>
                <a:spcPct val="100000"/>
              </a:lnSpc>
              <a:buNone/>
            </a:pPr>
            <a:r>
              <a:rPr lang="en-US" sz="1600" dirty="0">
                <a:solidFill>
                  <a:srgbClr val="1F2933"/>
                </a:solidFill>
              </a:rPr>
              <a:t>ks_d_l_f_q1_2025_divinterestcash, </a:t>
            </a:r>
            <a:endParaRPr lang="en-US" sz="1600" dirty="0"/>
          </a:p>
          <a:p>
            <a:pPr indent="0" marL="0">
              <a:lnSpc>
                <a:spcPct val="100000"/>
              </a:lnSpc>
              <a:buNone/>
            </a:pPr>
            <a:r>
              <a:rPr lang="en-US" sz="1600" dirty="0">
                <a:solidFill>
                  <a:srgbClr val="1F2933"/>
                </a:solidFill>
              </a:rPr>
              <a:t>ks_d_l_f_q1_2026_otherfinout, </a:t>
            </a:r>
            <a:endParaRPr lang="en-US" sz="1600" dirty="0"/>
          </a:p>
          <a:p>
            <a:pPr indent="0" marL="0">
              <a:lnSpc>
                <a:spcPct val="100000"/>
              </a:lnSpc>
              <a:buNone/>
            </a:pPr>
            <a:r>
              <a:rPr lang="en-US" sz="1600" dirty="0">
                <a:solidFill>
                  <a:srgbClr val="1F2933"/>
                </a:solidFill>
              </a:rPr>
              <a:t>ks_d_l_f_q1_2025_otherfinout, </a:t>
            </a:r>
            <a:endParaRPr lang="en-US" sz="1600" dirty="0"/>
          </a:p>
          <a:p>
            <a:pPr indent="0" marL="0">
              <a:lnSpc>
                <a:spcPct val="100000"/>
              </a:lnSpc>
              <a:buNone/>
            </a:pPr>
            <a:r>
              <a:rPr lang="en-US" sz="1600" dirty="0">
                <a:solidFill>
                  <a:srgbClr val="1F2933"/>
                </a:solidFill>
              </a:rPr>
              <a:t>ks_d_l_f_q1_2025_capex, ks_d_l_f_q1_2025_cfo, </a:t>
            </a:r>
            <a:endParaRPr lang="en-US" sz="1600" dirty="0"/>
          </a:p>
          <a:p>
            <a:pPr indent="0" marL="0">
              <a:lnSpc>
                <a:spcPct val="100000"/>
              </a:lnSpc>
              <a:buNone/>
            </a:pPr>
            <a:r>
              <a:rPr lang="en-US" sz="1600" dirty="0">
                <a:solidFill>
                  <a:srgbClr val="1F2933"/>
                </a:solidFill>
              </a:rPr>
              <a:t>ks_d_l_f_q1_2025_revenue, ks_d_l_f_2025_q2_revenue,</a:t>
            </a:r>
            <a:endParaRPr lang="en-US" sz="1600" dirty="0"/>
          </a:p>
          <a:p>
            <a:pPr indent="0" marL="0">
              <a:lnSpc>
                <a:spcPct val="100000"/>
              </a:lnSpc>
              <a:buNone/>
            </a:pPr>
            <a:r>
              <a:rPr lang="en-US" sz="1600" dirty="0">
                <a:solidFill>
                  <a:srgbClr val="1F2933"/>
                </a:solidFill>
              </a:rPr>
              <a:t> ks_d_l_f_2025_q2_cfo, ks_d_l_f_2025_q3_revenue, </a:t>
            </a:r>
            <a:endParaRPr lang="en-US" sz="1600" dirty="0"/>
          </a:p>
          <a:p>
            <a:pPr indent="0" marL="0">
              <a:lnSpc>
                <a:spcPct val="100000"/>
              </a:lnSpc>
              <a:buNone/>
            </a:pPr>
            <a:r>
              <a:rPr lang="en-US" sz="1600" dirty="0">
                <a:solidFill>
                  <a:srgbClr val="1F2933"/>
                </a:solidFill>
              </a:rPr>
              <a:t>ks_d_l_f_2025_q3_cfo, ks_d_l_f_2025_q4_revenue, </a:t>
            </a:r>
            <a:endParaRPr lang="en-US" sz="1600" dirty="0"/>
          </a:p>
          <a:p>
            <a:pPr indent="0" marL="0">
              <a:lnSpc>
                <a:spcPct val="100000"/>
              </a:lnSpc>
              <a:buNone/>
            </a:pPr>
            <a:r>
              <a:rPr lang="en-US" sz="1600" dirty="0">
                <a:solidFill>
                  <a:srgbClr val="1F2933"/>
                </a:solidFill>
              </a:rPr>
              <a:t>ks_d_l_f_2025_q4_cfo, ks_d_l_f_taxrefund_2025, </a:t>
            </a:r>
            <a:endParaRPr lang="en-US" sz="1600" dirty="0"/>
          </a:p>
          <a:p>
            <a:pPr indent="0" marL="0">
              <a:lnSpc>
                <a:spcPct val="100000"/>
              </a:lnSpc>
              <a:buNone/>
            </a:pPr>
            <a:r>
              <a:rPr lang="en-US" sz="1600" dirty="0">
                <a:solidFill>
                  <a:srgbClr val="1F2933"/>
                </a:solidFill>
              </a:rPr>
              <a:t>ks_d_l_f_q1_ap, ks_d_l_f_q1_trading, </a:t>
            </a:r>
            <a:endParaRPr lang="en-US" sz="16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基准研究情景：实际起点至条件现金路径：方法、假设与限制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86</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ks_d_l_f_st_accrued_2025, </a:t>
            </a:r>
            <a:endParaRPr lang="en-US" sz="1600" dirty="0"/>
          </a:p>
          <a:p>
            <a:pPr indent="0" marL="0">
              <a:lnSpc>
                <a:spcPct val="100000"/>
              </a:lnSpc>
              <a:buNone/>
            </a:pPr>
            <a:r>
              <a:rPr lang="en-US" sz="1600" dirty="0">
                <a:solidFill>
                  <a:srgbClr val="1F2933"/>
                </a:solidFill>
              </a:rPr>
              <a:t>ks_d_l_f_current_lt_principal_2025, </a:t>
            </a:r>
            <a:endParaRPr lang="en-US" sz="1600" dirty="0"/>
          </a:p>
          <a:p>
            <a:pPr indent="0" marL="0">
              <a:lnSpc>
                <a:spcPct val="100000"/>
              </a:lnSpc>
              <a:buNone/>
            </a:pPr>
            <a:r>
              <a:rPr lang="en-US" sz="1600" dirty="0">
                <a:solidFill>
                  <a:srgbClr val="1F2933"/>
                </a:solidFill>
              </a:rPr>
              <a:t>ks_d_l_f_current_lt_mortgage_2025, </a:t>
            </a:r>
            <a:endParaRPr lang="en-US" sz="1600" dirty="0"/>
          </a:p>
          <a:p>
            <a:pPr indent="0" marL="0">
              <a:lnSpc>
                <a:spcPct val="100000"/>
              </a:lnSpc>
              <a:buNone/>
            </a:pPr>
            <a:r>
              <a:rPr lang="en-US" sz="1600" dirty="0">
                <a:solidFill>
                  <a:srgbClr val="1F2933"/>
                </a:solidFill>
              </a:rPr>
              <a:t>ks_d_l_f_current_lt_interest_2025, </a:t>
            </a:r>
            <a:endParaRPr lang="en-US" sz="1600" dirty="0"/>
          </a:p>
          <a:p>
            <a:pPr indent="0" marL="0">
              <a:lnSpc>
                <a:spcPct val="100000"/>
              </a:lnSpc>
              <a:buNone/>
            </a:pPr>
            <a:r>
              <a:rPr lang="en-US" sz="1600" dirty="0">
                <a:solidFill>
                  <a:srgbClr val="1F2933"/>
                </a:solidFill>
              </a:rPr>
              <a:t>ks_d_l_f_current_lease_2025, </a:t>
            </a:r>
            <a:endParaRPr lang="en-US" sz="1600" dirty="0"/>
          </a:p>
          <a:p>
            <a:pPr indent="0" marL="0">
              <a:lnSpc>
                <a:spcPct val="100000"/>
              </a:lnSpc>
              <a:buNone/>
            </a:pPr>
            <a:r>
              <a:rPr lang="en-US" sz="1600" dirty="0">
                <a:solidFill>
                  <a:srgbClr val="1F2933"/>
                </a:solidFill>
              </a:rPr>
              <a:t>ks_d_l_f_current_provision_2025, </a:t>
            </a:r>
            <a:endParaRPr lang="en-US" sz="1600" dirty="0"/>
          </a:p>
          <a:p>
            <a:pPr indent="0" marL="0">
              <a:lnSpc>
                <a:spcPct val="100000"/>
              </a:lnSpc>
              <a:buNone/>
            </a:pPr>
            <a:r>
              <a:rPr lang="en-US" sz="1600" dirty="0">
                <a:solidFill>
                  <a:srgbClr val="1F2933"/>
                </a:solidFill>
              </a:rPr>
              <a:t>ks_d_l_f_unused_facility_2025, </a:t>
            </a:r>
            <a:endParaRPr lang="en-US" sz="1600" dirty="0"/>
          </a:p>
          <a:p>
            <a:pPr indent="0" marL="0">
              <a:lnSpc>
                <a:spcPct val="100000"/>
              </a:lnSpc>
              <a:buNone/>
            </a:pPr>
            <a:r>
              <a:rPr lang="en-US" sz="1600" dirty="0">
                <a:solidFill>
                  <a:srgbClr val="1F2933"/>
                </a:solidFill>
              </a:rPr>
              <a:t>ks_d_l_f_dividend_shares, ks_a_p_cash_2025, </a:t>
            </a:r>
            <a:endParaRPr lang="en-US" sz="1600" dirty="0"/>
          </a:p>
          <a:p>
            <a:pPr indent="0" marL="0">
              <a:lnSpc>
                <a:spcPct val="100000"/>
              </a:lnSpc>
              <a:buNone/>
            </a:pPr>
            <a:r>
              <a:rPr lang="en-US" sz="1600" dirty="0">
                <a:solidFill>
                  <a:srgbClr val="1F2933"/>
                </a:solidFill>
              </a:rPr>
              <a:t>ks_a_p_cash_2024, ks_a_p_cfo_2025, ks_a_p_cfi_2025,</a:t>
            </a:r>
            <a:endParaRPr lang="en-US" sz="1600" dirty="0"/>
          </a:p>
          <a:p>
            <a:pPr indent="0" marL="0">
              <a:lnSpc>
                <a:spcPct val="100000"/>
              </a:lnSpc>
              <a:buNone/>
            </a:pPr>
            <a:r>
              <a:rPr lang="en-US" sz="1600" dirty="0">
                <a:solidFill>
                  <a:srgbClr val="1F2933"/>
                </a:solidFill>
              </a:rPr>
              <a:t> ks_a_p_cff_2025, ks_a_p_fx_2025, </a:t>
            </a:r>
            <a:endParaRPr lang="en-US" sz="1600" dirty="0"/>
          </a:p>
          <a:p>
            <a:pPr indent="0" marL="0">
              <a:lnSpc>
                <a:spcPct val="100000"/>
              </a:lnSpc>
              <a:buNone/>
            </a:pPr>
            <a:r>
              <a:rPr lang="en-US" sz="1600" dirty="0">
                <a:solidFill>
                  <a:srgbClr val="1F2933"/>
                </a:solidFill>
              </a:rPr>
              <a:t>ks_a_p_cashdelta_2025, ks_a_p_otherar_2025, </a:t>
            </a:r>
            <a:endParaRPr lang="en-US" sz="1600" dirty="0"/>
          </a:p>
          <a:p>
            <a:pPr indent="0" marL="0">
              <a:lnSpc>
                <a:spcPct val="100000"/>
              </a:lnSpc>
              <a:buNone/>
            </a:pPr>
            <a:r>
              <a:rPr lang="en-US" sz="1600" dirty="0">
                <a:solidFill>
                  <a:srgbClr val="1F2933"/>
                </a:solidFill>
              </a:rPr>
              <a:t>ks_a_p_otherap_2025, ks_d_f_face_2025, </a:t>
            </a:r>
            <a:endParaRPr lang="en-US" sz="1600" dirty="0"/>
          </a:p>
          <a:p>
            <a:pPr indent="0" marL="0">
              <a:lnSpc>
                <a:spcPct val="100000"/>
              </a:lnSpc>
              <a:buNone/>
            </a:pPr>
            <a:r>
              <a:rPr lang="en-US" sz="1600" dirty="0">
                <a:solidFill>
                  <a:srgbClr val="1F2933"/>
                </a:solidFill>
              </a:rPr>
              <a:t>ks_d_f_maturity_multiple, ks_d_l_f_parent_cashbook,</a:t>
            </a:r>
            <a:endParaRPr lang="en-US" sz="1600" dirty="0"/>
          </a:p>
          <a:p>
            <a:pPr indent="0" marL="0">
              <a:lnSpc>
                <a:spcPct val="100000"/>
              </a:lnSpc>
              <a:buNone/>
            </a:pPr>
            <a:r>
              <a:rPr lang="en-US" sz="1600" dirty="0">
                <a:solidFill>
                  <a:srgbClr val="1F2933"/>
                </a:solidFill>
              </a:rPr>
              <a:t> ks_d_l_f_parent_stborrow, ks_d_l_f_parent_notes, </a:t>
            </a:r>
            <a:endParaRPr lang="en-US" sz="1600" dirty="0"/>
          </a:p>
          <a:p>
            <a:pPr indent="0" marL="0">
              <a:lnSpc>
                <a:spcPct val="100000"/>
              </a:lnSpc>
              <a:buNone/>
            </a:pPr>
            <a:r>
              <a:rPr lang="en-US" sz="1600" dirty="0">
                <a:solidFill>
                  <a:srgbClr val="1F2933"/>
                </a:solidFill>
              </a:rPr>
              <a:t>ks_d_l_f_parent_ap, ks_d_l_f_parent_currentlong, </a:t>
            </a:r>
            <a:endParaRPr lang="en-US" sz="1600" dirty="0"/>
          </a:p>
          <a:p>
            <a:pPr indent="0" marL="0">
              <a:lnSpc>
                <a:spcPct val="100000"/>
              </a:lnSpc>
              <a:buNone/>
            </a:pPr>
            <a:r>
              <a:rPr lang="en-US" sz="1600" dirty="0">
                <a:solidFill>
                  <a:srgbClr val="1F2933"/>
                </a:solidFill>
              </a:rPr>
              <a:t>ks_d_l_f_parent_currentliab, ks_d_l_f_parent_bonds,</a:t>
            </a:r>
            <a:endParaRPr lang="en-US" sz="16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基准研究情景：实际起点至条件现金路径：方法、假设与限制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87</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 ks_d_l_f_parent_investment_cash</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ks_d_l_e_cash_actual, ks_d_l_e_season, </a:t>
            </a:r>
            <a:endParaRPr lang="en-US" sz="1600" dirty="0"/>
          </a:p>
          <a:p>
            <a:pPr indent="0" marL="0">
              <a:lnSpc>
                <a:spcPct val="100000"/>
              </a:lnSpc>
              <a:buNone/>
            </a:pPr>
            <a:r>
              <a:rPr lang="en-US" sz="1600" dirty="0">
                <a:solidFill>
                  <a:srgbClr val="1F2933"/>
                </a:solidFill>
              </a:rPr>
              <a:t>ks_d_l_e_debt_split, ks_d_l_e_facility, </a:t>
            </a:r>
            <a:endParaRPr lang="en-US" sz="1600" dirty="0"/>
          </a:p>
          <a:p>
            <a:pPr indent="0" marL="0">
              <a:lnSpc>
                <a:spcPct val="100000"/>
              </a:lnSpc>
              <a:buNone/>
            </a:pPr>
            <a:r>
              <a:rPr lang="en-US" sz="1600" dirty="0">
                <a:solidFill>
                  <a:srgbClr val="1F2933"/>
                </a:solidFill>
              </a:rPr>
              <a:t>ks_d_l_e_dividend, ks_d_l_e_coupon, </a:t>
            </a:r>
            <a:endParaRPr lang="en-US" sz="1600" dirty="0"/>
          </a:p>
          <a:p>
            <a:pPr indent="0" marL="0">
              <a:lnSpc>
                <a:spcPct val="100000"/>
              </a:lnSpc>
              <a:buNone/>
            </a:pPr>
            <a:r>
              <a:rPr lang="en-US" sz="1600" dirty="0">
                <a:solidFill>
                  <a:srgbClr val="1F2933"/>
                </a:solidFill>
              </a:rPr>
              <a:t>ks_d_l_e_fund_use, ks_d_l_e_parent, ks_a_e_bs, </a:t>
            </a:r>
            <a:endParaRPr lang="en-US" sz="1600" dirty="0"/>
          </a:p>
          <a:p>
            <a:pPr indent="0" marL="0">
              <a:lnSpc>
                <a:spcPct val="100000"/>
              </a:lnSpc>
              <a:buNone/>
            </a:pPr>
            <a:r>
              <a:rPr lang="en-US" sz="1600" dirty="0">
                <a:solidFill>
                  <a:srgbClr val="1F2933"/>
                </a:solidFill>
              </a:rPr>
              <a:t>ks_a_e_cash, ks_a_e_is, ks_a_e_cf, ks_a_e_supplier,</a:t>
            </a:r>
            <a:endParaRPr lang="en-US" sz="1600" dirty="0"/>
          </a:p>
          <a:p>
            <a:pPr indent="0" marL="0">
              <a:lnSpc>
                <a:spcPct val="100000"/>
              </a:lnSpc>
              <a:buNone/>
            </a:pPr>
            <a:r>
              <a:rPr lang="en-US" sz="1600" dirty="0">
                <a:solidFill>
                  <a:srgbClr val="1F2933"/>
                </a:solidFill>
              </a:rPr>
              <a:t> ks_a_e_q1, ks_d_e_face_q1, ks_d_e_issue_coupon, </a:t>
            </a:r>
            <a:endParaRPr lang="en-US" sz="1600" dirty="0"/>
          </a:p>
          <a:p>
            <a:pPr indent="0" marL="0">
              <a:lnSpc>
                <a:spcPct val="100000"/>
              </a:lnSpc>
              <a:buNone/>
            </a:pPr>
            <a:r>
              <a:rPr lang="en-US" sz="1600" dirty="0">
                <a:solidFill>
                  <a:srgbClr val="1F2933"/>
                </a:solidFill>
              </a:rPr>
              <a:t>ks_d_e_fund_new, ks_d_e_price_latest, ks_a_e_parent</a:t>
            </a:r>
            <a:endParaRPr lang="en-US" sz="1600" dirty="0"/>
          </a:p>
          <a:p>
            <a:pPr indent="0" marL="0">
              <a:lnSpc>
                <a:spcPct val="100000"/>
              </a:lnSpc>
              <a:buNone/>
            </a:pPr>
            <a:r>
              <a:rPr lang="en-US" sz="1600" dirty="0">
                <a:solidFill>
                  <a:srgbClr val="1F2933"/>
                </a:solidFill>
              </a:rPr>
              <a:t>, ks_d_e_face_2025, ks_d_e_maturity_call</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假设：起点为2026-03-31合并实际CCE；六月至十二月均为条件值。</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假设：无新增融资、续贷、注资、资产变现；本金/资本支出/其他现金预算均明确为假设。</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假设：季度合成收款用于保持原披露季节性，不是原件披露的季度收款。</a:t>
            </a:r>
            <a:endParaRPr lang="en-US" sz="16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基准研究情景：实际起点至条件现金路径：方法、假设与限制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88</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假设：用途资金敏感性为单独预留，不新增一笔外部还债。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限制：分析资料截止日2026-06-30，最新实际现金是2026-03-31；Q2/Q3/Q4路径均是</a:t>
            </a:r>
            <a:endParaRPr lang="en-US" sz="1600" dirty="0"/>
          </a:p>
          <a:p>
            <a:pPr indent="0" marL="0">
              <a:lnSpc>
                <a:spcPct val="100000"/>
              </a:lnSpc>
              <a:buNone/>
            </a:pPr>
            <a:r>
              <a:rPr lang="en-US" sz="1600" dirty="0">
                <a:solidFill>
                  <a:srgbClr val="1F2933"/>
                </a:solidFill>
              </a:rPr>
              <a:t>条件研究，不是六月、九月或十二月已披露现金。</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限制：2025年度为同控比较口径，2026Q1原2025比较现金期初与年报重述期初存在</a:t>
            </a:r>
            <a:endParaRPr lang="en-US" sz="1600" dirty="0"/>
          </a:p>
          <a:p>
            <a:pPr indent="0" marL="0">
              <a:lnSpc>
                <a:spcPct val="100000"/>
              </a:lnSpc>
              <a:buNone/>
            </a:pPr>
            <a:r>
              <a:rPr lang="en-US" sz="1600" dirty="0">
                <a:solidFill>
                  <a:srgbClr val="1F2933"/>
                </a:solidFill>
              </a:rPr>
              <a:t>833421.24元差异；季度CFO与年报分季度数吻合，但直接法剩余期桥不宣称已做逐项同控范围调节。</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限制：不存在月度收款、银行到期、票据和供应商账龄/支付日明细；季度末正数不能证明月内覆盖，首次负数表示</a:t>
            </a:r>
            <a:endParaRPr lang="en-US" sz="1600" dirty="0"/>
          </a:p>
          <a:p>
            <a:pPr indent="0" marL="0">
              <a:lnSpc>
                <a:spcPct val="100000"/>
              </a:lnSpc>
              <a:buNone/>
            </a:pPr>
            <a:r>
              <a:rPr lang="en-US" sz="1600" dirty="0">
                <a:solidFill>
                  <a:srgbClr val="1F2933"/>
                </a:solidFill>
              </a:rPr>
              <a:t>需先弥补缺口才能继续运营，后季回正不能治愈先前断点。</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限制：未对其他应付款中的潜在融资性项目、担保履约、诉讼现金、资本开支合同取消权及新增非现金融资做完整</a:t>
            </a:r>
            <a:endParaRPr lang="en-US" sz="1600" dirty="0"/>
          </a:p>
          <a:p>
            <a:pPr indent="0" marL="0">
              <a:lnSpc>
                <a:spcPct val="100000"/>
              </a:lnSpc>
              <a:buNone/>
            </a:pPr>
            <a:r>
              <a:rPr lang="en-US" sz="1600" dirty="0">
                <a:solidFill>
                  <a:srgbClr val="1F2933"/>
                </a:solidFill>
              </a:rPr>
              <a:t>资金排期；应在单一现金冲击容忍额内另行测试，不能把未知全部当不存在。</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限制：没有把银行授信、续贷、追加抵押融资或可变现金融资产当作已落实资金；没有引用机构评级或预测。</a:t>
            </a:r>
            <a:endParaRPr lang="en-US" sz="1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基准研究情景：实际起点至条件现金路径：方法、假设与限制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89</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限制：改善/基准/恶化是透明研究假设，不是公司预算、概率估计或评级档位。</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限制：直接发行人是母公司。独立母公司头寸以2025-12-31实际数据对照，没有2026Q1母公司表；</a:t>
            </a:r>
            <a:endParaRPr lang="en-US" sz="1600" dirty="0"/>
          </a:p>
          <a:p>
            <a:pPr indent="0" marL="0">
              <a:lnSpc>
                <a:spcPct val="100000"/>
              </a:lnSpc>
              <a:buNone/>
            </a:pPr>
            <a:r>
              <a:rPr lang="en-US" sz="1600" dirty="0">
                <a:solidFill>
                  <a:srgbClr val="1F2933"/>
                </a:solidFill>
              </a:rPr>
              <a:t>集团现金不能直接证明母公司付款日取得资金。</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限制：11亿元短期融资支付预算包含供应商融资及贴现。概念上在筹资和采购各扣一次，但没有取得资金提供方</a:t>
            </a:r>
            <a:endParaRPr lang="en-US" sz="1600" dirty="0"/>
          </a:p>
          <a:p>
            <a:pPr indent="0" marL="0">
              <a:lnSpc>
                <a:spcPct val="100000"/>
              </a:lnSpc>
              <a:buNone/>
            </a:pPr>
            <a:r>
              <a:rPr lang="en-US" sz="1600" dirty="0">
                <a:solidFill>
                  <a:srgbClr val="1F2933"/>
                </a:solidFill>
              </a:rPr>
              <a:t>结算与历史采购现金流之间的逐笔映射，不能称已完成逐项到期排期或完全验证分类去重；实际映射不同须同时重</a:t>
            </a:r>
            <a:endParaRPr lang="en-US" sz="1600" dirty="0"/>
          </a:p>
          <a:p>
            <a:pPr indent="0" marL="0">
              <a:lnSpc>
                <a:spcPct val="100000"/>
              </a:lnSpc>
              <a:buNone/>
            </a:pPr>
            <a:r>
              <a:rPr lang="en-US" sz="1600" dirty="0">
                <a:solidFill>
                  <a:srgbClr val="1F2933"/>
                </a:solidFill>
              </a:rPr>
              <a:t>分类两端，不能只追加一笔。</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限制：首次负现金后的行仅为未融资缺口延续；不能证明能够持续经营或先前未发生逾期。</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恶化研究情景：实际起点至条件现金路径：指标摘要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90</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恶化研究情景季度最低现金：-3.38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恶化研究情景年末现金：-1.85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恶化研究情景另留用途资金后低点：-9.88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恶化研究情景额外收款折扣边界：0.00%</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800" dirty="0">
                <a:solidFill>
                  <a:srgbClr val="56646C"/>
                </a:solidFill>
              </a:rPr>
              <a:t>证据 ks_d_l_e_cash_actual, ks_d_l_e_season, ks_d_l_e_debt_split, ks_d_l_e_facility, ks_d_l_e_dividend, </a:t>
            </a:r>
            <a:endParaRPr lang="en-US" sz="800" dirty="0"/>
          </a:p>
          <a:p>
            <a:pPr indent="0" marL="0">
              <a:lnSpc>
                <a:spcPct val="100000"/>
              </a:lnSpc>
              <a:buNone/>
            </a:pPr>
            <a:r>
              <a:rPr lang="en-US" sz="800" dirty="0">
                <a:solidFill>
                  <a:srgbClr val="56646C"/>
                </a:solidFill>
              </a:rPr>
              <a:t>ks_d_l_e_coupon, ks_d_l_e_fund_use, ks_d_l_e_parent, ks_a_e_bs, ks_a_e_cash, ks_a_e_is, ks_a_e_cf, </a:t>
            </a:r>
            <a:endParaRPr lang="en-US" sz="800" dirty="0"/>
          </a:p>
          <a:p>
            <a:pPr indent="0" marL="0">
              <a:lnSpc>
                <a:spcPct val="100000"/>
              </a:lnSpc>
              <a:buNone/>
            </a:pPr>
            <a:r>
              <a:rPr lang="en-US" sz="800" dirty="0">
                <a:solidFill>
                  <a:srgbClr val="56646C"/>
                </a:solidFill>
              </a:rPr>
              <a:t>ks_a_e_supplier, ks_a_e_q1, ks_d_e_face_q1, ks_d_e_issue_coupon, ks_d_e_fund_new, ks_d_e_price_latest, </a:t>
            </a:r>
            <a:endParaRPr lang="en-US" sz="800" dirty="0"/>
          </a:p>
          <a:p>
            <a:pPr indent="0" marL="0">
              <a:lnSpc>
                <a:spcPct val="100000"/>
              </a:lnSpc>
              <a:buNone/>
            </a:pPr>
            <a:r>
              <a:rPr lang="en-US" sz="800" dirty="0">
                <a:solidFill>
                  <a:srgbClr val="56646C"/>
                </a:solidFill>
              </a:rPr>
              <a:t>ks_a_e_parent, ks_d_e_face_2025, ks_d_e_maturity_call；计算快照。全量结果、公式与精度见Excel/JSON；本次未复算。</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恶化研究情景：实际起点至条件现金路径：方法、假设与限制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91</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case_direct_cash_budget_v1；截至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ks_a_cashbook_2025, ks_a_cash_2025, </a:t>
            </a:r>
            <a:endParaRPr lang="en-US" sz="1600" dirty="0"/>
          </a:p>
          <a:p>
            <a:pPr indent="0" marL="0">
              <a:lnSpc>
                <a:spcPct val="100000"/>
              </a:lnSpc>
              <a:buNone/>
            </a:pPr>
            <a:r>
              <a:rPr lang="en-US" sz="1600" dirty="0">
                <a:solidFill>
                  <a:srgbClr val="1F2933"/>
                </a:solidFill>
              </a:rPr>
              <a:t>ks_a_restrictedcash_2025, ks_a_specialcash_2025, </a:t>
            </a:r>
            <a:endParaRPr lang="en-US" sz="1600" dirty="0"/>
          </a:p>
          <a:p>
            <a:pPr indent="0" marL="0">
              <a:lnSpc>
                <a:spcPct val="100000"/>
              </a:lnSpc>
              <a:buNone/>
            </a:pPr>
            <a:r>
              <a:rPr lang="en-US" sz="1600" dirty="0">
                <a:solidFill>
                  <a:srgbClr val="1F2933"/>
                </a:solidFill>
              </a:rPr>
              <a:t>ks_a_revenue_2025, ks_a_revenue_2024, </a:t>
            </a:r>
            <a:endParaRPr lang="en-US" sz="1600" dirty="0"/>
          </a:p>
          <a:p>
            <a:pPr indent="0" marL="0">
              <a:lnSpc>
                <a:spcPct val="100000"/>
              </a:lnSpc>
              <a:buNone/>
            </a:pPr>
            <a:r>
              <a:rPr lang="en-US" sz="1600" dirty="0">
                <a:solidFill>
                  <a:srgbClr val="1F2933"/>
                </a:solidFill>
              </a:rPr>
              <a:t>ks_a_customerscash_2025, ks_a_suppliercash_2025, </a:t>
            </a:r>
            <a:endParaRPr lang="en-US" sz="1600" dirty="0"/>
          </a:p>
          <a:p>
            <a:pPr indent="0" marL="0">
              <a:lnSpc>
                <a:spcPct val="100000"/>
              </a:lnSpc>
              <a:buNone/>
            </a:pPr>
            <a:r>
              <a:rPr lang="en-US" sz="1600" dirty="0">
                <a:solidFill>
                  <a:srgbClr val="1F2933"/>
                </a:solidFill>
              </a:rPr>
              <a:t>ks_a_employeecash_2025, ks_a_taxcash_2025, </a:t>
            </a:r>
            <a:endParaRPr lang="en-US" sz="1600" dirty="0"/>
          </a:p>
          <a:p>
            <a:pPr indent="0" marL="0">
              <a:lnSpc>
                <a:spcPct val="100000"/>
              </a:lnSpc>
              <a:buNone/>
            </a:pPr>
            <a:r>
              <a:rPr lang="en-US" sz="1600" dirty="0">
                <a:solidFill>
                  <a:srgbClr val="1F2933"/>
                </a:solidFill>
              </a:rPr>
              <a:t>ks_a_otheropcashin_2025, ks_a_otheropcashout_2025, </a:t>
            </a:r>
            <a:endParaRPr lang="en-US" sz="1600" dirty="0"/>
          </a:p>
          <a:p>
            <a:pPr indent="0" marL="0">
              <a:lnSpc>
                <a:spcPct val="100000"/>
              </a:lnSpc>
              <a:buNone/>
            </a:pPr>
            <a:r>
              <a:rPr lang="en-US" sz="1600" dirty="0">
                <a:solidFill>
                  <a:srgbClr val="1F2933"/>
                </a:solidFill>
              </a:rPr>
              <a:t>ks_a_cfo_2025, ks_a_capex_2025, ks_a_stborrow_2025,</a:t>
            </a:r>
            <a:endParaRPr lang="en-US" sz="1600" dirty="0"/>
          </a:p>
          <a:p>
            <a:pPr indent="0" marL="0">
              <a:lnSpc>
                <a:spcPct val="100000"/>
              </a:lnSpc>
              <a:buNone/>
            </a:pPr>
            <a:r>
              <a:rPr lang="en-US" sz="1600" dirty="0">
                <a:solidFill>
                  <a:srgbClr val="1F2933"/>
                </a:solidFill>
              </a:rPr>
              <a:t> ks_a_notes_ap_2025, ks_a_ap_2025, </a:t>
            </a:r>
            <a:endParaRPr lang="en-US" sz="1600" dirty="0"/>
          </a:p>
          <a:p>
            <a:pPr indent="0" marL="0">
              <a:lnSpc>
                <a:spcPct val="100000"/>
              </a:lnSpc>
              <a:buNone/>
            </a:pPr>
            <a:r>
              <a:rPr lang="en-US" sz="1600" dirty="0">
                <a:solidFill>
                  <a:srgbClr val="1F2933"/>
                </a:solidFill>
              </a:rPr>
              <a:t>ks_a_supplier_loan_2025, ks_a_supplier_ap_2025, </a:t>
            </a:r>
            <a:endParaRPr lang="en-US" sz="1600" dirty="0"/>
          </a:p>
          <a:p>
            <a:pPr indent="0" marL="0">
              <a:lnSpc>
                <a:spcPct val="100000"/>
              </a:lnSpc>
              <a:buNone/>
            </a:pPr>
            <a:r>
              <a:rPr lang="en-US" sz="1600" dirty="0">
                <a:solidFill>
                  <a:srgbClr val="1F2933"/>
                </a:solidFill>
              </a:rPr>
              <a:t>ks_a_supplier_noncash, ks_a_q1_cashbook, </a:t>
            </a:r>
            <a:endParaRPr lang="en-US" sz="1600" dirty="0"/>
          </a:p>
          <a:p>
            <a:pPr indent="0" marL="0">
              <a:lnSpc>
                <a:spcPct val="100000"/>
              </a:lnSpc>
              <a:buNone/>
            </a:pPr>
            <a:r>
              <a:rPr lang="en-US" sz="1600" dirty="0">
                <a:solidFill>
                  <a:srgbClr val="1F2933"/>
                </a:solidFill>
              </a:rPr>
              <a:t>ks_a_q1_cash, ks_a_q1_stborrow, ks_a_q1_notes_ap, </a:t>
            </a:r>
            <a:endParaRPr lang="en-US" sz="1600" dirty="0"/>
          </a:p>
          <a:p>
            <a:pPr indent="0" marL="0">
              <a:lnSpc>
                <a:spcPct val="100000"/>
              </a:lnSpc>
              <a:buNone/>
            </a:pPr>
            <a:r>
              <a:rPr lang="en-US" sz="1600" dirty="0">
                <a:solidFill>
                  <a:srgbClr val="1F2933"/>
                </a:solidFill>
              </a:rPr>
              <a:t>ks_a_q1_currentlongliab, ks_a_q1_ltborrow, </a:t>
            </a:r>
            <a:endParaRPr lang="en-US" sz="16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恶化研究情景：实际起点至条件现金路径：方法、假设与限制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92</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ks_a_q1_revenue, ks_a_q1_cfo, ks_a_q1_cfi, </a:t>
            </a:r>
            <a:endParaRPr lang="en-US" sz="1600" dirty="0"/>
          </a:p>
          <a:p>
            <a:pPr indent="0" marL="0">
              <a:lnSpc>
                <a:spcPct val="100000"/>
              </a:lnSpc>
              <a:buNone/>
            </a:pPr>
            <a:r>
              <a:rPr lang="en-US" sz="1600" dirty="0">
                <a:solidFill>
                  <a:srgbClr val="1F2933"/>
                </a:solidFill>
              </a:rPr>
              <a:t>ks_a_q1_cff, ks_a_q1_fxcash, ks_a_q1_cashdelta, </a:t>
            </a:r>
            <a:endParaRPr lang="en-US" sz="1600" dirty="0"/>
          </a:p>
          <a:p>
            <a:pPr indent="0" marL="0">
              <a:lnSpc>
                <a:spcPct val="100000"/>
              </a:lnSpc>
              <a:buNone/>
            </a:pPr>
            <a:r>
              <a:rPr lang="en-US" sz="1600" dirty="0">
                <a:solidFill>
                  <a:srgbClr val="1F2933"/>
                </a:solidFill>
              </a:rPr>
              <a:t>ks_a_q1_capex, ks_a_missing_q1_freecash, </a:t>
            </a:r>
            <a:endParaRPr lang="en-US" sz="1600" dirty="0"/>
          </a:p>
          <a:p>
            <a:pPr indent="0" marL="0">
              <a:lnSpc>
                <a:spcPct val="100000"/>
              </a:lnSpc>
              <a:buNone/>
            </a:pPr>
            <a:r>
              <a:rPr lang="en-US" sz="1600" dirty="0">
                <a:solidFill>
                  <a:srgbClr val="1F2933"/>
                </a:solidFill>
              </a:rPr>
              <a:t>ks_d_f_face_q1, ks_d_f_coupon_3, </a:t>
            </a:r>
            <a:endParaRPr lang="en-US" sz="1600" dirty="0"/>
          </a:p>
          <a:p>
            <a:pPr indent="0" marL="0">
              <a:lnSpc>
                <a:spcPct val="100000"/>
              </a:lnSpc>
              <a:buNone/>
            </a:pPr>
            <a:r>
              <a:rPr lang="en-US" sz="1600" dirty="0">
                <a:solidFill>
                  <a:srgbClr val="1F2933"/>
                </a:solidFill>
              </a:rPr>
              <a:t>ks_d_f_fund_new_cap, ks_d_f_dividend_per_share, </a:t>
            </a:r>
            <a:endParaRPr lang="en-US" sz="1600" dirty="0"/>
          </a:p>
          <a:p>
            <a:pPr indent="0" marL="0">
              <a:lnSpc>
                <a:spcPct val="100000"/>
              </a:lnSpc>
              <a:buNone/>
            </a:pPr>
            <a:r>
              <a:rPr lang="en-US" sz="1600" dirty="0">
                <a:solidFill>
                  <a:srgbClr val="1F2933"/>
                </a:solidFill>
              </a:rPr>
              <a:t>ks_d_l_f_q1_2026_customerscash, </a:t>
            </a:r>
            <a:endParaRPr lang="en-US" sz="1600" dirty="0"/>
          </a:p>
          <a:p>
            <a:pPr indent="0" marL="0">
              <a:lnSpc>
                <a:spcPct val="100000"/>
              </a:lnSpc>
              <a:buNone/>
            </a:pPr>
            <a:r>
              <a:rPr lang="en-US" sz="1600" dirty="0">
                <a:solidFill>
                  <a:srgbClr val="1F2933"/>
                </a:solidFill>
              </a:rPr>
              <a:t>ks_d_l_f_q1_2025_customerscash, </a:t>
            </a:r>
            <a:endParaRPr lang="en-US" sz="1600" dirty="0"/>
          </a:p>
          <a:p>
            <a:pPr indent="0" marL="0">
              <a:lnSpc>
                <a:spcPct val="100000"/>
              </a:lnSpc>
              <a:buNone/>
            </a:pPr>
            <a:r>
              <a:rPr lang="en-US" sz="1600" dirty="0">
                <a:solidFill>
                  <a:srgbClr val="1F2933"/>
                </a:solidFill>
              </a:rPr>
              <a:t>ks_d_l_f_q1_2026_suppliercash, </a:t>
            </a:r>
            <a:endParaRPr lang="en-US" sz="1600" dirty="0"/>
          </a:p>
          <a:p>
            <a:pPr indent="0" marL="0">
              <a:lnSpc>
                <a:spcPct val="100000"/>
              </a:lnSpc>
              <a:buNone/>
            </a:pPr>
            <a:r>
              <a:rPr lang="en-US" sz="1600" dirty="0">
                <a:solidFill>
                  <a:srgbClr val="1F2933"/>
                </a:solidFill>
              </a:rPr>
              <a:t>ks_d_l_f_q1_2025_suppliercash, </a:t>
            </a:r>
            <a:endParaRPr lang="en-US" sz="1600" dirty="0"/>
          </a:p>
          <a:p>
            <a:pPr indent="0" marL="0">
              <a:lnSpc>
                <a:spcPct val="100000"/>
              </a:lnSpc>
              <a:buNone/>
            </a:pPr>
            <a:r>
              <a:rPr lang="en-US" sz="1600" dirty="0">
                <a:solidFill>
                  <a:srgbClr val="1F2933"/>
                </a:solidFill>
              </a:rPr>
              <a:t>ks_d_l_f_q1_2026_employeecash, </a:t>
            </a:r>
            <a:endParaRPr lang="en-US" sz="1600" dirty="0"/>
          </a:p>
          <a:p>
            <a:pPr indent="0" marL="0">
              <a:lnSpc>
                <a:spcPct val="100000"/>
              </a:lnSpc>
              <a:buNone/>
            </a:pPr>
            <a:r>
              <a:rPr lang="en-US" sz="1600" dirty="0">
                <a:solidFill>
                  <a:srgbClr val="1F2933"/>
                </a:solidFill>
              </a:rPr>
              <a:t>ks_d_l_f_q1_2025_employeecash, </a:t>
            </a:r>
            <a:endParaRPr lang="en-US" sz="1600" dirty="0"/>
          </a:p>
          <a:p>
            <a:pPr indent="0" marL="0">
              <a:lnSpc>
                <a:spcPct val="100000"/>
              </a:lnSpc>
              <a:buNone/>
            </a:pPr>
            <a:r>
              <a:rPr lang="en-US" sz="1600" dirty="0">
                <a:solidFill>
                  <a:srgbClr val="1F2933"/>
                </a:solidFill>
              </a:rPr>
              <a:t>ks_d_l_f_q1_2026_taxcash, ks_d_l_f_q1_2025_taxcash,</a:t>
            </a:r>
            <a:endParaRPr lang="en-US" sz="1600" dirty="0"/>
          </a:p>
          <a:p>
            <a:pPr indent="0" marL="0">
              <a:lnSpc>
                <a:spcPct val="100000"/>
              </a:lnSpc>
              <a:buNone/>
            </a:pPr>
            <a:r>
              <a:rPr lang="en-US" sz="1600" dirty="0">
                <a:solidFill>
                  <a:srgbClr val="1F2933"/>
                </a:solidFill>
              </a:rPr>
              <a:t> ks_d_l_f_q1_2026_otheropcashin, </a:t>
            </a:r>
            <a:endParaRPr lang="en-US" sz="1600" dirty="0"/>
          </a:p>
          <a:p>
            <a:pPr indent="0" marL="0">
              <a:lnSpc>
                <a:spcPct val="100000"/>
              </a:lnSpc>
              <a:buNone/>
            </a:pPr>
            <a:r>
              <a:rPr lang="en-US" sz="1600" dirty="0">
                <a:solidFill>
                  <a:srgbClr val="1F2933"/>
                </a:solidFill>
              </a:rPr>
              <a:t>ks_d_l_f_q1_2025_otheropcashin, </a:t>
            </a:r>
            <a:endParaRPr lang="en-US" sz="1600" dirty="0"/>
          </a:p>
          <a:p>
            <a:pPr indent="0" marL="0">
              <a:lnSpc>
                <a:spcPct val="100000"/>
              </a:lnSpc>
              <a:buNone/>
            </a:pPr>
            <a:r>
              <a:rPr lang="en-US" sz="1600" dirty="0">
                <a:solidFill>
                  <a:srgbClr val="1F2933"/>
                </a:solidFill>
              </a:rPr>
              <a:t>ks_d_l_f_q1_2026_otheropcashout, </a:t>
            </a:r>
            <a:endParaRPr lang="en-US" sz="1600" dirty="0"/>
          </a:p>
          <a:p>
            <a:pPr indent="0" marL="0">
              <a:lnSpc>
                <a:spcPct val="100000"/>
              </a:lnSpc>
              <a:buNone/>
            </a:pPr>
            <a:r>
              <a:rPr lang="en-US" sz="1600" dirty="0">
                <a:solidFill>
                  <a:srgbClr val="1F2933"/>
                </a:solidFill>
              </a:rPr>
              <a:t>ks_d_l_f_q1_2025_otheropcashout, </a:t>
            </a:r>
            <a:endParaRPr lang="en-US" sz="1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恶化研究情景：实际起点至条件现金路径：方法、假设与限制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93</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ks_d_l_f_q1_2026_borrowcash, </a:t>
            </a:r>
            <a:endParaRPr lang="en-US" sz="1600" dirty="0"/>
          </a:p>
          <a:p>
            <a:pPr indent="0" marL="0">
              <a:lnSpc>
                <a:spcPct val="100000"/>
              </a:lnSpc>
              <a:buNone/>
            </a:pPr>
            <a:r>
              <a:rPr lang="en-US" sz="1600" dirty="0">
                <a:solidFill>
                  <a:srgbClr val="1F2933"/>
                </a:solidFill>
              </a:rPr>
              <a:t>ks_d_l_f_q1_2025_borrowcash, </a:t>
            </a:r>
            <a:endParaRPr lang="en-US" sz="1600" dirty="0"/>
          </a:p>
          <a:p>
            <a:pPr indent="0" marL="0">
              <a:lnSpc>
                <a:spcPct val="100000"/>
              </a:lnSpc>
              <a:buNone/>
            </a:pPr>
            <a:r>
              <a:rPr lang="en-US" sz="1600" dirty="0">
                <a:solidFill>
                  <a:srgbClr val="1F2933"/>
                </a:solidFill>
              </a:rPr>
              <a:t>ks_d_l_f_q1_2026_repaycash, </a:t>
            </a:r>
            <a:endParaRPr lang="en-US" sz="1600" dirty="0"/>
          </a:p>
          <a:p>
            <a:pPr indent="0" marL="0">
              <a:lnSpc>
                <a:spcPct val="100000"/>
              </a:lnSpc>
              <a:buNone/>
            </a:pPr>
            <a:r>
              <a:rPr lang="en-US" sz="1600" dirty="0">
                <a:solidFill>
                  <a:srgbClr val="1F2933"/>
                </a:solidFill>
              </a:rPr>
              <a:t>ks_d_l_f_q1_2025_repaycash, </a:t>
            </a:r>
            <a:endParaRPr lang="en-US" sz="1600" dirty="0"/>
          </a:p>
          <a:p>
            <a:pPr indent="0" marL="0">
              <a:lnSpc>
                <a:spcPct val="100000"/>
              </a:lnSpc>
              <a:buNone/>
            </a:pPr>
            <a:r>
              <a:rPr lang="en-US" sz="1600" dirty="0">
                <a:solidFill>
                  <a:srgbClr val="1F2933"/>
                </a:solidFill>
              </a:rPr>
              <a:t>ks_d_l_f_q1_2026_otherfinin, </a:t>
            </a:r>
            <a:endParaRPr lang="en-US" sz="1600" dirty="0"/>
          </a:p>
          <a:p>
            <a:pPr indent="0" marL="0">
              <a:lnSpc>
                <a:spcPct val="100000"/>
              </a:lnSpc>
              <a:buNone/>
            </a:pPr>
            <a:r>
              <a:rPr lang="en-US" sz="1600" dirty="0">
                <a:solidFill>
                  <a:srgbClr val="1F2933"/>
                </a:solidFill>
              </a:rPr>
              <a:t>ks_d_l_f_q1_2025_otherfinin, </a:t>
            </a:r>
            <a:endParaRPr lang="en-US" sz="1600" dirty="0"/>
          </a:p>
          <a:p>
            <a:pPr indent="0" marL="0">
              <a:lnSpc>
                <a:spcPct val="100000"/>
              </a:lnSpc>
              <a:buNone/>
            </a:pPr>
            <a:r>
              <a:rPr lang="en-US" sz="1600" dirty="0">
                <a:solidFill>
                  <a:srgbClr val="1F2933"/>
                </a:solidFill>
              </a:rPr>
              <a:t>ks_d_l_f_q1_2026_divinterestcash, </a:t>
            </a:r>
            <a:endParaRPr lang="en-US" sz="1600" dirty="0"/>
          </a:p>
          <a:p>
            <a:pPr indent="0" marL="0">
              <a:lnSpc>
                <a:spcPct val="100000"/>
              </a:lnSpc>
              <a:buNone/>
            </a:pPr>
            <a:r>
              <a:rPr lang="en-US" sz="1600" dirty="0">
                <a:solidFill>
                  <a:srgbClr val="1F2933"/>
                </a:solidFill>
              </a:rPr>
              <a:t>ks_d_l_f_q1_2025_divinterestcash, </a:t>
            </a:r>
            <a:endParaRPr lang="en-US" sz="1600" dirty="0"/>
          </a:p>
          <a:p>
            <a:pPr indent="0" marL="0">
              <a:lnSpc>
                <a:spcPct val="100000"/>
              </a:lnSpc>
              <a:buNone/>
            </a:pPr>
            <a:r>
              <a:rPr lang="en-US" sz="1600" dirty="0">
                <a:solidFill>
                  <a:srgbClr val="1F2933"/>
                </a:solidFill>
              </a:rPr>
              <a:t>ks_d_l_f_q1_2026_otherfinout, </a:t>
            </a:r>
            <a:endParaRPr lang="en-US" sz="1600" dirty="0"/>
          </a:p>
          <a:p>
            <a:pPr indent="0" marL="0">
              <a:lnSpc>
                <a:spcPct val="100000"/>
              </a:lnSpc>
              <a:buNone/>
            </a:pPr>
            <a:r>
              <a:rPr lang="en-US" sz="1600" dirty="0">
                <a:solidFill>
                  <a:srgbClr val="1F2933"/>
                </a:solidFill>
              </a:rPr>
              <a:t>ks_d_l_f_q1_2025_otherfinout, </a:t>
            </a:r>
            <a:endParaRPr lang="en-US" sz="1600" dirty="0"/>
          </a:p>
          <a:p>
            <a:pPr indent="0" marL="0">
              <a:lnSpc>
                <a:spcPct val="100000"/>
              </a:lnSpc>
              <a:buNone/>
            </a:pPr>
            <a:r>
              <a:rPr lang="en-US" sz="1600" dirty="0">
                <a:solidFill>
                  <a:srgbClr val="1F2933"/>
                </a:solidFill>
              </a:rPr>
              <a:t>ks_d_l_f_q1_2025_capex, ks_d_l_f_q1_2025_cfo, </a:t>
            </a:r>
            <a:endParaRPr lang="en-US" sz="1600" dirty="0"/>
          </a:p>
          <a:p>
            <a:pPr indent="0" marL="0">
              <a:lnSpc>
                <a:spcPct val="100000"/>
              </a:lnSpc>
              <a:buNone/>
            </a:pPr>
            <a:r>
              <a:rPr lang="en-US" sz="1600" dirty="0">
                <a:solidFill>
                  <a:srgbClr val="1F2933"/>
                </a:solidFill>
              </a:rPr>
              <a:t>ks_d_l_f_q1_2025_revenue, ks_d_l_f_2025_q2_revenue,</a:t>
            </a:r>
            <a:endParaRPr lang="en-US" sz="1600" dirty="0"/>
          </a:p>
          <a:p>
            <a:pPr indent="0" marL="0">
              <a:lnSpc>
                <a:spcPct val="100000"/>
              </a:lnSpc>
              <a:buNone/>
            </a:pPr>
            <a:r>
              <a:rPr lang="en-US" sz="1600" dirty="0">
                <a:solidFill>
                  <a:srgbClr val="1F2933"/>
                </a:solidFill>
              </a:rPr>
              <a:t> ks_d_l_f_2025_q2_cfo, ks_d_l_f_2025_q3_revenue, </a:t>
            </a:r>
            <a:endParaRPr lang="en-US" sz="1600" dirty="0"/>
          </a:p>
          <a:p>
            <a:pPr indent="0" marL="0">
              <a:lnSpc>
                <a:spcPct val="100000"/>
              </a:lnSpc>
              <a:buNone/>
            </a:pPr>
            <a:r>
              <a:rPr lang="en-US" sz="1600" dirty="0">
                <a:solidFill>
                  <a:srgbClr val="1F2933"/>
                </a:solidFill>
              </a:rPr>
              <a:t>ks_d_l_f_2025_q3_cfo, ks_d_l_f_2025_q4_revenue, </a:t>
            </a:r>
            <a:endParaRPr lang="en-US" sz="1600" dirty="0"/>
          </a:p>
          <a:p>
            <a:pPr indent="0" marL="0">
              <a:lnSpc>
                <a:spcPct val="100000"/>
              </a:lnSpc>
              <a:buNone/>
            </a:pPr>
            <a:r>
              <a:rPr lang="en-US" sz="1600" dirty="0">
                <a:solidFill>
                  <a:srgbClr val="1F2933"/>
                </a:solidFill>
              </a:rPr>
              <a:t>ks_d_l_f_2025_q4_cfo, ks_d_l_f_taxrefund_2025, </a:t>
            </a:r>
            <a:endParaRPr lang="en-US" sz="1600" dirty="0"/>
          </a:p>
          <a:p>
            <a:pPr indent="0" marL="0">
              <a:lnSpc>
                <a:spcPct val="100000"/>
              </a:lnSpc>
              <a:buNone/>
            </a:pPr>
            <a:r>
              <a:rPr lang="en-US" sz="1600" dirty="0">
                <a:solidFill>
                  <a:srgbClr val="1F2933"/>
                </a:solidFill>
              </a:rPr>
              <a:t>ks_d_l_f_q1_ap, ks_d_l_f_q1_trading, </a:t>
            </a:r>
            <a:endParaRPr lang="en-US" sz="16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恶化研究情景：实际起点至条件现金路径：方法、假设与限制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94</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ks_d_l_f_st_accrued_2025, </a:t>
            </a:r>
            <a:endParaRPr lang="en-US" sz="1600" dirty="0"/>
          </a:p>
          <a:p>
            <a:pPr indent="0" marL="0">
              <a:lnSpc>
                <a:spcPct val="100000"/>
              </a:lnSpc>
              <a:buNone/>
            </a:pPr>
            <a:r>
              <a:rPr lang="en-US" sz="1600" dirty="0">
                <a:solidFill>
                  <a:srgbClr val="1F2933"/>
                </a:solidFill>
              </a:rPr>
              <a:t>ks_d_l_f_current_lt_principal_2025, </a:t>
            </a:r>
            <a:endParaRPr lang="en-US" sz="1600" dirty="0"/>
          </a:p>
          <a:p>
            <a:pPr indent="0" marL="0">
              <a:lnSpc>
                <a:spcPct val="100000"/>
              </a:lnSpc>
              <a:buNone/>
            </a:pPr>
            <a:r>
              <a:rPr lang="en-US" sz="1600" dirty="0">
                <a:solidFill>
                  <a:srgbClr val="1F2933"/>
                </a:solidFill>
              </a:rPr>
              <a:t>ks_d_l_f_current_lt_mortgage_2025, </a:t>
            </a:r>
            <a:endParaRPr lang="en-US" sz="1600" dirty="0"/>
          </a:p>
          <a:p>
            <a:pPr indent="0" marL="0">
              <a:lnSpc>
                <a:spcPct val="100000"/>
              </a:lnSpc>
              <a:buNone/>
            </a:pPr>
            <a:r>
              <a:rPr lang="en-US" sz="1600" dirty="0">
                <a:solidFill>
                  <a:srgbClr val="1F2933"/>
                </a:solidFill>
              </a:rPr>
              <a:t>ks_d_l_f_current_lt_interest_2025, </a:t>
            </a:r>
            <a:endParaRPr lang="en-US" sz="1600" dirty="0"/>
          </a:p>
          <a:p>
            <a:pPr indent="0" marL="0">
              <a:lnSpc>
                <a:spcPct val="100000"/>
              </a:lnSpc>
              <a:buNone/>
            </a:pPr>
            <a:r>
              <a:rPr lang="en-US" sz="1600" dirty="0">
                <a:solidFill>
                  <a:srgbClr val="1F2933"/>
                </a:solidFill>
              </a:rPr>
              <a:t>ks_d_l_f_current_lease_2025, </a:t>
            </a:r>
            <a:endParaRPr lang="en-US" sz="1600" dirty="0"/>
          </a:p>
          <a:p>
            <a:pPr indent="0" marL="0">
              <a:lnSpc>
                <a:spcPct val="100000"/>
              </a:lnSpc>
              <a:buNone/>
            </a:pPr>
            <a:r>
              <a:rPr lang="en-US" sz="1600" dirty="0">
                <a:solidFill>
                  <a:srgbClr val="1F2933"/>
                </a:solidFill>
              </a:rPr>
              <a:t>ks_d_l_f_current_provision_2025, </a:t>
            </a:r>
            <a:endParaRPr lang="en-US" sz="1600" dirty="0"/>
          </a:p>
          <a:p>
            <a:pPr indent="0" marL="0">
              <a:lnSpc>
                <a:spcPct val="100000"/>
              </a:lnSpc>
              <a:buNone/>
            </a:pPr>
            <a:r>
              <a:rPr lang="en-US" sz="1600" dirty="0">
                <a:solidFill>
                  <a:srgbClr val="1F2933"/>
                </a:solidFill>
              </a:rPr>
              <a:t>ks_d_l_f_unused_facility_2025, </a:t>
            </a:r>
            <a:endParaRPr lang="en-US" sz="1600" dirty="0"/>
          </a:p>
          <a:p>
            <a:pPr indent="0" marL="0">
              <a:lnSpc>
                <a:spcPct val="100000"/>
              </a:lnSpc>
              <a:buNone/>
            </a:pPr>
            <a:r>
              <a:rPr lang="en-US" sz="1600" dirty="0">
                <a:solidFill>
                  <a:srgbClr val="1F2933"/>
                </a:solidFill>
              </a:rPr>
              <a:t>ks_d_l_f_dividend_shares, ks_a_p_cash_2025, </a:t>
            </a:r>
            <a:endParaRPr lang="en-US" sz="1600" dirty="0"/>
          </a:p>
          <a:p>
            <a:pPr indent="0" marL="0">
              <a:lnSpc>
                <a:spcPct val="100000"/>
              </a:lnSpc>
              <a:buNone/>
            </a:pPr>
            <a:r>
              <a:rPr lang="en-US" sz="1600" dirty="0">
                <a:solidFill>
                  <a:srgbClr val="1F2933"/>
                </a:solidFill>
              </a:rPr>
              <a:t>ks_a_p_cash_2024, ks_a_p_cfo_2025, ks_a_p_cfi_2025,</a:t>
            </a:r>
            <a:endParaRPr lang="en-US" sz="1600" dirty="0"/>
          </a:p>
          <a:p>
            <a:pPr indent="0" marL="0">
              <a:lnSpc>
                <a:spcPct val="100000"/>
              </a:lnSpc>
              <a:buNone/>
            </a:pPr>
            <a:r>
              <a:rPr lang="en-US" sz="1600" dirty="0">
                <a:solidFill>
                  <a:srgbClr val="1F2933"/>
                </a:solidFill>
              </a:rPr>
              <a:t> ks_a_p_cff_2025, ks_a_p_fx_2025, </a:t>
            </a:r>
            <a:endParaRPr lang="en-US" sz="1600" dirty="0"/>
          </a:p>
          <a:p>
            <a:pPr indent="0" marL="0">
              <a:lnSpc>
                <a:spcPct val="100000"/>
              </a:lnSpc>
              <a:buNone/>
            </a:pPr>
            <a:r>
              <a:rPr lang="en-US" sz="1600" dirty="0">
                <a:solidFill>
                  <a:srgbClr val="1F2933"/>
                </a:solidFill>
              </a:rPr>
              <a:t>ks_a_p_cashdelta_2025, ks_a_p_otherar_2025, </a:t>
            </a:r>
            <a:endParaRPr lang="en-US" sz="1600" dirty="0"/>
          </a:p>
          <a:p>
            <a:pPr indent="0" marL="0">
              <a:lnSpc>
                <a:spcPct val="100000"/>
              </a:lnSpc>
              <a:buNone/>
            </a:pPr>
            <a:r>
              <a:rPr lang="en-US" sz="1600" dirty="0">
                <a:solidFill>
                  <a:srgbClr val="1F2933"/>
                </a:solidFill>
              </a:rPr>
              <a:t>ks_a_p_otherap_2025, ks_d_f_face_2025, </a:t>
            </a:r>
            <a:endParaRPr lang="en-US" sz="1600" dirty="0"/>
          </a:p>
          <a:p>
            <a:pPr indent="0" marL="0">
              <a:lnSpc>
                <a:spcPct val="100000"/>
              </a:lnSpc>
              <a:buNone/>
            </a:pPr>
            <a:r>
              <a:rPr lang="en-US" sz="1600" dirty="0">
                <a:solidFill>
                  <a:srgbClr val="1F2933"/>
                </a:solidFill>
              </a:rPr>
              <a:t>ks_d_f_maturity_multiple, ks_d_l_f_parent_cashbook,</a:t>
            </a:r>
            <a:endParaRPr lang="en-US" sz="1600" dirty="0"/>
          </a:p>
          <a:p>
            <a:pPr indent="0" marL="0">
              <a:lnSpc>
                <a:spcPct val="100000"/>
              </a:lnSpc>
              <a:buNone/>
            </a:pPr>
            <a:r>
              <a:rPr lang="en-US" sz="1600" dirty="0">
                <a:solidFill>
                  <a:srgbClr val="1F2933"/>
                </a:solidFill>
              </a:rPr>
              <a:t> ks_d_l_f_parent_stborrow, ks_d_l_f_parent_notes, </a:t>
            </a:r>
            <a:endParaRPr lang="en-US" sz="1600" dirty="0"/>
          </a:p>
          <a:p>
            <a:pPr indent="0" marL="0">
              <a:lnSpc>
                <a:spcPct val="100000"/>
              </a:lnSpc>
              <a:buNone/>
            </a:pPr>
            <a:r>
              <a:rPr lang="en-US" sz="1600" dirty="0">
                <a:solidFill>
                  <a:srgbClr val="1F2933"/>
                </a:solidFill>
              </a:rPr>
              <a:t>ks_d_l_f_parent_ap, ks_d_l_f_parent_currentlong, </a:t>
            </a:r>
            <a:endParaRPr lang="en-US" sz="1600" dirty="0"/>
          </a:p>
          <a:p>
            <a:pPr indent="0" marL="0">
              <a:lnSpc>
                <a:spcPct val="100000"/>
              </a:lnSpc>
              <a:buNone/>
            </a:pPr>
            <a:r>
              <a:rPr lang="en-US" sz="1600" dirty="0">
                <a:solidFill>
                  <a:srgbClr val="1F2933"/>
                </a:solidFill>
              </a:rPr>
              <a:t>ks_d_l_f_parent_currentliab, ks_d_l_f_parent_bonds,</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恶化研究情景：实际起点至条件现金路径：方法、假设与限制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95</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 ks_d_l_f_parent_investment_cash</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ks_d_l_e_cash_actual, ks_d_l_e_season, </a:t>
            </a:r>
            <a:endParaRPr lang="en-US" sz="1600" dirty="0"/>
          </a:p>
          <a:p>
            <a:pPr indent="0" marL="0">
              <a:lnSpc>
                <a:spcPct val="100000"/>
              </a:lnSpc>
              <a:buNone/>
            </a:pPr>
            <a:r>
              <a:rPr lang="en-US" sz="1600" dirty="0">
                <a:solidFill>
                  <a:srgbClr val="1F2933"/>
                </a:solidFill>
              </a:rPr>
              <a:t>ks_d_l_e_debt_split, ks_d_l_e_facility, </a:t>
            </a:r>
            <a:endParaRPr lang="en-US" sz="1600" dirty="0"/>
          </a:p>
          <a:p>
            <a:pPr indent="0" marL="0">
              <a:lnSpc>
                <a:spcPct val="100000"/>
              </a:lnSpc>
              <a:buNone/>
            </a:pPr>
            <a:r>
              <a:rPr lang="en-US" sz="1600" dirty="0">
                <a:solidFill>
                  <a:srgbClr val="1F2933"/>
                </a:solidFill>
              </a:rPr>
              <a:t>ks_d_l_e_dividend, ks_d_l_e_coupon, </a:t>
            </a:r>
            <a:endParaRPr lang="en-US" sz="1600" dirty="0"/>
          </a:p>
          <a:p>
            <a:pPr indent="0" marL="0">
              <a:lnSpc>
                <a:spcPct val="100000"/>
              </a:lnSpc>
              <a:buNone/>
            </a:pPr>
            <a:r>
              <a:rPr lang="en-US" sz="1600" dirty="0">
                <a:solidFill>
                  <a:srgbClr val="1F2933"/>
                </a:solidFill>
              </a:rPr>
              <a:t>ks_d_l_e_fund_use, ks_d_l_e_parent, ks_a_e_bs, </a:t>
            </a:r>
            <a:endParaRPr lang="en-US" sz="1600" dirty="0"/>
          </a:p>
          <a:p>
            <a:pPr indent="0" marL="0">
              <a:lnSpc>
                <a:spcPct val="100000"/>
              </a:lnSpc>
              <a:buNone/>
            </a:pPr>
            <a:r>
              <a:rPr lang="en-US" sz="1600" dirty="0">
                <a:solidFill>
                  <a:srgbClr val="1F2933"/>
                </a:solidFill>
              </a:rPr>
              <a:t>ks_a_e_cash, ks_a_e_is, ks_a_e_cf, ks_a_e_supplier,</a:t>
            </a:r>
            <a:endParaRPr lang="en-US" sz="1600" dirty="0"/>
          </a:p>
          <a:p>
            <a:pPr indent="0" marL="0">
              <a:lnSpc>
                <a:spcPct val="100000"/>
              </a:lnSpc>
              <a:buNone/>
            </a:pPr>
            <a:r>
              <a:rPr lang="en-US" sz="1600" dirty="0">
                <a:solidFill>
                  <a:srgbClr val="1F2933"/>
                </a:solidFill>
              </a:rPr>
              <a:t> ks_a_e_q1, ks_d_e_face_q1, ks_d_e_issue_coupon, </a:t>
            </a:r>
            <a:endParaRPr lang="en-US" sz="1600" dirty="0"/>
          </a:p>
          <a:p>
            <a:pPr indent="0" marL="0">
              <a:lnSpc>
                <a:spcPct val="100000"/>
              </a:lnSpc>
              <a:buNone/>
            </a:pPr>
            <a:r>
              <a:rPr lang="en-US" sz="1600" dirty="0">
                <a:solidFill>
                  <a:srgbClr val="1F2933"/>
                </a:solidFill>
              </a:rPr>
              <a:t>ks_d_e_fund_new, ks_d_e_price_latest, ks_a_e_parent</a:t>
            </a:r>
            <a:endParaRPr lang="en-US" sz="1600" dirty="0"/>
          </a:p>
          <a:p>
            <a:pPr indent="0" marL="0">
              <a:lnSpc>
                <a:spcPct val="100000"/>
              </a:lnSpc>
              <a:buNone/>
            </a:pPr>
            <a:r>
              <a:rPr lang="en-US" sz="1600" dirty="0">
                <a:solidFill>
                  <a:srgbClr val="1F2933"/>
                </a:solidFill>
              </a:rPr>
              <a:t>, ks_d_e_face_2025, ks_d_e_maturity_call</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假设：起点为2026-03-31合并实际CCE；六月至十二月均为条件值。</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假设：无新增融资、续贷、注资、资产变现；本金/资本支出/其他现金预算均明确为假设。</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假设：季度合成收款用于保持原披露季节性，不是原件披露的季度收款。</a:t>
            </a:r>
            <a:endParaRPr lang="en-US" sz="16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恶化研究情景：实际起点至条件现金路径：方法、假设与限制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96</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假设：用途资金敏感性为单独预留，不新增一笔外部还债。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限制：分析资料截止日2026-06-30，最新实际现金是2026-03-31；Q2/Q3/Q4路径均是</a:t>
            </a:r>
            <a:endParaRPr lang="en-US" sz="1600" dirty="0"/>
          </a:p>
          <a:p>
            <a:pPr indent="0" marL="0">
              <a:lnSpc>
                <a:spcPct val="100000"/>
              </a:lnSpc>
              <a:buNone/>
            </a:pPr>
            <a:r>
              <a:rPr lang="en-US" sz="1600" dirty="0">
                <a:solidFill>
                  <a:srgbClr val="1F2933"/>
                </a:solidFill>
              </a:rPr>
              <a:t>条件研究，不是六月、九月或十二月已披露现金。</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限制：2025年度为同控比较口径，2026Q1原2025比较现金期初与年报重述期初存在</a:t>
            </a:r>
            <a:endParaRPr lang="en-US" sz="1600" dirty="0"/>
          </a:p>
          <a:p>
            <a:pPr indent="0" marL="0">
              <a:lnSpc>
                <a:spcPct val="100000"/>
              </a:lnSpc>
              <a:buNone/>
            </a:pPr>
            <a:r>
              <a:rPr lang="en-US" sz="1600" dirty="0">
                <a:solidFill>
                  <a:srgbClr val="1F2933"/>
                </a:solidFill>
              </a:rPr>
              <a:t>833421.24元差异；季度CFO与年报分季度数吻合，但直接法剩余期桥不宣称已做逐项同控范围调节。</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限制：不存在月度收款、银行到期、票据和供应商账龄/支付日明细；季度末正数不能证明月内覆盖，首次负数表示</a:t>
            </a:r>
            <a:endParaRPr lang="en-US" sz="1600" dirty="0"/>
          </a:p>
          <a:p>
            <a:pPr indent="0" marL="0">
              <a:lnSpc>
                <a:spcPct val="100000"/>
              </a:lnSpc>
              <a:buNone/>
            </a:pPr>
            <a:r>
              <a:rPr lang="en-US" sz="1600" dirty="0">
                <a:solidFill>
                  <a:srgbClr val="1F2933"/>
                </a:solidFill>
              </a:rPr>
              <a:t>需先弥补缺口才能继续运营，后季回正不能治愈先前断点。</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限制：未对其他应付款中的潜在融资性项目、担保履约、诉讼现金、资本开支合同取消权及新增非现金融资做完整</a:t>
            </a:r>
            <a:endParaRPr lang="en-US" sz="1600" dirty="0"/>
          </a:p>
          <a:p>
            <a:pPr indent="0" marL="0">
              <a:lnSpc>
                <a:spcPct val="100000"/>
              </a:lnSpc>
              <a:buNone/>
            </a:pPr>
            <a:r>
              <a:rPr lang="en-US" sz="1600" dirty="0">
                <a:solidFill>
                  <a:srgbClr val="1F2933"/>
                </a:solidFill>
              </a:rPr>
              <a:t>资金排期；应在单一现金冲击容忍额内另行测试，不能把未知全部当不存在。</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限制：没有把银行授信、续贷、追加抵押融资或可变现金融资产当作已落实资金；没有引用机构评级或预测。</a:t>
            </a:r>
            <a:endParaRPr lang="en-US" sz="16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恶化研究情景：实际起点至条件现金路径：方法、假设与限制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97</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限制：改善/基准/恶化是透明研究假设，不是公司预算、概率估计或评级档位。</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限制：直接发行人是母公司。独立母公司头寸以2025-12-31实际数据对照，没有2026Q1母公司表；</a:t>
            </a:r>
            <a:endParaRPr lang="en-US" sz="1600" dirty="0"/>
          </a:p>
          <a:p>
            <a:pPr indent="0" marL="0">
              <a:lnSpc>
                <a:spcPct val="100000"/>
              </a:lnSpc>
              <a:buNone/>
            </a:pPr>
            <a:r>
              <a:rPr lang="en-US" sz="1600" dirty="0">
                <a:solidFill>
                  <a:srgbClr val="1F2933"/>
                </a:solidFill>
              </a:rPr>
              <a:t>集团现金不能直接证明母公司付款日取得资金。</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限制：11亿元短期融资支付预算包含供应商融资及贴现。概念上在筹资和采购各扣一次，但没有取得资金提供方</a:t>
            </a:r>
            <a:endParaRPr lang="en-US" sz="1600" dirty="0"/>
          </a:p>
          <a:p>
            <a:pPr indent="0" marL="0">
              <a:lnSpc>
                <a:spcPct val="100000"/>
              </a:lnSpc>
              <a:buNone/>
            </a:pPr>
            <a:r>
              <a:rPr lang="en-US" sz="1600" dirty="0">
                <a:solidFill>
                  <a:srgbClr val="1F2933"/>
                </a:solidFill>
              </a:rPr>
              <a:t>结算与历史采购现金流之间的逐笔映射，不能称已完成逐项到期排期或完全验证分类去重；实际映射不同须同时重</a:t>
            </a:r>
            <a:endParaRPr lang="en-US" sz="1600" dirty="0"/>
          </a:p>
          <a:p>
            <a:pPr indent="0" marL="0">
              <a:lnSpc>
                <a:spcPct val="100000"/>
              </a:lnSpc>
              <a:buNone/>
            </a:pPr>
            <a:r>
              <a:rPr lang="en-US" sz="1600" dirty="0">
                <a:solidFill>
                  <a:srgbClr val="1F2933"/>
                </a:solidFill>
              </a:rPr>
              <a:t>分类两端，不能只追加一笔。</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限制：首次负现金后的行仅为未融资缺口延续；不能证明能够持续经营或先前未发生逾期。</a:t>
            </a:r>
            <a:endParaRPr lang="en-US" sz="16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改善研究情景：实际起点至条件现金路径：指标摘要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98</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改善研究情景季度最低现金：3.50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改善研究情景年末现金：10.99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改善研究情景另留用途资金后低点：-3.00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改善研究情景额外收款折扣边界：10.97%</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800" dirty="0">
                <a:solidFill>
                  <a:srgbClr val="56646C"/>
                </a:solidFill>
              </a:rPr>
              <a:t>证据 ks_d_l_e_cash_actual, ks_d_l_e_season, ks_d_l_e_debt_split, ks_d_l_e_facility, ks_d_l_e_dividend, </a:t>
            </a:r>
            <a:endParaRPr lang="en-US" sz="800" dirty="0"/>
          </a:p>
          <a:p>
            <a:pPr indent="0" marL="0">
              <a:lnSpc>
                <a:spcPct val="100000"/>
              </a:lnSpc>
              <a:buNone/>
            </a:pPr>
            <a:r>
              <a:rPr lang="en-US" sz="800" dirty="0">
                <a:solidFill>
                  <a:srgbClr val="56646C"/>
                </a:solidFill>
              </a:rPr>
              <a:t>ks_d_l_e_coupon, ks_d_l_e_fund_use, ks_d_l_e_parent, ks_a_e_bs, ks_a_e_cash, ks_a_e_is, ks_a_e_cf, </a:t>
            </a:r>
            <a:endParaRPr lang="en-US" sz="800" dirty="0"/>
          </a:p>
          <a:p>
            <a:pPr indent="0" marL="0">
              <a:lnSpc>
                <a:spcPct val="100000"/>
              </a:lnSpc>
              <a:buNone/>
            </a:pPr>
            <a:r>
              <a:rPr lang="en-US" sz="800" dirty="0">
                <a:solidFill>
                  <a:srgbClr val="56646C"/>
                </a:solidFill>
              </a:rPr>
              <a:t>ks_a_e_supplier, ks_a_e_q1, ks_d_e_face_q1, ks_d_e_issue_coupon, ks_d_e_fund_new, ks_d_e_price_latest, </a:t>
            </a:r>
            <a:endParaRPr lang="en-US" sz="800" dirty="0"/>
          </a:p>
          <a:p>
            <a:pPr indent="0" marL="0">
              <a:lnSpc>
                <a:spcPct val="100000"/>
              </a:lnSpc>
              <a:buNone/>
            </a:pPr>
            <a:r>
              <a:rPr lang="en-US" sz="800" dirty="0">
                <a:solidFill>
                  <a:srgbClr val="56646C"/>
                </a:solidFill>
              </a:rPr>
              <a:t>ks_a_e_parent, ks_d_e_face_2025, ks_d_e_maturity_call；计算快照。全量结果、公式与精度见Excel/JSON；本次未复算。</a:t>
            </a:r>
            <a:endParaRPr lang="en-US" sz="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改善研究情景：实际起点至条件现金路径：方法、假设与限制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99</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case_direct_cash_budget_v1；截至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ks_a_cashbook_2025, ks_a_cash_2025, </a:t>
            </a:r>
            <a:endParaRPr lang="en-US" sz="1600" dirty="0"/>
          </a:p>
          <a:p>
            <a:pPr indent="0" marL="0">
              <a:lnSpc>
                <a:spcPct val="100000"/>
              </a:lnSpc>
              <a:buNone/>
            </a:pPr>
            <a:r>
              <a:rPr lang="en-US" sz="1600" dirty="0">
                <a:solidFill>
                  <a:srgbClr val="1F2933"/>
                </a:solidFill>
              </a:rPr>
              <a:t>ks_a_restrictedcash_2025, ks_a_specialcash_2025, </a:t>
            </a:r>
            <a:endParaRPr lang="en-US" sz="1600" dirty="0"/>
          </a:p>
          <a:p>
            <a:pPr indent="0" marL="0">
              <a:lnSpc>
                <a:spcPct val="100000"/>
              </a:lnSpc>
              <a:buNone/>
            </a:pPr>
            <a:r>
              <a:rPr lang="en-US" sz="1600" dirty="0">
                <a:solidFill>
                  <a:srgbClr val="1F2933"/>
                </a:solidFill>
              </a:rPr>
              <a:t>ks_a_revenue_2025, ks_a_revenue_2024, </a:t>
            </a:r>
            <a:endParaRPr lang="en-US" sz="1600" dirty="0"/>
          </a:p>
          <a:p>
            <a:pPr indent="0" marL="0">
              <a:lnSpc>
                <a:spcPct val="100000"/>
              </a:lnSpc>
              <a:buNone/>
            </a:pPr>
            <a:r>
              <a:rPr lang="en-US" sz="1600" dirty="0">
                <a:solidFill>
                  <a:srgbClr val="1F2933"/>
                </a:solidFill>
              </a:rPr>
              <a:t>ks_a_customerscash_2025, ks_a_suppliercash_2025, </a:t>
            </a:r>
            <a:endParaRPr lang="en-US" sz="1600" dirty="0"/>
          </a:p>
          <a:p>
            <a:pPr indent="0" marL="0">
              <a:lnSpc>
                <a:spcPct val="100000"/>
              </a:lnSpc>
              <a:buNone/>
            </a:pPr>
            <a:r>
              <a:rPr lang="en-US" sz="1600" dirty="0">
                <a:solidFill>
                  <a:srgbClr val="1F2933"/>
                </a:solidFill>
              </a:rPr>
              <a:t>ks_a_employeecash_2025, ks_a_taxcash_2025, </a:t>
            </a:r>
            <a:endParaRPr lang="en-US" sz="1600" dirty="0"/>
          </a:p>
          <a:p>
            <a:pPr indent="0" marL="0">
              <a:lnSpc>
                <a:spcPct val="100000"/>
              </a:lnSpc>
              <a:buNone/>
            </a:pPr>
            <a:r>
              <a:rPr lang="en-US" sz="1600" dirty="0">
                <a:solidFill>
                  <a:srgbClr val="1F2933"/>
                </a:solidFill>
              </a:rPr>
              <a:t>ks_a_otheropcashin_2025, ks_a_otheropcashout_2025, </a:t>
            </a:r>
            <a:endParaRPr lang="en-US" sz="1600" dirty="0"/>
          </a:p>
          <a:p>
            <a:pPr indent="0" marL="0">
              <a:lnSpc>
                <a:spcPct val="100000"/>
              </a:lnSpc>
              <a:buNone/>
            </a:pPr>
            <a:r>
              <a:rPr lang="en-US" sz="1600" dirty="0">
                <a:solidFill>
                  <a:srgbClr val="1F2933"/>
                </a:solidFill>
              </a:rPr>
              <a:t>ks_a_cfo_2025, ks_a_capex_2025, ks_a_stborrow_2025,</a:t>
            </a:r>
            <a:endParaRPr lang="en-US" sz="1600" dirty="0"/>
          </a:p>
          <a:p>
            <a:pPr indent="0" marL="0">
              <a:lnSpc>
                <a:spcPct val="100000"/>
              </a:lnSpc>
              <a:buNone/>
            </a:pPr>
            <a:r>
              <a:rPr lang="en-US" sz="1600" dirty="0">
                <a:solidFill>
                  <a:srgbClr val="1F2933"/>
                </a:solidFill>
              </a:rPr>
              <a:t> ks_a_notes_ap_2025, ks_a_ap_2025, </a:t>
            </a:r>
            <a:endParaRPr lang="en-US" sz="1600" dirty="0"/>
          </a:p>
          <a:p>
            <a:pPr indent="0" marL="0">
              <a:lnSpc>
                <a:spcPct val="100000"/>
              </a:lnSpc>
              <a:buNone/>
            </a:pPr>
            <a:r>
              <a:rPr lang="en-US" sz="1600" dirty="0">
                <a:solidFill>
                  <a:srgbClr val="1F2933"/>
                </a:solidFill>
              </a:rPr>
              <a:t>ks_a_supplier_loan_2025, ks_a_supplier_ap_2025, </a:t>
            </a:r>
            <a:endParaRPr lang="en-US" sz="1600" dirty="0"/>
          </a:p>
          <a:p>
            <a:pPr indent="0" marL="0">
              <a:lnSpc>
                <a:spcPct val="100000"/>
              </a:lnSpc>
              <a:buNone/>
            </a:pPr>
            <a:r>
              <a:rPr lang="en-US" sz="1600" dirty="0">
                <a:solidFill>
                  <a:srgbClr val="1F2933"/>
                </a:solidFill>
              </a:rPr>
              <a:t>ks_a_supplier_noncash, ks_a_q1_cashbook, </a:t>
            </a:r>
            <a:endParaRPr lang="en-US" sz="1600" dirty="0"/>
          </a:p>
          <a:p>
            <a:pPr indent="0" marL="0">
              <a:lnSpc>
                <a:spcPct val="100000"/>
              </a:lnSpc>
              <a:buNone/>
            </a:pPr>
            <a:r>
              <a:rPr lang="en-US" sz="1600" dirty="0">
                <a:solidFill>
                  <a:srgbClr val="1F2933"/>
                </a:solidFill>
              </a:rPr>
              <a:t>ks_a_q1_cash, ks_a_q1_stborrow, ks_a_q1_notes_ap, </a:t>
            </a:r>
            <a:endParaRPr lang="en-US" sz="1600" dirty="0"/>
          </a:p>
          <a:p>
            <a:pPr indent="0" marL="0">
              <a:lnSpc>
                <a:spcPct val="100000"/>
              </a:lnSpc>
              <a:buNone/>
            </a:pPr>
            <a:r>
              <a:rPr lang="en-US" sz="1600" dirty="0">
                <a:solidFill>
                  <a:srgbClr val="1F2933"/>
                </a:solidFill>
              </a:rPr>
              <a:t>ks_a_q1_currentlongliab, ks_a_q1_ltborrow, </a:t>
            </a:r>
            <a:endParaRPr lang="en-US" sz="16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改善研究情景：实际起点至条件现金路径：方法、假设与限制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100</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ks_a_q1_revenue, ks_a_q1_cfo, ks_a_q1_cfi, </a:t>
            </a:r>
            <a:endParaRPr lang="en-US" sz="1600" dirty="0"/>
          </a:p>
          <a:p>
            <a:pPr indent="0" marL="0">
              <a:lnSpc>
                <a:spcPct val="100000"/>
              </a:lnSpc>
              <a:buNone/>
            </a:pPr>
            <a:r>
              <a:rPr lang="en-US" sz="1600" dirty="0">
                <a:solidFill>
                  <a:srgbClr val="1F2933"/>
                </a:solidFill>
              </a:rPr>
              <a:t>ks_a_q1_cff, ks_a_q1_fxcash, ks_a_q1_cashdelta, </a:t>
            </a:r>
            <a:endParaRPr lang="en-US" sz="1600" dirty="0"/>
          </a:p>
          <a:p>
            <a:pPr indent="0" marL="0">
              <a:lnSpc>
                <a:spcPct val="100000"/>
              </a:lnSpc>
              <a:buNone/>
            </a:pPr>
            <a:r>
              <a:rPr lang="en-US" sz="1600" dirty="0">
                <a:solidFill>
                  <a:srgbClr val="1F2933"/>
                </a:solidFill>
              </a:rPr>
              <a:t>ks_a_q1_capex, ks_a_missing_q1_freecash, </a:t>
            </a:r>
            <a:endParaRPr lang="en-US" sz="1600" dirty="0"/>
          </a:p>
          <a:p>
            <a:pPr indent="0" marL="0">
              <a:lnSpc>
                <a:spcPct val="100000"/>
              </a:lnSpc>
              <a:buNone/>
            </a:pPr>
            <a:r>
              <a:rPr lang="en-US" sz="1600" dirty="0">
                <a:solidFill>
                  <a:srgbClr val="1F2933"/>
                </a:solidFill>
              </a:rPr>
              <a:t>ks_d_f_face_q1, ks_d_f_coupon_3, </a:t>
            </a:r>
            <a:endParaRPr lang="en-US" sz="1600" dirty="0"/>
          </a:p>
          <a:p>
            <a:pPr indent="0" marL="0">
              <a:lnSpc>
                <a:spcPct val="100000"/>
              </a:lnSpc>
              <a:buNone/>
            </a:pPr>
            <a:r>
              <a:rPr lang="en-US" sz="1600" dirty="0">
                <a:solidFill>
                  <a:srgbClr val="1F2933"/>
                </a:solidFill>
              </a:rPr>
              <a:t>ks_d_f_fund_new_cap, ks_d_f_dividend_per_share, </a:t>
            </a:r>
            <a:endParaRPr lang="en-US" sz="1600" dirty="0"/>
          </a:p>
          <a:p>
            <a:pPr indent="0" marL="0">
              <a:lnSpc>
                <a:spcPct val="100000"/>
              </a:lnSpc>
              <a:buNone/>
            </a:pPr>
            <a:r>
              <a:rPr lang="en-US" sz="1600" dirty="0">
                <a:solidFill>
                  <a:srgbClr val="1F2933"/>
                </a:solidFill>
              </a:rPr>
              <a:t>ks_d_l_f_q1_2026_customerscash, </a:t>
            </a:r>
            <a:endParaRPr lang="en-US" sz="1600" dirty="0"/>
          </a:p>
          <a:p>
            <a:pPr indent="0" marL="0">
              <a:lnSpc>
                <a:spcPct val="100000"/>
              </a:lnSpc>
              <a:buNone/>
            </a:pPr>
            <a:r>
              <a:rPr lang="en-US" sz="1600" dirty="0">
                <a:solidFill>
                  <a:srgbClr val="1F2933"/>
                </a:solidFill>
              </a:rPr>
              <a:t>ks_d_l_f_q1_2025_customerscash, </a:t>
            </a:r>
            <a:endParaRPr lang="en-US" sz="1600" dirty="0"/>
          </a:p>
          <a:p>
            <a:pPr indent="0" marL="0">
              <a:lnSpc>
                <a:spcPct val="100000"/>
              </a:lnSpc>
              <a:buNone/>
            </a:pPr>
            <a:r>
              <a:rPr lang="en-US" sz="1600" dirty="0">
                <a:solidFill>
                  <a:srgbClr val="1F2933"/>
                </a:solidFill>
              </a:rPr>
              <a:t>ks_d_l_f_q1_2026_suppliercash, </a:t>
            </a:r>
            <a:endParaRPr lang="en-US" sz="1600" dirty="0"/>
          </a:p>
          <a:p>
            <a:pPr indent="0" marL="0">
              <a:lnSpc>
                <a:spcPct val="100000"/>
              </a:lnSpc>
              <a:buNone/>
            </a:pPr>
            <a:r>
              <a:rPr lang="en-US" sz="1600" dirty="0">
                <a:solidFill>
                  <a:srgbClr val="1F2933"/>
                </a:solidFill>
              </a:rPr>
              <a:t>ks_d_l_f_q1_2025_suppliercash, </a:t>
            </a:r>
            <a:endParaRPr lang="en-US" sz="1600" dirty="0"/>
          </a:p>
          <a:p>
            <a:pPr indent="0" marL="0">
              <a:lnSpc>
                <a:spcPct val="100000"/>
              </a:lnSpc>
              <a:buNone/>
            </a:pPr>
            <a:r>
              <a:rPr lang="en-US" sz="1600" dirty="0">
                <a:solidFill>
                  <a:srgbClr val="1F2933"/>
                </a:solidFill>
              </a:rPr>
              <a:t>ks_d_l_f_q1_2026_employeecash, </a:t>
            </a:r>
            <a:endParaRPr lang="en-US" sz="1600" dirty="0"/>
          </a:p>
          <a:p>
            <a:pPr indent="0" marL="0">
              <a:lnSpc>
                <a:spcPct val="100000"/>
              </a:lnSpc>
              <a:buNone/>
            </a:pPr>
            <a:r>
              <a:rPr lang="en-US" sz="1600" dirty="0">
                <a:solidFill>
                  <a:srgbClr val="1F2933"/>
                </a:solidFill>
              </a:rPr>
              <a:t>ks_d_l_f_q1_2025_employeecash, </a:t>
            </a:r>
            <a:endParaRPr lang="en-US" sz="1600" dirty="0"/>
          </a:p>
          <a:p>
            <a:pPr indent="0" marL="0">
              <a:lnSpc>
                <a:spcPct val="100000"/>
              </a:lnSpc>
              <a:buNone/>
            </a:pPr>
            <a:r>
              <a:rPr lang="en-US" sz="1600" dirty="0">
                <a:solidFill>
                  <a:srgbClr val="1F2933"/>
                </a:solidFill>
              </a:rPr>
              <a:t>ks_d_l_f_q1_2026_taxcash, ks_d_l_f_q1_2025_taxcash,</a:t>
            </a:r>
            <a:endParaRPr lang="en-US" sz="1600" dirty="0"/>
          </a:p>
          <a:p>
            <a:pPr indent="0" marL="0">
              <a:lnSpc>
                <a:spcPct val="100000"/>
              </a:lnSpc>
              <a:buNone/>
            </a:pPr>
            <a:r>
              <a:rPr lang="en-US" sz="1600" dirty="0">
                <a:solidFill>
                  <a:srgbClr val="1F2933"/>
                </a:solidFill>
              </a:rPr>
              <a:t> ks_d_l_f_q1_2026_otheropcashin, </a:t>
            </a:r>
            <a:endParaRPr lang="en-US" sz="1600" dirty="0"/>
          </a:p>
          <a:p>
            <a:pPr indent="0" marL="0">
              <a:lnSpc>
                <a:spcPct val="100000"/>
              </a:lnSpc>
              <a:buNone/>
            </a:pPr>
            <a:r>
              <a:rPr lang="en-US" sz="1600" dirty="0">
                <a:solidFill>
                  <a:srgbClr val="1F2933"/>
                </a:solidFill>
              </a:rPr>
              <a:t>ks_d_l_f_q1_2025_otheropcashin, </a:t>
            </a:r>
            <a:endParaRPr lang="en-US" sz="1600" dirty="0"/>
          </a:p>
          <a:p>
            <a:pPr indent="0" marL="0">
              <a:lnSpc>
                <a:spcPct val="100000"/>
              </a:lnSpc>
              <a:buNone/>
            </a:pPr>
            <a:r>
              <a:rPr lang="en-US" sz="1600" dirty="0">
                <a:solidFill>
                  <a:srgbClr val="1F2933"/>
                </a:solidFill>
              </a:rPr>
              <a:t>ks_d_l_f_q1_2026_otheropcashout, </a:t>
            </a:r>
            <a:endParaRPr lang="en-US" sz="1600" dirty="0"/>
          </a:p>
          <a:p>
            <a:pPr indent="0" marL="0">
              <a:lnSpc>
                <a:spcPct val="100000"/>
              </a:lnSpc>
              <a:buNone/>
            </a:pPr>
            <a:r>
              <a:rPr lang="en-US" sz="1600" dirty="0">
                <a:solidFill>
                  <a:srgbClr val="1F2933"/>
                </a:solidFill>
              </a:rPr>
              <a:t>ks_d_l_f_q1_2025_otheropcashout, </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改善研究情景：实际起点至条件现金路径：方法、假设与限制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101</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ks_d_l_f_q1_2026_borrowcash, </a:t>
            </a:r>
            <a:endParaRPr lang="en-US" sz="1600" dirty="0"/>
          </a:p>
          <a:p>
            <a:pPr indent="0" marL="0">
              <a:lnSpc>
                <a:spcPct val="100000"/>
              </a:lnSpc>
              <a:buNone/>
            </a:pPr>
            <a:r>
              <a:rPr lang="en-US" sz="1600" dirty="0">
                <a:solidFill>
                  <a:srgbClr val="1F2933"/>
                </a:solidFill>
              </a:rPr>
              <a:t>ks_d_l_f_q1_2025_borrowcash, </a:t>
            </a:r>
            <a:endParaRPr lang="en-US" sz="1600" dirty="0"/>
          </a:p>
          <a:p>
            <a:pPr indent="0" marL="0">
              <a:lnSpc>
                <a:spcPct val="100000"/>
              </a:lnSpc>
              <a:buNone/>
            </a:pPr>
            <a:r>
              <a:rPr lang="en-US" sz="1600" dirty="0">
                <a:solidFill>
                  <a:srgbClr val="1F2933"/>
                </a:solidFill>
              </a:rPr>
              <a:t>ks_d_l_f_q1_2026_repaycash, </a:t>
            </a:r>
            <a:endParaRPr lang="en-US" sz="1600" dirty="0"/>
          </a:p>
          <a:p>
            <a:pPr indent="0" marL="0">
              <a:lnSpc>
                <a:spcPct val="100000"/>
              </a:lnSpc>
              <a:buNone/>
            </a:pPr>
            <a:r>
              <a:rPr lang="en-US" sz="1600" dirty="0">
                <a:solidFill>
                  <a:srgbClr val="1F2933"/>
                </a:solidFill>
              </a:rPr>
              <a:t>ks_d_l_f_q1_2025_repaycash, </a:t>
            </a:r>
            <a:endParaRPr lang="en-US" sz="1600" dirty="0"/>
          </a:p>
          <a:p>
            <a:pPr indent="0" marL="0">
              <a:lnSpc>
                <a:spcPct val="100000"/>
              </a:lnSpc>
              <a:buNone/>
            </a:pPr>
            <a:r>
              <a:rPr lang="en-US" sz="1600" dirty="0">
                <a:solidFill>
                  <a:srgbClr val="1F2933"/>
                </a:solidFill>
              </a:rPr>
              <a:t>ks_d_l_f_q1_2026_otherfinin, </a:t>
            </a:r>
            <a:endParaRPr lang="en-US" sz="1600" dirty="0"/>
          </a:p>
          <a:p>
            <a:pPr indent="0" marL="0">
              <a:lnSpc>
                <a:spcPct val="100000"/>
              </a:lnSpc>
              <a:buNone/>
            </a:pPr>
            <a:r>
              <a:rPr lang="en-US" sz="1600" dirty="0">
                <a:solidFill>
                  <a:srgbClr val="1F2933"/>
                </a:solidFill>
              </a:rPr>
              <a:t>ks_d_l_f_q1_2025_otherfinin, </a:t>
            </a:r>
            <a:endParaRPr lang="en-US" sz="1600" dirty="0"/>
          </a:p>
          <a:p>
            <a:pPr indent="0" marL="0">
              <a:lnSpc>
                <a:spcPct val="100000"/>
              </a:lnSpc>
              <a:buNone/>
            </a:pPr>
            <a:r>
              <a:rPr lang="en-US" sz="1600" dirty="0">
                <a:solidFill>
                  <a:srgbClr val="1F2933"/>
                </a:solidFill>
              </a:rPr>
              <a:t>ks_d_l_f_q1_2026_divinterestcash, </a:t>
            </a:r>
            <a:endParaRPr lang="en-US" sz="1600" dirty="0"/>
          </a:p>
          <a:p>
            <a:pPr indent="0" marL="0">
              <a:lnSpc>
                <a:spcPct val="100000"/>
              </a:lnSpc>
              <a:buNone/>
            </a:pPr>
            <a:r>
              <a:rPr lang="en-US" sz="1600" dirty="0">
                <a:solidFill>
                  <a:srgbClr val="1F2933"/>
                </a:solidFill>
              </a:rPr>
              <a:t>ks_d_l_f_q1_2025_divinterestcash, </a:t>
            </a:r>
            <a:endParaRPr lang="en-US" sz="1600" dirty="0"/>
          </a:p>
          <a:p>
            <a:pPr indent="0" marL="0">
              <a:lnSpc>
                <a:spcPct val="100000"/>
              </a:lnSpc>
              <a:buNone/>
            </a:pPr>
            <a:r>
              <a:rPr lang="en-US" sz="1600" dirty="0">
                <a:solidFill>
                  <a:srgbClr val="1F2933"/>
                </a:solidFill>
              </a:rPr>
              <a:t>ks_d_l_f_q1_2026_otherfinout, </a:t>
            </a:r>
            <a:endParaRPr lang="en-US" sz="1600" dirty="0"/>
          </a:p>
          <a:p>
            <a:pPr indent="0" marL="0">
              <a:lnSpc>
                <a:spcPct val="100000"/>
              </a:lnSpc>
              <a:buNone/>
            </a:pPr>
            <a:r>
              <a:rPr lang="en-US" sz="1600" dirty="0">
                <a:solidFill>
                  <a:srgbClr val="1F2933"/>
                </a:solidFill>
              </a:rPr>
              <a:t>ks_d_l_f_q1_2025_otherfinout, </a:t>
            </a:r>
            <a:endParaRPr lang="en-US" sz="1600" dirty="0"/>
          </a:p>
          <a:p>
            <a:pPr indent="0" marL="0">
              <a:lnSpc>
                <a:spcPct val="100000"/>
              </a:lnSpc>
              <a:buNone/>
            </a:pPr>
            <a:r>
              <a:rPr lang="en-US" sz="1600" dirty="0">
                <a:solidFill>
                  <a:srgbClr val="1F2933"/>
                </a:solidFill>
              </a:rPr>
              <a:t>ks_d_l_f_q1_2025_capex, ks_d_l_f_q1_2025_cfo, </a:t>
            </a:r>
            <a:endParaRPr lang="en-US" sz="1600" dirty="0"/>
          </a:p>
          <a:p>
            <a:pPr indent="0" marL="0">
              <a:lnSpc>
                <a:spcPct val="100000"/>
              </a:lnSpc>
              <a:buNone/>
            </a:pPr>
            <a:r>
              <a:rPr lang="en-US" sz="1600" dirty="0">
                <a:solidFill>
                  <a:srgbClr val="1F2933"/>
                </a:solidFill>
              </a:rPr>
              <a:t>ks_d_l_f_q1_2025_revenue, ks_d_l_f_2025_q2_revenue,</a:t>
            </a:r>
            <a:endParaRPr lang="en-US" sz="1600" dirty="0"/>
          </a:p>
          <a:p>
            <a:pPr indent="0" marL="0">
              <a:lnSpc>
                <a:spcPct val="100000"/>
              </a:lnSpc>
              <a:buNone/>
            </a:pPr>
            <a:r>
              <a:rPr lang="en-US" sz="1600" dirty="0">
                <a:solidFill>
                  <a:srgbClr val="1F2933"/>
                </a:solidFill>
              </a:rPr>
              <a:t> ks_d_l_f_2025_q2_cfo, ks_d_l_f_2025_q3_revenue, </a:t>
            </a:r>
            <a:endParaRPr lang="en-US" sz="1600" dirty="0"/>
          </a:p>
          <a:p>
            <a:pPr indent="0" marL="0">
              <a:lnSpc>
                <a:spcPct val="100000"/>
              </a:lnSpc>
              <a:buNone/>
            </a:pPr>
            <a:r>
              <a:rPr lang="en-US" sz="1600" dirty="0">
                <a:solidFill>
                  <a:srgbClr val="1F2933"/>
                </a:solidFill>
              </a:rPr>
              <a:t>ks_d_l_f_2025_q3_cfo, ks_d_l_f_2025_q4_revenue, </a:t>
            </a:r>
            <a:endParaRPr lang="en-US" sz="1600" dirty="0"/>
          </a:p>
          <a:p>
            <a:pPr indent="0" marL="0">
              <a:lnSpc>
                <a:spcPct val="100000"/>
              </a:lnSpc>
              <a:buNone/>
            </a:pPr>
            <a:r>
              <a:rPr lang="en-US" sz="1600" dirty="0">
                <a:solidFill>
                  <a:srgbClr val="1F2933"/>
                </a:solidFill>
              </a:rPr>
              <a:t>ks_d_l_f_2025_q4_cfo, ks_d_l_f_taxrefund_2025, </a:t>
            </a:r>
            <a:endParaRPr lang="en-US" sz="1600" dirty="0"/>
          </a:p>
          <a:p>
            <a:pPr indent="0" marL="0">
              <a:lnSpc>
                <a:spcPct val="100000"/>
              </a:lnSpc>
              <a:buNone/>
            </a:pPr>
            <a:r>
              <a:rPr lang="en-US" sz="1600" dirty="0">
                <a:solidFill>
                  <a:srgbClr val="1F2933"/>
                </a:solidFill>
              </a:rPr>
              <a:t>ks_d_l_f_q1_ap, ks_d_l_f_q1_trading, </a:t>
            </a:r>
            <a:endParaRPr lang="en-US" sz="16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改善研究情景：实际起点至条件现金路径：方法、假设与限制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102</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ks_d_l_f_st_accrued_2025, </a:t>
            </a:r>
            <a:endParaRPr lang="en-US" sz="1600" dirty="0"/>
          </a:p>
          <a:p>
            <a:pPr indent="0" marL="0">
              <a:lnSpc>
                <a:spcPct val="100000"/>
              </a:lnSpc>
              <a:buNone/>
            </a:pPr>
            <a:r>
              <a:rPr lang="en-US" sz="1600" dirty="0">
                <a:solidFill>
                  <a:srgbClr val="1F2933"/>
                </a:solidFill>
              </a:rPr>
              <a:t>ks_d_l_f_current_lt_principal_2025, </a:t>
            </a:r>
            <a:endParaRPr lang="en-US" sz="1600" dirty="0"/>
          </a:p>
          <a:p>
            <a:pPr indent="0" marL="0">
              <a:lnSpc>
                <a:spcPct val="100000"/>
              </a:lnSpc>
              <a:buNone/>
            </a:pPr>
            <a:r>
              <a:rPr lang="en-US" sz="1600" dirty="0">
                <a:solidFill>
                  <a:srgbClr val="1F2933"/>
                </a:solidFill>
              </a:rPr>
              <a:t>ks_d_l_f_current_lt_mortgage_2025, </a:t>
            </a:r>
            <a:endParaRPr lang="en-US" sz="1600" dirty="0"/>
          </a:p>
          <a:p>
            <a:pPr indent="0" marL="0">
              <a:lnSpc>
                <a:spcPct val="100000"/>
              </a:lnSpc>
              <a:buNone/>
            </a:pPr>
            <a:r>
              <a:rPr lang="en-US" sz="1600" dirty="0">
                <a:solidFill>
                  <a:srgbClr val="1F2933"/>
                </a:solidFill>
              </a:rPr>
              <a:t>ks_d_l_f_current_lt_interest_2025, </a:t>
            </a:r>
            <a:endParaRPr lang="en-US" sz="1600" dirty="0"/>
          </a:p>
          <a:p>
            <a:pPr indent="0" marL="0">
              <a:lnSpc>
                <a:spcPct val="100000"/>
              </a:lnSpc>
              <a:buNone/>
            </a:pPr>
            <a:r>
              <a:rPr lang="en-US" sz="1600" dirty="0">
                <a:solidFill>
                  <a:srgbClr val="1F2933"/>
                </a:solidFill>
              </a:rPr>
              <a:t>ks_d_l_f_current_lease_2025, </a:t>
            </a:r>
            <a:endParaRPr lang="en-US" sz="1600" dirty="0"/>
          </a:p>
          <a:p>
            <a:pPr indent="0" marL="0">
              <a:lnSpc>
                <a:spcPct val="100000"/>
              </a:lnSpc>
              <a:buNone/>
            </a:pPr>
            <a:r>
              <a:rPr lang="en-US" sz="1600" dirty="0">
                <a:solidFill>
                  <a:srgbClr val="1F2933"/>
                </a:solidFill>
              </a:rPr>
              <a:t>ks_d_l_f_current_provision_2025, </a:t>
            </a:r>
            <a:endParaRPr lang="en-US" sz="1600" dirty="0"/>
          </a:p>
          <a:p>
            <a:pPr indent="0" marL="0">
              <a:lnSpc>
                <a:spcPct val="100000"/>
              </a:lnSpc>
              <a:buNone/>
            </a:pPr>
            <a:r>
              <a:rPr lang="en-US" sz="1600" dirty="0">
                <a:solidFill>
                  <a:srgbClr val="1F2933"/>
                </a:solidFill>
              </a:rPr>
              <a:t>ks_d_l_f_unused_facility_2025, </a:t>
            </a:r>
            <a:endParaRPr lang="en-US" sz="1600" dirty="0"/>
          </a:p>
          <a:p>
            <a:pPr indent="0" marL="0">
              <a:lnSpc>
                <a:spcPct val="100000"/>
              </a:lnSpc>
              <a:buNone/>
            </a:pPr>
            <a:r>
              <a:rPr lang="en-US" sz="1600" dirty="0">
                <a:solidFill>
                  <a:srgbClr val="1F2933"/>
                </a:solidFill>
              </a:rPr>
              <a:t>ks_d_l_f_dividend_shares, ks_a_p_cash_2025, </a:t>
            </a:r>
            <a:endParaRPr lang="en-US" sz="1600" dirty="0"/>
          </a:p>
          <a:p>
            <a:pPr indent="0" marL="0">
              <a:lnSpc>
                <a:spcPct val="100000"/>
              </a:lnSpc>
              <a:buNone/>
            </a:pPr>
            <a:r>
              <a:rPr lang="en-US" sz="1600" dirty="0">
                <a:solidFill>
                  <a:srgbClr val="1F2933"/>
                </a:solidFill>
              </a:rPr>
              <a:t>ks_a_p_cash_2024, ks_a_p_cfo_2025, ks_a_p_cfi_2025,</a:t>
            </a:r>
            <a:endParaRPr lang="en-US" sz="1600" dirty="0"/>
          </a:p>
          <a:p>
            <a:pPr indent="0" marL="0">
              <a:lnSpc>
                <a:spcPct val="100000"/>
              </a:lnSpc>
              <a:buNone/>
            </a:pPr>
            <a:r>
              <a:rPr lang="en-US" sz="1600" dirty="0">
                <a:solidFill>
                  <a:srgbClr val="1F2933"/>
                </a:solidFill>
              </a:rPr>
              <a:t> ks_a_p_cff_2025, ks_a_p_fx_2025, </a:t>
            </a:r>
            <a:endParaRPr lang="en-US" sz="1600" dirty="0"/>
          </a:p>
          <a:p>
            <a:pPr indent="0" marL="0">
              <a:lnSpc>
                <a:spcPct val="100000"/>
              </a:lnSpc>
              <a:buNone/>
            </a:pPr>
            <a:r>
              <a:rPr lang="en-US" sz="1600" dirty="0">
                <a:solidFill>
                  <a:srgbClr val="1F2933"/>
                </a:solidFill>
              </a:rPr>
              <a:t>ks_a_p_cashdelta_2025, ks_a_p_otherar_2025, </a:t>
            </a:r>
            <a:endParaRPr lang="en-US" sz="1600" dirty="0"/>
          </a:p>
          <a:p>
            <a:pPr indent="0" marL="0">
              <a:lnSpc>
                <a:spcPct val="100000"/>
              </a:lnSpc>
              <a:buNone/>
            </a:pPr>
            <a:r>
              <a:rPr lang="en-US" sz="1600" dirty="0">
                <a:solidFill>
                  <a:srgbClr val="1F2933"/>
                </a:solidFill>
              </a:rPr>
              <a:t>ks_a_p_otherap_2025, ks_d_f_face_2025, </a:t>
            </a:r>
            <a:endParaRPr lang="en-US" sz="1600" dirty="0"/>
          </a:p>
          <a:p>
            <a:pPr indent="0" marL="0">
              <a:lnSpc>
                <a:spcPct val="100000"/>
              </a:lnSpc>
              <a:buNone/>
            </a:pPr>
            <a:r>
              <a:rPr lang="en-US" sz="1600" dirty="0">
                <a:solidFill>
                  <a:srgbClr val="1F2933"/>
                </a:solidFill>
              </a:rPr>
              <a:t>ks_d_f_maturity_multiple, ks_d_l_f_parent_cashbook,</a:t>
            </a:r>
            <a:endParaRPr lang="en-US" sz="1600" dirty="0"/>
          </a:p>
          <a:p>
            <a:pPr indent="0" marL="0">
              <a:lnSpc>
                <a:spcPct val="100000"/>
              </a:lnSpc>
              <a:buNone/>
            </a:pPr>
            <a:r>
              <a:rPr lang="en-US" sz="1600" dirty="0">
                <a:solidFill>
                  <a:srgbClr val="1F2933"/>
                </a:solidFill>
              </a:rPr>
              <a:t> ks_d_l_f_parent_stborrow, ks_d_l_f_parent_notes, </a:t>
            </a:r>
            <a:endParaRPr lang="en-US" sz="1600" dirty="0"/>
          </a:p>
          <a:p>
            <a:pPr indent="0" marL="0">
              <a:lnSpc>
                <a:spcPct val="100000"/>
              </a:lnSpc>
              <a:buNone/>
            </a:pPr>
            <a:r>
              <a:rPr lang="en-US" sz="1600" dirty="0">
                <a:solidFill>
                  <a:srgbClr val="1F2933"/>
                </a:solidFill>
              </a:rPr>
              <a:t>ks_d_l_f_parent_ap, ks_d_l_f_parent_currentlong, </a:t>
            </a:r>
            <a:endParaRPr lang="en-US" sz="1600" dirty="0"/>
          </a:p>
          <a:p>
            <a:pPr indent="0" marL="0">
              <a:lnSpc>
                <a:spcPct val="100000"/>
              </a:lnSpc>
              <a:buNone/>
            </a:pPr>
            <a:r>
              <a:rPr lang="en-US" sz="1600" dirty="0">
                <a:solidFill>
                  <a:srgbClr val="1F2933"/>
                </a:solidFill>
              </a:rPr>
              <a:t>ks_d_l_f_parent_currentliab, ks_d_l_f_parent_bonds,</a:t>
            </a:r>
            <a:endParaRPr lang="en-US" sz="1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改善研究情景：实际起点至条件现金路径：方法、假设与限制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103</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 ks_d_l_f_parent_investment_cash</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ks_d_l_e_cash_actual, ks_d_l_e_season, </a:t>
            </a:r>
            <a:endParaRPr lang="en-US" sz="1600" dirty="0"/>
          </a:p>
          <a:p>
            <a:pPr indent="0" marL="0">
              <a:lnSpc>
                <a:spcPct val="100000"/>
              </a:lnSpc>
              <a:buNone/>
            </a:pPr>
            <a:r>
              <a:rPr lang="en-US" sz="1600" dirty="0">
                <a:solidFill>
                  <a:srgbClr val="1F2933"/>
                </a:solidFill>
              </a:rPr>
              <a:t>ks_d_l_e_debt_split, ks_d_l_e_facility, </a:t>
            </a:r>
            <a:endParaRPr lang="en-US" sz="1600" dirty="0"/>
          </a:p>
          <a:p>
            <a:pPr indent="0" marL="0">
              <a:lnSpc>
                <a:spcPct val="100000"/>
              </a:lnSpc>
              <a:buNone/>
            </a:pPr>
            <a:r>
              <a:rPr lang="en-US" sz="1600" dirty="0">
                <a:solidFill>
                  <a:srgbClr val="1F2933"/>
                </a:solidFill>
              </a:rPr>
              <a:t>ks_d_l_e_dividend, ks_d_l_e_coupon, </a:t>
            </a:r>
            <a:endParaRPr lang="en-US" sz="1600" dirty="0"/>
          </a:p>
          <a:p>
            <a:pPr indent="0" marL="0">
              <a:lnSpc>
                <a:spcPct val="100000"/>
              </a:lnSpc>
              <a:buNone/>
            </a:pPr>
            <a:r>
              <a:rPr lang="en-US" sz="1600" dirty="0">
                <a:solidFill>
                  <a:srgbClr val="1F2933"/>
                </a:solidFill>
              </a:rPr>
              <a:t>ks_d_l_e_fund_use, ks_d_l_e_parent, ks_a_e_bs, </a:t>
            </a:r>
            <a:endParaRPr lang="en-US" sz="1600" dirty="0"/>
          </a:p>
          <a:p>
            <a:pPr indent="0" marL="0">
              <a:lnSpc>
                <a:spcPct val="100000"/>
              </a:lnSpc>
              <a:buNone/>
            </a:pPr>
            <a:r>
              <a:rPr lang="en-US" sz="1600" dirty="0">
                <a:solidFill>
                  <a:srgbClr val="1F2933"/>
                </a:solidFill>
              </a:rPr>
              <a:t>ks_a_e_cash, ks_a_e_is, ks_a_e_cf, ks_a_e_supplier,</a:t>
            </a:r>
            <a:endParaRPr lang="en-US" sz="1600" dirty="0"/>
          </a:p>
          <a:p>
            <a:pPr indent="0" marL="0">
              <a:lnSpc>
                <a:spcPct val="100000"/>
              </a:lnSpc>
              <a:buNone/>
            </a:pPr>
            <a:r>
              <a:rPr lang="en-US" sz="1600" dirty="0">
                <a:solidFill>
                  <a:srgbClr val="1F2933"/>
                </a:solidFill>
              </a:rPr>
              <a:t> ks_a_e_q1, ks_d_e_face_q1, ks_d_e_issue_coupon, </a:t>
            </a:r>
            <a:endParaRPr lang="en-US" sz="1600" dirty="0"/>
          </a:p>
          <a:p>
            <a:pPr indent="0" marL="0">
              <a:lnSpc>
                <a:spcPct val="100000"/>
              </a:lnSpc>
              <a:buNone/>
            </a:pPr>
            <a:r>
              <a:rPr lang="en-US" sz="1600" dirty="0">
                <a:solidFill>
                  <a:srgbClr val="1F2933"/>
                </a:solidFill>
              </a:rPr>
              <a:t>ks_d_e_fund_new, ks_d_e_price_latest, ks_a_e_parent</a:t>
            </a:r>
            <a:endParaRPr lang="en-US" sz="1600" dirty="0"/>
          </a:p>
          <a:p>
            <a:pPr indent="0" marL="0">
              <a:lnSpc>
                <a:spcPct val="100000"/>
              </a:lnSpc>
              <a:buNone/>
            </a:pPr>
            <a:r>
              <a:rPr lang="en-US" sz="1600" dirty="0">
                <a:solidFill>
                  <a:srgbClr val="1F2933"/>
                </a:solidFill>
              </a:rPr>
              <a:t>, ks_d_e_face_2025, ks_d_e_maturity_call</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假设：起点为2026-03-31合并实际CCE；六月至十二月均为条件值。</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假设：无新增融资、续贷、注资、资产变现；本金/资本支出/其他现金预算均明确为假设。</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假设：季度合成收款用于保持原披露季节性，不是原件披露的季度收款。</a:t>
            </a:r>
            <a:endParaRPr lang="en-US" sz="16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改善研究情景：实际起点至条件现金路径：方法、假设与限制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104</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假设：用途资金敏感性为单独预留，不新增一笔外部还债。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限制：分析资料截止日2026-06-30，最新实际现金是2026-03-31；Q2/Q3/Q4路径均是</a:t>
            </a:r>
            <a:endParaRPr lang="en-US" sz="1600" dirty="0"/>
          </a:p>
          <a:p>
            <a:pPr indent="0" marL="0">
              <a:lnSpc>
                <a:spcPct val="100000"/>
              </a:lnSpc>
              <a:buNone/>
            </a:pPr>
            <a:r>
              <a:rPr lang="en-US" sz="1600" dirty="0">
                <a:solidFill>
                  <a:srgbClr val="1F2933"/>
                </a:solidFill>
              </a:rPr>
              <a:t>条件研究，不是六月、九月或十二月已披露现金。</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限制：2025年度为同控比较口径，2026Q1原2025比较现金期初与年报重述期初存在</a:t>
            </a:r>
            <a:endParaRPr lang="en-US" sz="1600" dirty="0"/>
          </a:p>
          <a:p>
            <a:pPr indent="0" marL="0">
              <a:lnSpc>
                <a:spcPct val="100000"/>
              </a:lnSpc>
              <a:buNone/>
            </a:pPr>
            <a:r>
              <a:rPr lang="en-US" sz="1600" dirty="0">
                <a:solidFill>
                  <a:srgbClr val="1F2933"/>
                </a:solidFill>
              </a:rPr>
              <a:t>833421.24元差异；季度CFO与年报分季度数吻合，但直接法剩余期桥不宣称已做逐项同控范围调节。</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限制：不存在月度收款、银行到期、票据和供应商账龄/支付日明细；季度末正数不能证明月内覆盖，首次负数表示</a:t>
            </a:r>
            <a:endParaRPr lang="en-US" sz="1600" dirty="0"/>
          </a:p>
          <a:p>
            <a:pPr indent="0" marL="0">
              <a:lnSpc>
                <a:spcPct val="100000"/>
              </a:lnSpc>
              <a:buNone/>
            </a:pPr>
            <a:r>
              <a:rPr lang="en-US" sz="1600" dirty="0">
                <a:solidFill>
                  <a:srgbClr val="1F2933"/>
                </a:solidFill>
              </a:rPr>
              <a:t>需先弥补缺口才能继续运营，后季回正不能治愈先前断点。</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限制：未对其他应付款中的潜在融资性项目、担保履约、诉讼现金、资本开支合同取消权及新增非现金融资做完整</a:t>
            </a:r>
            <a:endParaRPr lang="en-US" sz="1600" dirty="0"/>
          </a:p>
          <a:p>
            <a:pPr indent="0" marL="0">
              <a:lnSpc>
                <a:spcPct val="100000"/>
              </a:lnSpc>
              <a:buNone/>
            </a:pPr>
            <a:r>
              <a:rPr lang="en-US" sz="1600" dirty="0">
                <a:solidFill>
                  <a:srgbClr val="1F2933"/>
                </a:solidFill>
              </a:rPr>
              <a:t>资金排期；应在单一现金冲击容忍额内另行测试，不能把未知全部当不存在。</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限制：没有把银行授信、续贷、追加抵押融资或可变现金融资产当作已落实资金；没有引用机构评级或预测。</a:t>
            </a:r>
            <a:endParaRPr lang="en-US" sz="1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改善研究情景：实际起点至条件现金路径：方法、假设与限制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105</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限制：改善/基准/恶化是透明研究假设，不是公司预算、概率估计或评级档位。</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限制：直接发行人是母公司。独立母公司头寸以2025-12-31实际数据对照，没有2026Q1母公司表；</a:t>
            </a:r>
            <a:endParaRPr lang="en-US" sz="1600" dirty="0"/>
          </a:p>
          <a:p>
            <a:pPr indent="0" marL="0">
              <a:lnSpc>
                <a:spcPct val="100000"/>
              </a:lnSpc>
              <a:buNone/>
            </a:pPr>
            <a:r>
              <a:rPr lang="en-US" sz="1600" dirty="0">
                <a:solidFill>
                  <a:srgbClr val="1F2933"/>
                </a:solidFill>
              </a:rPr>
              <a:t>集团现金不能直接证明母公司付款日取得资金。</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限制：11亿元短期融资支付预算包含供应商融资及贴现。概念上在筹资和采购各扣一次，但没有取得资金提供方</a:t>
            </a:r>
            <a:endParaRPr lang="en-US" sz="1600" dirty="0"/>
          </a:p>
          <a:p>
            <a:pPr indent="0" marL="0">
              <a:lnSpc>
                <a:spcPct val="100000"/>
              </a:lnSpc>
              <a:buNone/>
            </a:pPr>
            <a:r>
              <a:rPr lang="en-US" sz="1600" dirty="0">
                <a:solidFill>
                  <a:srgbClr val="1F2933"/>
                </a:solidFill>
              </a:rPr>
              <a:t>结算与历史采购现金流之间的逐笔映射，不能称已完成逐项到期排期或完全验证分类去重；实际映射不同须同时重</a:t>
            </a:r>
            <a:endParaRPr lang="en-US" sz="1600" dirty="0"/>
          </a:p>
          <a:p>
            <a:pPr indent="0" marL="0">
              <a:lnSpc>
                <a:spcPct val="100000"/>
              </a:lnSpc>
              <a:buNone/>
            </a:pPr>
            <a:r>
              <a:rPr lang="en-US" sz="1600" dirty="0">
                <a:solidFill>
                  <a:srgbClr val="1F2933"/>
                </a:solidFill>
              </a:rPr>
              <a:t>分类两端，不能只追加一笔。</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限制：首次负现金后的行仅为未融资缺口延续；不能证明能够持续经营或先前未发生逾期。</a:t>
            </a:r>
            <a:endParaRPr lang="en-US" sz="16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直接发行人头寸与未来到期需求：指标摘要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106</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母公司静态短期账面屏幕后现金：1.05 亿元人民币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母公司年末现金减固定本金到期需求：-12.24 亿元人民币</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ks_a_e_parent, ks_d_e_issue_coupon, ks_r_e_issue；计算快照。全量结果、公式与精度见Excel/</a:t>
            </a:r>
            <a:endParaRPr lang="en-US" sz="1100" dirty="0"/>
          </a:p>
          <a:p>
            <a:pPr indent="0" marL="0">
              <a:lnSpc>
                <a:spcPct val="100000"/>
              </a:lnSpc>
              <a:buNone/>
            </a:pPr>
            <a:r>
              <a:rPr lang="en-US" sz="1100" dirty="0">
                <a:solidFill>
                  <a:srgbClr val="56646C"/>
                </a:solidFill>
              </a:rPr>
              <a:t>JSON；本次未复算。</a:t>
            </a:r>
            <a:endParaRPr lang="en-US"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直接发行人头寸与未来到期需求：方法、假设与限制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107</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case_parent_position_v1；截至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ks_d_l_f_parent_cashbook, </a:t>
            </a:r>
            <a:endParaRPr lang="en-US" sz="1600" dirty="0"/>
          </a:p>
          <a:p>
            <a:pPr indent="0" marL="0">
              <a:lnSpc>
                <a:spcPct val="100000"/>
              </a:lnSpc>
              <a:buNone/>
            </a:pPr>
            <a:r>
              <a:rPr lang="en-US" sz="1600" dirty="0">
                <a:solidFill>
                  <a:srgbClr val="1F2933"/>
                </a:solidFill>
              </a:rPr>
              <a:t>ks_d_l_f_parent_stborrow, ks_d_l_f_parent_notes, </a:t>
            </a:r>
            <a:endParaRPr lang="en-US" sz="1600" dirty="0"/>
          </a:p>
          <a:p>
            <a:pPr indent="0" marL="0">
              <a:lnSpc>
                <a:spcPct val="100000"/>
              </a:lnSpc>
              <a:buNone/>
            </a:pPr>
            <a:r>
              <a:rPr lang="en-US" sz="1600" dirty="0">
                <a:solidFill>
                  <a:srgbClr val="1F2933"/>
                </a:solidFill>
              </a:rPr>
              <a:t>ks_d_l_f_parent_ap, ks_d_l_f_parent_currentlong, </a:t>
            </a:r>
            <a:endParaRPr lang="en-US" sz="1600" dirty="0"/>
          </a:p>
          <a:p>
            <a:pPr indent="0" marL="0">
              <a:lnSpc>
                <a:spcPct val="100000"/>
              </a:lnSpc>
              <a:buNone/>
            </a:pPr>
            <a:r>
              <a:rPr lang="en-US" sz="1600" dirty="0">
                <a:solidFill>
                  <a:srgbClr val="1F2933"/>
                </a:solidFill>
              </a:rPr>
              <a:t>ks_d_l_f_parent_currentliab, ks_d_l_f_parent_bonds,</a:t>
            </a:r>
            <a:endParaRPr lang="en-US" sz="1600" dirty="0"/>
          </a:p>
          <a:p>
            <a:pPr indent="0" marL="0">
              <a:lnSpc>
                <a:spcPct val="100000"/>
              </a:lnSpc>
              <a:buNone/>
            </a:pPr>
            <a:r>
              <a:rPr lang="en-US" sz="1600" dirty="0">
                <a:solidFill>
                  <a:srgbClr val="1F2933"/>
                </a:solidFill>
              </a:rPr>
              <a:t> ks_d_l_f_parent_investment_cash, ks_d_f_face_2025,</a:t>
            </a:r>
            <a:endParaRPr lang="en-US" sz="1600" dirty="0"/>
          </a:p>
          <a:p>
            <a:pPr indent="0" marL="0">
              <a:lnSpc>
                <a:spcPct val="100000"/>
              </a:lnSpc>
              <a:buNone/>
            </a:pPr>
            <a:r>
              <a:rPr lang="en-US" sz="1600" dirty="0">
                <a:solidFill>
                  <a:srgbClr val="1F2933"/>
                </a:solidFill>
              </a:rPr>
              <a:t> ks_d_f_maturity_multiple</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ks_a_e_parent, ks_d_e_issue_coupon, </a:t>
            </a:r>
            <a:endParaRPr lang="en-US" sz="1600" dirty="0"/>
          </a:p>
          <a:p>
            <a:pPr indent="0" marL="0">
              <a:lnSpc>
                <a:spcPct val="100000"/>
              </a:lnSpc>
              <a:buNone/>
            </a:pPr>
            <a:r>
              <a:rPr lang="en-US" sz="1600" dirty="0">
                <a:solidFill>
                  <a:srgbClr val="1F2933"/>
                </a:solidFill>
              </a:rPr>
              <a:t>ks_r_e_issue</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假设：现金、短期义务与面值同取2025-12-31；冻结本金到期比较为条件需求，非2029实际余额。</a:t>
            </a:r>
            <a:endParaRPr lang="en-US" sz="16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直接发行人头寸与未来到期需求：方法、假设与限制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108</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限制：母公司短借和一年内非流动负债仍为账面库存代理，不能把含息或混合项目全称银行本金；本表不证明付款</a:t>
            </a:r>
            <a:endParaRPr lang="en-US" sz="1600" dirty="0"/>
          </a:p>
          <a:p>
            <a:pPr indent="0" marL="0">
              <a:lnSpc>
                <a:spcPct val="100000"/>
              </a:lnSpc>
              <a:buNone/>
            </a:pPr>
            <a:r>
              <a:rPr lang="en-US" sz="1600" dirty="0">
                <a:solidFill>
                  <a:srgbClr val="1F2933"/>
                </a:solidFill>
              </a:rPr>
              <a:t>期限。</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限制：母公司应付票据、其他应收/应付含合并抵销前关系，集团内外持票人和往来性质未取得，不能与合并负债</a:t>
            </a:r>
            <a:endParaRPr lang="en-US" sz="1600" dirty="0"/>
          </a:p>
          <a:p>
            <a:pPr indent="0" marL="0">
              <a:lnSpc>
                <a:spcPct val="100000"/>
              </a:lnSpc>
              <a:buNone/>
            </a:pPr>
            <a:r>
              <a:rPr lang="en-US" sz="1600" dirty="0">
                <a:solidFill>
                  <a:srgbClr val="1F2933"/>
                </a:solidFill>
              </a:rPr>
              <a:t>相加，也不能直接假定全部外部即付。</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限制：没有2026Q1母公司报表；2025末母公司现金不移为三月末或六月末，集团Q1现金不替代发行人</a:t>
            </a:r>
            <a:endParaRPr lang="en-US" sz="1600" dirty="0"/>
          </a:p>
          <a:p>
            <a:pPr indent="0" marL="0">
              <a:lnSpc>
                <a:spcPct val="100000"/>
              </a:lnSpc>
              <a:buNone/>
            </a:pPr>
            <a:r>
              <a:rPr lang="en-US" sz="1600" dirty="0">
                <a:solidFill>
                  <a:srgbClr val="1F2933"/>
                </a:solidFill>
              </a:rPr>
              <a:t>现金。</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限制：母公司投资收益现金是本年已发生的流入，不等于已证明每年可重复的全部子公司分红；母公司应收款及合并</a:t>
            </a:r>
            <a:endParaRPr lang="en-US" sz="1600" dirty="0"/>
          </a:p>
          <a:p>
            <a:pPr indent="0" marL="0">
              <a:lnSpc>
                <a:spcPct val="100000"/>
              </a:lnSpc>
              <a:buNone/>
            </a:pPr>
            <a:r>
              <a:rPr lang="en-US" sz="1600" dirty="0">
                <a:solidFill>
                  <a:srgbClr val="1F2933"/>
                </a:solidFill>
              </a:rPr>
              <a:t>净资产亦不是即时可上划现金。</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限制：冻结年末现金与未来到期需求比较仅显示需要经营产现、上划或可执行融资的量级，不宣称2029已缺口，</a:t>
            </a:r>
            <a:endParaRPr lang="en-US" sz="1600" dirty="0"/>
          </a:p>
          <a:p>
            <a:pPr indent="0" marL="0">
              <a:lnSpc>
                <a:spcPct val="100000"/>
              </a:lnSpc>
              <a:buNone/>
            </a:pPr>
            <a:r>
              <a:rPr lang="en-US" sz="1600" dirty="0">
                <a:solidFill>
                  <a:srgbClr val="1F2933"/>
                </a:solidFill>
              </a:rPr>
              <a:t>也不把到期债券本金提前加入2026流动负债。</a:t>
            </a:r>
            <a:endParaRPr lang="en-US" sz="16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0</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109</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branch：中央研究路径
business：C
finance：F4
cell：a-/bbb+
chosen：bbb+
</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0</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110</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individual：不另加减档，条件与风险逐项列明</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support：不计可证实的增益</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issuer：BBB+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outlook：负面</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111</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branch：先权会计金额</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business：C</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finance：F4</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cell：a-/bbb+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chosen：bbb+</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1</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112</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issuer：BBB+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outlook：负面</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condition：其他判断和现金成立条件不变</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2</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113</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branch：经营定性因素共同恶化</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business：D</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finance：F4</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cell：bbb-/bb+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chosen：bb+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issuer：BB+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condition：其他调整/支持无新证据；不能把半分变动当发生概率</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3</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114</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branch：财务因素降至F5</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business：C</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finance：F5</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cell：bbb/bbb-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chosen：bbb-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issuer：BBB-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issue：BBB-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condition：经更新事实得分低于3.5且不低于2.5；不是仅凭现金下降自动换档</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4</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115</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branch：经营D与财务F5同时成立</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business：D</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finance：F5</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cell：bb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chosen：bb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issuer：BB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issue：BB</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condition：重算全部因素，支持和偿付条件未另变化</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5</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116</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branch：持续改善形成财务F3
business：C
finance：F3
cell：a+/a
</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5</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117</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chosen：a</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issuer：A</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issue：A</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condition：财务得分至少4.5、经营条件维持，母公司资金、承诺和用途缺口已解决，至少完整年度及</a:t>
            </a:r>
            <a:endParaRPr lang="en-US" sz="1600" dirty="0"/>
          </a:p>
          <a:p>
            <a:pPr indent="0" marL="0">
              <a:lnSpc>
                <a:spcPct val="100000"/>
              </a:lnSpc>
              <a:buNone/>
            </a:pPr>
            <a:r>
              <a:rPr lang="en-US" sz="1600" dirty="0">
                <a:solidFill>
                  <a:srgbClr val="1F2933"/>
                </a:solidFill>
              </a:rPr>
              <a:t>后续期支持持续性；单次选择区间上端不构成升级</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主体、债项和条件变化的决定链：结果行 6</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118</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branch：短期支付条件失效</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issuer：null</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issue：null</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condition：若已证实到期不能支付、合法提前到期或未落实资金不足以覆盖，停止常态矩阵结论；按事实</a:t>
            </a:r>
            <a:endParaRPr lang="en-US" sz="1600" dirty="0"/>
          </a:p>
          <a:p>
            <a:pPr indent="0" marL="0">
              <a:lnSpc>
                <a:spcPct val="100000"/>
              </a:lnSpc>
              <a:buNone/>
            </a:pPr>
            <a:r>
              <a:rPr lang="en-US" sz="1600" dirty="0">
                <a:solidFill>
                  <a:srgbClr val="1F2933"/>
                </a:solidFill>
              </a:rPr>
              <a:t>、合同宽限、补救与适用困境规则重新定级，不用负面展望替代即时行动</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ks_r_e_matrix, ks_r_e_discretion, ks_r_e_support, ks_r_e_issue, </a:t>
            </a:r>
            <a:endParaRPr lang="en-US" sz="1100" dirty="0"/>
          </a:p>
          <a:p>
            <a:pPr indent="0" marL="0">
              <a:lnSpc>
                <a:spcPct val="100000"/>
              </a:lnSpc>
              <a:buNone/>
            </a:pPr>
            <a:r>
              <a:rPr lang="en-US" sz="1100" dirty="0">
                <a:solidFill>
                  <a:srgbClr val="56646C"/>
                </a:solidFill>
              </a:rPr>
              <a:t>ks_r_e_definitions；计算快照。全量结果、公式与精度见Excel/JSON；本次未复算。</a:t>
            </a:r>
            <a:endParaRPr lang="en-US" sz="11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119</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case_rating_judgment_v1；截至 2026-06-30
已运行专门结果快照；本次导出未重新计算或校验。输入或方法改变后须重跑专门脚本并重新导出。
输入记录 ks_a_ebitda_2025, ks_a_cashst_2025, 
ks_d_c_book_ratio, ks_d_f_fund_temp_cutoff
证据记录 ks_r_e_matrix, ks_r_e_discretion, 
ks_r_e_support, ks_r_e_issue, ks_r_e_definitions
</a:t>
            </a:r>
            <a:endParaRPr lang="en-US" sz="16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主体、债项和条件变化的决定链：方法、假设与限制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120</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假设：中央双档选择较弱一端为本案专业判断，不声称原机构唯一结果。</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假设：个体调整不重复处罚已进入盈利、资产质量、治理和再融资因素的事项。</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假设：没有可证实的支持增益，并不等于未来绝不获支持。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限制：这是境内相对信用的独立公开研究建议，非联合资信发布等级。</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限制：未举行真实评级委员会、未取得全部合同及公司内部资金计划；关键未决条件逐项保留。</a:t>
            </a:r>
            <a:endParaRPr lang="en-US" sz="16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代表性同行的统一口径观察：指标摘要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121</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科顺防水科技股份有限公司收入同比：-11.49%</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科顺防水科技股份有限公司CAS资产负债率：67.32%</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科顺防水科技股份有限公司净营业周期（净额）：130.28 days</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北京东方雨虹防水技术股份有限公司收入同比：-1.70%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北京东方雨虹防水技术股份有限公司CAS资产负债率：51.14%</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ks_r_peer_keshun, ks_r_peer_yuhong, ks_r_peer_bnbm；计算快照。全量结果、公式与精度见Excel</a:t>
            </a:r>
            <a:endParaRPr lang="en-US" sz="1100" dirty="0"/>
          </a:p>
          <a:p>
            <a:pPr indent="0" marL="0">
              <a:lnSpc>
                <a:spcPct val="100000"/>
              </a:lnSpc>
              <a:buNone/>
            </a:pPr>
            <a:r>
              <a:rPr lang="en-US" sz="1100" dirty="0">
                <a:solidFill>
                  <a:srgbClr val="56646C"/>
                </a:solidFill>
              </a:rPr>
              <a:t>/JSON；本次未复算。</a:t>
            </a:r>
            <a:endParaRPr lang="en-US" sz="11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代表性同行的统一口径观察：指标摘要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122</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北京东方雨虹防水技术股份有限公司净营业周期（净额）：69.89 days</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北新集团建材股份有限公司收入同比：-2.09%</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北新集团建材股份有限公司CAS资产负债率：21.60%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北新集团建材股份有限公司净营业周期（净额）：38.28 days</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ks_r_peer_keshun, ks_r_peer_yuhong, ks_r_peer_bnbm；计算快照。全量结果、公式与精度见Excel</a:t>
            </a:r>
            <a:endParaRPr lang="en-US" sz="1100" dirty="0"/>
          </a:p>
          <a:p>
            <a:pPr indent="0" marL="0">
              <a:lnSpc>
                <a:spcPct val="100000"/>
              </a:lnSpc>
              <a:buNone/>
            </a:pPr>
            <a:r>
              <a:rPr lang="en-US" sz="1100" dirty="0">
                <a:solidFill>
                  <a:srgbClr val="56646C"/>
                </a:solidFill>
              </a:rPr>
              <a:t>/JSON；本次未复算。</a:t>
            </a:r>
            <a:endParaRPr lang="en-US" sz="11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代表性同行的统一口径观察：方法、假设与限制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123</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case_peer_comparison_v1；截至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ks_a_revenue_2025, ks_a_revenue_2024, </a:t>
            </a:r>
            <a:endParaRPr lang="en-US" sz="1600" dirty="0"/>
          </a:p>
          <a:p>
            <a:pPr indent="0" marL="0">
              <a:lnSpc>
                <a:spcPct val="100000"/>
              </a:lnSpc>
              <a:buNone/>
            </a:pPr>
            <a:r>
              <a:rPr lang="en-US" sz="1600" dirty="0">
                <a:solidFill>
                  <a:srgbClr val="1F2933"/>
                </a:solidFill>
              </a:rPr>
              <a:t>ks_a_noc360_2025</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证据记录 ks_r_peer_keshun, ks_r_peer_yuhong, </a:t>
            </a:r>
            <a:endParaRPr lang="en-US" sz="1600" dirty="0"/>
          </a:p>
          <a:p>
            <a:pPr indent="0" marL="0">
              <a:lnSpc>
                <a:spcPct val="100000"/>
              </a:lnSpc>
              <a:buNone/>
            </a:pPr>
            <a:r>
              <a:rPr lang="en-US" sz="1600" dirty="0">
                <a:solidFill>
                  <a:srgbClr val="1F2933"/>
                </a:solidFill>
              </a:rPr>
              <a:t>ks_r_peer_bnbm</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假设：统一定义及原始输入按已运行同行底稿保留；不用不同机构口径拼接得分。</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限制：本底稿只补充增长、盈利、杠杆和长短期偿债四方面的代表性同行观察，不计算行业均值、市场份额或机构评</a:t>
            </a:r>
            <a:endParaRPr lang="en-US" sz="16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代表性同行的统一口径观察：方法、假设与限制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124</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级。</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限制：全部原值为人民币元，金额字符串保留小数；比较表金额转亿元，比例为百分比，覆盖为倍，周转为天。</a:t>
            </a:r>
            <a:endParaRPr lang="en-US" sz="1600" dirty="0"/>
          </a:p>
          <a:p>
            <a:pPr indent="0" marL="0">
              <a:lnSpc>
                <a:spcPct val="100000"/>
              </a:lnSpc>
              <a:buNone/>
            </a:pPr>
            <a:r>
              <a:rPr lang="en-US" sz="1600" dirty="0">
                <a:solidFill>
                  <a:srgbClr val="1F2933"/>
                </a:solidFill>
              </a:rPr>
              <a:t>2025与2024均为年度流量或各年12月31日存量。</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限制：简式融资余额包含列示银行借款、债券含短融、租赁、应付票据及已识别保理/拆借本金和表内利息；不包含</a:t>
            </a:r>
            <a:endParaRPr lang="en-US" sz="1600" dirty="0"/>
          </a:p>
          <a:p>
            <a:pPr indent="0" marL="0">
              <a:lnSpc>
                <a:spcPct val="100000"/>
              </a:lnSpc>
              <a:buNone/>
            </a:pPr>
            <a:r>
              <a:rPr lang="en-US" sz="1600" dirty="0">
                <a:solidFill>
                  <a:srgbClr val="1F2933"/>
                </a:solidFill>
              </a:rPr>
              <a:t>长期应付款、一般AP、股份回购义务和未确认为融资的其他负债。三个公司采用同一类别定义；因此不等同各机构</a:t>
            </a:r>
            <a:endParaRPr lang="en-US" sz="1600" dirty="0"/>
          </a:p>
          <a:p>
            <a:pPr indent="0" marL="0">
              <a:lnSpc>
                <a:spcPct val="100000"/>
              </a:lnSpc>
              <a:buNone/>
            </a:pPr>
            <a:r>
              <a:rPr lang="en-US" sz="1600" dirty="0">
                <a:solidFill>
                  <a:srgbClr val="1F2933"/>
                </a:solidFill>
              </a:rPr>
              <a:t>全部债务或已核实的经济融资负债。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限制：长期应付款全部单列排除以保持列报可比：东方雨虹2025/2024非流动融资租赁</a:t>
            </a:r>
            <a:endParaRPr lang="en-US" sz="1600" dirty="0"/>
          </a:p>
          <a:p>
            <a:pPr indent="0" marL="0">
              <a:lnSpc>
                <a:spcPct val="100000"/>
              </a:lnSpc>
              <a:buNone/>
            </a:pPr>
            <a:r>
              <a:rPr lang="en-US" sz="1600" dirty="0">
                <a:solidFill>
                  <a:srgbClr val="1F2933"/>
                </a:solidFill>
              </a:rPr>
              <a:t>49,640,000/51,100,000元，2025当前长期应付款32,155,000元分拆不足；科</a:t>
            </a:r>
            <a:endParaRPr lang="en-US" sz="1600" dirty="0"/>
          </a:p>
          <a:p>
            <a:pPr indent="0" marL="0">
              <a:lnSpc>
                <a:spcPct val="100000"/>
              </a:lnSpc>
              <a:buNone/>
            </a:pPr>
            <a:r>
              <a:rPr lang="en-US" sz="1600" dirty="0">
                <a:solidFill>
                  <a:srgbClr val="1F2933"/>
                </a:solidFill>
              </a:rPr>
              <a:t>顺2024当前融资租赁17,792,864.10元；北新长期应付款明细为人员项目与国家拨款。它们不因</a:t>
            </a:r>
            <a:endParaRPr lang="en-US" sz="1600" dirty="0"/>
          </a:p>
          <a:p>
            <a:pPr indent="0" marL="0">
              <a:lnSpc>
                <a:spcPct val="100000"/>
              </a:lnSpc>
              <a:buNone/>
            </a:pPr>
            <a:r>
              <a:rPr lang="en-US" sz="1600" dirty="0">
                <a:solidFill>
                  <a:srgbClr val="1F2933"/>
                </a:solidFill>
              </a:rPr>
              <a:t>排除而免偿，相关融资余额比率会比全口径略乐观。</a:t>
            </a:r>
            <a:endParaRPr lang="en-US" sz="16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代表性同行的统一口径观察：方法、假设与限制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125</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限制：简式EBITDA=利润总额+费用化利息+CF补充固定资产折旧等+使用权折旧+无形摊销+长期待摊摊</a:t>
            </a:r>
            <a:endParaRPr lang="en-US" sz="1600" dirty="0"/>
          </a:p>
          <a:p>
            <a:pPr indent="0" marL="0">
              <a:lnSpc>
                <a:spcPct val="100000"/>
              </a:lnSpc>
              <a:buNone/>
            </a:pPr>
            <a:r>
              <a:rPr lang="en-US" sz="1600" dirty="0">
                <a:solidFill>
                  <a:srgbClr val="1F2933"/>
                </a:solidFill>
              </a:rPr>
              <a:t>销；保留所有信用/资产减值和非经常损益。利息倍数统一用费用化利息；北新全口径资本化利息尚不全，不能把该</a:t>
            </a:r>
            <a:endParaRPr lang="en-US" sz="1600" dirty="0"/>
          </a:p>
          <a:p>
            <a:pPr indent="0" marL="0">
              <a:lnSpc>
                <a:spcPct val="100000"/>
              </a:lnSpc>
              <a:buNone/>
            </a:pPr>
            <a:r>
              <a:rPr lang="en-US" sz="1600" dirty="0">
                <a:solidFill>
                  <a:srgbClr val="1F2933"/>
                </a:solidFill>
              </a:rPr>
              <a:t>倍数写成全部利息覆盖。</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限制：北新建材是石膏板、防水、涂料等集团，东方雨虹亦有工程/砂浆和其他业务；集团利润和融资能力不代表纯</a:t>
            </a:r>
            <a:endParaRPr lang="en-US" sz="1600" dirty="0"/>
          </a:p>
          <a:p>
            <a:pPr indent="0" marL="0">
              <a:lnSpc>
                <a:spcPct val="100000"/>
              </a:lnSpc>
              <a:buNone/>
            </a:pPr>
            <a:r>
              <a:rPr lang="en-US" sz="1600" dirty="0">
                <a:solidFill>
                  <a:srgbClr val="1F2933"/>
                </a:solidFill>
              </a:rPr>
              <a:t>防水行业。两个样本不能代表行业全体，未给行业杠杆/偿债的总体分布。</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限制：同控重述与非同控收购影响期间可比；同行2025年报均称不追溯以前年度主要数据，但并购只从购买日起</a:t>
            </a:r>
            <a:endParaRPr lang="en-US" sz="1600" dirty="0"/>
          </a:p>
          <a:p>
            <a:pPr indent="0" marL="0">
              <a:lnSpc>
                <a:spcPct val="100000"/>
              </a:lnSpc>
              <a:buNone/>
            </a:pPr>
            <a:r>
              <a:rPr lang="en-US" sz="1600" dirty="0">
                <a:solidFill>
                  <a:srgbClr val="1F2933"/>
                </a:solidFill>
              </a:rPr>
              <a:t>计损益，不能称有机增长。</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限制：科顺同列数据沿用会计原始底稿，保留原fact IDs与精确source_locators；</a:t>
            </a:r>
            <a:endParaRPr lang="en-US" sz="1600" dirty="0"/>
          </a:p>
          <a:p>
            <a:pPr indent="0" marL="0">
              <a:lnSpc>
                <a:spcPct val="100000"/>
              </a:lnSpc>
              <a:buNone/>
            </a:pPr>
            <a:r>
              <a:rPr lang="en-US" sz="1600" dirty="0">
                <a:solidFill>
                  <a:srgbClr val="1F2933"/>
                </a:solidFill>
              </a:rPr>
              <a:t>未重新抽取全部科顺原表。</a:t>
            </a:r>
            <a:endParaRPr lang="en-US" sz="16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披露期限表与固定本金合同时间轴：指标摘要</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126</a:t>
            </a:r>
            <a:endParaRPr lang="en-US" sz="900" dirty="0"/>
          </a:p>
        </p:txBody>
      </p:sp>
      <p:sp>
        <p:nvSpPr>
          <p:cNvPr id="5" name="Text 3"/>
          <p:cNvSpPr/>
          <p:nvPr/>
        </p:nvSpPr>
        <p:spPr>
          <a:xfrm>
            <a:off x="594360" y="1463040"/>
            <a:ext cx="10972800" cy="411480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2025末固定面值的下一年票息：2,197.83 万元人民币</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披露一年内金额减固定本金票息：-1,098.91 万元人民币</a:t>
            </a:r>
            <a:endParaRPr lang="en-US" sz="1600" dirty="0"/>
          </a:p>
        </p:txBody>
      </p:sp>
      <p:sp>
        <p:nvSpPr>
          <p:cNvPr id="6" name="Text 4"/>
          <p:cNvSpPr/>
          <p:nvPr/>
        </p:nvSpPr>
        <p:spPr>
          <a:xfrm>
            <a:off x="594360" y="5806440"/>
            <a:ext cx="10972800" cy="502920"/>
          </a:xfrm>
          <a:prstGeom prst="rect">
            <a:avLst/>
          </a:prstGeom>
          <a:noFill/>
          <a:ln/>
        </p:spPr>
        <p:txBody>
          <a:bodyPr wrap="square" lIns="0" tIns="0" rIns="0" bIns="0" rtlCol="0" anchor="t"/>
          <a:lstStyle/>
          <a:p>
            <a:pPr indent="0" marL="0">
              <a:lnSpc>
                <a:spcPct val="100000"/>
              </a:lnSpc>
              <a:buNone/>
            </a:pPr>
            <a:r>
              <a:rPr lang="en-US" sz="1100" dirty="0">
                <a:solidFill>
                  <a:srgbClr val="56646C"/>
                </a:solidFill>
              </a:rPr>
              <a:t>证据 ks_r_e_bond_buckets, ks_d_e_issue_coupon, ks_d_e_maturity_call；计算快照。全量结果</a:t>
            </a:r>
            <a:endParaRPr lang="en-US" sz="1100" dirty="0"/>
          </a:p>
          <a:p>
            <a:pPr indent="0" marL="0">
              <a:lnSpc>
                <a:spcPct val="100000"/>
              </a:lnSpc>
              <a:buNone/>
            </a:pPr>
            <a:r>
              <a:rPr lang="en-US" sz="1100" dirty="0">
                <a:solidFill>
                  <a:srgbClr val="56646C"/>
                </a:solidFill>
              </a:rPr>
              <a:t>、公式与精度见Excel/JSON；本次未复算。</a:t>
            </a:r>
            <a:endParaRPr lang="en-US" sz="11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披露期限表与固定本金合同时间轴：方法、假设与限制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127</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r>
              <a:rPr lang="en-US" sz="1600" dirty="0">
                <a:solidFill>
                  <a:srgbClr val="1F2933"/>
                </a:solidFill>
              </a:rPr>
              <a:t>方法 case_bond_bucket_comparison_v1；截至 2026-06-30</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已运行专门结果快照；本次导出未重新计算或校验。输入或方法改变后须重跑专门脚本并重新导出。</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输入记录 ks_d_f_face_2025, ks_d_f_coupon_3, </a:t>
            </a:r>
            <a:endParaRPr lang="en-US" sz="1600" dirty="0"/>
          </a:p>
          <a:p>
            <a:pPr indent="0" marL="0">
              <a:lnSpc>
                <a:spcPct val="100000"/>
              </a:lnSpc>
              <a:buNone/>
            </a:pPr>
            <a:r>
              <a:rPr lang="en-US" sz="1600" dirty="0">
                <a:solidFill>
                  <a:srgbClr val="1F2933"/>
                </a:solidFill>
              </a:rPr>
              <a:t>ks_d_f_coupon_4, ks_d_f_coupon_5, </a:t>
            </a:r>
            <a:endParaRPr lang="en-US" sz="1600" dirty="0"/>
          </a:p>
          <a:p>
            <a:pPr indent="0" marL="0">
              <a:lnSpc>
                <a:spcPct val="100000"/>
              </a:lnSpc>
              <a:buNone/>
            </a:pPr>
            <a:r>
              <a:rPr lang="en-US" sz="1600" dirty="0">
                <a:solidFill>
                  <a:srgbClr val="1F2933"/>
                </a:solidFill>
              </a:rPr>
              <a:t>ks_d_f_maturity_multiple, </a:t>
            </a:r>
            <a:endParaRPr lang="en-US" sz="1600" dirty="0"/>
          </a:p>
          <a:p>
            <a:pPr indent="0" marL="0">
              <a:lnSpc>
                <a:spcPct val="100000"/>
              </a:lnSpc>
              <a:buNone/>
            </a:pPr>
            <a:r>
              <a:rPr lang="en-US" sz="1600" dirty="0">
                <a:solidFill>
                  <a:srgbClr val="1F2933"/>
                </a:solidFill>
              </a:rPr>
              <a:t>ks_r_bucket_within_one_year, </a:t>
            </a:r>
            <a:endParaRPr lang="en-US" sz="1600" dirty="0"/>
          </a:p>
          <a:p>
            <a:pPr indent="0" marL="0">
              <a:lnSpc>
                <a:spcPct val="100000"/>
              </a:lnSpc>
              <a:buNone/>
            </a:pPr>
            <a:r>
              <a:rPr lang="en-US" sz="1600" dirty="0">
                <a:solidFill>
                  <a:srgbClr val="1F2933"/>
                </a:solidFill>
              </a:rPr>
              <a:t>ks_r_bucket_one_to_three_years, </a:t>
            </a:r>
            <a:endParaRPr lang="en-US" sz="1600" dirty="0"/>
          </a:p>
          <a:p>
            <a:pPr indent="0" marL="0">
              <a:lnSpc>
                <a:spcPct val="100000"/>
              </a:lnSpc>
              <a:buNone/>
            </a:pPr>
            <a:r>
              <a:rPr lang="en-US" sz="1600" dirty="0">
                <a:solidFill>
                  <a:srgbClr val="1F2933"/>
                </a:solidFill>
              </a:rPr>
              <a:t>ks_r_bucket_over_three_years, ks_r_bucket_total</a:t>
            </a:r>
            <a:endParaRPr lang="en-US" sz="16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披露期限表与固定本金合同时间轴：方法、假设与限制</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128</a:t>
            </a:r>
            <a:endParaRPr lang="en-US" sz="900" dirty="0"/>
          </a:p>
        </p:txBody>
      </p:sp>
      <p:sp>
        <p:nvSpPr>
          <p:cNvPr id="5" name="Text 3"/>
          <p:cNvSpPr/>
          <p:nvPr/>
        </p:nvSpPr>
        <p:spPr>
          <a:xfrm>
            <a:off x="594360" y="1463040"/>
            <a:ext cx="10972800" cy="4480560"/>
          </a:xfrm>
          <a:prstGeom prst="rect">
            <a:avLst/>
          </a:prstGeom>
          <a:noFill/>
          <a:ln/>
        </p:spPr>
        <p:txBody>
          <a:bodyPr wrap="square" lIns="0" tIns="0" rIns="0" bIns="0" rtlCol="0" anchor="t"/>
          <a:lstStyle/>
          <a:p>
            <a:pPr indent="0" marL="0">
              <a:lnSpc>
                <a:spcPct val="100000"/>
              </a:lnSpc>
              <a:buNone/>
            </a:pPr>
            <a:endParaRPr lang="en-US" sz="1600" dirty="0"/>
          </a:p>
          <a:p>
            <a:pPr indent="0" marL="0">
              <a:lnSpc>
                <a:spcPct val="100000"/>
              </a:lnSpc>
              <a:buNone/>
            </a:pPr>
            <a:r>
              <a:rPr lang="en-US" sz="1600" dirty="0">
                <a:solidFill>
                  <a:srgbClr val="1F2933"/>
                </a:solidFill>
              </a:rPr>
              <a:t>证据记录 ks_r_e_bond_buckets, ks_d_e_issue_coupon, </a:t>
            </a:r>
            <a:endParaRPr lang="en-US" sz="1600" dirty="0"/>
          </a:p>
          <a:p>
            <a:pPr indent="0" marL="0">
              <a:lnSpc>
                <a:spcPct val="100000"/>
              </a:lnSpc>
              <a:buNone/>
            </a:pPr>
            <a:r>
              <a:rPr lang="en-US" sz="1600" dirty="0">
                <a:solidFill>
                  <a:srgbClr val="1F2933"/>
                </a:solidFill>
              </a:rPr>
              <a:t>ks_d_e_maturity_call</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假设：一年以内对应2026第三年票息；一至三年对应2027/2028票息；三年以上对应2029到期含末</a:t>
            </a:r>
            <a:endParaRPr lang="en-US" sz="1600" dirty="0"/>
          </a:p>
          <a:p>
            <a:pPr indent="0" marL="0">
              <a:lnSpc>
                <a:spcPct val="100000"/>
              </a:lnSpc>
              <a:buNone/>
            </a:pPr>
            <a:r>
              <a:rPr lang="en-US" sz="1600" dirty="0">
                <a:solidFill>
                  <a:srgbClr val="1F2933"/>
                </a:solidFill>
              </a:rPr>
              <a:t>息价。</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限制：未证明报告表采用相同无转股假设；差额需解释，不作为自动错报或违约。</a:t>
            </a:r>
            <a:endParaRPr lang="en-US" sz="1600" dirty="0"/>
          </a:p>
          <a:p>
            <a:pPr indent="0" marL="0">
              <a:lnSpc>
                <a:spcPct val="100000"/>
              </a:lnSpc>
              <a:buNone/>
            </a:pPr>
            <a:endParaRPr lang="en-US" sz="1600" dirty="0"/>
          </a:p>
          <a:p>
            <a:pPr indent="0" marL="0">
              <a:lnSpc>
                <a:spcPct val="100000"/>
              </a:lnSpc>
              <a:buNone/>
            </a:pPr>
            <a:r>
              <a:rPr lang="en-US" sz="1600" dirty="0">
                <a:solidFill>
                  <a:srgbClr val="1F2933"/>
                </a:solidFill>
              </a:rPr>
              <a:t>限制：保持原报告数字和自己的契约条件计算并列，不以期末账面债券替换面值。</a:t>
            </a:r>
            <a:endParaRPr lang="en-US" sz="16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下一步核查</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129</a:t>
            </a:r>
            <a:endParaRPr lang="en-US" sz="900" dirty="0"/>
          </a:p>
        </p:txBody>
      </p:sp>
      <p:sp>
        <p:nvSpPr>
          <p:cNvPr id="5" name="Text 3"/>
          <p:cNvSpPr/>
          <p:nvPr/>
        </p:nvSpPr>
        <p:spPr>
          <a:xfrm>
            <a:off x="594360" y="15087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01</a:t>
            </a:r>
            <a:endParaRPr lang="en-US" sz="2000" dirty="0"/>
          </a:p>
        </p:txBody>
      </p:sp>
      <p:sp>
        <p:nvSpPr>
          <p:cNvPr id="6" name="Text 4"/>
          <p:cNvSpPr/>
          <p:nvPr/>
        </p:nvSpPr>
        <p:spPr>
          <a:xfrm>
            <a:off x="1645920" y="15087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取得横琴同控重述后的2023合并全套报表、调整分录和2024/2023比较明细；</a:t>
            </a:r>
            <a:endParaRPr lang="en-US" sz="1800" dirty="0"/>
          </a:p>
          <a:p>
            <a:pPr indent="0" marL="0">
              <a:lnSpc>
                <a:spcPct val="100000"/>
              </a:lnSpc>
              <a:buNone/>
            </a:pPr>
            <a:r>
              <a:rPr lang="en-US" sz="1800" dirty="0">
                <a:solidFill>
                  <a:srgbClr val="1F2933"/>
                </a:solidFill>
              </a:rPr>
              <a:t>解释丰泽范围影响。</a:t>
            </a:r>
            <a:endParaRPr lang="en-US" sz="1800" dirty="0"/>
          </a:p>
        </p:txBody>
      </p:sp>
      <p:sp>
        <p:nvSpPr>
          <p:cNvPr id="7" name="Text 5"/>
          <p:cNvSpPr/>
          <p:nvPr/>
        </p:nvSpPr>
        <p:spPr>
          <a:xfrm>
            <a:off x="1645920" y="23042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9" name="Text 6"/>
          <p:cNvSpPr/>
          <p:nvPr/>
        </p:nvSpPr>
        <p:spPr>
          <a:xfrm>
            <a:off x="594360" y="28803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02</a:t>
            </a:r>
            <a:endParaRPr lang="en-US" sz="2000" dirty="0"/>
          </a:p>
        </p:txBody>
      </p:sp>
      <p:sp>
        <p:nvSpPr>
          <p:cNvPr id="10" name="Text 7"/>
          <p:cNvSpPr/>
          <p:nvPr/>
        </p:nvSpPr>
        <p:spPr>
          <a:xfrm>
            <a:off x="1645920" y="28803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客户逐笔期后银行收现、账龄及重组台账，单项和组合ECL参数、抵债估值及担保可执行</a:t>
            </a:r>
            <a:endParaRPr lang="en-US" sz="1800" dirty="0"/>
          </a:p>
          <a:p>
            <a:pPr indent="0" marL="0">
              <a:lnSpc>
                <a:spcPct val="100000"/>
              </a:lnSpc>
              <a:buNone/>
            </a:pPr>
            <a:r>
              <a:rPr lang="en-US" sz="1800" dirty="0">
                <a:solidFill>
                  <a:srgbClr val="1F2933"/>
                </a:solidFill>
              </a:rPr>
              <a:t>证据。</a:t>
            </a:r>
            <a:endParaRPr lang="en-US" sz="1800" dirty="0"/>
          </a:p>
        </p:txBody>
      </p:sp>
      <p:sp>
        <p:nvSpPr>
          <p:cNvPr id="11" name="Text 8"/>
          <p:cNvSpPr/>
          <p:nvPr/>
        </p:nvSpPr>
        <p:spPr>
          <a:xfrm>
            <a:off x="1645920" y="36758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13" name="Text 9"/>
          <p:cNvSpPr/>
          <p:nvPr/>
        </p:nvSpPr>
        <p:spPr>
          <a:xfrm>
            <a:off x="594360" y="42519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03</a:t>
            </a:r>
            <a:endParaRPr lang="en-US" sz="2000" dirty="0"/>
          </a:p>
        </p:txBody>
      </p:sp>
      <p:sp>
        <p:nvSpPr>
          <p:cNvPr id="14" name="Text 10"/>
          <p:cNvSpPr/>
          <p:nvPr/>
        </p:nvSpPr>
        <p:spPr>
          <a:xfrm>
            <a:off x="1645920" y="42519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中天盈等重组协议、期后收款、权属/抵押及关联交易审批定价支持。</a:t>
            </a:r>
            <a:endParaRPr lang="en-US" sz="1800" dirty="0"/>
          </a:p>
        </p:txBody>
      </p:sp>
      <p:sp>
        <p:nvSpPr>
          <p:cNvPr id="15" name="Text 11"/>
          <p:cNvSpPr/>
          <p:nvPr/>
        </p:nvSpPr>
        <p:spPr>
          <a:xfrm>
            <a:off x="1645920" y="50474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下一步核查</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130</a:t>
            </a:r>
            <a:endParaRPr lang="en-US" sz="900" dirty="0"/>
          </a:p>
        </p:txBody>
      </p:sp>
      <p:sp>
        <p:nvSpPr>
          <p:cNvPr id="5" name="Text 3"/>
          <p:cNvSpPr/>
          <p:nvPr/>
        </p:nvSpPr>
        <p:spPr>
          <a:xfrm>
            <a:off x="594360" y="15087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04</a:t>
            </a:r>
            <a:endParaRPr lang="en-US" sz="2000" dirty="0"/>
          </a:p>
        </p:txBody>
      </p:sp>
      <p:sp>
        <p:nvSpPr>
          <p:cNvPr id="6" name="Text 4"/>
          <p:cNvSpPr/>
          <p:nvPr/>
        </p:nvSpPr>
        <p:spPr>
          <a:xfrm>
            <a:off x="1645920" y="15087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主要工程合同、客户确认工程量、变更索赔、预计总成本、质保及期后结算，执行截止测试</a:t>
            </a:r>
            <a:endParaRPr lang="en-US" sz="1800" dirty="0"/>
          </a:p>
          <a:p>
            <a:pPr indent="0" marL="0">
              <a:lnSpc>
                <a:spcPct val="100000"/>
              </a:lnSpc>
              <a:buNone/>
            </a:pPr>
            <a:r>
              <a:rPr lang="en-US" sz="1800" dirty="0">
                <a:solidFill>
                  <a:srgbClr val="1F2933"/>
                </a:solidFill>
              </a:rPr>
              <a:t>。</a:t>
            </a:r>
            <a:endParaRPr lang="en-US" sz="1800" dirty="0"/>
          </a:p>
        </p:txBody>
      </p:sp>
      <p:sp>
        <p:nvSpPr>
          <p:cNvPr id="7" name="Text 5"/>
          <p:cNvSpPr/>
          <p:nvPr/>
        </p:nvSpPr>
        <p:spPr>
          <a:xfrm>
            <a:off x="1645920" y="23042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9" name="Text 6"/>
          <p:cNvSpPr/>
          <p:nvPr/>
        </p:nvSpPr>
        <p:spPr>
          <a:xfrm>
            <a:off x="594360" y="28803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05</a:t>
            </a:r>
            <a:endParaRPr lang="en-US" sz="2000" dirty="0"/>
          </a:p>
        </p:txBody>
      </p:sp>
      <p:sp>
        <p:nvSpPr>
          <p:cNvPr id="10" name="Text 7"/>
          <p:cNvSpPr/>
          <p:nvPr/>
        </p:nvSpPr>
        <p:spPr>
          <a:xfrm>
            <a:off x="1645920" y="28803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银行函证及资金流水、全部质押冻结/募集金/理财协议和集团资金上划限制，确认真正可</a:t>
            </a:r>
            <a:endParaRPr lang="en-US" sz="1800" dirty="0"/>
          </a:p>
          <a:p>
            <a:pPr indent="0" marL="0">
              <a:lnSpc>
                <a:spcPct val="100000"/>
              </a:lnSpc>
              <a:buNone/>
            </a:pPr>
            <a:r>
              <a:rPr lang="en-US" sz="1800" dirty="0">
                <a:solidFill>
                  <a:srgbClr val="1F2933"/>
                </a:solidFill>
              </a:rPr>
              <a:t>动用现金。</a:t>
            </a:r>
            <a:endParaRPr lang="en-US" sz="1800" dirty="0"/>
          </a:p>
        </p:txBody>
      </p:sp>
      <p:sp>
        <p:nvSpPr>
          <p:cNvPr id="11" name="Text 8"/>
          <p:cNvSpPr/>
          <p:nvPr/>
        </p:nvSpPr>
        <p:spPr>
          <a:xfrm>
            <a:off x="1645920" y="36758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13" name="Text 9"/>
          <p:cNvSpPr/>
          <p:nvPr/>
        </p:nvSpPr>
        <p:spPr>
          <a:xfrm>
            <a:off x="594360" y="42519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06</a:t>
            </a:r>
            <a:endParaRPr lang="en-US" sz="2000" dirty="0"/>
          </a:p>
        </p:txBody>
      </p:sp>
      <p:sp>
        <p:nvSpPr>
          <p:cNvPr id="14" name="Text 10"/>
          <p:cNvSpPr/>
          <p:nvPr/>
        </p:nvSpPr>
        <p:spPr>
          <a:xfrm>
            <a:off x="1645920" y="42519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逐笔供应商融资协议和账期、平台已付供应商核对、AP转借款现金与非现金分类、追索</a:t>
            </a:r>
            <a:endParaRPr lang="en-US" sz="1800" dirty="0"/>
          </a:p>
          <a:p>
            <a:pPr indent="0" marL="0">
              <a:lnSpc>
                <a:spcPct val="100000"/>
              </a:lnSpc>
              <a:buNone/>
            </a:pPr>
            <a:r>
              <a:rPr lang="en-US" sz="1800" dirty="0">
                <a:solidFill>
                  <a:srgbClr val="1F2933"/>
                </a:solidFill>
              </a:rPr>
              <a:t>条件。</a:t>
            </a:r>
            <a:endParaRPr lang="en-US" sz="1800" dirty="0"/>
          </a:p>
        </p:txBody>
      </p:sp>
      <p:sp>
        <p:nvSpPr>
          <p:cNvPr id="15" name="Text 11"/>
          <p:cNvSpPr/>
          <p:nvPr/>
        </p:nvSpPr>
        <p:spPr>
          <a:xfrm>
            <a:off x="1645920" y="50474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下一步核查</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131</a:t>
            </a:r>
            <a:endParaRPr lang="en-US" sz="900" dirty="0"/>
          </a:p>
        </p:txBody>
      </p:sp>
      <p:sp>
        <p:nvSpPr>
          <p:cNvPr id="5" name="Text 3"/>
          <p:cNvSpPr/>
          <p:nvPr/>
        </p:nvSpPr>
        <p:spPr>
          <a:xfrm>
            <a:off x="594360" y="15087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07</a:t>
            </a:r>
            <a:endParaRPr lang="en-US" sz="2000" dirty="0"/>
          </a:p>
        </p:txBody>
      </p:sp>
      <p:sp>
        <p:nvSpPr>
          <p:cNvPr id="6" name="Text 4"/>
          <p:cNvSpPr/>
          <p:nvPr/>
        </p:nvSpPr>
        <p:spPr>
          <a:xfrm>
            <a:off x="1645920" y="15087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存货库龄及售价，闲置产线处置/复产计划、现金产出单元测试、土地房产权证、商誉测算</a:t>
            </a:r>
            <a:endParaRPr lang="en-US" sz="1800" dirty="0"/>
          </a:p>
          <a:p>
            <a:pPr indent="0" marL="0">
              <a:lnSpc>
                <a:spcPct val="100000"/>
              </a:lnSpc>
              <a:buNone/>
            </a:pPr>
            <a:r>
              <a:rPr lang="en-US" sz="1800" dirty="0">
                <a:solidFill>
                  <a:srgbClr val="1F2933"/>
                </a:solidFill>
              </a:rPr>
              <a:t>及外部估值。</a:t>
            </a:r>
            <a:endParaRPr lang="en-US" sz="1800" dirty="0"/>
          </a:p>
        </p:txBody>
      </p:sp>
      <p:sp>
        <p:nvSpPr>
          <p:cNvPr id="7" name="Text 5"/>
          <p:cNvSpPr/>
          <p:nvPr/>
        </p:nvSpPr>
        <p:spPr>
          <a:xfrm>
            <a:off x="1645920" y="23042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9" name="Text 6"/>
          <p:cNvSpPr/>
          <p:nvPr/>
        </p:nvSpPr>
        <p:spPr>
          <a:xfrm>
            <a:off x="594360" y="28803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08</a:t>
            </a:r>
            <a:endParaRPr lang="en-US" sz="2000" dirty="0"/>
          </a:p>
        </p:txBody>
      </p:sp>
      <p:sp>
        <p:nvSpPr>
          <p:cNvPr id="10" name="Text 7"/>
          <p:cNvSpPr/>
          <p:nvPr/>
        </p:nvSpPr>
        <p:spPr>
          <a:xfrm>
            <a:off x="1645920" y="28803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滁州一期重要在建表各列至总账明细的完整桥、其他减少内容、转固验收及资本化利息计算</a:t>
            </a:r>
            <a:endParaRPr lang="en-US" sz="1800" dirty="0"/>
          </a:p>
          <a:p>
            <a:pPr indent="0" marL="0">
              <a:lnSpc>
                <a:spcPct val="100000"/>
              </a:lnSpc>
              <a:buNone/>
            </a:pPr>
            <a:r>
              <a:rPr lang="en-US" sz="1800" dirty="0">
                <a:solidFill>
                  <a:srgbClr val="1F2933"/>
                </a:solidFill>
              </a:rPr>
              <a:t>。</a:t>
            </a:r>
            <a:endParaRPr lang="en-US" sz="1800" dirty="0"/>
          </a:p>
        </p:txBody>
      </p:sp>
      <p:sp>
        <p:nvSpPr>
          <p:cNvPr id="11" name="Text 8"/>
          <p:cNvSpPr/>
          <p:nvPr/>
        </p:nvSpPr>
        <p:spPr>
          <a:xfrm>
            <a:off x="1645920" y="36758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13" name="Text 9"/>
          <p:cNvSpPr/>
          <p:nvPr/>
        </p:nvSpPr>
        <p:spPr>
          <a:xfrm>
            <a:off x="594360" y="42519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09</a:t>
            </a:r>
            <a:endParaRPr lang="en-US" sz="2000" dirty="0"/>
          </a:p>
        </p:txBody>
      </p:sp>
      <p:sp>
        <p:nvSpPr>
          <p:cNvPr id="14" name="Text 10"/>
          <p:cNvSpPr/>
          <p:nvPr/>
        </p:nvSpPr>
        <p:spPr>
          <a:xfrm>
            <a:off x="1645920" y="42519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按纳税主体未来应税利润预算、亏损到期表、可抵扣差异转回时点及优惠资格持续性。</a:t>
            </a:r>
            <a:endParaRPr lang="en-US" sz="1800" dirty="0"/>
          </a:p>
        </p:txBody>
      </p:sp>
      <p:sp>
        <p:nvSpPr>
          <p:cNvPr id="15" name="Text 11"/>
          <p:cNvSpPr/>
          <p:nvPr/>
        </p:nvSpPr>
        <p:spPr>
          <a:xfrm>
            <a:off x="1645920" y="50474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下一步核查</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132</a:t>
            </a:r>
            <a:endParaRPr lang="en-US" sz="900" dirty="0"/>
          </a:p>
        </p:txBody>
      </p:sp>
      <p:sp>
        <p:nvSpPr>
          <p:cNvPr id="5" name="Text 3"/>
          <p:cNvSpPr/>
          <p:nvPr/>
        </p:nvSpPr>
        <p:spPr>
          <a:xfrm>
            <a:off x="594360" y="15087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10</a:t>
            </a:r>
            <a:endParaRPr lang="en-US" sz="2000" dirty="0"/>
          </a:p>
        </p:txBody>
      </p:sp>
      <p:sp>
        <p:nvSpPr>
          <p:cNvPr id="6" name="Text 4"/>
          <p:cNvSpPr/>
          <p:nvPr/>
        </p:nvSpPr>
        <p:spPr>
          <a:xfrm>
            <a:off x="1645920" y="15087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集团往来合同及账龄、现金归集限制、子公司分红决策和上划凭证，发行主体未来一年资金</a:t>
            </a:r>
            <a:endParaRPr lang="en-US" sz="1800" dirty="0"/>
          </a:p>
          <a:p>
            <a:pPr indent="0" marL="0">
              <a:lnSpc>
                <a:spcPct val="100000"/>
              </a:lnSpc>
              <a:buNone/>
            </a:pPr>
            <a:r>
              <a:rPr lang="en-US" sz="1800" dirty="0">
                <a:solidFill>
                  <a:srgbClr val="1F2933"/>
                </a:solidFill>
              </a:rPr>
              <a:t>计划。</a:t>
            </a:r>
            <a:endParaRPr lang="en-US" sz="1800" dirty="0"/>
          </a:p>
        </p:txBody>
      </p:sp>
      <p:sp>
        <p:nvSpPr>
          <p:cNvPr id="7" name="Text 5"/>
          <p:cNvSpPr/>
          <p:nvPr/>
        </p:nvSpPr>
        <p:spPr>
          <a:xfrm>
            <a:off x="1645920" y="23042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9" name="Text 6"/>
          <p:cNvSpPr/>
          <p:nvPr/>
        </p:nvSpPr>
        <p:spPr>
          <a:xfrm>
            <a:off x="594360" y="28803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11</a:t>
            </a:r>
            <a:endParaRPr lang="en-US" sz="2000" dirty="0"/>
          </a:p>
        </p:txBody>
      </p:sp>
      <p:sp>
        <p:nvSpPr>
          <p:cNvPr id="10" name="Text 7"/>
          <p:cNvSpPr/>
          <p:nvPr/>
        </p:nvSpPr>
        <p:spPr>
          <a:xfrm>
            <a:off x="1645920" y="28803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银行授信合同可提条件、保证/保函对手清单和代偿历史、诉讼律师意见、产品质量预计</a:t>
            </a:r>
            <a:endParaRPr lang="en-US" sz="1800" dirty="0"/>
          </a:p>
          <a:p>
            <a:pPr indent="0" marL="0">
              <a:lnSpc>
                <a:spcPct val="100000"/>
              </a:lnSpc>
              <a:buNone/>
            </a:pPr>
            <a:r>
              <a:rPr lang="en-US" sz="1800" dirty="0">
                <a:solidFill>
                  <a:srgbClr val="1F2933"/>
                </a:solidFill>
              </a:rPr>
              <a:t>负债测算。</a:t>
            </a:r>
            <a:endParaRPr lang="en-US" sz="1800" dirty="0"/>
          </a:p>
        </p:txBody>
      </p:sp>
      <p:sp>
        <p:nvSpPr>
          <p:cNvPr id="11" name="Text 8"/>
          <p:cNvSpPr/>
          <p:nvPr/>
        </p:nvSpPr>
        <p:spPr>
          <a:xfrm>
            <a:off x="1645920" y="36758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13" name="Text 9"/>
          <p:cNvSpPr/>
          <p:nvPr/>
        </p:nvSpPr>
        <p:spPr>
          <a:xfrm>
            <a:off x="594360" y="42519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12</a:t>
            </a:r>
            <a:endParaRPr lang="en-US" sz="2000" dirty="0"/>
          </a:p>
        </p:txBody>
      </p:sp>
      <p:sp>
        <p:nvSpPr>
          <p:cNvPr id="14" name="Text 10"/>
          <p:cNvSpPr/>
          <p:nvPr/>
        </p:nvSpPr>
        <p:spPr>
          <a:xfrm>
            <a:off x="1645920" y="42519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取得混用期间逐笔银行流水与用途追踪、专户整改执行、截至研究截止日新轮实际占用及募</a:t>
            </a:r>
            <a:endParaRPr lang="en-US" sz="1800" dirty="0"/>
          </a:p>
          <a:p>
            <a:pPr indent="0" marL="0">
              <a:lnSpc>
                <a:spcPct val="100000"/>
              </a:lnSpc>
              <a:buNone/>
            </a:pPr>
            <a:r>
              <a:rPr lang="en-US" sz="1800" dirty="0">
                <a:solidFill>
                  <a:srgbClr val="1F2933"/>
                </a:solidFill>
              </a:rPr>
              <a:t>投资金需求。旧轮归还和新轮授权公告已取得，不再请求重复证明授权时点。</a:t>
            </a:r>
            <a:endParaRPr lang="en-US" sz="1800" dirty="0"/>
          </a:p>
        </p:txBody>
      </p:sp>
      <p:sp>
        <p:nvSpPr>
          <p:cNvPr id="15" name="Text 11"/>
          <p:cNvSpPr/>
          <p:nvPr/>
        </p:nvSpPr>
        <p:spPr>
          <a:xfrm>
            <a:off x="1645920" y="50474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下一步核查</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133</a:t>
            </a:r>
            <a:endParaRPr lang="en-US" sz="900" dirty="0"/>
          </a:p>
        </p:txBody>
      </p:sp>
      <p:sp>
        <p:nvSpPr>
          <p:cNvPr id="5" name="Text 3"/>
          <p:cNvSpPr/>
          <p:nvPr/>
        </p:nvSpPr>
        <p:spPr>
          <a:xfrm>
            <a:off x="594360" y="15087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13</a:t>
            </a:r>
            <a:endParaRPr lang="en-US" sz="2000" dirty="0"/>
          </a:p>
        </p:txBody>
      </p:sp>
      <p:sp>
        <p:nvSpPr>
          <p:cNvPr id="6" name="Text 4"/>
          <p:cNvSpPr/>
          <p:nvPr/>
        </p:nvSpPr>
        <p:spPr>
          <a:xfrm>
            <a:off x="1645920" y="15087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研究截止日前银行债务、受限现金、应收期后回收、授信可用额及同比同控比较调整。</a:t>
            </a:r>
            <a:endParaRPr lang="en-US" sz="1800" dirty="0"/>
          </a:p>
        </p:txBody>
      </p:sp>
      <p:sp>
        <p:nvSpPr>
          <p:cNvPr id="7" name="Text 5"/>
          <p:cNvSpPr/>
          <p:nvPr/>
        </p:nvSpPr>
        <p:spPr>
          <a:xfrm>
            <a:off x="1645920" y="23042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发行人财务/法务及独立核查方</a:t>
            </a:r>
            <a:endParaRPr lang="en-US" sz="1200" dirty="0"/>
          </a:p>
        </p:txBody>
      </p:sp>
      <p:sp>
        <p:nvSpPr>
          <p:cNvPr id="9" name="Text 6"/>
          <p:cNvSpPr/>
          <p:nvPr/>
        </p:nvSpPr>
        <p:spPr>
          <a:xfrm>
            <a:off x="594360" y="28803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14</a:t>
            </a:r>
            <a:endParaRPr lang="en-US" sz="2000" dirty="0"/>
          </a:p>
        </p:txBody>
      </p:sp>
      <p:sp>
        <p:nvSpPr>
          <p:cNvPr id="10" name="Text 7"/>
          <p:cNvSpPr/>
          <p:nvPr/>
        </p:nvSpPr>
        <p:spPr>
          <a:xfrm>
            <a:off x="1645920" y="28803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提供直销、经销、零售、海外及非房客户收入与现金回款分表，并说明分类及关联变化。</a:t>
            </a:r>
            <a:endParaRPr lang="en-US" sz="1800" dirty="0"/>
          </a:p>
        </p:txBody>
      </p:sp>
      <p:sp>
        <p:nvSpPr>
          <p:cNvPr id="11" name="Text 8"/>
          <p:cNvSpPr/>
          <p:nvPr/>
        </p:nvSpPr>
        <p:spPr>
          <a:xfrm>
            <a:off x="1645920" y="36758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发行人财务及经营管理部门</a:t>
            </a:r>
            <a:endParaRPr lang="en-US" sz="1200" dirty="0"/>
          </a:p>
        </p:txBody>
      </p:sp>
      <p:sp>
        <p:nvSpPr>
          <p:cNvPr id="13" name="Text 9"/>
          <p:cNvSpPr/>
          <p:nvPr/>
        </p:nvSpPr>
        <p:spPr>
          <a:xfrm>
            <a:off x="594360" y="42519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15</a:t>
            </a:r>
            <a:endParaRPr lang="en-US" sz="2000" dirty="0"/>
          </a:p>
        </p:txBody>
      </p:sp>
      <p:sp>
        <p:nvSpPr>
          <p:cNvPr id="14" name="Text 10"/>
          <p:cNvSpPr/>
          <p:nvPr/>
        </p:nvSpPr>
        <p:spPr>
          <a:xfrm>
            <a:off x="1645920" y="42519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提供基金成立、认缴/实缴及关联关系变更时点，说明年度关联共同投资栏与专项公告的</a:t>
            </a:r>
            <a:endParaRPr lang="en-US" sz="1800" dirty="0"/>
          </a:p>
          <a:p>
            <a:pPr indent="0" marL="0">
              <a:lnSpc>
                <a:spcPct val="100000"/>
              </a:lnSpc>
              <a:buNone/>
            </a:pPr>
            <a:r>
              <a:rPr lang="en-US" sz="1800" dirty="0">
                <a:solidFill>
                  <a:srgbClr val="1F2933"/>
                </a:solidFill>
              </a:rPr>
              <a:t>范围。</a:t>
            </a:r>
            <a:endParaRPr lang="en-US" sz="1800" dirty="0"/>
          </a:p>
        </p:txBody>
      </p:sp>
      <p:sp>
        <p:nvSpPr>
          <p:cNvPr id="15" name="Text 11"/>
          <p:cNvSpPr/>
          <p:nvPr/>
        </p:nvSpPr>
        <p:spPr>
          <a:xfrm>
            <a:off x="1645920" y="50474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发行人董事会办公室及财务部门</a:t>
            </a:r>
            <a:endParaRPr lang="en-US" sz="12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下一步核查</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134</a:t>
            </a:r>
            <a:endParaRPr lang="en-US" sz="900" dirty="0"/>
          </a:p>
        </p:txBody>
      </p:sp>
      <p:sp>
        <p:nvSpPr>
          <p:cNvPr id="5" name="Text 3"/>
          <p:cNvSpPr/>
          <p:nvPr/>
        </p:nvSpPr>
        <p:spPr>
          <a:xfrm>
            <a:off x="594360" y="15087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16</a:t>
            </a:r>
            <a:endParaRPr lang="en-US" sz="2000" dirty="0"/>
          </a:p>
        </p:txBody>
      </p:sp>
      <p:sp>
        <p:nvSpPr>
          <p:cNvPr id="6" name="Text 4"/>
          <p:cNvSpPr/>
          <p:nvPr/>
        </p:nvSpPr>
        <p:spPr>
          <a:xfrm>
            <a:off x="1645920" y="1508760"/>
            <a:ext cx="9692640" cy="777240"/>
          </a:xfrm>
          <a:prstGeom prst="rect">
            <a:avLst/>
          </a:prstGeom>
          <a:noFill/>
          <a:ln/>
        </p:spPr>
        <p:txBody>
          <a:bodyPr wrap="square" lIns="0" tIns="0" rIns="0" bIns="0" rtlCol="0" anchor="t"/>
          <a:lstStyle/>
          <a:p>
            <a:pPr indent="0" marL="0">
              <a:lnSpc>
                <a:spcPct val="100000"/>
              </a:lnSpc>
              <a:buNone/>
            </a:pPr>
            <a:r>
              <a:rPr lang="en-US" sz="1700" dirty="0">
                <a:solidFill>
                  <a:srgbClr val="1F2933"/>
                </a:solidFill>
              </a:rPr>
              <a:t>提供原持续承诺的正式适用期间和口径说明，以及以同一财报数字编制的逐期累计债券余额、净</a:t>
            </a:r>
            <a:endParaRPr lang="en-US" sz="1700" dirty="0"/>
          </a:p>
          <a:p>
            <a:pPr indent="0" marL="0">
              <a:lnSpc>
                <a:spcPct val="100000"/>
              </a:lnSpc>
              <a:buNone/>
            </a:pPr>
            <a:r>
              <a:rPr lang="en-US" sz="1700" dirty="0">
                <a:solidFill>
                  <a:srgbClr val="1F2933"/>
                </a:solidFill>
              </a:rPr>
              <a:t>资产、排除项目和调整项目明细；如主张已变更或豁免，附具有生效依据的决议、公告及协议。</a:t>
            </a:r>
            <a:endParaRPr lang="en-US" sz="1700" dirty="0"/>
          </a:p>
        </p:txBody>
      </p:sp>
      <p:sp>
        <p:nvSpPr>
          <p:cNvPr id="7" name="Text 5"/>
          <p:cNvSpPr/>
          <p:nvPr/>
        </p:nvSpPr>
        <p:spPr>
          <a:xfrm>
            <a:off x="1645920" y="23042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发行人财务及信息披露负责人；受托管理人提供核对依据</a:t>
            </a:r>
            <a:endParaRPr lang="en-US" sz="1200" dirty="0"/>
          </a:p>
        </p:txBody>
      </p:sp>
      <p:sp>
        <p:nvSpPr>
          <p:cNvPr id="9" name="Text 6"/>
          <p:cNvSpPr/>
          <p:nvPr/>
        </p:nvSpPr>
        <p:spPr>
          <a:xfrm>
            <a:off x="594360" y="28803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17</a:t>
            </a:r>
            <a:endParaRPr lang="en-US" sz="2000" dirty="0"/>
          </a:p>
        </p:txBody>
      </p:sp>
      <p:sp>
        <p:nvSpPr>
          <p:cNvPr id="10" name="Text 7"/>
          <p:cNvSpPr/>
          <p:nvPr/>
        </p:nvSpPr>
        <p:spPr>
          <a:xfrm>
            <a:off x="1645920" y="28803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提供本次发行完整已签受托管理协议及补充、修订文本，定位义务并入、违约事件、通知、</a:t>
            </a:r>
            <a:endParaRPr lang="en-US" sz="1800" dirty="0"/>
          </a:p>
          <a:p>
            <a:pPr indent="0" marL="0">
              <a:lnSpc>
                <a:spcPct val="100000"/>
              </a:lnSpc>
              <a:buNone/>
            </a:pPr>
            <a:r>
              <a:rPr lang="en-US" sz="1800" dirty="0">
                <a:solidFill>
                  <a:srgbClr val="1F2933"/>
                </a:solidFill>
              </a:rPr>
              <a:t>补救期限、加速权限和表决门槛、豁免与撤销加速条款。</a:t>
            </a:r>
            <a:endParaRPr lang="en-US" sz="1800" dirty="0"/>
          </a:p>
        </p:txBody>
      </p:sp>
      <p:sp>
        <p:nvSpPr>
          <p:cNvPr id="11" name="Text 8"/>
          <p:cNvSpPr/>
          <p:nvPr/>
        </p:nvSpPr>
        <p:spPr>
          <a:xfrm>
            <a:off x="1645920" y="36758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发行人法务及债券受托管理人</a:t>
            </a:r>
            <a:endParaRPr lang="en-US" sz="1200" dirty="0"/>
          </a:p>
        </p:txBody>
      </p:sp>
      <p:sp>
        <p:nvSpPr>
          <p:cNvPr id="13" name="Text 9"/>
          <p:cNvSpPr/>
          <p:nvPr/>
        </p:nvSpPr>
        <p:spPr>
          <a:xfrm>
            <a:off x="594360" y="42519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18</a:t>
            </a:r>
            <a:endParaRPr lang="en-US" sz="2000" dirty="0"/>
          </a:p>
        </p:txBody>
      </p:sp>
      <p:sp>
        <p:nvSpPr>
          <p:cNvPr id="14" name="Text 10"/>
          <p:cNvSpPr/>
          <p:nvPr/>
        </p:nvSpPr>
        <p:spPr>
          <a:xfrm>
            <a:off x="1645920" y="42519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提供新一期临时补流在截止日的专户及一般户对账、逐笔划出和归还记录、项目付款时间表</a:t>
            </a:r>
            <a:endParaRPr lang="en-US" sz="1800" dirty="0"/>
          </a:p>
          <a:p>
            <a:pPr indent="0" marL="0">
              <a:lnSpc>
                <a:spcPct val="100000"/>
              </a:lnSpc>
              <a:buNone/>
            </a:pPr>
            <a:r>
              <a:rPr lang="en-US" sz="1800" dirty="0">
                <a:solidFill>
                  <a:srgbClr val="1F2933"/>
                </a:solidFill>
              </a:rPr>
              <a:t>及已占用营运资金回收计划。</a:t>
            </a:r>
            <a:endParaRPr lang="en-US" sz="1800" dirty="0"/>
          </a:p>
        </p:txBody>
      </p:sp>
      <p:sp>
        <p:nvSpPr>
          <p:cNvPr id="15" name="Text 11"/>
          <p:cNvSpPr/>
          <p:nvPr/>
        </p:nvSpPr>
        <p:spPr>
          <a:xfrm>
            <a:off x="1645920" y="50474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发行人财务、募集资金管理责任人及保荐机构</a:t>
            </a:r>
            <a:endParaRPr lang="en-US" sz="12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t"/>
          <a:lstStyle/>
          <a:p>
            <a:pPr indent="0" marL="0">
              <a:lnSpc>
                <a:spcPct val="100000"/>
              </a:lnSpc>
              <a:buNone/>
            </a:pPr>
            <a:r>
              <a:rPr lang="en-US" sz="2700" b="1" dirty="0">
                <a:solidFill>
                  <a:srgbClr val="213B45"/>
                </a:solidFill>
              </a:rPr>
              <a:t>下一步核查</a:t>
            </a:r>
            <a:endParaRPr lang="en-US" sz="2700" dirty="0"/>
          </a:p>
        </p:txBody>
      </p:sp>
      <p:sp>
        <p:nvSpPr>
          <p:cNvPr id="3" name="Shape 1"/>
          <p:cNvSpPr/>
          <p:nvPr/>
        </p:nvSpPr>
        <p:spPr>
          <a:xfrm>
            <a:off x="548640" y="1188720"/>
            <a:ext cx="11064240" cy="0"/>
          </a:xfrm>
          <a:prstGeom prst="line">
            <a:avLst/>
          </a:prstGeom>
          <a:noFill/>
          <a:ln w="25400">
            <a:solidFill>
              <a:srgbClr val="237F72"/>
            </a:solidFill>
            <a:prstDash val="solid"/>
          </a:ln>
        </p:spPr>
      </p:sp>
      <p:sp>
        <p:nvSpPr>
          <p:cNvPr id="4" name="Text 2"/>
          <p:cNvSpPr/>
          <p:nvPr/>
        </p:nvSpPr>
        <p:spPr>
          <a:xfrm>
            <a:off x="548640" y="6473952"/>
            <a:ext cx="11064240" cy="182880"/>
          </a:xfrm>
          <a:prstGeom prst="rect">
            <a:avLst/>
          </a:prstGeom>
          <a:noFill/>
          <a:ln/>
        </p:spPr>
        <p:txBody>
          <a:bodyPr wrap="square" lIns="0" tIns="0" rIns="0" bIns="0" rtlCol="0" anchor="ctr"/>
          <a:lstStyle/>
          <a:p>
            <a:pPr indent="0" marL="0">
              <a:buNone/>
            </a:pPr>
            <a:r>
              <a:rPr lang="en-US" sz="900" dirty="0">
                <a:solidFill>
                  <a:srgbClr val="586874"/>
                </a:solidFill>
              </a:rPr>
              <a:t>科顺防水科技股份有限公司  |  2025-12-31  |  keshun-public-research-2026-06-30  |  135</a:t>
            </a:r>
            <a:endParaRPr lang="en-US" sz="900" dirty="0"/>
          </a:p>
        </p:txBody>
      </p:sp>
      <p:sp>
        <p:nvSpPr>
          <p:cNvPr id="5" name="Text 3"/>
          <p:cNvSpPr/>
          <p:nvPr/>
        </p:nvSpPr>
        <p:spPr>
          <a:xfrm>
            <a:off x="594360" y="15087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19</a:t>
            </a:r>
            <a:endParaRPr lang="en-US" sz="2000" dirty="0"/>
          </a:p>
        </p:txBody>
      </p:sp>
      <p:sp>
        <p:nvSpPr>
          <p:cNvPr id="6" name="Text 4"/>
          <p:cNvSpPr/>
          <p:nvPr/>
        </p:nvSpPr>
        <p:spPr>
          <a:xfrm>
            <a:off x="1645920" y="15087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提供截止日内已形成的登记结算余额或有效公开余额资料；只有截止日前可得证据才用于</a:t>
            </a:r>
            <a:endParaRPr lang="en-US" sz="1800" dirty="0"/>
          </a:p>
          <a:p>
            <a:pPr indent="0" marL="0">
              <a:lnSpc>
                <a:spcPct val="100000"/>
              </a:lnSpc>
              <a:buNone/>
            </a:pPr>
            <a:r>
              <a:rPr lang="en-US" sz="1800" dirty="0">
                <a:solidFill>
                  <a:srgbClr val="1F2933"/>
                </a:solidFill>
              </a:rPr>
              <a:t>历史时点结论，后续季度公告单列后验更新。</a:t>
            </a:r>
            <a:endParaRPr lang="en-US" sz="1800" dirty="0"/>
          </a:p>
        </p:txBody>
      </p:sp>
      <p:sp>
        <p:nvSpPr>
          <p:cNvPr id="7" name="Text 5"/>
          <p:cNvSpPr/>
          <p:nvPr/>
        </p:nvSpPr>
        <p:spPr>
          <a:xfrm>
            <a:off x="1645920" y="23042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发行人债券事务及登记结算资料管理责任人</a:t>
            </a:r>
            <a:endParaRPr lang="en-US" sz="1200" dirty="0"/>
          </a:p>
        </p:txBody>
      </p:sp>
      <p:sp>
        <p:nvSpPr>
          <p:cNvPr id="9" name="Text 6"/>
          <p:cNvSpPr/>
          <p:nvPr/>
        </p:nvSpPr>
        <p:spPr>
          <a:xfrm>
            <a:off x="594360" y="2880360"/>
            <a:ext cx="914400" cy="365760"/>
          </a:xfrm>
          <a:prstGeom prst="rect">
            <a:avLst/>
          </a:prstGeom>
          <a:noFill/>
          <a:ln/>
        </p:spPr>
        <p:txBody>
          <a:bodyPr wrap="square" lIns="0" tIns="0" rIns="0" bIns="0" rtlCol="0" anchor="ctr"/>
          <a:lstStyle/>
          <a:p>
            <a:pPr indent="0" marL="0">
              <a:buNone/>
            </a:pPr>
            <a:r>
              <a:rPr lang="en-US" sz="2000" b="1" dirty="0">
                <a:solidFill>
                  <a:srgbClr val="237F72"/>
                </a:solidFill>
              </a:rPr>
              <a:t>20</a:t>
            </a:r>
            <a:endParaRPr lang="en-US" sz="2000" dirty="0"/>
          </a:p>
        </p:txBody>
      </p:sp>
      <p:sp>
        <p:nvSpPr>
          <p:cNvPr id="10" name="Text 7"/>
          <p:cNvSpPr/>
          <p:nvPr/>
        </p:nvSpPr>
        <p:spPr>
          <a:xfrm>
            <a:off x="1645920" y="2880360"/>
            <a:ext cx="9692640" cy="777240"/>
          </a:xfrm>
          <a:prstGeom prst="rect">
            <a:avLst/>
          </a:prstGeom>
          <a:noFill/>
          <a:ln/>
        </p:spPr>
        <p:txBody>
          <a:bodyPr wrap="square" lIns="0" tIns="0" rIns="0" bIns="0" rtlCol="0" anchor="t"/>
          <a:lstStyle/>
          <a:p>
            <a:pPr indent="0" marL="0">
              <a:lnSpc>
                <a:spcPct val="100000"/>
              </a:lnSpc>
              <a:buNone/>
            </a:pPr>
            <a:r>
              <a:rPr lang="en-US" sz="1800" dirty="0">
                <a:solidFill>
                  <a:srgbClr val="1F2933"/>
                </a:solidFill>
              </a:rPr>
              <a:t>说明年报未折现应付债券期限表的本金、各计息年度、现金日期及未来转股/行权假设，</a:t>
            </a:r>
            <a:endParaRPr lang="en-US" sz="1800" dirty="0"/>
          </a:p>
          <a:p>
            <a:pPr indent="0" marL="0">
              <a:lnSpc>
                <a:spcPct val="100000"/>
              </a:lnSpc>
              <a:buNone/>
            </a:pPr>
            <a:r>
              <a:rPr lang="en-US" sz="1800" dirty="0">
                <a:solidFill>
                  <a:srgbClr val="1F2933"/>
                </a:solidFill>
              </a:rPr>
              <a:t>提供与募集说明书的调节。</a:t>
            </a:r>
            <a:endParaRPr lang="en-US" sz="1800" dirty="0"/>
          </a:p>
        </p:txBody>
      </p:sp>
      <p:sp>
        <p:nvSpPr>
          <p:cNvPr id="11" name="Text 8"/>
          <p:cNvSpPr/>
          <p:nvPr/>
        </p:nvSpPr>
        <p:spPr>
          <a:xfrm>
            <a:off x="1645920" y="3675888"/>
            <a:ext cx="9692640" cy="274320"/>
          </a:xfrm>
          <a:prstGeom prst="rect">
            <a:avLst/>
          </a:prstGeom>
          <a:noFill/>
          <a:ln/>
        </p:spPr>
        <p:txBody>
          <a:bodyPr wrap="square" lIns="0" tIns="0" rIns="0" bIns="0" rtlCol="0" anchor="ctr"/>
          <a:lstStyle/>
          <a:p>
            <a:pPr indent="0" marL="0">
              <a:buNone/>
            </a:pPr>
            <a:r>
              <a:rPr lang="en-US" sz="1200" dirty="0">
                <a:solidFill>
                  <a:srgbClr val="586874"/>
                </a:solidFill>
              </a:rPr>
              <a:t>发行人财务及债券受托管理人</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135</Slides>
  <Notes>135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135</vt:i4>
      </vt:variant>
    </vt:vector>
  </HeadingPairs>
  <TitlesOfParts>
    <vt:vector size="1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科顺股份与科顺转债：年报及信用研究</dc:title>
  <dc:subject>截至2026-06-30的境内相对信用研究：基准建议主体及科顺转债BBB+、负面展望；明确实际付款、资金用途和承诺待核条件。</dc:subject>
  <dc:creator>annual-report-analysis</dc:creator>
  <cp:lastModifiedBy>annual-report-analysis</cp:lastModifiedBy>
  <cp:revision>1</cp:revision>
  <dcterms:created xsi:type="dcterms:W3CDTF">2026-10-03T10:34:17Z</dcterms:created>
  <dcterms:modified xsi:type="dcterms:W3CDTF">2026-10-03T10:34:17Z</dcterms:modified>
</cp:coreProperties>
</file>