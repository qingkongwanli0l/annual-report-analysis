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slideMasters/slideMaster360.xml" ContentType="application/vnd.openxmlformats-officedocument.presentationml.slideMaster+xml"/>
  <Override PartName="/ppt/slides/slide360.xml" ContentType="application/vnd.openxmlformats-officedocument.presentationml.slide+xml"/>
  <Override PartName="/ppt/slideMasters/slideMaster361.xml" ContentType="application/vnd.openxmlformats-officedocument.presentationml.slideMaster+xml"/>
  <Override PartName="/ppt/slides/slide361.xml" ContentType="application/vnd.openxmlformats-officedocument.presentationml.slide+xml"/>
  <Override PartName="/ppt/slideMasters/slideMaster362.xml" ContentType="application/vnd.openxmlformats-officedocument.presentationml.slideMaster+xml"/>
  <Override PartName="/ppt/slides/slide362.xml" ContentType="application/vnd.openxmlformats-officedocument.presentationml.slide+xml"/>
  <Override PartName="/ppt/slideMasters/slideMaster363.xml" ContentType="application/vnd.openxmlformats-officedocument.presentationml.slideMaster+xml"/>
  <Override PartName="/ppt/slides/slide363.xml" ContentType="application/vnd.openxmlformats-officedocument.presentationml.slide+xml"/>
  <Override PartName="/ppt/slideMasters/slideMaster364.xml" ContentType="application/vnd.openxmlformats-officedocument.presentationml.slideMaster+xml"/>
  <Override PartName="/ppt/slides/slide364.xml" ContentType="application/vnd.openxmlformats-officedocument.presentationml.slide+xml"/>
  <Override PartName="/ppt/slideMasters/slideMaster365.xml" ContentType="application/vnd.openxmlformats-officedocument.presentationml.slideMaster+xml"/>
  <Override PartName="/ppt/slides/slide365.xml" ContentType="application/vnd.openxmlformats-officedocument.presentationml.slide+xml"/>
  <Override PartName="/ppt/slideMasters/slideMaster366.xml" ContentType="application/vnd.openxmlformats-officedocument.presentationml.slideMaster+xml"/>
  <Override PartName="/ppt/slides/slide366.xml" ContentType="application/vnd.openxmlformats-officedocument.presentationml.slide+xml"/>
  <Override PartName="/ppt/slideMasters/slideMaster367.xml" ContentType="application/vnd.openxmlformats-officedocument.presentationml.slideMaster+xml"/>
  <Override PartName="/ppt/slides/slide367.xml" ContentType="application/vnd.openxmlformats-officedocument.presentationml.slide+xml"/>
  <Override PartName="/ppt/slideMasters/slideMaster368.xml" ContentType="application/vnd.openxmlformats-officedocument.presentationml.slideMaster+xml"/>
  <Override PartName="/ppt/slides/slide368.xml" ContentType="application/vnd.openxmlformats-officedocument.presentationml.slide+xml"/>
  <Override PartName="/ppt/slideMasters/slideMaster369.xml" ContentType="application/vnd.openxmlformats-officedocument.presentationml.slideMaster+xml"/>
  <Override PartName="/ppt/slides/slide3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 id="615" r:id="rId361"/>
    <p:sldId id="616" r:id="rId362"/>
    <p:sldId id="617" r:id="rId363"/>
    <p:sldId id="618" r:id="rId364"/>
    <p:sldId id="619" r:id="rId365"/>
    <p:sldId id="620" r:id="rId366"/>
    <p:sldId id="621" r:id="rId367"/>
    <p:sldId id="622" r:id="rId368"/>
    <p:sldId id="623" r:id="rId369"/>
    <p:sldId id="624" r:id="rId370"/>
  </p:sldIdLst>
  <p:notesMasterIdLst>
    <p:notesMasterId r:id="rId3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notesMaster" Target="notesMasters/notesMaster1.xml"/><Relationship Id="rId372" Type="http://schemas.openxmlformats.org/officeDocument/2006/relationships/presProps" Target="presProps.xml"/><Relationship Id="rId373" Type="http://schemas.openxmlformats.org/officeDocument/2006/relationships/viewProps" Target="viewProps.xml"/><Relationship Id="rId374" Type="http://schemas.openxmlformats.org/officeDocument/2006/relationships/theme" Target="theme/theme1.xml"/><Relationship Id="rId3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_rels/notesSlide3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0.xml"/>
		</Relationships>
</file>

<file path=ppt/notesSlides/_rels/notesSlide3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1.xml"/>
		</Relationships>
</file>

<file path=ppt/notesSlides/_rels/notesSlide3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2.xml"/>
		</Relationships>
</file>

<file path=ppt/notesSlides/_rels/notesSlide3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3.xml"/>
		</Relationships>
</file>

<file path=ppt/notesSlides/_rels/notesSlide3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4.xml"/>
		</Relationships>
</file>

<file path=ppt/notesSlides/_rels/notesSlide3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5.xml"/>
		</Relationships>
</file>

<file path=ppt/notesSlides/_rels/notesSlide3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6.xml"/>
		</Relationships>
</file>

<file path=ppt/notesSlides/_rels/notesSlide3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7.xml"/>
		</Relationships>
</file>

<file path=ppt/notesSlides/_rels/notesSlide3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8.xml"/>
		</Relationships>
</file>

<file path=ppt/notesSlides/_rels/notesSlide3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2025年报PDF第1—245页完成文本阅读；视觉复核仅为覆盖证据所列选页，包括补读的第83、95—96页，不声称全文视觉审阅。外部机构历史评级与本次研究判断分列，未作为因素输入或等级校准目标。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已运行同一经营冲击贯穿损益、税款、现金、融资利息、债务权益及评级因素的条件链；非现金资产其余周转仍为间接法调节，未来收现构成/当期税/回收池及融资期限是明示预算，不是已验证实际。
来源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[ks_econ_e_q1] 科顺防水科技股份有限公司2026年第一季度报告 | PDF5–11：2026Q1合并资产负债表及利润表；PDF3说明原料冬储锁价及增加长期贷款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 ks_a_e_bond_repayment_claim[ks_a_e_maturity]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ks_a_find_reported_debt_metrics
Status: supported
年报债券章节的同名指标是否与研究计算可直接比较？
用既有金额计算，2025/2024 EBITDA/总负债为-2.53%、4.78%，EBITDA/费用化利息为-2.12 倍、4.00 倍，EBIT/费用化利息为-4.95 倍、1.43 倍，舍入后分别与发行人对应指标一致。这是候选分母的一致性解释，不是公司公式已获确认。现金利息保障10.73 倍及两年偿还/付息率原值保留，未用合计利息现金、分红现金或某一应计利息拼出相同结果。负盈利与报告期偿付完成可以并存，历史偿付率不证明未来付款资金充足。 同页亏损比例原文13.49%与本期亏损/期末归母权益13.49%舍入一致；期末总权益对照为13.21%，标题上年末口径的归母/总权益对照为10.74%、10.57%。两种期初口径均超过标题10%门槛，但不能用期末比例冒充期初比例；原文期间和权益范围说明仍需澄清，不据此认定亏损金额错误。
公司指标可能采用总负债或不同利息定义，亦可能有未列调节；相同舍入结果不足以在这些解释中唯一择一。
年报另引述的2025年外部AA/稳定与本次条件研究建议分开；不以该外部等级消除当前资金、历史口径及持续承诺限制。
Evidence: ks_a_e_bond_metrics, ks_a_e_external_rating_2025, ks_a_ebitda_liab_comparison_2024, ks_a_ebitda_debt_comparison_2024, ks_a_ebitda_expinterest_comparison_2024, ks_a_ebit_expinterest_comparison_2024, ks_a_ebitda_liab_comparison_2025, ks_a_ebitda_debt_comparison_2025, ks_a_ebitda_expinterest_comparison_2025, ks_a_ebit_expinterest_comparison_2025, ks_a_ebitda_interest_2025, ks_a_ebitda_interest_2024, ks_a_e_bond_repayment_claim, ks_a_loss_closing_parent_comparison, ks_a_loss_closing_total_comparison, ks_a_loss_opening_parent_comparison, ks_a_loss_opening_total_comparison
Counterevidence: [ks_a_e_bond_metrics] 科顺防水科技股份有限公司2025年年度报告 | 第95—96页，第七节第八项，近两年主要会计数据和财务指标，含跨页续表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[ks_a_e_old] 科顺防水科技股份有限公司2024年年度报告 | 2024年报第116—124、126—134、191—195、203、208—210页（单位元，2024/2023列）
https://static.cninfo.com.cn/finalpage/2025-04-25/1223275058.PDF
[ks_a_e_summary] 科顺防水科技股份有限公司2025年年度报告 | 第10—12页，主要会计数据（元），2025/2024调整前后/2023调整前后及分季度指标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[ks_a_e_bond_metrics] 科顺防水科技股份有限公司2025年年度报告 | 第95—96页，第七节第八项，近两年主要会计数据和财务指标，含跨页续表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ks_a_e_bond_repayment_claim, ks_a_e_project_reported_benefits, ks_a_e_audit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[ks_a_e_bond_repayment_claim] 科顺防水科技股份有限公司2025年年度报告 | 第93—95页，可转债发行、无担保、存续变动；第95页四、6（3）及五至七项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[ks_a_e_audit] 科顺防水科技股份有限公司2025年年度报告 | 第97—101页，审计报告
https://disc.static.szse.cn/disc/disk03/finalpage/2026-04-24/8d1711bc-c88b-410a-8b72-7bae6b960a12.PDF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减值及亏损DTA构成主要税务资产，未确认亏损的期限表和集团利润不足以支持已确认部分可实现性；需要检验利润缓冲及资本质量。
Close when: 在同一纳税主体、税区和可用期间内证明可抵扣额，排除重复使用未来应税利润；按结果确定可实现DTA及资本影响，无法证实的部分保留不确定性，不机械全额减记。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核原表六月七笔到期集中与三月余额下降能否对应实际解除，检验保证支持收现的持续性及同一客户压力下的现金/损失传导。
Close when: 全量滚动闭合到最新时点，重点逐户状态由直接证据支持；剩余总体和未决明确，回款、毛代偿、追偿及并表债务去重后进入现金和评级分析，不能只以余额下降或公司声明关闭。ks_a_req_proceeds: 年末余额与期后归还续作能否衔接？ 所需资料用于检验该判断的金额、期限或执行依据。
Close when: 以截止日实际占用和用途流水确认应恢复额度、时间及项目需求，并验证混用问题整改执行；已公开的旧轮归还时点不再重复请求。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现有最新已取得实际面值是 21.98 亿元人民币，其原始时点为一季度末，不能改写为六月末。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重跑三条2026路径、两条2027延伸及用途恢复静态观察，连同毛付款决定的M和各时点max融资需求；净CFO相符本身不能关闭。ks_tax_req_bridge: 确认损益税收益与余额变动差额的实际归属，避免把期末DTL余额当作当期权益流量或重复调整现金流。
Close when: 分录金额、期间、科目与附注及现金流补充资料一致；残差据实际来源说明，不能倒挤其他或把空白填零。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ks_credit_req_facilities: 同称年末但相差36.2亿元，尚未解释；不能据任一披露或再融资4.65研究分证明付款日前资金可得。
Close when: 两来源总体差额逐项有证据解释，所有拟用于覆盖缺口的资金已核法人、时点、条件与金额；未落实部分排除后重算融资因素、现金及评级条件。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[ks_a_e_bond_metrics] 科顺防水科技股份有限公司2025年年度报告 | 第95—96页，第七节第八项，近两年主要会计数据和财务指标，含跨页续表
https://disc.static.szse.cn/disc/disk03/finalpage/2026-04-24/8d1711bc-c88b-410a-8b72-7bae6b960a12.PDF
[ks_a_e_bond_repayment_claim] 科顺防水科技股份有限公司2025年年度报告 | 第93—95页，可转债发行、无担保、存续变动；第95页四、6（3）及五至七项
https://disc.static.szse.cn/disc/disk03/finalpage/2026-04-24/8d1711bc-c88b-410a-8b72-7bae6b960a12.PDF
[ks_a_e_external_rating_2025] 科顺防水科技股份有限公司2025年年度报告 | 第95页四、6（2），本年度可转债资信评级
https://disc.static.szse.cn/disc/disk03/finalpage/2026-04-24/8d1711bc-c88b-410a-8b72-7bae6b960a12.PDF
[ks_a_e_project_reported_benefits] 科顺防水科技股份有限公司2025年年度报告 | 第83页募集资金承诺投资项目表，四项建设/升级项目及补流行；表格图像核对
https://disc.static.szse.cn/disc/disk03/finalpage/2026-04-24/8d1711bc-c88b-410a-8b72-7bae6b960a12.PDF
[ks_a_e_old]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
[ks_a_e_renew26]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
[ks_b_e_renewal] 关于持续推进城市更新行动的意见（生态环境部官方刊载） | 主要任务（一）（二）（四）（六）、支撑保障（四）
https://www.mee.gov.cn/zcwj/zyygwj/202505/t20250516_1119546.shtml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
[ks_b_e_fund] 关于与专业投资机构共同投资设立产业并购基金暨关联交易的公告 | PDF1–2、6–11
https://static.cninfo.com.cn/finalpage/2025-07-23/1224269220.PDF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
[ks_b_e_2026_dividend]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科顺防水科技股份有限公司可转换公司债券2026年跟踪评级报告 | PDF23附件4-1至4-4；方法适用性PDF6、8
https://www.lhratings.com/reports/B010330-P61284-2021-GZ2026.pdf
[ks_credit_e_facilities] 科顺防水科技股份有限公司可转换公司债券2026年跟踪评级报告 | PDF17/印刷14，偿债指标变化后授信段；截至2025年底，亿元
https://www.lhratings.com/reports/B010330-P61284-2021-GZ2026.pdf
[ks_credit_e_yearend_settlement] 科顺防水科技股份有限公司可转换公司债券2026年跟踪评级报告 | PDF17/印刷14，授信段后经销商担保段
https://www.lhratings.com/reports/B010330-P61284-2021-GZ2026.pdf
[ks_horizon_e_h125]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[ks_horizon_e_q125] 科顺股份2025年第一季度报告 | PDF1页追溯选择；10–12页合并现金流量表本期列；与2026Q1 PDF10–12页上期列逐项核对
https://static.cninfo.com.cn/finalpage/2025-04-25/1223275050.PDF
[ks_tax_e_cas18] 企业会计准则第18号——所得税 | 第13、15、17、20—22条
https://kjs.mof.gov.cn/zt/kjzzss/kuaijizhunzeshishi/200806/t20080618_46230.htm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[ks_credit_e_dealer_use] 国泰君安证券关于科顺股份对外担保的核查意见 | PDF2—3，第四及第五节
https://static.cninfo.com.cn/finalpage/2024-08-28/1221008879.PDF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1800" dirty="0">
                <a:solidFill>
                  <a:srgbClr val="FFFFFF"/>
                </a:solidFill>
              </a:rPr>
              <a:t>截至2026-06-30的境内相对信用研究：历史因素代表值支持主体及科顺转债BBB+、负面</a:t>
            </a:r>
            <a:endParaRPr lang="en-US" sz="1800" dirty="0"/>
          </a:p>
          <a:p>
            <a:pPr indent="0" marL="0">
              <a:lnSpc>
                <a:spcPct val="100000"/>
              </a:lnSpc>
              <a:buNone/>
            </a:pPr>
            <a:r>
              <a:rPr lang="en-US" sz="1800" dirty="0">
                <a:solidFill>
                  <a:srgbClr val="FFFFFF"/>
                </a:solidFill>
              </a:rPr>
              <a:t>展望的条件分支；未来经营、税款和融资链展示条件变化，未选定唯一评级。实际付款、资金用途、同</a:t>
            </a:r>
            <a:endParaRPr lang="en-US" sz="1800" dirty="0"/>
          </a:p>
          <a:p>
            <a:pPr indent="0" marL="0">
              <a:lnSpc>
                <a:spcPct val="100000"/>
              </a:lnSpc>
              <a:buNone/>
            </a:pPr>
            <a:r>
              <a:rPr lang="en-US" sz="1800" dirty="0">
                <a:solidFill>
                  <a:srgbClr val="FFFFFF"/>
                </a:solidFill>
              </a:rPr>
              <a:t>控版本与持续范围桥、发行人资金及承诺仍待核，条件数字不能证明付款覆盖。</a:t>
            </a:r>
            <a:endParaRPr lang="en-US" sz="18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2025年报PDF第1—245页完成文本阅读；视觉复核仅为覆盖证据所列选页，包括补读的第83、95—</a:t>
            </a:r>
            <a:endParaRPr lang="en-US" sz="1600" dirty="0"/>
          </a:p>
          <a:p>
            <a:pPr indent="0" marL="0">
              <a:lnSpc>
                <a:spcPct val="100000"/>
              </a:lnSpc>
              <a:buNone/>
            </a:pPr>
            <a:r>
              <a:rPr lang="en-US" sz="1600" dirty="0">
                <a:solidFill>
                  <a:srgbClr val="1F2933"/>
                </a:solidFill>
              </a:rPr>
              <a:t>96页，不声称全文视觉审阅。外部机构历史评级与本次研究判断分列，未作为因素输入或等级校准目标。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已运行同一经营冲击贯穿损益、税款、现金、融资利息、债务权益及评级因素的条件链；非现金资产其余周转仍为</a:t>
            </a:r>
            <a:endParaRPr lang="en-US" sz="1600" dirty="0"/>
          </a:p>
          <a:p>
            <a:pPr indent="0" marL="0">
              <a:lnSpc>
                <a:spcPct val="100000"/>
              </a:lnSpc>
              <a:buNone/>
            </a:pPr>
            <a:r>
              <a:rPr lang="en-US" sz="1600" dirty="0">
                <a:solidFill>
                  <a:srgbClr val="1F2933"/>
                </a:solidFill>
              </a:rPr>
              <a:t>间接法调节，未来收现构成/当期税/回收池及融资期限是明示预算，不是已验证实际。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ks_r_issue 的正式公布日期未核验；不得据此证明在信息截止日前已公开。当前披露内容可以</a:t>
            </a:r>
            <a:endParaRPr lang="en-US" sz="1600" dirty="0"/>
          </a:p>
          <a:p>
            <a:pPr indent="0" marL="0">
              <a:lnSpc>
                <a:spcPct val="100000"/>
              </a:lnSpc>
              <a:buNone/>
            </a:pPr>
            <a:r>
              <a:rPr lang="en-US" sz="1600" dirty="0">
                <a:solidFill>
                  <a:srgbClr val="1F2933"/>
                </a:solidFill>
              </a:rPr>
              <a:t>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以公开证据和明示判断，历史经营C、财务F4代表值的较弱端</a:t>
            </a:r>
            <a:endParaRPr lang="en-US" sz="1800" dirty="0"/>
          </a:p>
          <a:p>
            <a:pPr indent="0" marL="0">
              <a:lnSpc>
                <a:spcPct val="100000"/>
              </a:lnSpc>
              <a:buNone/>
            </a:pPr>
            <a:r>
              <a:rPr lang="en-US" sz="1800" dirty="0">
                <a:solidFill>
                  <a:srgbClr val="1F2933"/>
                </a:solidFill>
              </a:rPr>
              <a:t>支持主体及普通无担保科顺转债BBB+、负面展望的条件研究</a:t>
            </a:r>
            <a:endParaRPr lang="en-US" sz="1800" dirty="0"/>
          </a:p>
          <a:p>
            <a:pPr indent="0" marL="0">
              <a:lnSpc>
                <a:spcPct val="100000"/>
              </a:lnSpc>
              <a:buNone/>
            </a:pPr>
            <a:r>
              <a:rPr lang="en-US" sz="1800" dirty="0">
                <a:solidFill>
                  <a:srgbClr val="1F2933"/>
                </a:solidFill>
              </a:rPr>
              <a:t>分支，定性中心并未唯一选定。另以2026Q1实际及未来</a:t>
            </a:r>
            <a:endParaRPr lang="en-US" sz="1800" dirty="0"/>
          </a:p>
          <a:p>
            <a:pPr indent="0" marL="0">
              <a:lnSpc>
                <a:spcPct val="100000"/>
              </a:lnSpc>
              <a:buNone/>
            </a:pPr>
            <a:r>
              <a:rPr lang="en-US" sz="1800" dirty="0">
                <a:solidFill>
                  <a:srgbClr val="1F2933"/>
                </a:solidFill>
              </a:rPr>
              <a:t>经营、收现、税款和融资预算贯穿预测：Q1减值强度延续时，</a:t>
            </a:r>
            <a:endParaRPr lang="en-US" sz="1800" dirty="0"/>
          </a:p>
          <a:p>
            <a:pPr indent="0" marL="0">
              <a:lnSpc>
                <a:spcPct val="100000"/>
              </a:lnSpc>
              <a:buNone/>
            </a:pPr>
            <a:r>
              <a:rPr lang="en-US" sz="1800" dirty="0">
                <a:solidFill>
                  <a:srgbClr val="1F2933"/>
                </a:solidFill>
              </a:rPr>
              <a:t>材料不涨价的金额适配结果为F3，材料上涨5%为F4，分别</a:t>
            </a:r>
            <a:endParaRPr lang="en-US" sz="1800" dirty="0"/>
          </a:p>
          <a:p>
            <a:pPr indent="0" marL="0">
              <a:lnSpc>
                <a:spcPct val="100000"/>
              </a:lnSpc>
              <a:buNone/>
            </a:pPr>
            <a:r>
              <a:rPr lang="en-US" sz="1800" dirty="0">
                <a:solidFill>
                  <a:srgbClr val="1F2933"/>
                </a:solidFill>
              </a:rPr>
              <a:t>对应条件矩阵A和BBB+；这些预测分支不构成已证实改善或评</a:t>
            </a:r>
            <a:endParaRPr lang="en-US" sz="1800" dirty="0"/>
          </a:p>
          <a:p>
            <a:pPr indent="0" marL="0">
              <a:lnSpc>
                <a:spcPct val="100000"/>
              </a:lnSpc>
              <a:buNone/>
            </a:pPr>
            <a:r>
              <a:rPr lang="en-US" sz="1800" dirty="0">
                <a:solidFill>
                  <a:srgbClr val="1F2933"/>
                </a:solidFill>
              </a:rPr>
              <a:t>级调整。实际付款日前可调度资金、用途和合同条件未验证，不</a:t>
            </a:r>
            <a:endParaRPr lang="en-US" sz="1800" dirty="0"/>
          </a:p>
          <a:p>
            <a:pPr indent="0" marL="0">
              <a:lnSpc>
                <a:spcPct val="100000"/>
              </a:lnSpc>
              <a:buNone/>
            </a:pPr>
            <a:r>
              <a:rPr lang="en-US" sz="1800" dirty="0">
                <a:solidFill>
                  <a:srgbClr val="1F2933"/>
                </a:solidFill>
              </a:rPr>
              <a:t>发布无条件唯一等级。</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材料+5%及Q1减值延续条件：2026净利润</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历史同定义年度比率先30/70加权再分档，财务代表值</a:t>
            </a:r>
            <a:endParaRPr lang="en-US" sz="1800" dirty="0"/>
          </a:p>
          <a:p>
            <a:pPr indent="0" marL="0">
              <a:lnSpc>
                <a:spcPct val="100000"/>
              </a:lnSpc>
              <a:buNone/>
            </a:pPr>
            <a:r>
              <a:rPr lang="en-US" sz="1800" dirty="0">
                <a:solidFill>
                  <a:srgbClr val="1F2933"/>
                </a:solidFill>
              </a:rPr>
              <a:t>3.74 分，金额先加权对照3.74 分；两者均F4。固定</a:t>
            </a:r>
            <a:endParaRPr lang="en-US" sz="1800" dirty="0"/>
          </a:p>
          <a:p>
            <a:pPr indent="0" marL="0">
              <a:lnSpc>
                <a:spcPct val="100000"/>
              </a:lnSpc>
              <a:buNone/>
            </a:pPr>
            <a:r>
              <a:rPr lang="en-US" sz="1800" dirty="0">
                <a:solidFill>
                  <a:srgbClr val="1F2933"/>
                </a:solidFill>
              </a:rPr>
              <a:t>定性判断的量化档内范围[3.46 分,4.01 分)跨F5</a:t>
            </a:r>
            <a:endParaRPr lang="en-US" sz="1800" dirty="0"/>
          </a:p>
          <a:p>
            <a:pPr indent="0" marL="0">
              <a:lnSpc>
                <a:spcPct val="100000"/>
              </a:lnSpc>
              <a:buNone/>
            </a:pPr>
            <a:r>
              <a:rPr lang="en-US" sz="1800" dirty="0">
                <a:solidFill>
                  <a:srgbClr val="1F2933"/>
                </a:solidFill>
              </a:rPr>
              <a:t>/F4。未来条件链采用2024/25/26的20/30/</a:t>
            </a:r>
            <a:endParaRPr lang="en-US" sz="1800" dirty="0"/>
          </a:p>
          <a:p>
            <a:pPr indent="0" marL="0">
              <a:lnSpc>
                <a:spcPct val="100000"/>
              </a:lnSpc>
              <a:buNone/>
            </a:pPr>
            <a:r>
              <a:rPr lang="en-US" sz="1800" dirty="0">
                <a:solidFill>
                  <a:srgbClr val="1F2933"/>
                </a:solidFill>
              </a:rPr>
              <a:t>50金额适配，并列年度比率对照；Q1减值及材料5%时，</a:t>
            </a:r>
            <a:endParaRPr lang="en-US" sz="1800" dirty="0"/>
          </a:p>
          <a:p>
            <a:pPr indent="0" marL="0">
              <a:lnSpc>
                <a:spcPct val="100000"/>
              </a:lnSpc>
              <a:buNone/>
            </a:pPr>
            <a:r>
              <a:rPr lang="en-US" sz="1800" dirty="0">
                <a:solidFill>
                  <a:srgbClr val="1F2933"/>
                </a:solidFill>
              </a:rPr>
              <a:t>2026 EBITDA3.54 亿元人民币、净利润</a:t>
            </a:r>
            <a:endParaRPr lang="en-US" sz="1800" dirty="0"/>
          </a:p>
          <a:p>
            <a:pPr indent="0" marL="0">
              <a:lnSpc>
                <a:spcPct val="100000"/>
              </a:lnSpc>
              <a:buNone/>
            </a:pPr>
            <a:r>
              <a:rPr lang="en-US" sz="1800" dirty="0">
                <a:solidFill>
                  <a:srgbClr val="1F2933"/>
                </a:solidFill>
              </a:rPr>
              <a:t>-1.28 亿元人民币、CFO2.37 亿元人民币、末债</a:t>
            </a:r>
            <a:endParaRPr lang="en-US" sz="1800" dirty="0"/>
          </a:p>
          <a:p>
            <a:pPr indent="0" marL="0">
              <a:lnSpc>
                <a:spcPct val="100000"/>
              </a:lnSpc>
              <a:buNone/>
            </a:pPr>
            <a:r>
              <a:rPr lang="en-US" sz="1800" dirty="0">
                <a:solidFill>
                  <a:srgbClr val="1F2933"/>
                </a:solidFill>
              </a:rPr>
              <a:t>45.08 亿元人民币，至2027H1累计新融资12.34</a:t>
            </a:r>
            <a:endParaRPr lang="en-US" sz="1800" dirty="0"/>
          </a:p>
          <a:p>
            <a:pPr indent="0" marL="0">
              <a:lnSpc>
                <a:spcPct val="100000"/>
              </a:lnSpc>
              <a:buNone/>
            </a:pPr>
            <a:r>
              <a:rPr lang="en-US" sz="1800" dirty="0">
                <a:solidFill>
                  <a:srgbClr val="1F2933"/>
                </a:solidFill>
              </a:rPr>
              <a:t> 亿元人民币。历史与预测方法适配分列；47/10.8亿元额</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度不当提款，集团现金不等于发行人A，资金条件失败时退出常态</a:t>
            </a:r>
            <a:endParaRPr lang="en-US" sz="1800" dirty="0"/>
          </a:p>
          <a:p>
            <a:pPr indent="0" marL="0">
              <a:lnSpc>
                <a:spcPct val="100000"/>
              </a:lnSpc>
              <a:buNone/>
            </a:pPr>
            <a:r>
              <a:rPr lang="en-US" sz="1800" dirty="0">
                <a:solidFill>
                  <a:srgbClr val="1F2933"/>
                </a:solidFill>
              </a:rPr>
              <a:t>矩阵。</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a:p>
            <a:pPr indent="0" marL="0">
              <a:lnSpc>
                <a:spcPct val="100000"/>
              </a:lnSpc>
              <a:buNone/>
            </a:pPr>
            <a:r>
              <a:rPr lang="en-US" sz="1800" dirty="0">
                <a:solidFill>
                  <a:srgbClr val="1F2933"/>
                </a:solidFill>
              </a:rPr>
              <a:t>排除现金或合同限制。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a:t>
            </a:r>
            <a:endParaRPr lang="en-US" sz="1800" dirty="0"/>
          </a:p>
          <a:p>
            <a:pPr indent="0" marL="0">
              <a:lnSpc>
                <a:spcPct val="100000"/>
              </a:lnSpc>
              <a:buNone/>
            </a:pPr>
            <a:r>
              <a:rPr lang="en-US" sz="1800" dirty="0">
                <a:solidFill>
                  <a:srgbClr val="1F2933"/>
                </a:solidFill>
              </a:rPr>
              <a:t>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同季利息/补助收益、公开锚定当期税及Q1减值延续条件下，</a:t>
            </a:r>
            <a:endParaRPr lang="en-US" sz="1800" dirty="0"/>
          </a:p>
          <a:p>
            <a:pPr indent="0" marL="0">
              <a:lnSpc>
                <a:spcPct val="100000"/>
              </a:lnSpc>
              <a:buNone/>
            </a:pPr>
            <a:r>
              <a:rPr lang="en-US" sz="1800" dirty="0">
                <a:solidFill>
                  <a:srgbClr val="1F2933"/>
                </a:solidFill>
              </a:rPr>
              <a:t>材料+5%使2026 EBITDA3.53735亿元、净利</a:t>
            </a:r>
            <a:endParaRPr lang="en-US" sz="1800" dirty="0"/>
          </a:p>
          <a:p>
            <a:pPr indent="0" marL="0">
              <a:lnSpc>
                <a:spcPct val="100000"/>
              </a:lnSpc>
              <a:buNone/>
            </a:pPr>
            <a:r>
              <a:rPr lang="en-US" sz="1800" dirty="0">
                <a:solidFill>
                  <a:srgbClr val="1F2933"/>
                </a:solidFill>
              </a:rPr>
              <a:t>−1.27943亿元、CFO2.36903亿元、末债</a:t>
            </a:r>
            <a:endParaRPr lang="en-US" sz="1800" dirty="0"/>
          </a:p>
          <a:p>
            <a:pPr indent="0" marL="0">
              <a:lnSpc>
                <a:spcPct val="100000"/>
              </a:lnSpc>
              <a:buNone/>
            </a:pPr>
            <a:r>
              <a:rPr lang="en-US" sz="1800" dirty="0">
                <a:solidFill>
                  <a:srgbClr val="1F2933"/>
                </a:solidFill>
              </a:rPr>
              <a:t>45.08299亿元；2027H1累计新借12.34238</a:t>
            </a:r>
            <a:endParaRPr lang="en-US" sz="1800" dirty="0"/>
          </a:p>
          <a:p>
            <a:pPr indent="0" marL="0">
              <a:lnSpc>
                <a:spcPct val="100000"/>
              </a:lnSpc>
              <a:buNone/>
            </a:pPr>
            <a:r>
              <a:rPr lang="en-US" sz="1800" dirty="0">
                <a:solidFill>
                  <a:srgbClr val="1F2933"/>
                </a:solidFill>
              </a:rPr>
              <a:t>亿元。材料冲击相对同基准使财务分4.61625/F3→</a:t>
            </a:r>
            <a:endParaRPr lang="en-US" sz="1800" dirty="0"/>
          </a:p>
          <a:p>
            <a:pPr indent="0" marL="0">
              <a:lnSpc>
                <a:spcPct val="100000"/>
              </a:lnSpc>
              <a:buNone/>
            </a:pPr>
            <a:r>
              <a:rPr lang="en-US" sz="1800" dirty="0">
                <a:solidFill>
                  <a:srgbClr val="1F2933"/>
                </a:solidFill>
              </a:rPr>
              <a:t>4.36625/F4，杠杆跨20和25两个阈值。</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年报材料成本×收入预算×5%→增量采购/80%当季付款/</a:t>
            </a:r>
            <a:endParaRPr lang="en-US" sz="1800" dirty="0"/>
          </a:p>
          <a:p>
            <a:pPr indent="0" marL="0">
              <a:lnSpc>
                <a:spcPct val="100000"/>
              </a:lnSpc>
              <a:buNone/>
            </a:pPr>
            <a:r>
              <a:rPr lang="en-US" sz="1800" dirty="0">
                <a:solidFill>
                  <a:srgbClr val="1F2933"/>
                </a:solidFill>
              </a:rPr>
              <a:t>20%应付→CFO与15天底线→期初融资和本季利息循环→</a:t>
            </a:r>
            <a:endParaRPr lang="en-US" sz="1800" dirty="0"/>
          </a:p>
          <a:p>
            <a:pPr indent="0" marL="0">
              <a:lnSpc>
                <a:spcPct val="100000"/>
              </a:lnSpc>
              <a:buNone/>
            </a:pPr>
            <a:r>
              <a:rPr lang="en-US" sz="1800" dirty="0">
                <a:solidFill>
                  <a:srgbClr val="1F2933"/>
                </a:solidFill>
              </a:rPr>
              <a:t>利润/债务/权益→20/30/50研究适配财务因子；材料</a:t>
            </a:r>
            <a:endParaRPr lang="en-US" sz="1800" dirty="0"/>
          </a:p>
          <a:p>
            <a:pPr indent="0" marL="0">
              <a:lnSpc>
                <a:spcPct val="100000"/>
              </a:lnSpc>
              <a:buNone/>
            </a:pPr>
            <a:r>
              <a:rPr lang="en-US" sz="1800" dirty="0">
                <a:solidFill>
                  <a:srgbClr val="1F2933"/>
                </a:solidFill>
              </a:rPr>
              <a:t>冲击只计一次。 利息/补助现金与收益对应、未知其他收現</a:t>
            </a:r>
            <a:endParaRPr lang="en-US" sz="1800" dirty="0"/>
          </a:p>
          <a:p>
            <a:pPr indent="0" marL="0">
              <a:lnSpc>
                <a:spcPct val="100000"/>
              </a:lnSpc>
              <a:buNone/>
            </a:pPr>
            <a:r>
              <a:rPr lang="en-US" sz="1800" dirty="0">
                <a:solidFill>
                  <a:srgbClr val="1F2933"/>
                </a:solidFill>
              </a:rPr>
              <a:t>剔除；回收单列期初账面池；当期税计提及支付通过应交税滚动，</a:t>
            </a:r>
            <a:endParaRPr lang="en-US" sz="1800" dirty="0"/>
          </a:p>
          <a:p>
            <a:pPr indent="0" marL="0">
              <a:lnSpc>
                <a:spcPct val="100000"/>
              </a:lnSpc>
              <a:buNone/>
            </a:pPr>
            <a:r>
              <a:rPr lang="en-US" sz="1800" dirty="0">
                <a:solidFill>
                  <a:srgbClr val="1F2933"/>
                </a:solidFill>
              </a:rPr>
              <a:t>历史现金税先排除代理份额再替换。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2025减值强度延续、材料5%时，2026 EBITDA</a:t>
            </a:r>
            <a:endParaRPr lang="en-US" sz="1800" dirty="0"/>
          </a:p>
          <a:p>
            <a:pPr indent="0" marL="0">
              <a:lnSpc>
                <a:spcPct val="100000"/>
              </a:lnSpc>
              <a:buNone/>
            </a:pPr>
            <a:r>
              <a:rPr lang="en-US" sz="1800" dirty="0">
                <a:solidFill>
                  <a:srgbClr val="1F2933"/>
                </a:solidFill>
              </a:rPr>
              <a:t>−0.71357亿元、净亏5.53036亿元，财务分</a:t>
            </a:r>
            <a:endParaRPr lang="en-US" sz="1800" dirty="0"/>
          </a:p>
          <a:p>
            <a:pPr indent="0" marL="0">
              <a:lnSpc>
                <a:spcPct val="100000"/>
              </a:lnSpc>
              <a:buNone/>
            </a:pPr>
            <a:r>
              <a:rPr lang="en-US" sz="1800" dirty="0">
                <a:solidFill>
                  <a:srgbClr val="1F2933"/>
                </a:solidFill>
              </a:rPr>
              <a:t>3.68875/F4。</a:t>
            </a:r>
            <a:endParaRPr lang="en-US" sz="1800" dirty="0"/>
          </a:p>
          <a:p>
            <a:pPr indent="0" marL="0">
              <a:lnSpc>
                <a:spcPct val="100000"/>
              </a:lnSpc>
              <a:buNone/>
            </a:pPr>
            <a:r>
              <a:rPr lang="en-US" sz="1800" dirty="0">
                <a:solidFill>
                  <a:srgbClr val="1F2933"/>
                </a:solidFill>
              </a:rPr>
              <a:t>VAT全递延需累计新借12.58118亿元；当期税同季支付</a:t>
            </a:r>
            <a:endParaRPr lang="en-US" sz="1800" dirty="0"/>
          </a:p>
          <a:p>
            <a:pPr indent="0" marL="0">
              <a:lnSpc>
                <a:spcPct val="100000"/>
              </a:lnSpc>
              <a:buNone/>
            </a:pPr>
            <a:r>
              <a:rPr lang="en-US" sz="1800" dirty="0">
                <a:solidFill>
                  <a:srgbClr val="1F2933"/>
                </a:solidFill>
              </a:rPr>
              <a:t>12.49497亿元；未来利息补助均不发生12.89331</a:t>
            </a:r>
            <a:endParaRPr lang="en-US" sz="1800" dirty="0"/>
          </a:p>
          <a:p>
            <a:pPr indent="0" marL="0">
              <a:lnSpc>
                <a:spcPct val="100000"/>
              </a:lnSpc>
              <a:buNone/>
            </a:pPr>
            <a:r>
              <a:rPr lang="en-US" sz="1800" dirty="0">
                <a:solidFill>
                  <a:srgbClr val="1F2933"/>
                </a:solidFill>
              </a:rPr>
              <a:t>亿元。</a:t>
            </a:r>
            <a:endParaRPr lang="en-US" sz="1800" dirty="0"/>
          </a:p>
          <a:p>
            <a:pPr indent="0" marL="0">
              <a:lnSpc>
                <a:spcPct val="100000"/>
              </a:lnSpc>
              <a:buNone/>
            </a:pPr>
            <a:r>
              <a:rPr lang="en-US" sz="1800" dirty="0">
                <a:solidFill>
                  <a:srgbClr val="1F2933"/>
                </a:solidFill>
              </a:rPr>
              <a:t>年度比率先加权保留；零分母与混合正负EBITDA未决不伪造</a:t>
            </a:r>
            <a:endParaRPr lang="en-US" sz="1800" dirty="0"/>
          </a:p>
          <a:p>
            <a:pPr indent="0" marL="0">
              <a:lnSpc>
                <a:spcPct val="100000"/>
              </a:lnSpc>
              <a:buNone/>
            </a:pPr>
            <a:r>
              <a:rPr lang="en-US" sz="1800" dirty="0">
                <a:solidFill>
                  <a:srgbClr val="1F2933"/>
                </a:solidFill>
              </a:rPr>
              <a:t>唯一杠杆或利用带符号均值抵销负担。</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收入/采购价格、减值回收、税额抵扣、贷款条件与期限改变，须</a:t>
            </a:r>
            <a:endParaRPr lang="en-US" sz="1800" dirty="0"/>
          </a:p>
          <a:p>
            <a:pPr indent="0" marL="0">
              <a:lnSpc>
                <a:spcPct val="100000"/>
              </a:lnSpc>
              <a:buNone/>
            </a:pPr>
            <a:r>
              <a:rPr lang="en-US" sz="1800" dirty="0">
                <a:solidFill>
                  <a:srgbClr val="1F2933"/>
                </a:solidFill>
              </a:rPr>
              <a:t>重跑同链；经营资产独立周转预测和真实可调用资金仍待核。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累计新增融资仅5亿元时，2027-03-31首次不能满足</a:t>
            </a:r>
            <a:endParaRPr lang="en-US" sz="1800" dirty="0"/>
          </a:p>
          <a:p>
            <a:pPr indent="0" marL="0">
              <a:lnSpc>
                <a:spcPct val="100000"/>
              </a:lnSpc>
              <a:buNone/>
            </a:pPr>
            <a:r>
              <a:rPr lang="en-US" sz="1800" dirty="0">
                <a:solidFill>
                  <a:srgbClr val="1F2933"/>
                </a:solidFill>
              </a:rPr>
              <a:t>经营底线和用途准备，缺口3.59975亿元。按需到位、三年</a:t>
            </a:r>
            <a:endParaRPr lang="en-US" sz="1800" dirty="0"/>
          </a:p>
          <a:p>
            <a:pPr indent="0" marL="0">
              <a:lnSpc>
                <a:spcPct val="100000"/>
              </a:lnSpc>
              <a:buNone/>
            </a:pPr>
            <a:r>
              <a:rPr lang="en-US" sz="1800" dirty="0">
                <a:solidFill>
                  <a:srgbClr val="1F2933"/>
                </a:solidFill>
              </a:rPr>
              <a:t>期新贷均为条件；材料5%矩阵保留BBB+主体及转债分支、无</a:t>
            </a:r>
            <a:endParaRPr lang="en-US" sz="1800" dirty="0"/>
          </a:p>
          <a:p>
            <a:pPr indent="0" marL="0">
              <a:lnSpc>
                <a:spcPct val="100000"/>
              </a:lnSpc>
              <a:buNone/>
            </a:pPr>
            <a:r>
              <a:rPr lang="en-US" sz="1800" dirty="0">
                <a:solidFill>
                  <a:srgbClr val="1F2933"/>
                </a:solidFill>
              </a:rPr>
              <a:t>涨价强分支为A，实际发行人A及支付覆盖仍为空，不能由条件</a:t>
            </a:r>
            <a:endParaRPr lang="en-US" sz="1800" dirty="0"/>
          </a:p>
          <a:p>
            <a:pPr indent="0" marL="0">
              <a:lnSpc>
                <a:spcPct val="100000"/>
              </a:lnSpc>
              <a:buNone/>
            </a:pPr>
            <a:r>
              <a:rPr lang="en-US" sz="1800" dirty="0">
                <a:solidFill>
                  <a:srgbClr val="1F2933"/>
                </a:solidFill>
              </a:rPr>
              <a:t>结果认定真实评级调整。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旧债账面清偿预算、现金息和债券票息与经营流同表；每季求F=</a:t>
            </a:r>
            <a:endParaRPr lang="en-US" sz="1800" dirty="0"/>
          </a:p>
          <a:p>
            <a:pPr indent="0" marL="0">
              <a:lnSpc>
                <a:spcPct val="100000"/>
              </a:lnSpc>
              <a:buNone/>
            </a:pPr>
            <a:r>
              <a:rPr lang="en-US" sz="1800" dirty="0">
                <a:solidFill>
                  <a:srgbClr val="1F2933"/>
                </a:solidFill>
              </a:rPr>
              <a:t>(底线+用途准备−无新提款期末现金)/(1−当期新借款利息</a:t>
            </a:r>
            <a:endParaRPr lang="en-US" sz="1800" dirty="0"/>
          </a:p>
          <a:p>
            <a:pPr indent="0" marL="0">
              <a:lnSpc>
                <a:spcPct val="100000"/>
              </a:lnSpc>
              <a:buNone/>
            </a:pPr>
            <a:r>
              <a:rPr lang="en-US" sz="1800" dirty="0">
                <a:solidFill>
                  <a:srgbClr val="1F2933"/>
                </a:solidFill>
              </a:rPr>
              <a:t>率)，受限融资不足则停止，不继续以自动贷款补平。</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真实合同清偿与账面预算不同会改变提款时点及金额。</a:t>
            </a:r>
            <a:endParaRPr lang="en-US" sz="1800" dirty="0"/>
          </a:p>
          <a:p>
            <a:pPr indent="0" marL="0">
              <a:lnSpc>
                <a:spcPct val="100000"/>
              </a:lnSpc>
              <a:buNone/>
            </a:pPr>
            <a:r>
              <a:rPr lang="en-US" sz="1800" dirty="0">
                <a:solidFill>
                  <a:srgbClr val="1F2933"/>
                </a:solidFill>
              </a:rPr>
              <a:t>U/P、Δ_A/Δ_H/Γ、X、发行人A改变均可能改变日期</a:t>
            </a:r>
            <a:endParaRPr lang="en-US" sz="1800" dirty="0"/>
          </a:p>
          <a:p>
            <a:pPr indent="0" marL="0">
              <a:lnSpc>
                <a:spcPct val="100000"/>
              </a:lnSpc>
              <a:buNone/>
            </a:pPr>
            <a:r>
              <a:rPr lang="en-US" sz="1800" dirty="0">
                <a:solidFill>
                  <a:srgbClr val="1F2933"/>
                </a:solidFill>
              </a:rPr>
              <a:t>判断；均不预填为事实。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取得按法人和银行拆分的额度确认、提款及资金调拨、合同到期及</a:t>
            </a:r>
            <a:endParaRPr lang="en-US" sz="1800" dirty="0"/>
          </a:p>
          <a:p>
            <a:pPr indent="0" marL="0">
              <a:lnSpc>
                <a:spcPct val="100000"/>
              </a:lnSpc>
              <a:buNone/>
            </a:pPr>
            <a:r>
              <a:rPr lang="en-US" sz="1800" dirty="0">
                <a:solidFill>
                  <a:srgbClr val="1F2933"/>
                </a:solidFill>
              </a:rPr>
              <a:t>用途恢复证据后，用同一经营情景重跑；47亿元与10.8亿元</a:t>
            </a:r>
            <a:endParaRPr lang="en-US" sz="1800" dirty="0"/>
          </a:p>
          <a:p>
            <a:pPr indent="0" marL="0">
              <a:lnSpc>
                <a:spcPct val="100000"/>
              </a:lnSpc>
              <a:buNone/>
            </a:pPr>
            <a:r>
              <a:rPr lang="en-US" sz="1800" dirty="0">
                <a:solidFill>
                  <a:srgbClr val="1F2933"/>
                </a:solidFill>
              </a:rPr>
              <a:t>未用额度不能替代确认。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ks_econ_e_q1 / ks_credit_e_facilities / ks_a_e_ar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材料+5%及Q1减值延续条件：2026末权益</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38.66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母公司取得投资收益现金：5.21 亿元人民币</a:t>
            </a:r>
            <a:endParaRPr lang="en-US" sz="1800" dirty="0"/>
          </a:p>
          <a:p>
            <a:pPr indent="0" marL="0">
              <a:lnSpc>
                <a:spcPct val="100000"/>
              </a:lnSpc>
              <a:buNone/>
            </a:pPr>
            <a:r>
              <a:rPr lang="en-US" sz="1800" dirty="0">
                <a:solidFill>
                  <a:srgbClr val="1F2933"/>
                </a:solidFill>
              </a:rPr>
              <a:t>本年期初、综合收益、所有者投入、分配、专项储备及其他滚动；同控对期初比较及资本公积的影响需</a:t>
            </a:r>
            <a:endParaRPr lang="en-US" sz="1800" dirty="0"/>
          </a:p>
          <a:p>
            <a:pPr indent="0" marL="0">
              <a:lnSpc>
                <a:spcPct val="100000"/>
              </a:lnSpc>
              <a:buNone/>
            </a:pPr>
            <a:r>
              <a:rPr lang="en-US" sz="1800" dirty="0">
                <a:solidFill>
                  <a:srgbClr val="1F2933"/>
                </a:solidFill>
              </a:rPr>
              <a:t>分栏。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关联方提供保证不等于已承诺注资；经销商保证与对子公司保证区分；2025同控收购向控制人付款。</a:t>
            </a:r>
            <a:endParaRPr lang="en-US" sz="1800" dirty="0"/>
          </a:p>
          <a:p>
            <a:pPr indent="0" marL="0">
              <a:lnSpc>
                <a:spcPct val="100000"/>
              </a:lnSpc>
              <a:buNone/>
            </a:pPr>
            <a:r>
              <a:rPr lang="en-US" sz="1800" dirty="0">
                <a:solidFill>
                  <a:srgbClr val="1F2933"/>
                </a:solidFill>
              </a:rPr>
              <a:t>正文无重大关联交易不等于无任何关联交易。</a:t>
            </a:r>
            <a:endParaRPr lang="en-US" sz="1800" dirty="0"/>
          </a:p>
          <a:p>
            <a:pPr indent="0" marL="0">
              <a:lnSpc>
                <a:spcPct val="100000"/>
              </a:lnSpc>
              <a:buNone/>
            </a:pPr>
            <a:r>
              <a:rPr lang="en-US" sz="1800" dirty="0">
                <a:solidFill>
                  <a:srgbClr val="1F2933"/>
                </a:solidFill>
              </a:rPr>
              <a:t>拟分配现金股利为期后计划；单一经营分部并不表示不同产品/区域现金风险一致；抵债资产后续变现需</a:t>
            </a:r>
            <a:endParaRPr lang="en-US" sz="1800" dirty="0"/>
          </a:p>
          <a:p>
            <a:pPr indent="0" marL="0">
              <a:lnSpc>
                <a:spcPct val="100000"/>
              </a:lnSpc>
              <a:buNone/>
            </a:pPr>
            <a:r>
              <a:rPr lang="en-US" sz="1800" dirty="0">
                <a:solidFill>
                  <a:srgbClr val="1F2933"/>
                </a:solidFill>
              </a:rPr>
              <a:t>外部证据。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a:t>
            </a:r>
            <a:endParaRPr lang="en-US" sz="1800" dirty="0"/>
          </a:p>
          <a:p>
            <a:pPr indent="0" marL="0">
              <a:lnSpc>
                <a:spcPct val="100000"/>
              </a:lnSpc>
              <a:buNone/>
            </a:pPr>
            <a:r>
              <a:rPr lang="en-US" sz="1800" dirty="0">
                <a:solidFill>
                  <a:srgbClr val="1F2933"/>
                </a:solidFill>
              </a:rPr>
              <a:t>提升；不把普通授信或既有补助重新加成一档。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a:p>
            <a:pPr indent="0" marL="0">
              <a:lnSpc>
                <a:spcPct val="100000"/>
              </a:lnSpc>
              <a:buNone/>
            </a:pPr>
            <a:r>
              <a:rPr lang="en-US" sz="1800" dirty="0">
                <a:solidFill>
                  <a:srgbClr val="1F2933"/>
                </a:solidFill>
              </a:rPr>
              <a:t>审计师认为2025-12-31所有重大方面财务报告内部控制有效，签发2026-04-23；</a:t>
            </a:r>
            <a:endParaRPr lang="en-US" sz="1800" dirty="0"/>
          </a:p>
          <a:p>
            <a:pPr indent="0" marL="0">
              <a:lnSpc>
                <a:spcPct val="100000"/>
              </a:lnSpc>
              <a:buNone/>
            </a:pPr>
            <a:r>
              <a:rPr lang="en-US" sz="1800" dirty="0">
                <a:solidFill>
                  <a:srgbClr val="1F2933"/>
                </a:solidFill>
              </a:rPr>
              <a:t>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a:t>
            </a:r>
            <a:endParaRPr lang="en-US" sz="1800" dirty="0"/>
          </a:p>
          <a:p>
            <a:pPr indent="0" marL="0">
              <a:lnSpc>
                <a:spcPct val="100000"/>
              </a:lnSpc>
              <a:buNone/>
            </a:pPr>
            <a:r>
              <a:rPr lang="en-US" sz="1800" dirty="0">
                <a:solidFill>
                  <a:srgbClr val="1F2933"/>
                </a:solidFill>
              </a:rPr>
              <a:t>已到账融资；A_t、母公司付款预算、可上划子公司余额与上划限制未取得，均保留未知。已知</a:t>
            </a:r>
            <a:endParaRPr lang="en-US" sz="1800" dirty="0"/>
          </a:p>
          <a:p>
            <a:pPr indent="0" marL="0">
              <a:lnSpc>
                <a:spcPct val="100000"/>
              </a:lnSpc>
              <a:buNone/>
            </a:pPr>
            <a:r>
              <a:rPr lang="en-US" sz="1800" dirty="0">
                <a:solidFill>
                  <a:srgbClr val="1F2933"/>
                </a:solidFill>
              </a:rPr>
              <a:t>2025H1母公司现金10.87亿元只是历史快照。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集团G_t容量是外部融资需求的合并研究边界；子公司自身营运、债务、利润分配条件和监管/合同</a:t>
            </a:r>
            <a:endParaRPr lang="en-US" sz="1800" dirty="0"/>
          </a:p>
          <a:p>
            <a:pPr indent="0" marL="0">
              <a:lnSpc>
                <a:spcPct val="100000"/>
              </a:lnSpc>
              <a:buNone/>
            </a:pPr>
            <a:r>
              <a:rPr lang="en-US" sz="1800" dirty="0">
                <a:solidFill>
                  <a:srgbClr val="1F2933"/>
                </a:solidFill>
              </a:rPr>
              <a:t>限制使其不能自动上划。附加用途限制还可能改变CCE分类，不能由账面货币总额断言自由现金。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负面展望反映一年内的行业需求、回收、用途与融资压力。历史</a:t>
            </a:r>
            <a:endParaRPr lang="en-US" sz="1800" dirty="0"/>
          </a:p>
          <a:p>
            <a:pPr indent="0" marL="0">
              <a:lnSpc>
                <a:spcPct val="100000"/>
              </a:lnSpc>
              <a:buNone/>
            </a:pPr>
            <a:r>
              <a:rPr lang="en-US" sz="1800" dirty="0">
                <a:solidFill>
                  <a:srgbClr val="1F2933"/>
                </a:solidFill>
              </a:rPr>
              <a:t>固定定性量化区间跨F5/F4，上端未达F3；未来经营融资的</a:t>
            </a:r>
            <a:endParaRPr lang="en-US" sz="1800" dirty="0"/>
          </a:p>
          <a:p>
            <a:pPr indent="0" marL="0">
              <a:lnSpc>
                <a:spcPct val="100000"/>
              </a:lnSpc>
              <a:buNone/>
            </a:pPr>
            <a:r>
              <a:rPr lang="en-US" sz="1800" dirty="0">
                <a:solidFill>
                  <a:srgbClr val="1F2933"/>
                </a:solidFill>
              </a:rPr>
              <a:t>无材料涨价分支可得C/F3及A矩阵值，材料5%分支为C/</a:t>
            </a:r>
            <a:endParaRPr lang="en-US" sz="1800" dirty="0"/>
          </a:p>
          <a:p>
            <a:pPr indent="0" marL="0">
              <a:lnSpc>
                <a:spcPct val="100000"/>
              </a:lnSpc>
              <a:buNone/>
            </a:pPr>
            <a:r>
              <a:rPr lang="en-US" sz="1800" dirty="0">
                <a:solidFill>
                  <a:srgbClr val="1F2933"/>
                </a:solidFill>
              </a:rPr>
              <a:t>F4及BBB+，均未证明实际持续改善。只有经营现金兑现、</a:t>
            </a:r>
            <a:endParaRPr lang="en-US" sz="1800" dirty="0"/>
          </a:p>
          <a:p>
            <a:pPr indent="0" marL="0">
              <a:lnSpc>
                <a:spcPct val="100000"/>
              </a:lnSpc>
              <a:buNone/>
            </a:pPr>
            <a:r>
              <a:rPr lang="en-US" sz="1800" dirty="0">
                <a:solidFill>
                  <a:srgbClr val="1F2933"/>
                </a:solidFill>
              </a:rPr>
              <a:t>发行人资金及合同问题解决后才讨论实际上调；若付款条件失败</a:t>
            </a:r>
            <a:endParaRPr lang="en-US" sz="1800" dirty="0"/>
          </a:p>
          <a:p>
            <a:pPr indent="0" marL="0">
              <a:lnSpc>
                <a:spcPct val="100000"/>
              </a:lnSpc>
              <a:buNone/>
            </a:pPr>
            <a:r>
              <a:rPr lang="en-US" sz="1800" dirty="0">
                <a:solidFill>
                  <a:srgbClr val="1F2933"/>
                </a:solidFill>
              </a:rPr>
              <a:t>立即重评。经营D/F4、C/F5、D/F5的既有变化分支</a:t>
            </a:r>
            <a:endParaRPr lang="en-US" sz="1800" dirty="0"/>
          </a:p>
          <a:p>
            <a:pPr indent="0" marL="0">
              <a:lnSpc>
                <a:spcPct val="100000"/>
              </a:lnSpc>
              <a:buNone/>
            </a:pPr>
            <a:r>
              <a:rPr lang="en-US" sz="1800" dirty="0">
                <a:solidFill>
                  <a:srgbClr val="1F2933"/>
                </a:solidFill>
              </a:rPr>
              <a:t>继续保留。</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固定定性判断的量化档内合成下界（含）</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3.46 分</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固定定性判断的量化档内合成上确界（不含）</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4.01 分</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a:t>
            </a:r>
            <a:endParaRPr lang="en-US" sz="1800" dirty="0"/>
          </a:p>
          <a:p>
            <a:pPr indent="0" marL="0">
              <a:lnSpc>
                <a:spcPct val="100000"/>
              </a:lnSpc>
              <a:buNone/>
            </a:pPr>
            <a:r>
              <a:rPr lang="en-US" sz="1800" dirty="0">
                <a:solidFill>
                  <a:srgbClr val="1F2933"/>
                </a:solidFill>
              </a:rPr>
              <a:t>承诺解释，再更新半年度/年度亏损、应收回收、订单及融资。</a:t>
            </a:r>
            <a:endParaRPr lang="en-US" sz="1800" dirty="0"/>
          </a:p>
          <a:p>
            <a:pPr indent="0" marL="0">
              <a:lnSpc>
                <a:spcPct val="100000"/>
              </a:lnSpc>
              <a:buNone/>
            </a:pPr>
            <a:r>
              <a:rPr lang="en-US" sz="1800" dirty="0">
                <a:solidFill>
                  <a:srgbClr val="1F2933"/>
                </a:solidFill>
              </a:rPr>
              <a:t>三年完整重述和更可靠预测会改变加权依据；对应结果应重算而非</a:t>
            </a:r>
            <a:endParaRPr lang="en-US" sz="1800" dirty="0"/>
          </a:p>
          <a:p>
            <a:pPr indent="0" marL="0">
              <a:lnSpc>
                <a:spcPct val="100000"/>
              </a:lnSpc>
              <a:buNone/>
            </a:pPr>
            <a:r>
              <a:rPr lang="en-US" sz="1800" dirty="0">
                <a:solidFill>
                  <a:srgbClr val="1F2933"/>
                </a:solidFill>
              </a:rPr>
              <a:t>沿用此次分数。没有设置后台监控、没有真实委员会投票。 临时</a:t>
            </a:r>
            <a:endParaRPr lang="en-US" sz="1800" dirty="0"/>
          </a:p>
          <a:p>
            <a:pPr indent="0" marL="0">
              <a:lnSpc>
                <a:spcPct val="100000"/>
              </a:lnSpc>
              <a:buNone/>
            </a:pPr>
            <a:r>
              <a:rPr lang="en-US" sz="1800" dirty="0">
                <a:solidFill>
                  <a:srgbClr val="1F2933"/>
                </a:solidFill>
              </a:rPr>
              <a:t>补流按2027-01-09十二个月边界及更早项目需要核查；</a:t>
            </a:r>
            <a:endParaRPr lang="en-US" sz="1800" dirty="0"/>
          </a:p>
          <a:p>
            <a:pPr indent="0" marL="0">
              <a:lnSpc>
                <a:spcPct val="100000"/>
              </a:lnSpc>
              <a:buNone/>
            </a:pPr>
            <a:r>
              <a:rPr lang="en-US" sz="1800" dirty="0">
                <a:solidFill>
                  <a:srgbClr val="1F2933"/>
                </a:solidFill>
              </a:rPr>
              <a:t>延伸至2027年6月的条件资金容量须代入实际还本、其他净</a:t>
            </a:r>
            <a:endParaRPr lang="en-US" sz="1800" dirty="0"/>
          </a:p>
          <a:p>
            <a:pPr indent="0" marL="0">
              <a:lnSpc>
                <a:spcPct val="100000"/>
              </a:lnSpc>
              <a:buNone/>
            </a:pPr>
            <a:r>
              <a:rPr lang="en-US" sz="1800" dirty="0">
                <a:solidFill>
                  <a:srgbClr val="1F2933"/>
                </a:solidFill>
              </a:rPr>
              <a:t>用途、项目耗用和用途占用，再检验发行人可调度资金及可落实</a:t>
            </a:r>
            <a:endParaRPr lang="en-US" sz="1800" dirty="0"/>
          </a:p>
          <a:p>
            <a:pPr indent="0" marL="0">
              <a:lnSpc>
                <a:spcPct val="100000"/>
              </a:lnSpc>
              <a:buNone/>
            </a:pPr>
            <a:r>
              <a:rPr lang="en-US" sz="1800" dirty="0">
                <a:solidFill>
                  <a:srgbClr val="1F2933"/>
                </a:solidFill>
              </a:rPr>
              <a:t>融资。 优先关闭10.8/47亿元额度冲突、年末39户保证</a:t>
            </a:r>
            <a:endParaRPr lang="en-US" sz="1800" dirty="0"/>
          </a:p>
          <a:p>
            <a:pPr indent="0" marL="0">
              <a:lnSpc>
                <a:spcPct val="100000"/>
              </a:lnSpc>
              <a:buNone/>
            </a:pPr>
            <a:r>
              <a:rPr lang="en-US" sz="1800" dirty="0">
                <a:solidFill>
                  <a:srgbClr val="1F2933"/>
                </a:solidFill>
              </a:rPr>
              <a:t>至三月及六月的存续滚动，并核保证支持的实际收现和期后追偿。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季度业绩改善可使展望转稳，但需要完整期间现金而不只是利润。</a:t>
            </a:r>
            <a:endParaRPr lang="en-US" sz="1800" dirty="0"/>
          </a:p>
          <a:p>
            <a:pPr indent="0" marL="0">
              <a:lnSpc>
                <a:spcPct val="100000"/>
              </a:lnSpc>
              <a:buNone/>
            </a:pPr>
            <a:r>
              <a:rPr lang="en-US" sz="1800" dirty="0">
                <a:solidFill>
                  <a:srgbClr val="1F2933"/>
                </a:solidFill>
              </a:rPr>
              <a:t>正式解释若证明承诺无新增现金后果，会关闭该项不确定性，其他</a:t>
            </a:r>
            <a:endParaRPr lang="en-US" sz="1800" dirty="0"/>
          </a:p>
          <a:p>
            <a:pPr indent="0" marL="0">
              <a:lnSpc>
                <a:spcPct val="100000"/>
              </a:lnSpc>
              <a:buNone/>
            </a:pPr>
            <a:r>
              <a:rPr lang="en-US" sz="1800" dirty="0">
                <a:solidFill>
                  <a:srgbClr val="1F2933"/>
                </a:solidFill>
              </a:rPr>
              <a:t>经营财务风险仍需重评。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a:t>
            </a:r>
            <a:endParaRPr lang="en-US" sz="1800" dirty="0"/>
          </a:p>
          <a:p>
            <a:pPr indent="0" marL="0">
              <a:lnSpc>
                <a:spcPct val="100000"/>
              </a:lnSpc>
              <a:buNone/>
            </a:pPr>
            <a:r>
              <a:rPr lang="en-US" sz="1800" dirty="0">
                <a:solidFill>
                  <a:srgbClr val="1F2933"/>
                </a:solidFill>
              </a:rPr>
              <a:t>提前到期、用途变更或支持事件；若已发生应立即反映的偿付</a:t>
            </a:r>
            <a:endParaRPr lang="en-US" sz="1800" dirty="0"/>
          </a:p>
          <a:p>
            <a:pPr indent="0" marL="0">
              <a:lnSpc>
                <a:spcPct val="100000"/>
              </a:lnSpc>
              <a:buNone/>
            </a:pPr>
            <a:r>
              <a:rPr lang="en-US" sz="1800" dirty="0">
                <a:solidFill>
                  <a:srgbClr val="1F2933"/>
                </a:solidFill>
              </a:rPr>
              <a:t>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资产质量下调有应收准备27.50%→36.17%、3年以上23.78%→32.56%及抵债</a:t>
            </a:r>
            <a:endParaRPr lang="en-US" sz="1800" dirty="0"/>
          </a:p>
          <a:p>
            <a:pPr indent="0" marL="0">
              <a:lnSpc>
                <a:spcPct val="100000"/>
              </a:lnSpc>
              <a:buNone/>
            </a:pPr>
            <a:r>
              <a:rPr lang="en-US" sz="1800" dirty="0">
                <a:solidFill>
                  <a:srgbClr val="1F2933"/>
                </a:solidFill>
              </a:rPr>
              <a:t>房产5.31→7.86亿元支持；但没有官方自动数值门槛。再融资中心5/4.5受同日未用额度</a:t>
            </a:r>
            <a:endParaRPr lang="en-US" sz="1800" dirty="0"/>
          </a:p>
          <a:p>
            <a:pPr indent="0" marL="0">
              <a:lnSpc>
                <a:spcPct val="100000"/>
              </a:lnSpc>
              <a:buNone/>
            </a:pPr>
            <a:r>
              <a:rPr lang="en-US" sz="1800" dirty="0">
                <a:solidFill>
                  <a:srgbClr val="1F2933"/>
                </a:solidFill>
              </a:rPr>
              <a:t>冲突与附条件可得性限制，保留未选定。两项各±0.5，历史中心财务分3.62375/</a:t>
            </a:r>
            <a:endParaRPr lang="en-US" sz="1800" dirty="0"/>
          </a:p>
          <a:p>
            <a:pPr indent="0" marL="0">
              <a:lnSpc>
                <a:spcPct val="100000"/>
              </a:lnSpc>
              <a:buNone/>
            </a:pPr>
            <a:r>
              <a:rPr lang="en-US" sz="1800" dirty="0">
                <a:solidFill>
                  <a:srgbClr val="1F2933"/>
                </a:solidFill>
              </a:rPr>
              <a:t>3.73625/3.84875均F4，叠加量化档内取值的联合范围[</a:t>
            </a:r>
            <a:endParaRPr lang="en-US" sz="1800" dirty="0"/>
          </a:p>
          <a:p>
            <a:pPr indent="0" marL="0">
              <a:lnSpc>
                <a:spcPct val="100000"/>
              </a:lnSpc>
              <a:buNone/>
            </a:pPr>
            <a:r>
              <a:rPr lang="en-US" sz="1800" dirty="0">
                <a:solidFill>
                  <a:srgbClr val="1F2933"/>
                </a:solidFill>
              </a:rPr>
              <a:t>3.34875,4.12375)跨F5/F4。</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两项权重10%和12.5%，共同±0.5使财务分±0.1125；Q1减值无涨价分支</a:t>
            </a:r>
            <a:endParaRPr lang="en-US" sz="1800" dirty="0"/>
          </a:p>
          <a:p>
            <a:pPr indent="0" marL="0">
              <a:lnSpc>
                <a:spcPct val="100000"/>
              </a:lnSpc>
              <a:buNone/>
            </a:pPr>
            <a:r>
              <a:rPr lang="en-US" sz="1800" dirty="0">
                <a:solidFill>
                  <a:srgbClr val="1F2933"/>
                </a:solidFill>
              </a:rPr>
              <a:t>4.50375/4.61625/4.72875均F3，材料5%为4.25375/</a:t>
            </a:r>
            <a:endParaRPr lang="en-US" sz="1800" dirty="0"/>
          </a:p>
          <a:p>
            <a:pPr indent="0" marL="0">
              <a:lnSpc>
                <a:spcPct val="100000"/>
              </a:lnSpc>
              <a:buNone/>
            </a:pPr>
            <a:r>
              <a:rPr lang="en-US" sz="1800" dirty="0">
                <a:solidFill>
                  <a:srgbClr val="1F2933"/>
                </a:solidFill>
              </a:rPr>
              <a:t>4.36625/4.47875均F4。历史联合区间及全部9格另列。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资产回收与银行可用额度获证支持时可选偏强相邻分支；准备不足、抵债房产/税资产变现弱或融资受限</a:t>
            </a:r>
            <a:endParaRPr lang="en-US" sz="1800" dirty="0"/>
          </a:p>
          <a:p>
            <a:pPr indent="0" marL="0">
              <a:lnSpc>
                <a:spcPct val="100000"/>
              </a:lnSpc>
              <a:buNone/>
            </a:pPr>
            <a:r>
              <a:rPr lang="en-US" sz="1800" dirty="0">
                <a:solidFill>
                  <a:srgbClr val="1F2933"/>
                </a:solidFill>
              </a:rPr>
              <a:t>则偏弱。</a:t>
            </a:r>
            <a:endParaRPr lang="en-US" sz="1800" dirty="0"/>
          </a:p>
          <a:p>
            <a:pPr indent="0" marL="0">
              <a:lnSpc>
                <a:spcPct val="100000"/>
              </a:lnSpc>
              <a:buNone/>
            </a:pPr>
            <a:r>
              <a:rPr lang="en-US" sz="1800" dirty="0">
                <a:solidFill>
                  <a:srgbClr val="1F2933"/>
                </a:solidFill>
              </a:rPr>
              <a:t>仅见净应收和受限资产下降不足以证明资产改善；额度未使用不等于无条件可提款。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取得实际回收/减值充分性与银行确认后再选定分支；在此之前不以中心评级替代判断区间。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指标先加权后分档的财务研究分</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3.74 分</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a:t>
            </a:r>
            <a:endParaRPr lang="en-US" sz="1800" dirty="0"/>
          </a:p>
          <a:p>
            <a:pPr indent="0" marL="0">
              <a:lnSpc>
                <a:spcPct val="100000"/>
              </a:lnSpc>
              <a:buNone/>
            </a:pPr>
            <a:r>
              <a:rPr lang="en-US" sz="1800" dirty="0">
                <a:solidFill>
                  <a:srgbClr val="1F2933"/>
                </a:solidFill>
              </a:rPr>
              <a:t>币、60.44 亿元人民币；重述扣非持续为负。完整重述历史负债、利息和折旧仍缺，原口径对照不</a:t>
            </a:r>
            <a:endParaRPr lang="en-US" sz="1800" dirty="0"/>
          </a:p>
          <a:p>
            <a:pPr indent="0" marL="0">
              <a:lnSpc>
                <a:spcPct val="100000"/>
              </a:lnSpc>
              <a:buNone/>
            </a:pPr>
            <a:r>
              <a:rPr lang="en-US" sz="1800" dirty="0">
                <a:solidFill>
                  <a:srgbClr val="1F2933"/>
                </a:solidFill>
              </a:rPr>
              <a:t>混入同口径评级输入。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横琴的金融资产与融资现金影响权益、利润、现金；丰泽失控后恢复控制和保理出表亦影响跨年可比性。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a:t>
            </a:r>
            <a:endParaRPr lang="en-US" sz="1800" dirty="0"/>
          </a:p>
          <a:p>
            <a:pPr indent="0" marL="0">
              <a:lnSpc>
                <a:spcPct val="100000"/>
              </a:lnSpc>
              <a:buNone/>
            </a:pPr>
            <a:r>
              <a:rPr lang="en-US" sz="1800" dirty="0">
                <a:solidFill>
                  <a:srgbClr val="1F2933"/>
                </a:solidFill>
              </a:rPr>
              <a:t>证据同时保留，未认定舞弊或所有控制无效。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控制结论有重大性和时点边界，不能替代余额可回收、可用现金或条款执行验证；亏损净利定量标准及整</a:t>
            </a:r>
            <a:endParaRPr lang="en-US" sz="1800" dirty="0"/>
          </a:p>
          <a:p>
            <a:pPr indent="0" marL="0">
              <a:lnSpc>
                <a:spcPct val="100000"/>
              </a:lnSpc>
              <a:buNone/>
            </a:pPr>
            <a:r>
              <a:rPr lang="en-US" sz="1800" dirty="0">
                <a:solidFill>
                  <a:srgbClr val="1F2933"/>
                </a:solidFill>
              </a:rPr>
              <a:t>改时点尚需澄清。</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亿元人民币；公告次年初旧轮已归还13.00 亿元人民币，并批准新一轮</a:t>
            </a:r>
            <a:endParaRPr lang="en-US" sz="1800" dirty="0"/>
          </a:p>
          <a:p>
            <a:pPr indent="0" marL="0">
              <a:lnSpc>
                <a:spcPct val="100000"/>
              </a:lnSpc>
              <a:buNone/>
            </a:pPr>
            <a:r>
              <a:rPr lang="en-US" sz="1800" dirty="0">
                <a:solidFill>
                  <a:srgbClr val="1F2933"/>
                </a:solidFill>
              </a:rPr>
              <a:t>上限13.00 亿元人民币。时点疑点已由公告澄清，授权上限不等于六月实际占用。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仍需关注一般户混用期间用途追踪、专户整改执行及研究截止日占用；不能以续作代表永久资本，也不能</a:t>
            </a:r>
            <a:endParaRPr lang="en-US" sz="1800" dirty="0"/>
          </a:p>
          <a:p>
            <a:pPr indent="0" marL="0">
              <a:lnSpc>
                <a:spcPct val="100000"/>
              </a:lnSpc>
              <a:buNone/>
            </a:pPr>
            <a:r>
              <a:rPr lang="en-US" sz="1800" dirty="0">
                <a:solidFill>
                  <a:srgbClr val="1F2933"/>
                </a:solidFill>
              </a:rPr>
              <a:t>将归还额倒填年末。</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公告证实旧轮归还并获新授权，可解释不同报告时点的余额，不构成旧轮长期未归还的证据。</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以截止日实际占用和用途流水确认应恢复额度、时间及项目需求，并验证混用问题整改执行；已公开的旧</a:t>
            </a:r>
            <a:endParaRPr lang="en-US" sz="1800" dirty="0"/>
          </a:p>
          <a:p>
            <a:pPr indent="0" marL="0">
              <a:lnSpc>
                <a:spcPct val="100000"/>
              </a:lnSpc>
              <a:buNone/>
            </a:pPr>
            <a:r>
              <a:rPr lang="en-US" sz="1800" dirty="0">
                <a:solidFill>
                  <a:srgbClr val="1F2933"/>
                </a:solidFill>
              </a:rPr>
              <a:t>轮归还时点不再重复请求。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a:t>
            </a:r>
            <a:endParaRPr lang="en-US" sz="1800" dirty="0"/>
          </a:p>
          <a:p>
            <a:pPr indent="0" marL="0">
              <a:lnSpc>
                <a:spcPct val="100000"/>
              </a:lnSpc>
              <a:buNone/>
            </a:pPr>
            <a:r>
              <a:rPr lang="en-US" sz="1800" dirty="0">
                <a:solidFill>
                  <a:srgbClr val="1F2933"/>
                </a:solidFill>
              </a:rPr>
              <a:t>亦闭合；未据此宣称大额现金重分类。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原补充表未逐项列出的差额与后续比较列定存质押、冻结和专用款一致。资金可支配性分析应用完整受限</a:t>
            </a:r>
            <a:endParaRPr lang="en-US" sz="1800" dirty="0"/>
          </a:p>
          <a:p>
            <a:pPr indent="0" marL="0">
              <a:lnSpc>
                <a:spcPct val="100000"/>
              </a:lnSpc>
              <a:buNone/>
            </a:pPr>
            <a:r>
              <a:rPr lang="en-US" sz="1800" dirty="0">
                <a:solidFill>
                  <a:srgbClr val="1F2933"/>
                </a:solidFill>
              </a:rPr>
              <a:t>金额，再核实际用途限制。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摘要因同一控制下收购横琴逸东公司调整往年；列示2023重述后收入、归母净利、扣非净利、</a:t>
            </a:r>
            <a:endParaRPr lang="en-US" sz="1800" dirty="0"/>
          </a:p>
          <a:p>
            <a:pPr indent="0" marL="0">
              <a:lnSpc>
                <a:spcPct val="100000"/>
              </a:lnSpc>
              <a:buNone/>
            </a:pPr>
            <a:r>
              <a:rPr lang="en-US" sz="1800" dirty="0">
                <a:solidFill>
                  <a:srgbClr val="1F2933"/>
                </a:solidFill>
              </a:rPr>
              <a:t>CFO、资产及归母权益，不列全部四表。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a:t>
            </a:r>
            <a:endParaRPr lang="en-US" sz="1800" dirty="0"/>
          </a:p>
          <a:p>
            <a:pPr indent="0" marL="0">
              <a:lnSpc>
                <a:spcPct val="100000"/>
              </a:lnSpc>
              <a:buNone/>
            </a:pPr>
            <a:r>
              <a:rPr lang="en-US" sz="1800" dirty="0">
                <a:solidFill>
                  <a:srgbClr val="1F2933"/>
                </a:solidFill>
              </a:rPr>
              <a:t>-2.11 亿元人民币。归母利润较2024年减少5.71 亿元人民币，其中扣非恶化3.28 </a:t>
            </a:r>
            <a:endParaRPr lang="en-US" sz="1800" dirty="0"/>
          </a:p>
          <a:p>
            <a:pPr indent="0" marL="0">
              <a:lnSpc>
                <a:spcPct val="100000"/>
              </a:lnSpc>
              <a:buNone/>
            </a:pPr>
            <a:r>
              <a:rPr lang="en-US" sz="1800" dirty="0">
                <a:solidFill>
                  <a:srgbClr val="1F2933"/>
                </a:solidFill>
              </a:rPr>
              <a:t>亿元人民币、非经常支持减少2.43 亿元人民币，后者占42.51%；不能把恶化全部归于当期</a:t>
            </a:r>
            <a:endParaRPr lang="en-US" sz="1800" dirty="0"/>
          </a:p>
          <a:p>
            <a:pPr indent="0" marL="0">
              <a:lnSpc>
                <a:spcPct val="100000"/>
              </a:lnSpc>
              <a:buNone/>
            </a:pPr>
            <a:r>
              <a:rPr lang="en-US" sz="1800" dirty="0">
                <a:solidFill>
                  <a:srgbClr val="1F2933"/>
                </a:solidFill>
              </a:rPr>
              <a:t>一次性损失。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公司归母非经常损益从2.97 亿元人民币降至5,444.23 万元人民币，逐项保留税与少数</a:t>
            </a:r>
            <a:endParaRPr lang="en-US" sz="1800" dirty="0"/>
          </a:p>
          <a:p>
            <a:pPr indent="0" marL="0">
              <a:lnSpc>
                <a:spcPct val="100000"/>
              </a:lnSpc>
              <a:buNone/>
            </a:pPr>
            <a:r>
              <a:rPr lang="en-US" sz="1800" dirty="0">
                <a:solidFill>
                  <a:srgbClr val="1F2933"/>
                </a:solidFill>
              </a:rPr>
              <a:t>股东影响；扣非归母从-2.62 亿元人民币恶化至-5.90 亿元人民币。金融资产公允价值及</a:t>
            </a:r>
            <a:endParaRPr lang="en-US" sz="1800" dirty="0"/>
          </a:p>
          <a:p>
            <a:pPr indent="0" marL="0">
              <a:lnSpc>
                <a:spcPct val="100000"/>
              </a:lnSpc>
              <a:buNone/>
            </a:pPr>
            <a:r>
              <a:rPr lang="en-US" sz="1800" dirty="0">
                <a:solidFill>
                  <a:srgbClr val="1F2933"/>
                </a:solidFill>
              </a:rPr>
              <a:t>处置损益从1.77 亿元人民币降至203.41 万元人民币，单项应收转回从1.37 亿元人民</a:t>
            </a:r>
            <a:endParaRPr lang="en-US" sz="1800" dirty="0"/>
          </a:p>
          <a:p>
            <a:pPr indent="0" marL="0">
              <a:lnSpc>
                <a:spcPct val="100000"/>
              </a:lnSpc>
              <a:buNone/>
            </a:pPr>
            <a:r>
              <a:rPr lang="en-US" sz="1800" dirty="0">
                <a:solidFill>
                  <a:srgbClr val="1F2933"/>
                </a:solidFill>
              </a:rPr>
              <a:t>币降至7,987.08 万元人民币。前者不等同公允价值变动科目，后者须核现金回收、抵债或估计</a:t>
            </a:r>
            <a:endParaRPr lang="en-US" sz="1800" dirty="0"/>
          </a:p>
          <a:p>
            <a:pPr indent="0" marL="0">
              <a:lnSpc>
                <a:spcPct val="100000"/>
              </a:lnSpc>
              <a:buNone/>
            </a:pPr>
            <a:r>
              <a:rPr lang="en-US" sz="1800" dirty="0">
                <a:solidFill>
                  <a:srgbClr val="1F2933"/>
                </a:solidFill>
              </a:rPr>
              <a:t>变更，非经常分类本身不证明现金收回。两项2024税前收益合计占原会计EBITDA72.51</a:t>
            </a:r>
            <a:endParaRPr lang="en-US" sz="1800" dirty="0"/>
          </a:p>
          <a:p>
            <a:pPr indent="0" marL="0">
              <a:lnSpc>
                <a:spcPct val="100000"/>
              </a:lnSpc>
              <a:buNone/>
            </a:pPr>
            <a:r>
              <a:rPr lang="en-US" sz="1800" dirty="0">
                <a:solidFill>
                  <a:srgbClr val="1F2933"/>
                </a:solidFill>
              </a:rPr>
              <a:t>%；仅对称扣除这两项，2024/2025 EBITDA为1.19 亿元人民币/-2.93 亿</a:t>
            </a:r>
            <a:endParaRPr lang="en-US" sz="1800" dirty="0"/>
          </a:p>
          <a:p>
            <a:pPr indent="0" marL="0">
              <a:lnSpc>
                <a:spcPct val="100000"/>
              </a:lnSpc>
              <a:buNone/>
            </a:pPr>
            <a:r>
              <a:rPr lang="en-US" sz="1800" dirty="0">
                <a:solidFill>
                  <a:srgbClr val="1F2933"/>
                </a:solidFill>
              </a:rPr>
              <a:t>元人民币，税前利润为-2.68 亿元人民币/-6.74 亿元人民币。这是局部依赖敏感性，并未</a:t>
            </a:r>
            <a:endParaRPr lang="en-US" sz="1800" dirty="0"/>
          </a:p>
          <a:p>
            <a:pPr indent="0" marL="0">
              <a:lnSpc>
                <a:spcPct val="100000"/>
              </a:lnSpc>
              <a:buNone/>
            </a:pPr>
            <a:r>
              <a:rPr lang="en-US" sz="1800" dirty="0">
                <a:solidFill>
                  <a:srgbClr val="1F2933"/>
                </a:solidFill>
              </a:rPr>
              <a:t>对政府补助、处置损失、重组和其他项目逐项作经济正常化，也未替换官方评级指标；已列负项不因只挑</a:t>
            </a:r>
            <a:endParaRPr lang="en-US" sz="1800" dirty="0"/>
          </a:p>
          <a:p>
            <a:pPr indent="0" marL="0">
              <a:lnSpc>
                <a:spcPct val="100000"/>
              </a:lnSpc>
              <a:buNone/>
            </a:pPr>
            <a:r>
              <a:rPr lang="en-US" sz="1800" dirty="0">
                <a:solidFill>
                  <a:srgbClr val="1F2933"/>
                </a:solidFill>
              </a:rPr>
              <a:t>正收益而被忽略。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集中确认历史客户损失会使当期亏损高于现金支出，但持续发生的信用成本不能自动全额加回。</a:t>
            </a:r>
            <a:endParaRPr lang="en-US" sz="1800" dirty="0"/>
          </a:p>
          <a:p>
            <a:pPr indent="0" marL="0">
              <a:lnSpc>
                <a:spcPct val="100000"/>
              </a:lnSpc>
              <a:buNone/>
            </a:pPr>
            <a:r>
              <a:rPr lang="en-US" sz="1800" dirty="0">
                <a:solidFill>
                  <a:srgbClr val="1F2933"/>
                </a:solidFill>
              </a:rPr>
              <a:t>应收转回可能来自真实收款，也可能来自抵债及估计变化；须逐笔对应现金、资产接收和准备滚动后</a:t>
            </a:r>
            <a:endParaRPr lang="en-US" sz="1800" dirty="0"/>
          </a:p>
          <a:p>
            <a:pPr indent="0" marL="0">
              <a:lnSpc>
                <a:spcPct val="100000"/>
              </a:lnSpc>
              <a:buNone/>
            </a:pPr>
            <a:r>
              <a:rPr lang="en-US" sz="1800" dirty="0">
                <a:solidFill>
                  <a:srgbClr val="1F2933"/>
                </a:solidFill>
              </a:rPr>
              <a:t>判断。</a:t>
            </a:r>
            <a:endParaRPr lang="en-US" sz="1800" dirty="0"/>
          </a:p>
          <a:p>
            <a:pPr indent="0" marL="0">
              <a:lnSpc>
                <a:spcPct val="100000"/>
              </a:lnSpc>
              <a:buNone/>
            </a:pPr>
            <a:r>
              <a:rPr lang="en-US" sz="1800" dirty="0">
                <a:solidFill>
                  <a:srgbClr val="1F2933"/>
                </a:solidFill>
              </a:rPr>
              <a:t>资产处置及债务重组损失也应按经济性质对称审查；公司扣非口径、分析者正常化和机构偿债收益定义</a:t>
            </a:r>
            <a:endParaRPr lang="en-US" sz="1800" dirty="0"/>
          </a:p>
          <a:p>
            <a:pPr indent="0" marL="0">
              <a:lnSpc>
                <a:spcPct val="100000"/>
              </a:lnSpc>
              <a:buNone/>
            </a:pPr>
            <a:r>
              <a:rPr lang="en-US" sz="1800" dirty="0">
                <a:solidFill>
                  <a:srgbClr val="1F2933"/>
                </a:solidFill>
              </a:rPr>
              <a:t>分别保留。</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单项应收减值准备转回：7,987.08 万元人民币</a:t>
            </a:r>
            <a:endParaRPr lang="en-US" sz="1800" dirty="0"/>
          </a:p>
          <a:p>
            <a:pPr indent="0" marL="0">
              <a:lnSpc>
                <a:spcPct val="100000"/>
              </a:lnSpc>
              <a:buNone/>
            </a:pPr>
            <a:r>
              <a:rPr lang="en-US" sz="1800" dirty="0">
                <a:solidFill>
                  <a:srgbClr val="1F2933"/>
                </a:solidFill>
              </a:rPr>
              <a:t>非流动资产处置损益：-872.67 万元人民币</a:t>
            </a:r>
            <a:endParaRPr lang="en-US" sz="1800" dirty="0"/>
          </a:p>
          <a:p>
            <a:pPr indent="0" marL="0">
              <a:lnSpc>
                <a:spcPct val="100000"/>
              </a:lnSpc>
              <a:buNone/>
            </a:pPr>
            <a:r>
              <a:rPr lang="en-US" sz="1800" dirty="0">
                <a:solidFill>
                  <a:srgbClr val="1F2933"/>
                </a:solidFill>
              </a:rPr>
              <a:t>债务重组损益：-869.14 万元人民币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按客户和年度拆分新增损失、实际回收及转回依据；把金融资产损益对应到处置现金与剩余估值敞口，对</a:t>
            </a:r>
            <a:endParaRPr lang="en-US" sz="1800" dirty="0"/>
          </a:p>
          <a:p>
            <a:pPr indent="0" marL="0">
              <a:lnSpc>
                <a:spcPct val="100000"/>
              </a:lnSpc>
              <a:buNone/>
            </a:pPr>
            <a:r>
              <a:rPr lang="en-US" sz="1800" dirty="0">
                <a:solidFill>
                  <a:srgbClr val="1F2933"/>
                </a:solidFill>
              </a:rPr>
              <a:t>持续补助和负向非经常项目作同等核查。证明常态经营收益和现金覆盖利息及必要投入后再改善盈利</a:t>
            </a:r>
            <a:endParaRPr lang="en-US" sz="1800" dirty="0"/>
          </a:p>
          <a:p>
            <a:pPr indent="0" marL="0">
              <a:lnSpc>
                <a:spcPct val="100000"/>
              </a:lnSpc>
              <a:buNone/>
            </a:pPr>
            <a:r>
              <a:rPr lang="en-US" sz="1800" dirty="0">
                <a:solidFill>
                  <a:srgbClr val="1F2933"/>
                </a:solidFill>
              </a:rPr>
              <a:t>判断；仅观察2024正EBITDA或2025转回收益不足以成立。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a:t>
            </a:r>
            <a:endParaRPr lang="en-US" sz="1800" dirty="0"/>
          </a:p>
          <a:p>
            <a:pPr indent="0" marL="0">
              <a:lnSpc>
                <a:spcPct val="100000"/>
              </a:lnSpc>
              <a:buNone/>
            </a:pPr>
            <a:r>
              <a:rPr lang="en-US" sz="1800" dirty="0">
                <a:solidFill>
                  <a:srgbClr val="1F2933"/>
                </a:solidFill>
              </a:rPr>
              <a:t>9,404.00 万元人民币。不能将相关应收与关联人保证互相抵销。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保证金、暂付款和重组款具有不同回收路径；关联关系及第三阶段风险使期后收款和担保品可执行性更</a:t>
            </a:r>
            <a:endParaRPr lang="en-US" sz="1800" dirty="0"/>
          </a:p>
          <a:p>
            <a:pPr indent="0" marL="0">
              <a:lnSpc>
                <a:spcPct val="100000"/>
              </a:lnSpc>
              <a:buNone/>
            </a:pPr>
            <a:r>
              <a:rPr lang="en-US" sz="1800" dirty="0">
                <a:solidFill>
                  <a:srgbClr val="1F2933"/>
                </a:solidFill>
              </a:rPr>
              <a:t>重要。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a:t>
            </a:r>
            <a:endParaRPr lang="en-US" sz="1800" dirty="0"/>
          </a:p>
          <a:p>
            <a:pPr indent="0" marL="0">
              <a:lnSpc>
                <a:spcPct val="100000"/>
              </a:lnSpc>
              <a:buNone/>
            </a:pPr>
            <a:r>
              <a:rPr lang="en-US" sz="1800" dirty="0">
                <a:solidFill>
                  <a:srgbClr val="1F2933"/>
                </a:solidFill>
              </a:rPr>
              <a:t>确认工程量；无条件应收、合同资产和预提返利分列，不能用订单叙述替代结算证据。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工程量验收、总收入与预计成本调整、返利估计及质保期都可能改变毛利及回款；未执行工程现场或截止</a:t>
            </a:r>
            <a:endParaRPr lang="en-US" sz="1800" dirty="0"/>
          </a:p>
          <a:p>
            <a:pPr indent="0" marL="0">
              <a:lnSpc>
                <a:spcPct val="100000"/>
              </a:lnSpc>
              <a:buNone/>
            </a:pPr>
            <a:r>
              <a:rPr lang="en-US" sz="1800" dirty="0">
                <a:solidFill>
                  <a:srgbClr val="1F2933"/>
                </a:solidFill>
              </a:rPr>
              <a:t>测试。</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a:t>
            </a:r>
            <a:endParaRPr lang="en-US" sz="1800" dirty="0"/>
          </a:p>
          <a:p>
            <a:pPr indent="0" marL="0">
              <a:lnSpc>
                <a:spcPct val="100000"/>
              </a:lnSpc>
              <a:buNone/>
            </a:pPr>
            <a:r>
              <a:rPr lang="en-US" sz="1800" dirty="0">
                <a:solidFill>
                  <a:srgbClr val="1F2933"/>
                </a:solidFill>
              </a:rPr>
              <a:t>和重组损失分开列。净应收、合同、抵债和其他应收合计占资产39.48%。</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非现金重组改变资产形态和损失时点，后续变现受权属、销售价格和交割制约；不将该资产池当作短期偿</a:t>
            </a:r>
            <a:endParaRPr lang="en-US" sz="1800" dirty="0"/>
          </a:p>
          <a:p>
            <a:pPr indent="0" marL="0">
              <a:lnSpc>
                <a:spcPct val="100000"/>
              </a:lnSpc>
              <a:buNone/>
            </a:pPr>
            <a:r>
              <a:rPr lang="en-US" sz="1800" dirty="0">
                <a:solidFill>
                  <a:srgbClr val="1F2933"/>
                </a:solidFill>
              </a:rPr>
              <a:t>债现金。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列报DTA（抵销后）5.03 亿元人民币占总权益12.41%；DTA减DTL净税资产4.66</a:t>
            </a:r>
            <a:endParaRPr lang="en-US" sz="1800" dirty="0"/>
          </a:p>
          <a:p>
            <a:pPr indent="0" marL="0">
              <a:lnSpc>
                <a:spcPct val="100000"/>
              </a:lnSpc>
              <a:buNone/>
            </a:pPr>
            <a:r>
              <a:rPr lang="en-US" sz="1800" dirty="0">
                <a:solidFill>
                  <a:srgbClr val="1F2933"/>
                </a:solidFill>
              </a:rPr>
              <a:t> 亿元人民币占总权益11.51%，两种口径不能混用。减值及亏损DTA占抵销前DTA80.11</a:t>
            </a:r>
            <a:endParaRPr lang="en-US" sz="1800" dirty="0"/>
          </a:p>
          <a:p>
            <a:pPr indent="0" marL="0">
              <a:lnSpc>
                <a:spcPct val="100000"/>
              </a:lnSpc>
              <a:buNone/>
            </a:pPr>
            <a:r>
              <a:rPr lang="en-US" sz="1800" dirty="0">
                <a:solidFill>
                  <a:srgbClr val="1F2933"/>
                </a:solidFill>
              </a:rPr>
              <a:t>%。当期递延税收益1.03 亿元人民币缓冲亏损；仅剔除该收益并保留当期税费，合并净利润展示为</a:t>
            </a:r>
            <a:endParaRPr lang="en-US" sz="1800" dirty="0"/>
          </a:p>
          <a:p>
            <a:pPr indent="0" marL="0">
              <a:lnSpc>
                <a:spcPct val="100000"/>
              </a:lnSpc>
              <a:buNone/>
            </a:pPr>
            <a:r>
              <a:rPr lang="en-US" sz="1800" dirty="0">
                <a:solidFill>
                  <a:srgbClr val="1F2933"/>
                </a:solidFill>
              </a:rPr>
              <a:t>-6.51 亿元人民币，不代表现金流入。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减值DTA增加7,302.10 万元人民币、亏损DTA增加3,772.57 万元人民币，合计</a:t>
            </a:r>
            <a:endParaRPr lang="en-US" sz="1800" dirty="0"/>
          </a:p>
          <a:p>
            <a:pPr indent="0" marL="0">
              <a:lnSpc>
                <a:spcPct val="100000"/>
              </a:lnSpc>
              <a:buNone/>
            </a:pPr>
            <a:r>
              <a:rPr lang="en-US" sz="1800" dirty="0">
                <a:solidFill>
                  <a:srgbClr val="1F2933"/>
                </a:solidFill>
              </a:rPr>
              <a:t>1.11 亿元人民币，加其余类别净变化-1,787.41 万元人民币形成抵销前DTA增加</a:t>
            </a:r>
            <a:endParaRPr lang="en-US" sz="1800" dirty="0"/>
          </a:p>
          <a:p>
            <a:pPr indent="0" marL="0">
              <a:lnSpc>
                <a:spcPct val="100000"/>
              </a:lnSpc>
              <a:buNone/>
            </a:pPr>
            <a:r>
              <a:rPr lang="en-US" sz="1800" dirty="0">
                <a:solidFill>
                  <a:srgbClr val="1F2933"/>
                </a:solidFill>
              </a:rPr>
              <a:t>9,287.27 万元人民币。两类期末DTA合计4.30 亿元人民币；已确认亏损</a:t>
            </a:r>
            <a:endParaRPr lang="en-US" sz="1800" dirty="0"/>
          </a:p>
          <a:p>
            <a:pPr indent="0" marL="0">
              <a:lnSpc>
                <a:spcPct val="100000"/>
              </a:lnSpc>
              <a:buNone/>
            </a:pPr>
            <a:r>
              <a:rPr lang="en-US" sz="1800" dirty="0">
                <a:solidFill>
                  <a:srgbClr val="1F2933"/>
                </a:solidFill>
              </a:rPr>
              <a:t>DTA7,146.12 万元人民币对应亏损税基4.42 亿元人民币。CAS18要求按纳税主体</a:t>
            </a:r>
            <a:endParaRPr lang="en-US" sz="1800" dirty="0"/>
          </a:p>
          <a:p>
            <a:pPr indent="0" marL="0">
              <a:lnSpc>
                <a:spcPct val="100000"/>
              </a:lnSpc>
              <a:buNone/>
            </a:pPr>
            <a:r>
              <a:rPr lang="en-US" sz="1800" dirty="0">
                <a:solidFill>
                  <a:srgbClr val="1F2933"/>
                </a:solidFill>
              </a:rPr>
              <a:t>可用应税利润、期限及适用税率确认和复核。未确认差异与亏损3.88 亿元人民币是税基，不能直接</a:t>
            </a:r>
            <a:endParaRPr lang="en-US" sz="1800" dirty="0"/>
          </a:p>
          <a:p>
            <a:pPr indent="0" marL="0">
              <a:lnSpc>
                <a:spcPct val="100000"/>
              </a:lnSpc>
              <a:buNone/>
            </a:pPr>
            <a:r>
              <a:rPr lang="en-US" sz="1800" dirty="0">
                <a:solidFill>
                  <a:srgbClr val="1F2933"/>
                </a:solidFill>
              </a:rPr>
              <a:t>当DTA减记额；年报第189—190页的到期表仅列未确认亏损，不能替代已确认亏损期限。损益递</a:t>
            </a:r>
            <a:endParaRPr lang="en-US" sz="1800" dirty="0"/>
          </a:p>
          <a:p>
            <a:pPr indent="0" marL="0">
              <a:lnSpc>
                <a:spcPct val="100000"/>
              </a:lnSpc>
              <a:buNone/>
            </a:pPr>
            <a:r>
              <a:rPr lang="en-US" sz="1800" dirty="0">
                <a:solidFill>
                  <a:srgbClr val="1F2933"/>
                </a:solidFill>
              </a:rPr>
              <a:t>延税收益含多类DTA与DTL变动，不能全部归于亏损DTA。</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部分可抵扣差异可由同一纳税主体未来应税利润及应税暂时性差异转回支持；合并亏损本身不证明全部</a:t>
            </a:r>
            <a:endParaRPr lang="en-US" sz="1800" dirty="0"/>
          </a:p>
          <a:p>
            <a:pPr indent="0" marL="0">
              <a:lnSpc>
                <a:spcPct val="100000"/>
              </a:lnSpc>
              <a:buNone/>
            </a:pPr>
            <a:r>
              <a:rPr lang="en-US" sz="1800" dirty="0">
                <a:solidFill>
                  <a:srgbClr val="1F2933"/>
                </a:solidFill>
              </a:rPr>
              <a:t>DTA失效。</a:t>
            </a:r>
            <a:endParaRPr lang="en-US" sz="1800" dirty="0"/>
          </a:p>
          <a:p>
            <a:pPr indent="0" marL="0">
              <a:lnSpc>
                <a:spcPct val="100000"/>
              </a:lnSpc>
              <a:buNone/>
            </a:pPr>
            <a:r>
              <a:rPr lang="en-US" sz="1800" dirty="0">
                <a:solidFill>
                  <a:srgbClr val="1F2933"/>
                </a:solidFill>
              </a:rPr>
              <a:t>集团内其他主体盈利不能未经税法依据抵扣亏损，同一未来应税利润不能在多类DTA中重复使用。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当期所得税费用：5,838.66 万元人民币</a:t>
            </a:r>
            <a:endParaRPr lang="en-US" sz="1800" dirty="0"/>
          </a:p>
          <a:p>
            <a:pPr indent="0" marL="0">
              <a:lnSpc>
                <a:spcPct val="100000"/>
              </a:lnSpc>
              <a:buNone/>
            </a:pPr>
            <a:r>
              <a:rPr lang="en-US" sz="1800" dirty="0">
                <a:solidFill>
                  <a:srgbClr val="1F2933"/>
                </a:solidFill>
              </a:rPr>
              <a:t>未确认DTA的差异和亏损：3.88 亿元人民币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取得分主体、税区、亏损发生及到期年度、差异转回和抵扣限制后，若可用应税利润不足，则重估相关</a:t>
            </a:r>
            <a:endParaRPr lang="en-US" sz="1800" dirty="0"/>
          </a:p>
          <a:p>
            <a:pPr indent="0" marL="0">
              <a:lnSpc>
                <a:spcPct val="100000"/>
              </a:lnSpc>
              <a:buNone/>
            </a:pPr>
            <a:r>
              <a:rPr lang="en-US" sz="1800" dirty="0">
                <a:solidFill>
                  <a:srgbClr val="1F2933"/>
                </a:solidFill>
              </a:rPr>
              <a:t>DTA；亏损DTA占总权益1.76%。经证实需减记时相应降低损益和权益，不再追加一次假定税</a:t>
            </a:r>
            <a:endParaRPr lang="en-US" sz="1800" dirty="0"/>
          </a:p>
          <a:p>
            <a:pPr indent="0" marL="0">
              <a:lnSpc>
                <a:spcPct val="100000"/>
              </a:lnSpc>
              <a:buNone/>
            </a:pPr>
            <a:r>
              <a:rPr lang="en-US" sz="1800" dirty="0">
                <a:solidFill>
                  <a:srgbClr val="1F2933"/>
                </a:solidFill>
              </a:rPr>
              <a:t>盾；按选用信用方法评价资本缓冲，并与减值情景去重。未落实的税资产不进入可调度现金，不能据税</a:t>
            </a:r>
            <a:endParaRPr lang="en-US" sz="1800" dirty="0"/>
          </a:p>
          <a:p>
            <a:pPr indent="0" marL="0">
              <a:lnSpc>
                <a:spcPct val="100000"/>
              </a:lnSpc>
              <a:buNone/>
            </a:pPr>
            <a:r>
              <a:rPr lang="en-US" sz="1800" dirty="0">
                <a:solidFill>
                  <a:srgbClr val="1F2933"/>
                </a:solidFill>
              </a:rPr>
              <a:t>收益上调偿债能力。</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净税资产增加9,635.29 万元人民币，损益递延税收益1.03 亿元人民币，相差</a:t>
            </a:r>
            <a:endParaRPr lang="en-US" sz="1800" dirty="0"/>
          </a:p>
          <a:p>
            <a:pPr indent="0" marL="0">
              <a:lnSpc>
                <a:spcPct val="100000"/>
              </a:lnSpc>
              <a:buNone/>
            </a:pPr>
            <a:r>
              <a:rPr lang="en-US" sz="1800" dirty="0">
                <a:solidFill>
                  <a:srgbClr val="1F2933"/>
                </a:solidFill>
              </a:rPr>
              <a:t>643.27 万元人民币。可转债权益相关DTL期末余额643.27 万元人民币支持候选权益</a:t>
            </a:r>
            <a:endParaRPr lang="en-US" sz="1800" dirty="0"/>
          </a:p>
          <a:p>
            <a:pPr indent="0" marL="0">
              <a:lnSpc>
                <a:spcPct val="100000"/>
              </a:lnSpc>
              <a:buNone/>
            </a:pPr>
            <a:r>
              <a:rPr lang="en-US" sz="1800" dirty="0">
                <a:solidFill>
                  <a:srgbClr val="1F2933"/>
                </a:solidFill>
              </a:rPr>
              <a:t>解释，尚不是已证实当期权益流量；候选桥剩余32.48 元人民币未关闭，该微小差额本身不构成</a:t>
            </a:r>
            <a:endParaRPr lang="en-US" sz="1800" dirty="0"/>
          </a:p>
          <a:p>
            <a:pPr indent="0" marL="0">
              <a:lnSpc>
                <a:spcPct val="100000"/>
              </a:lnSpc>
              <a:buNone/>
            </a:pPr>
            <a:r>
              <a:rPr lang="en-US" sz="1800" dirty="0">
                <a:solidFill>
                  <a:srgbClr val="1F2933"/>
                </a:solidFill>
              </a:rPr>
              <a:t>重大信用风险。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期初DTA减DTL为3.70 亿元人民币，期末为4.66 亿元人民币。按期初加损益税收益、减</a:t>
            </a:r>
            <a:endParaRPr lang="en-US" sz="1800" dirty="0"/>
          </a:p>
          <a:p>
            <a:pPr indent="0" marL="0">
              <a:lnSpc>
                <a:spcPct val="100000"/>
              </a:lnSpc>
              <a:buNone/>
            </a:pPr>
            <a:r>
              <a:rPr lang="en-US" sz="1800" dirty="0">
                <a:solidFill>
                  <a:srgbClr val="1F2933"/>
                </a:solidFill>
              </a:rPr>
              <a:t>期末可转债权益DTL余额作候选比较，得到4.66 亿元人民币。第189页该DTL期初栏为</a:t>
            </a:r>
            <a:endParaRPr lang="en-US" sz="1800" dirty="0"/>
          </a:p>
          <a:p>
            <a:pPr indent="0" marL="0">
              <a:lnSpc>
                <a:spcPct val="100000"/>
              </a:lnSpc>
              <a:buNone/>
            </a:pPr>
            <a:r>
              <a:rPr lang="en-US" sz="1800" dirty="0">
                <a:solidFill>
                  <a:srgbClr val="1F2933"/>
                </a:solidFill>
              </a:rPr>
              <a:t>空白，不填零；第196页其他权益工具减少643.30 万元人民币含转股等可能成分，不全额视为</a:t>
            </a:r>
            <a:endParaRPr lang="en-US" sz="1800" dirty="0"/>
          </a:p>
          <a:p>
            <a:pPr indent="0" marL="0">
              <a:lnSpc>
                <a:spcPct val="100000"/>
              </a:lnSpc>
              <a:buNone/>
            </a:pPr>
            <a:r>
              <a:rPr lang="en-US" sz="1800" dirty="0">
                <a:solidFill>
                  <a:srgbClr val="1F2933"/>
                </a:solidFill>
              </a:rPr>
              <a:t>税项。CAS18第21—22条及CSRC会计类第5号5-8支持权益相关初始税项计权益、后续折</a:t>
            </a:r>
            <a:endParaRPr lang="en-US" sz="1800" dirty="0"/>
          </a:p>
          <a:p>
            <a:pPr indent="0" marL="0">
              <a:lnSpc>
                <a:spcPct val="100000"/>
              </a:lnSpc>
              <a:buNone/>
            </a:pPr>
            <a:r>
              <a:rPr lang="en-US" sz="1800" dirty="0">
                <a:solidFill>
                  <a:srgbClr val="1F2933"/>
                </a:solidFill>
              </a:rPr>
              <a:t>价摊销税项计损益；可转债2023年发行，公开披露未说明本期新增列示DTL的过渡分录，不定性为</a:t>
            </a:r>
            <a:endParaRPr lang="en-US" sz="1800" dirty="0"/>
          </a:p>
          <a:p>
            <a:pPr indent="0" marL="0">
              <a:lnSpc>
                <a:spcPct val="100000"/>
              </a:lnSpc>
              <a:buNone/>
            </a:pPr>
            <a:r>
              <a:rPr lang="en-US" sz="1800" dirty="0">
                <a:solidFill>
                  <a:srgbClr val="1F2933"/>
                </a:solidFill>
              </a:rPr>
              <a:t>新发行、政策变更或前期差错。现金流补充资料税调整-9,635.29 万元人民币与损益递延税</a:t>
            </a:r>
            <a:endParaRPr lang="en-US" sz="1800" dirty="0"/>
          </a:p>
          <a:p>
            <a:pPr indent="0" marL="0">
              <a:lnSpc>
                <a:spcPct val="100000"/>
              </a:lnSpc>
              <a:buNone/>
            </a:pPr>
            <a:r>
              <a:rPr lang="en-US" sz="1800" dirty="0">
                <a:solidFill>
                  <a:srgbClr val="1F2933"/>
                </a:solidFill>
              </a:rPr>
              <a:t>费用相差643.27 万元人民币；其他1,731.19 万元人民币无税项拆分，不能倒填差额或</a:t>
            </a:r>
            <a:endParaRPr lang="en-US" sz="1800" dirty="0"/>
          </a:p>
          <a:p>
            <a:pPr indent="0" marL="0">
              <a:lnSpc>
                <a:spcPct val="100000"/>
              </a:lnSpc>
              <a:buNone/>
            </a:pPr>
            <a:r>
              <a:rPr lang="en-US" sz="1800" dirty="0">
                <a:solidFill>
                  <a:srgbClr val="1F2933"/>
                </a:solidFill>
              </a:rPr>
              <a:t>直接改动报告CFO。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权益相关税项是有公开金额和规则支持的主要候选解释；完整流量还需核转股、合并范围和外币折算等</a:t>
            </a:r>
            <a:endParaRPr lang="en-US" sz="1800" dirty="0"/>
          </a:p>
          <a:p>
            <a:pPr indent="0" marL="0">
              <a:lnSpc>
                <a:spcPct val="100000"/>
              </a:lnSpc>
              <a:buNone/>
            </a:pPr>
            <a:r>
              <a:rPr lang="en-US" sz="1800" dirty="0">
                <a:solidFill>
                  <a:srgbClr val="1F2933"/>
                </a:solidFill>
              </a:rPr>
              <a:t>实际分录。</a:t>
            </a:r>
            <a:endParaRPr lang="en-US" sz="1800" dirty="0"/>
          </a:p>
          <a:p>
            <a:pPr indent="0" marL="0">
              <a:lnSpc>
                <a:spcPct val="100000"/>
              </a:lnSpc>
              <a:buNone/>
            </a:pPr>
            <a:r>
              <a:rPr lang="en-US" sz="1800" dirty="0">
                <a:solidFill>
                  <a:srgbClr val="1F2933"/>
                </a:solidFill>
              </a:rPr>
              <a:t>候选余额接近差额不能证明税项流量已全部归属；也不能据此认定报表重大错报或CFO应调整。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其他权益工具本期减少：643.30 万元人民币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取得当期权益税额、期初至期末DTL滚动和转股分录，并与现金流其他项税拆分核对后，可明确精确</a:t>
            </a:r>
            <a:endParaRPr lang="en-US" sz="1800" dirty="0"/>
          </a:p>
          <a:p>
            <a:pPr indent="0" marL="0">
              <a:lnSpc>
                <a:spcPct val="100000"/>
              </a:lnSpc>
              <a:buNone/>
            </a:pPr>
            <a:r>
              <a:rPr lang="en-US" sz="1800" dirty="0">
                <a:solidFill>
                  <a:srgbClr val="1F2933"/>
                </a:solidFill>
              </a:rPr>
              <a:t>归属；剩余差额按真实来源解释。资产可实现性另按重大DTA余额评价，不因微小尾差未解释而改变</a:t>
            </a:r>
            <a:endParaRPr lang="en-US" sz="1800" dirty="0"/>
          </a:p>
          <a:p>
            <a:pPr indent="0" marL="0">
              <a:lnSpc>
                <a:spcPct val="100000"/>
              </a:lnSpc>
              <a:buNone/>
            </a:pPr>
            <a:r>
              <a:rPr lang="en-US" sz="1800" dirty="0">
                <a:solidFill>
                  <a:srgbClr val="1F2933"/>
                </a:solidFill>
              </a:rPr>
              <a:t>信用判断。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a:t>
            </a:r>
            <a:endParaRPr lang="en-US" sz="1800" dirty="0"/>
          </a:p>
          <a:p>
            <a:pPr indent="0" marL="0">
              <a:lnSpc>
                <a:spcPct val="100000"/>
              </a:lnSpc>
              <a:buNone/>
            </a:pPr>
            <a:r>
              <a:rPr lang="en-US" sz="1800" dirty="0">
                <a:solidFill>
                  <a:srgbClr val="1F2933"/>
                </a:solidFill>
              </a:rPr>
              <a:t>后者也未核实全部无用途限制；理财、公允价值补偿资产及抵债房产不加入基础现金。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质押、冻结、保证金与募集金专户/临时补流有不同约束；仅依据账面资金会高估流动性。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年报未用银行借款额度10.80 亿元人民币，跟踪报告同称</a:t>
            </a:r>
            <a:endParaRPr lang="en-US" sz="1800" dirty="0"/>
          </a:p>
          <a:p>
            <a:pPr indent="0" marL="0">
              <a:lnSpc>
                <a:spcPct val="100000"/>
              </a:lnSpc>
              <a:buNone/>
            </a:pPr>
            <a:r>
              <a:rPr lang="en-US" sz="1800" dirty="0">
                <a:solidFill>
                  <a:srgbClr val="1F2933"/>
                </a:solidFill>
              </a:rPr>
              <a:t>2025年底的银行授信总额73.00 亿元人民币、未用</a:t>
            </a:r>
            <a:endParaRPr lang="en-US" sz="1800" dirty="0"/>
          </a:p>
          <a:p>
            <a:pPr indent="0" marL="0">
              <a:lnSpc>
                <a:spcPct val="100000"/>
              </a:lnSpc>
              <a:buNone/>
            </a:pPr>
            <a:r>
              <a:rPr lang="en-US" sz="1800" dirty="0">
                <a:solidFill>
                  <a:srgbClr val="1F2933"/>
                </a:solidFill>
              </a:rPr>
              <a:t>47.00 亿元人民币。未用披露名义差额36.20 亿元</a:t>
            </a:r>
            <a:endParaRPr lang="en-US" sz="1800" dirty="0"/>
          </a:p>
          <a:p>
            <a:pPr indent="0" marL="0">
              <a:lnSpc>
                <a:spcPct val="100000"/>
              </a:lnSpc>
              <a:buNone/>
            </a:pPr>
            <a:r>
              <a:rPr lang="en-US" sz="1800" dirty="0">
                <a:solidFill>
                  <a:srgbClr val="1F2933"/>
                </a:solidFill>
              </a:rPr>
              <a:t>人民币，尚未解释。两来源用词不同只是待核线索，不能据此称</a:t>
            </a:r>
            <a:endParaRPr lang="en-US" sz="1800" dirty="0"/>
          </a:p>
          <a:p>
            <a:pPr indent="0" marL="0">
              <a:lnSpc>
                <a:spcPct val="100000"/>
              </a:lnSpc>
              <a:buNone/>
            </a:pPr>
            <a:r>
              <a:rPr lang="en-US" sz="1800" dirty="0">
                <a:solidFill>
                  <a:srgbClr val="1F2933"/>
                </a:solidFill>
              </a:rPr>
              <a:t>口径已对齐，任何一项也未作为已落实现金计入。</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年报未使用银行借款额度</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跟踪报告未使用银行授信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47.00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两来源未用额度名义差额（口径未调齐）</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36.20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按同一法人、银行及产品对应总额、已用、未用、共享或循环额</a:t>
            </a:r>
            <a:endParaRPr lang="en-US" sz="1800" dirty="0"/>
          </a:p>
          <a:p>
            <a:pPr indent="0" marL="0">
              <a:lnSpc>
                <a:spcPct val="100000"/>
              </a:lnSpc>
              <a:buNone/>
            </a:pPr>
            <a:r>
              <a:rPr lang="en-US" sz="1800" dirty="0">
                <a:solidFill>
                  <a:srgbClr val="1F2933"/>
                </a:solidFill>
              </a:rPr>
              <a:t>度，核抵质押、保证金、财务约束、提款前提、撤销权和有效期，</a:t>
            </a:r>
            <a:endParaRPr lang="en-US" sz="1800" dirty="0"/>
          </a:p>
          <a:p>
            <a:pPr indent="0" marL="0">
              <a:lnSpc>
                <a:spcPct val="100000"/>
              </a:lnSpc>
              <a:buNone/>
            </a:pPr>
            <a:r>
              <a:rPr lang="en-US" sz="1800" dirty="0">
                <a:solidFill>
                  <a:srgbClr val="1F2933"/>
                </a:solidFill>
              </a:rPr>
              <a:t>再将真正可用金额匹配付款日。综合授信可能包含票据、保函或</a:t>
            </a:r>
            <a:endParaRPr lang="en-US" sz="1800" dirty="0"/>
          </a:p>
          <a:p>
            <a:pPr indent="0" marL="0">
              <a:lnSpc>
                <a:spcPct val="100000"/>
              </a:lnSpc>
              <a:buNone/>
            </a:pPr>
            <a:r>
              <a:rPr lang="en-US" sz="1800" dirty="0">
                <a:solidFill>
                  <a:srgbClr val="1F2933"/>
                </a:solidFill>
              </a:rPr>
              <a:t>其他产品，年报借款额度也可能有不同总体；这些是候选解释，</a:t>
            </a:r>
            <a:endParaRPr lang="en-US" sz="1800" dirty="0"/>
          </a:p>
          <a:p>
            <a:pPr indent="0" marL="0">
              <a:lnSpc>
                <a:spcPct val="100000"/>
              </a:lnSpc>
              <a:buNone/>
            </a:pPr>
            <a:r>
              <a:rPr lang="en-US" sz="1800" dirty="0">
                <a:solidFill>
                  <a:srgbClr val="1F2933"/>
                </a:solidFill>
              </a:rPr>
              <a:t>不是已查明原因。现有再融资研究分5.0/4.5及加权</a:t>
            </a:r>
            <a:endParaRPr lang="en-US" sz="1800" dirty="0"/>
          </a:p>
          <a:p>
            <a:pPr indent="0" marL="0">
              <a:lnSpc>
                <a:spcPct val="100000"/>
              </a:lnSpc>
              <a:buNone/>
            </a:pPr>
            <a:r>
              <a:rPr lang="en-US" sz="1800" dirty="0">
                <a:solidFill>
                  <a:srgbClr val="1F2933"/>
                </a:solidFill>
              </a:rPr>
              <a:t>4.65仅保留为原条件分支，金额冲突未关闭前不能证明这一赋</a:t>
            </a:r>
            <a:endParaRPr lang="en-US" sz="1800" dirty="0"/>
          </a:p>
          <a:p>
            <a:pPr indent="0" marL="0">
              <a:lnSpc>
                <a:spcPct val="100000"/>
              </a:lnSpc>
              <a:buNone/>
            </a:pPr>
            <a:r>
              <a:rPr lang="en-US" sz="1800" dirty="0">
                <a:solidFill>
                  <a:srgbClr val="1F2933"/>
                </a:solidFill>
              </a:rPr>
              <a:t>值或BBB+资金前提充分，也不因缺资料任意另给分。 年报第</a:t>
            </a:r>
            <a:endParaRPr lang="en-US" sz="1800" dirty="0"/>
          </a:p>
          <a:p>
            <a:pPr indent="0" marL="0">
              <a:lnSpc>
                <a:spcPct val="100000"/>
              </a:lnSpc>
              <a:buNone/>
            </a:pPr>
            <a:r>
              <a:rPr lang="en-US" sz="1800" dirty="0">
                <a:solidFill>
                  <a:srgbClr val="1F2933"/>
                </a:solidFill>
              </a:rPr>
              <a:t>95页管理层称授信充足、可快速融资且自有资金及融资足以偿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付；这与已披露季度融资形成支持线索，但未解决两个额度总体及</a:t>
            </a:r>
            <a:endParaRPr lang="en-US" sz="1800" dirty="0"/>
          </a:p>
          <a:p>
            <a:pPr indent="0" marL="0">
              <a:lnSpc>
                <a:spcPct val="100000"/>
              </a:lnSpc>
              <a:buNone/>
            </a:pPr>
            <a:r>
              <a:rPr lang="en-US" sz="1800" dirty="0">
                <a:solidFill>
                  <a:srgbClr val="1F2933"/>
                </a:solidFill>
              </a:rPr>
              <a:t>合同可提用条件的差异。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一季度实际新增借款证明当季有融资发生，但不能证明六月以后的</a:t>
            </a:r>
            <a:endParaRPr lang="en-US" sz="1800" dirty="0"/>
          </a:p>
          <a:p>
            <a:pPr indent="0" marL="0">
              <a:lnSpc>
                <a:spcPct val="100000"/>
              </a:lnSpc>
              <a:buNone/>
            </a:pPr>
            <a:r>
              <a:rPr lang="en-US" sz="1800" dirty="0">
                <a:solidFill>
                  <a:srgbClr val="1F2933"/>
                </a:solidFill>
              </a:rPr>
              <a:t>未用额度、提款条件或母公司付款能力。</a:t>
            </a:r>
            <a:endParaRPr lang="en-US" sz="1800" dirty="0"/>
          </a:p>
          <a:p>
            <a:pPr indent="0" marL="0">
              <a:lnSpc>
                <a:spcPct val="100000"/>
              </a:lnSpc>
              <a:buNone/>
            </a:pPr>
            <a:r>
              <a:rPr lang="en-US" sz="1800" dirty="0">
                <a:solidFill>
                  <a:srgbClr val="1F2933"/>
                </a:solidFill>
              </a:rPr>
              <a:t>若合同总体差异完整解释差额且足额资源可按时提用，可支持融资</a:t>
            </a:r>
            <a:endParaRPr lang="en-US" sz="1800" dirty="0"/>
          </a:p>
          <a:p>
            <a:pPr indent="0" marL="0">
              <a:lnSpc>
                <a:spcPct val="100000"/>
              </a:lnSpc>
              <a:buNone/>
            </a:pPr>
            <a:r>
              <a:rPr lang="en-US" sz="1800" dirty="0">
                <a:solidFill>
                  <a:srgbClr val="1F2933"/>
                </a:solidFill>
              </a:rPr>
              <a:t>能力；若主要是可撤销、受限或非现金产品，则应降低可依赖融资</a:t>
            </a:r>
            <a:endParaRPr lang="en-US" sz="1800" dirty="0"/>
          </a:p>
          <a:p>
            <a:pPr indent="0" marL="0">
              <a:lnSpc>
                <a:spcPct val="100000"/>
              </a:lnSpc>
              <a:buNone/>
            </a:pPr>
            <a:r>
              <a:rPr lang="en-US" sz="1800" dirty="0">
                <a:solidFill>
                  <a:srgbClr val="1F2933"/>
                </a:solidFill>
              </a:rPr>
              <a:t>并重新评估因素和资金前提。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第93—94页发行与挂牌、无担保、面值变动及转股价与既有债</a:t>
            </a:r>
            <a:endParaRPr lang="en-US" sz="1800" dirty="0"/>
          </a:p>
          <a:p>
            <a:pPr indent="0" marL="0">
              <a:lnSpc>
                <a:spcPct val="100000"/>
              </a:lnSpc>
              <a:buNone/>
            </a:pPr>
            <a:r>
              <a:rPr lang="en-US" sz="1800" dirty="0">
                <a:solidFill>
                  <a:srgbClr val="1F2933"/>
                </a:solidFill>
              </a:rPr>
              <a:t>项记录一致。第95页管理层称综合授信充足、融资快速有效、内</a:t>
            </a:r>
            <a:endParaRPr lang="en-US" sz="1800" dirty="0"/>
          </a:p>
          <a:p>
            <a:pPr indent="0" marL="0">
              <a:lnSpc>
                <a:spcPct val="100000"/>
              </a:lnSpc>
              <a:buNone/>
            </a:pPr>
            <a:r>
              <a:rPr lang="en-US" sz="1800" dirty="0">
                <a:solidFill>
                  <a:srgbClr val="1F2933"/>
                </a:solidFill>
              </a:rPr>
              <a:t>生经营现金稳定、募投实施提升盈利，遇回售、赎回或到期可通过</a:t>
            </a:r>
            <a:endParaRPr lang="en-US" sz="1800" dirty="0"/>
          </a:p>
          <a:p>
            <a:pPr indent="0" marL="0">
              <a:lnSpc>
                <a:spcPct val="100000"/>
              </a:lnSpc>
              <a:buNone/>
            </a:pPr>
            <a:r>
              <a:rPr lang="en-US" sz="1800" dirty="0">
                <a:solidFill>
                  <a:srgbClr val="1F2933"/>
                </a:solidFill>
              </a:rPr>
              <a:t>自有资金及融资支付本息；同时将大额亏损主要归因于减值并称对</a:t>
            </a:r>
            <a:endParaRPr lang="en-US" sz="1800" dirty="0"/>
          </a:p>
          <a:p>
            <a:pPr indent="0" marL="0">
              <a:lnSpc>
                <a:spcPct val="100000"/>
              </a:lnSpc>
              <a:buNone/>
            </a:pPr>
            <a:r>
              <a:rPr lang="en-US" sz="1800" dirty="0">
                <a:solidFill>
                  <a:srgbClr val="1F2933"/>
                </a:solidFill>
              </a:rPr>
              <a:t>生产经营无重大影响。年末除债券外有息债逾期项列不适用，报告</a:t>
            </a:r>
            <a:endParaRPr lang="en-US" sz="1800" dirty="0"/>
          </a:p>
          <a:p>
            <a:pPr indent="0" marL="0">
              <a:lnSpc>
                <a:spcPct val="100000"/>
              </a:lnSpc>
              <a:buNone/>
            </a:pPr>
            <a:r>
              <a:rPr lang="en-US" sz="1800" dirty="0">
                <a:solidFill>
                  <a:srgbClr val="1F2933"/>
                </a:solidFill>
              </a:rPr>
              <a:t>期违反规章制度项列否。这是管理层陈述，尚未以银行、合同和</a:t>
            </a:r>
            <a:endParaRPr lang="en-US" sz="1800" dirty="0"/>
          </a:p>
          <a:p>
            <a:pPr indent="0" marL="0">
              <a:lnSpc>
                <a:spcPct val="100000"/>
              </a:lnSpc>
              <a:buNone/>
            </a:pPr>
            <a:r>
              <a:rPr lang="en-US" sz="1800" dirty="0">
                <a:solidFill>
                  <a:srgbClr val="1F2933"/>
                </a:solidFill>
              </a:rPr>
              <a:t>项目现金逐笔验证；无担保不表示没有发行人付款责任。 第五项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标题为亏损超过上年末净资产10%，正文列归母净利润</a:t>
            </a:r>
            <a:endParaRPr lang="en-US" sz="1800" dirty="0"/>
          </a:p>
          <a:p>
            <a:pPr indent="0" marL="0">
              <a:lnSpc>
                <a:spcPct val="100000"/>
              </a:lnSpc>
              <a:buNone/>
            </a:pPr>
            <a:r>
              <a:rPr lang="en-US" sz="1800" dirty="0">
                <a:solidFill>
                  <a:srgbClr val="1F2933"/>
                </a:solidFill>
              </a:rPr>
              <a:t>-535,342,762.09元、占2025年末公司净资产</a:t>
            </a:r>
            <a:endParaRPr lang="en-US" sz="1800" dirty="0"/>
          </a:p>
          <a:p>
            <a:pPr indent="0" marL="0">
              <a:lnSpc>
                <a:spcPct val="100000"/>
              </a:lnSpc>
              <a:buNone/>
            </a:pPr>
            <a:r>
              <a:rPr lang="en-US" sz="1800" dirty="0">
                <a:solidFill>
                  <a:srgbClr val="1F2933"/>
                </a:solidFill>
              </a:rPr>
              <a:t>13.49%；正文期间与标题不同，且公司净资产未在该行明示</a:t>
            </a:r>
            <a:endParaRPr lang="en-US" sz="1800" dirty="0"/>
          </a:p>
          <a:p>
            <a:pPr indent="0" marL="0">
              <a:lnSpc>
                <a:spcPct val="100000"/>
              </a:lnSpc>
              <a:buNone/>
            </a:pPr>
            <a:r>
              <a:rPr lang="en-US" sz="1800" dirty="0">
                <a:solidFill>
                  <a:srgbClr val="1F2933"/>
                </a:solidFill>
              </a:rPr>
              <a:t>归母/总权益。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取得两个披露总体的逐项桥及银行直接证据，列明每个付款日已</a:t>
            </a:r>
            <a:endParaRPr lang="en-US" sz="1800" dirty="0"/>
          </a:p>
          <a:p>
            <a:pPr indent="0" marL="0">
              <a:lnSpc>
                <a:spcPct val="100000"/>
              </a:lnSpc>
              <a:buNone/>
            </a:pPr>
            <a:r>
              <a:rPr lang="en-US" sz="1800" dirty="0">
                <a:solidFill>
                  <a:srgbClr val="1F2933"/>
                </a:solidFill>
              </a:rPr>
              <a:t>承诺可提金额、条件满足状态和现金所在法人；仍未解释部分排除</a:t>
            </a:r>
            <a:endParaRPr lang="en-US" sz="1800" dirty="0"/>
          </a:p>
          <a:p>
            <a:pPr indent="0" marL="0">
              <a:lnSpc>
                <a:spcPct val="100000"/>
              </a:lnSpc>
              <a:buNone/>
            </a:pPr>
            <a:r>
              <a:rPr lang="en-US" sz="1800" dirty="0">
                <a:solidFill>
                  <a:srgbClr val="1F2933"/>
                </a:solidFill>
              </a:rPr>
              <a:t>已落实来源。以核实结果更新再融资因素及资金情景；先检查付款</a:t>
            </a:r>
            <a:endParaRPr lang="en-US" sz="1800" dirty="0"/>
          </a:p>
          <a:p>
            <a:pPr indent="0" marL="0">
              <a:lnSpc>
                <a:spcPct val="100000"/>
              </a:lnSpc>
              <a:buNone/>
            </a:pPr>
            <a:r>
              <a:rPr lang="en-US" sz="1800" dirty="0">
                <a:solidFill>
                  <a:srgbClr val="1F2933"/>
                </a:solidFill>
              </a:rPr>
              <a:t>前提是否失效，再决定等级和展望，不沿用4.65作为已证实</a:t>
            </a:r>
            <a:endParaRPr lang="en-US" sz="1800" dirty="0"/>
          </a:p>
          <a:p>
            <a:pPr indent="0" marL="0">
              <a:lnSpc>
                <a:spcPct val="100000"/>
              </a:lnSpc>
              <a:buNone/>
            </a:pPr>
            <a:r>
              <a:rPr lang="en-US" sz="1800" dirty="0">
                <a:solidFill>
                  <a:srgbClr val="1F2933"/>
                </a:solidFill>
              </a:rPr>
              <a:t>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 等；完整原文与位置见本演示文稿来源附页及备注</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a:t>
            </a:r>
            <a:endParaRPr lang="en-US" sz="1800" dirty="0"/>
          </a:p>
          <a:p>
            <a:pPr indent="0" marL="0">
              <a:lnSpc>
                <a:spcPct val="100000"/>
              </a:lnSpc>
              <a:buNone/>
            </a:pPr>
            <a:r>
              <a:rPr lang="en-US" sz="1800" dirty="0">
                <a:solidFill>
                  <a:srgbClr val="1F2933"/>
                </a:solidFill>
              </a:rPr>
              <a:t> 亿元人民币。末季贡献11.44 亿元人民币，期间现金波动明显。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间接桥中大额非现金减值并不产生现金；经营性应付项目合计形成正向调节，但其贡献同比减少。尚未</a:t>
            </a:r>
            <a:endParaRPr lang="en-US" sz="1800" dirty="0"/>
          </a:p>
          <a:p>
            <a:pPr indent="0" marL="0">
              <a:lnSpc>
                <a:spcPct val="100000"/>
              </a:lnSpc>
              <a:buNone/>
            </a:pPr>
            <a:r>
              <a:rPr lang="en-US" sz="1800" dirty="0">
                <a:solidFill>
                  <a:srgbClr val="1F2933"/>
                </a:solidFill>
              </a:rPr>
              <a:t>取得组成、结算、非现金及范围变动的分解，不能将该合计或保证金收付直接归因为供应商融资或客户</a:t>
            </a:r>
            <a:endParaRPr lang="en-US" sz="1800" dirty="0"/>
          </a:p>
          <a:p>
            <a:pPr indent="0" marL="0">
              <a:lnSpc>
                <a:spcPct val="100000"/>
              </a:lnSpc>
              <a:buNone/>
            </a:pPr>
            <a:r>
              <a:rPr lang="en-US" sz="1800" dirty="0">
                <a:solidFill>
                  <a:srgbClr val="1F2933"/>
                </a:solidFill>
              </a:rPr>
              <a:t>押金提供现金。全年正值仍须结合前三季流出和融资依赖判断。 经销商被担保贷款按公开安排用于付</a:t>
            </a:r>
            <a:endParaRPr lang="en-US" sz="1800" dirty="0"/>
          </a:p>
          <a:p>
            <a:pPr indent="0" marL="0">
              <a:lnSpc>
                <a:spcPct val="100000"/>
              </a:lnSpc>
              <a:buNone/>
            </a:pPr>
            <a:r>
              <a:rPr lang="en-US" sz="1800" dirty="0">
                <a:solidFill>
                  <a:srgbClr val="1F2933"/>
                </a:solidFill>
              </a:rPr>
              <a:t>公司货款，跟踪报告称主要用于年底前结清应付；需核真实保证支持收现流量及可持续性。年末担保余额</a:t>
            </a:r>
            <a:endParaRPr lang="en-US" sz="1800" dirty="0"/>
          </a:p>
          <a:p>
            <a:pPr indent="0" marL="0">
              <a:lnSpc>
                <a:spcPct val="100000"/>
              </a:lnSpc>
              <a:buNone/>
            </a:pPr>
            <a:r>
              <a:rPr lang="en-US" sz="1800" dirty="0">
                <a:solidFill>
                  <a:srgbClr val="1F2933"/>
                </a:solidFill>
              </a:rPr>
              <a:t>不是年度收现流量，不能直接扣减CFO。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公告披露实际担保总额19,710.32，集团内12,055.21，集团外经销商</a:t>
            </a:r>
            <a:endParaRPr lang="en-US" sz="1800" dirty="0"/>
          </a:p>
          <a:p>
            <a:pPr indent="0" marL="0">
              <a:lnSpc>
                <a:spcPct val="100000"/>
              </a:lnSpc>
              <a:buNone/>
            </a:pPr>
            <a:r>
              <a:rPr lang="en-US" sz="1800" dirty="0">
                <a:solidFill>
                  <a:srgbClr val="1F2933"/>
                </a:solidFill>
              </a:rPr>
              <a:t>7,655.11；并声明无逾期、涉诉担保或因担保判决败诉承担损失。日期为三月末，未说明年末前</a:t>
            </a:r>
            <a:endParaRPr lang="en-US" sz="1800" dirty="0"/>
          </a:p>
          <a:p>
            <a:pPr indent="0" marL="0">
              <a:lnSpc>
                <a:spcPct val="100000"/>
              </a:lnSpc>
              <a:buNone/>
            </a:pPr>
            <a:r>
              <a:rPr lang="en-US" sz="1800" dirty="0">
                <a:solidFill>
                  <a:srgbClr val="1F2933"/>
                </a:solidFill>
              </a:rPr>
              <a:t>十笔分别解除、展期或代偿情况，也未披露六月存续余额。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 将经销银行放款与本公司收款逐笔匹配，并与保证余额</a:t>
            </a:r>
            <a:endParaRPr lang="en-US" sz="1800" dirty="0"/>
          </a:p>
          <a:p>
            <a:pPr indent="0" marL="0">
              <a:lnSpc>
                <a:spcPct val="100000"/>
              </a:lnSpc>
              <a:buNone/>
            </a:pPr>
            <a:r>
              <a:rPr lang="en-US" sz="1800" dirty="0">
                <a:solidFill>
                  <a:srgbClr val="1F2933"/>
                </a:solidFill>
              </a:rPr>
              <a:t>滚动/逾期情况联查，才能辨别可持续经营回款和依赖保证续作的收现。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a:t>
            </a:r>
            <a:endParaRPr lang="en-US" sz="1800" dirty="0"/>
          </a:p>
          <a:p>
            <a:pPr indent="0" marL="0">
              <a:lnSpc>
                <a:spcPct val="100000"/>
              </a:lnSpc>
              <a:buNone/>
            </a:pPr>
            <a:r>
              <a:rPr lang="en-US" sz="1800" dirty="0">
                <a:solidFill>
                  <a:srgbClr val="1F2933"/>
                </a:solidFill>
              </a:rPr>
              <a:t>化率56.55%，现金/短期债0.57 倍。转债摊余成本、</a:t>
            </a:r>
            <a:endParaRPr lang="en-US" sz="1800" dirty="0"/>
          </a:p>
          <a:p>
            <a:pPr indent="0" marL="0">
              <a:lnSpc>
                <a:spcPct val="100000"/>
              </a:lnSpc>
              <a:buNone/>
            </a:pPr>
            <a:r>
              <a:rPr lang="en-US" sz="1800" dirty="0">
                <a:solidFill>
                  <a:srgbClr val="1F2933"/>
                </a:solidFill>
              </a:rPr>
              <a:t>租赁及非现金融资需纳入；预计质量负债从利息债中剔开。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利润与权益缩水会抵消债务名义下降。利息含资本化</a:t>
            </a:r>
            <a:endParaRPr lang="en-US" sz="1800" dirty="0"/>
          </a:p>
          <a:p>
            <a:pPr indent="0" marL="0">
              <a:lnSpc>
                <a:spcPct val="100000"/>
              </a:lnSpc>
              <a:buNone/>
            </a:pPr>
            <a:r>
              <a:rPr lang="en-US" sz="1800" dirty="0">
                <a:solidFill>
                  <a:srgbClr val="1F2933"/>
                </a:solidFill>
              </a:rPr>
              <a:t>2,735.06 万元人民币，现金还本额不等同借款账面</a:t>
            </a:r>
            <a:endParaRPr lang="en-US" sz="1800" dirty="0"/>
          </a:p>
          <a:p>
            <a:pPr indent="0" marL="0">
              <a:lnSpc>
                <a:spcPct val="100000"/>
              </a:lnSpc>
              <a:buNone/>
            </a:pPr>
            <a:r>
              <a:rPr lang="en-US" sz="1800" dirty="0">
                <a:solidFill>
                  <a:srgbClr val="1F2933"/>
                </a:solidFill>
              </a:rPr>
              <a:t>变动。未折现合同期限表含经营负债，不能直接当作有息债。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发行人2025/2024 EBITDA全部债务比分别为</a:t>
            </a:r>
            <a:endParaRPr lang="en-US" sz="1800" dirty="0"/>
          </a:p>
          <a:p>
            <a:pPr indent="0" marL="0">
              <a:lnSpc>
                <a:spcPct val="100000"/>
              </a:lnSpc>
              <a:buNone/>
            </a:pPr>
            <a:r>
              <a:rPr lang="en-US" sz="1800" dirty="0">
                <a:solidFill>
                  <a:srgbClr val="1F2933"/>
                </a:solidFill>
              </a:rPr>
              <a:t>-2.53%、4.78%，EBITDA利息保障分别为</a:t>
            </a:r>
            <a:endParaRPr lang="en-US" sz="1800" dirty="0"/>
          </a:p>
          <a:p>
            <a:pPr indent="0" marL="0">
              <a:lnSpc>
                <a:spcPct val="100000"/>
              </a:lnSpc>
              <a:buNone/>
            </a:pPr>
            <a:r>
              <a:rPr lang="en-US" sz="1800" dirty="0">
                <a:solidFill>
                  <a:srgbClr val="1F2933"/>
                </a:solidFill>
              </a:rPr>
              <a:t>-2.12 倍、4.00 倍。研究2025 EBITDA/</a:t>
            </a:r>
            <a:endParaRPr lang="en-US" sz="1800" dirty="0"/>
          </a:p>
          <a:p>
            <a:pPr indent="0" marL="0">
              <a:lnSpc>
                <a:spcPct val="100000"/>
              </a:lnSpc>
              <a:buNone/>
            </a:pPr>
            <a:r>
              <a:rPr lang="en-US" sz="1800" dirty="0">
                <a:solidFill>
                  <a:srgbClr val="1F2933"/>
                </a:solidFill>
              </a:rPr>
              <a:t>广义利息债为-4.00%，EBITDA/全部利息为</a:t>
            </a:r>
            <a:endParaRPr lang="en-US" sz="1800" dirty="0"/>
          </a:p>
          <a:p>
            <a:pPr indent="0" marL="0">
              <a:lnSpc>
                <a:spcPct val="100000"/>
              </a:lnSpc>
              <a:buNone/>
            </a:pPr>
            <a:r>
              <a:rPr lang="en-US" sz="1800" dirty="0">
                <a:solidFill>
                  <a:srgbClr val="1F2933"/>
                </a:solidFill>
              </a:rPr>
              <a:t>-1.66 倍；差异需先核定义，不能据指标名称互相替换。</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发行人披露EBITDA全部债务比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-2.53%</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发行人披露EBITDA全部债务比</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4.78%</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ks_a_e_indirect / ks_a_e_is / ks_a_e_revenue 等；完整原文与位置见本演示文稿来源附页及备注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用既有金额计算，2025/2024 EBITDA/总负债为</a:t>
            </a:r>
            <a:endParaRPr lang="en-US" sz="1800" dirty="0"/>
          </a:p>
          <a:p>
            <a:pPr indent="0" marL="0">
              <a:lnSpc>
                <a:spcPct val="100000"/>
              </a:lnSpc>
              <a:buNone/>
            </a:pPr>
            <a:r>
              <a:rPr lang="en-US" sz="1800" dirty="0">
                <a:solidFill>
                  <a:srgbClr val="1F2933"/>
                </a:solidFill>
              </a:rPr>
              <a:t>-2.53%、4.78%，EBITDA/费用化利息为</a:t>
            </a:r>
            <a:endParaRPr lang="en-US" sz="1800" dirty="0"/>
          </a:p>
          <a:p>
            <a:pPr indent="0" marL="0">
              <a:lnSpc>
                <a:spcPct val="100000"/>
              </a:lnSpc>
              <a:buNone/>
            </a:pPr>
            <a:r>
              <a:rPr lang="en-US" sz="1800" dirty="0">
                <a:solidFill>
                  <a:srgbClr val="1F2933"/>
                </a:solidFill>
              </a:rPr>
              <a:t>-2.12 倍、4.00 倍，EBIT/费用化利息为</a:t>
            </a:r>
            <a:endParaRPr lang="en-US" sz="1800" dirty="0"/>
          </a:p>
          <a:p>
            <a:pPr indent="0" marL="0">
              <a:lnSpc>
                <a:spcPct val="100000"/>
              </a:lnSpc>
              <a:buNone/>
            </a:pPr>
            <a:r>
              <a:rPr lang="en-US" sz="1800" dirty="0">
                <a:solidFill>
                  <a:srgbClr val="1F2933"/>
                </a:solidFill>
              </a:rPr>
              <a:t>-4.95 倍、1.43 倍，舍入后分别与发行人对应指标</a:t>
            </a:r>
            <a:endParaRPr lang="en-US" sz="1800" dirty="0"/>
          </a:p>
          <a:p>
            <a:pPr indent="0" marL="0">
              <a:lnSpc>
                <a:spcPct val="100000"/>
              </a:lnSpc>
              <a:buNone/>
            </a:pPr>
            <a:r>
              <a:rPr lang="en-US" sz="1800" dirty="0">
                <a:solidFill>
                  <a:srgbClr val="1F2933"/>
                </a:solidFill>
              </a:rPr>
              <a:t>一致。这是候选分母的一致性解释，不是公司公式已获确认。现金</a:t>
            </a:r>
            <a:endParaRPr lang="en-US" sz="1800" dirty="0"/>
          </a:p>
          <a:p>
            <a:pPr indent="0" marL="0">
              <a:lnSpc>
                <a:spcPct val="100000"/>
              </a:lnSpc>
              <a:buNone/>
            </a:pPr>
            <a:r>
              <a:rPr lang="en-US" sz="1800" dirty="0">
                <a:solidFill>
                  <a:srgbClr val="1F2933"/>
                </a:solidFill>
              </a:rPr>
              <a:t>利息保障10.73 倍及两年偿还/付息率原值保留，未用合计</a:t>
            </a:r>
            <a:endParaRPr lang="en-US" sz="1800" dirty="0"/>
          </a:p>
          <a:p>
            <a:pPr indent="0" marL="0">
              <a:lnSpc>
                <a:spcPct val="100000"/>
              </a:lnSpc>
              <a:buNone/>
            </a:pPr>
            <a:r>
              <a:rPr lang="en-US" sz="1800" dirty="0">
                <a:solidFill>
                  <a:srgbClr val="1F2933"/>
                </a:solidFill>
              </a:rPr>
              <a:t>利息现金、分红现金或某一应计利息拼出相同结果。负盈利与报告</a:t>
            </a:r>
            <a:endParaRPr lang="en-US" sz="1800" dirty="0"/>
          </a:p>
          <a:p>
            <a:pPr indent="0" marL="0">
              <a:lnSpc>
                <a:spcPct val="100000"/>
              </a:lnSpc>
              <a:buNone/>
            </a:pPr>
            <a:r>
              <a:rPr lang="en-US" sz="1800" dirty="0">
                <a:solidFill>
                  <a:srgbClr val="1F2933"/>
                </a:solidFill>
              </a:rPr>
              <a:t>期偿付完成可以并存，历史偿付率不证明未来付款资金充足。 同</a:t>
            </a:r>
            <a:endParaRPr lang="en-US" sz="1800" dirty="0"/>
          </a:p>
          <a:p>
            <a:pPr indent="0" marL="0">
              <a:lnSpc>
                <a:spcPct val="100000"/>
              </a:lnSpc>
              <a:buNone/>
            </a:pPr>
            <a:r>
              <a:rPr lang="en-US" sz="1800" dirty="0">
                <a:solidFill>
                  <a:srgbClr val="1F2933"/>
                </a:solidFill>
              </a:rPr>
              <a:t>页亏损比例原文13.49%与本期亏损/期末归母权益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发行人披露现金利息保障倍数</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10.73 倍</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发行人披露EBITDA利息保障倍数</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-2.12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发行人披露EBITDA利息保障倍数</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4.00 倍</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发行人披露归母亏损占2025年末净资产比例</a:t>
            </a:r>
            <a:endParaRPr lang="en-US" sz="11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13.49%</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ks_a_e_bond_metrics / ks_a_e_bond_repayment_claim / ks_a_e_external_rating_2025 等；完整原文与位置见本演示文稿来源附</a:t>
            </a:r>
            <a:endParaRPr lang="en-US" sz="800" dirty="0"/>
          </a:p>
          <a:p>
            <a:pPr indent="0" marL="0">
              <a:lnSpc>
                <a:spcPct val="100000"/>
              </a:lnSpc>
              <a:buNone/>
            </a:pPr>
            <a:r>
              <a:rPr lang="en-US" sz="800" dirty="0">
                <a:solidFill>
                  <a:srgbClr val="586874"/>
                </a:solidFill>
              </a:rPr>
              <a:t>页及备注</a:t>
            </a:r>
            <a:endParaRPr lang="en-US" sz="8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13.49%舍入一致；期末总权益对照为13.21%，标题上</a:t>
            </a:r>
            <a:endParaRPr lang="en-US" sz="1800" dirty="0"/>
          </a:p>
          <a:p>
            <a:pPr indent="0" marL="0">
              <a:lnSpc>
                <a:spcPct val="100000"/>
              </a:lnSpc>
              <a:buNone/>
            </a:pPr>
            <a:r>
              <a:rPr lang="en-US" sz="1800" dirty="0">
                <a:solidFill>
                  <a:srgbClr val="1F2933"/>
                </a:solidFill>
              </a:rPr>
              <a:t>年末口径的归母/总权益对照为10.74%、10.57%。两</a:t>
            </a:r>
            <a:endParaRPr lang="en-US" sz="1800" dirty="0"/>
          </a:p>
          <a:p>
            <a:pPr indent="0" marL="0">
              <a:lnSpc>
                <a:spcPct val="100000"/>
              </a:lnSpc>
              <a:buNone/>
            </a:pPr>
            <a:r>
              <a:rPr lang="en-US" sz="1800" dirty="0">
                <a:solidFill>
                  <a:srgbClr val="1F2933"/>
                </a:solidFill>
              </a:rPr>
              <a:t>种期初口径均超过标题10%门槛，但不能用期末比例冒充期初</a:t>
            </a:r>
            <a:endParaRPr lang="en-US" sz="1800" dirty="0"/>
          </a:p>
          <a:p>
            <a:pPr indent="0" marL="0">
              <a:lnSpc>
                <a:spcPct val="100000"/>
              </a:lnSpc>
              <a:buNone/>
            </a:pPr>
            <a:r>
              <a:rPr lang="en-US" sz="1800" dirty="0">
                <a:solidFill>
                  <a:srgbClr val="1F2933"/>
                </a:solidFill>
              </a:rPr>
              <a:t>比例；原文期间和权益范围说明仍需澄清，不据此认定亏损金额</a:t>
            </a:r>
            <a:endParaRPr lang="en-US" sz="1800" dirty="0"/>
          </a:p>
          <a:p>
            <a:pPr indent="0" marL="0">
              <a:lnSpc>
                <a:spcPct val="100000"/>
              </a:lnSpc>
              <a:buNone/>
            </a:pPr>
            <a:r>
              <a:rPr lang="en-US" sz="1800" dirty="0">
                <a:solidFill>
                  <a:srgbClr val="1F2933"/>
                </a:solidFill>
              </a:rPr>
              <a:t>错误。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本期归母亏损金额/期末归母权益</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13.49%</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本期归母亏损金额/期末总权益</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13.21%</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本期归母亏损金额/期初归母权益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10.74%</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本期归母亏损金额/期初总权益</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10.57%</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ks_a_e_bond_metrics 等；完整原文与位置见本演示文稿来源附页及备注</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公司指标可能采用总负债或不同利息定义，亦可能有未列调节；</a:t>
            </a:r>
            <a:endParaRPr lang="en-US" sz="1800" dirty="0"/>
          </a:p>
          <a:p>
            <a:pPr indent="0" marL="0">
              <a:lnSpc>
                <a:spcPct val="100000"/>
              </a:lnSpc>
              <a:buNone/>
            </a:pPr>
            <a:r>
              <a:rPr lang="en-US" sz="1800" dirty="0">
                <a:solidFill>
                  <a:srgbClr val="1F2933"/>
                </a:solidFill>
              </a:rPr>
              <a:t>相同舍入结果不足以在这些解释中唯一择一。</a:t>
            </a:r>
            <a:endParaRPr lang="en-US" sz="1800" dirty="0"/>
          </a:p>
          <a:p>
            <a:pPr indent="0" marL="0">
              <a:lnSpc>
                <a:spcPct val="100000"/>
              </a:lnSpc>
              <a:buNone/>
            </a:pPr>
            <a:r>
              <a:rPr lang="en-US" sz="1800" dirty="0">
                <a:solidFill>
                  <a:srgbClr val="1F2933"/>
                </a:solidFill>
              </a:rPr>
              <a:t>年报另引述的2025年外部AA/稳定与本次条件研究建议</a:t>
            </a:r>
            <a:endParaRPr lang="en-US" sz="1800" dirty="0"/>
          </a:p>
          <a:p>
            <a:pPr indent="0" marL="0">
              <a:lnSpc>
                <a:spcPct val="100000"/>
              </a:lnSpc>
              <a:buNone/>
            </a:pPr>
            <a:r>
              <a:rPr lang="en-US" sz="1800" dirty="0">
                <a:solidFill>
                  <a:srgbClr val="1F2933"/>
                </a:solidFill>
              </a:rPr>
              <a:t>分开；不以该外部等级消除当前资金、历史口径及持续承诺限制。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 / ks_a_e_external_rating_2025 / ks_a_e_bs 等；完整原文与位置见本演示文稿来源附页及备注</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发行人偿债指标与研究定义</a:t>
            </a:r>
            <a:endParaRPr lang="en-US" sz="2200" dirty="0"/>
          </a:p>
          <a:p>
            <a:pPr indent="0" marL="0">
              <a:lnSpc>
                <a:spcPct val="100000"/>
              </a:lnSpc>
              <a:buNone/>
            </a:pPr>
            <a:r>
              <a:rPr lang="en-US" sz="2200" b="1" dirty="0">
                <a:solidFill>
                  <a:srgbClr val="213B45"/>
                </a:solidFill>
              </a:rPr>
              <a:t>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取得公司指标计算表、全部债务/利息组成及贷款偿付总体后，逐</a:t>
            </a:r>
            <a:endParaRPr lang="en-US" sz="1800" dirty="0"/>
          </a:p>
          <a:p>
            <a:pPr indent="0" marL="0">
              <a:lnSpc>
                <a:spcPct val="100000"/>
              </a:lnSpc>
              <a:buNone/>
            </a:pPr>
            <a:r>
              <a:rPr lang="en-US" sz="1800" dirty="0">
                <a:solidFill>
                  <a:srgbClr val="1F2933"/>
                </a:solidFill>
              </a:rPr>
              <a:t>项桥接至研究口径并解释差异；若涉及实际债务漏项、资金受限或</a:t>
            </a:r>
            <a:endParaRPr lang="en-US" sz="1800" dirty="0"/>
          </a:p>
          <a:p>
            <a:pPr indent="0" marL="0">
              <a:lnSpc>
                <a:spcPct val="100000"/>
              </a:lnSpc>
              <a:buNone/>
            </a:pPr>
            <a:r>
              <a:rPr lang="en-US" sz="1800" dirty="0">
                <a:solidFill>
                  <a:srgbClr val="1F2933"/>
                </a:solidFill>
              </a:rPr>
              <a:t>逾期，再更新对应因素和付款情景。仅完成舍入对照不变更既有</a:t>
            </a:r>
            <a:endParaRPr lang="en-US" sz="1800" dirty="0"/>
          </a:p>
          <a:p>
            <a:pPr indent="0" marL="0">
              <a:lnSpc>
                <a:spcPct val="100000"/>
              </a:lnSpc>
              <a:buNone/>
            </a:pPr>
            <a:r>
              <a:rPr lang="en-US" sz="1800" dirty="0">
                <a:solidFill>
                  <a:srgbClr val="1F2933"/>
                </a:solidFill>
              </a:rPr>
              <a:t>条件等级。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 / ks_a_e_external_rating_2025 / ks_a_e_bs 等；完整原文与位置见本演示文稿来源附页及备注</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a:t>
            </a:r>
            <a:endParaRPr lang="en-US" sz="1800" dirty="0"/>
          </a:p>
          <a:p>
            <a:pPr indent="0" marL="0">
              <a:lnSpc>
                <a:spcPct val="100000"/>
              </a:lnSpc>
              <a:buNone/>
            </a:pPr>
            <a:r>
              <a:rPr lang="en-US" sz="1800" dirty="0">
                <a:solidFill>
                  <a:srgbClr val="1F2933"/>
                </a:solidFill>
              </a:rPr>
              <a:t>敏感性。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a:t>
            </a:r>
            <a:endParaRPr lang="en-US" sz="1800" dirty="0"/>
          </a:p>
          <a:p>
            <a:pPr indent="0" marL="0">
              <a:lnSpc>
                <a:spcPct val="100000"/>
              </a:lnSpc>
              <a:buNone/>
            </a:pPr>
            <a:r>
              <a:rPr lang="en-US" sz="1800" dirty="0">
                <a:solidFill>
                  <a:srgbClr val="1F2933"/>
                </a:solidFill>
              </a:rPr>
              <a:t>巨额集团往来影响现金。母公司权益表期初另追溯78.57 万元人民币已单列桥接。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子公司分红能力、资金归集、限制性条款与集团内部往来可回收性决定现金上划；合并报表抵销无法证明</a:t>
            </a:r>
            <a:endParaRPr lang="en-US" sz="1800" dirty="0"/>
          </a:p>
          <a:p>
            <a:pPr indent="0" marL="0">
              <a:lnSpc>
                <a:spcPct val="100000"/>
              </a:lnSpc>
              <a:buNone/>
            </a:pPr>
            <a:r>
              <a:rPr lang="en-US" sz="1800" dirty="0">
                <a:solidFill>
                  <a:srgbClr val="1F2933"/>
                </a:solidFill>
              </a:rPr>
              <a:t>母公司可自由调动全部现金。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a:t>
            </a:r>
            <a:endParaRPr lang="en-US" sz="1800" dirty="0"/>
          </a:p>
          <a:p>
            <a:pPr indent="0" marL="0">
              <a:lnSpc>
                <a:spcPct val="100000"/>
              </a:lnSpc>
              <a:buNone/>
            </a:pPr>
            <a:r>
              <a:rPr lang="en-US" sz="1800" dirty="0">
                <a:solidFill>
                  <a:srgbClr val="1F2933"/>
                </a:solidFill>
              </a:rPr>
              <a:t>权益收购、金融资产重估和基金承诺分别处理。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同控并非经营收益，出表现金减少不同于资本开支，剩余权益估值与可支配资金不同；基金未实缴承诺</a:t>
            </a:r>
            <a:endParaRPr lang="en-US" sz="1800" dirty="0"/>
          </a:p>
          <a:p>
            <a:pPr indent="0" marL="0">
              <a:lnSpc>
                <a:spcPct val="100000"/>
              </a:lnSpc>
              <a:buNone/>
            </a:pPr>
            <a:r>
              <a:rPr lang="en-US" sz="1800" dirty="0">
                <a:solidFill>
                  <a:srgbClr val="1F2933"/>
                </a:solidFill>
              </a:rPr>
              <a:t>可能形成未来资金需求。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年末集团外经销担保1.60 亿元人民币；前十笔1.23 亿</a:t>
            </a:r>
            <a:endParaRPr lang="en-US" sz="1800" dirty="0"/>
          </a:p>
          <a:p>
            <a:pPr indent="0" marL="0">
              <a:lnSpc>
                <a:spcPct val="100000"/>
              </a:lnSpc>
              <a:buNone/>
            </a:pPr>
            <a:r>
              <a:rPr lang="en-US" sz="1800" dirty="0">
                <a:solidFill>
                  <a:srgbClr val="1F2933"/>
                </a:solidFill>
              </a:rPr>
              <a:t>元人民币、占77.08%，其中原表七笔六月担保到期金额</a:t>
            </a:r>
            <a:endParaRPr lang="en-US" sz="1800" dirty="0"/>
          </a:p>
          <a:p>
            <a:pPr indent="0" marL="0">
              <a:lnSpc>
                <a:spcPct val="100000"/>
              </a:lnSpc>
              <a:buNone/>
            </a:pPr>
            <a:r>
              <a:rPr lang="en-US" sz="1800" dirty="0">
                <a:solidFill>
                  <a:srgbClr val="1F2933"/>
                </a:solidFill>
              </a:rPr>
              <a:t>1.04 亿元人民币。三月末公告实际集团外余额降至</a:t>
            </a:r>
            <a:endParaRPr lang="en-US" sz="1800" dirty="0"/>
          </a:p>
          <a:p>
            <a:pPr indent="0" marL="0">
              <a:lnSpc>
                <a:spcPct val="100000"/>
              </a:lnSpc>
              <a:buNone/>
            </a:pPr>
            <a:r>
              <a:rPr lang="en-US" sz="1800" dirty="0">
                <a:solidFill>
                  <a:srgbClr val="1F2933"/>
                </a:solidFill>
              </a:rPr>
              <a:t>7,655.11 万元人民币，降幅52.18%；集团内</a:t>
            </a:r>
            <a:endParaRPr lang="en-US" sz="1800" dirty="0"/>
          </a:p>
          <a:p>
            <a:pPr indent="0" marL="0">
              <a:lnSpc>
                <a:spcPct val="100000"/>
              </a:lnSpc>
              <a:buNone/>
            </a:pPr>
            <a:r>
              <a:rPr lang="en-US" sz="1800" dirty="0">
                <a:solidFill>
                  <a:srgbClr val="1F2933"/>
                </a:solidFill>
              </a:rPr>
              <a:t>1.21 亿元人民币另列。余额下降是反证，不证明前十笔已逐</a:t>
            </a:r>
            <a:endParaRPr lang="en-US" sz="1800" dirty="0"/>
          </a:p>
          <a:p>
            <a:pPr indent="0" marL="0">
              <a:lnSpc>
                <a:spcPct val="100000"/>
              </a:lnSpc>
              <a:buNone/>
            </a:pPr>
            <a:r>
              <a:rPr lang="en-US" sz="1800" dirty="0">
                <a:solidFill>
                  <a:srgbClr val="1F2933"/>
                </a:solidFill>
              </a:rPr>
              <a:t>笔解除或截至六月仍无风险。</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年末前十笔经销担保合计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原表七笔六月担保到期金额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1.04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三月末集团外经销商实际担保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7,655.11 万元人民币</a:t>
            </a:r>
            <a:endParaRPr lang="en-US" sz="17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原表“担保到期日”不是公司代偿日；39户需从年末经新增、续</a:t>
            </a:r>
            <a:endParaRPr lang="en-US" sz="1800" dirty="0"/>
          </a:p>
          <a:p>
            <a:pPr indent="0" marL="0">
              <a:lnSpc>
                <a:spcPct val="100000"/>
              </a:lnSpc>
              <a:buNone/>
            </a:pPr>
            <a:r>
              <a:rPr lang="en-US" sz="1800" dirty="0">
                <a:solidFill>
                  <a:srgbClr val="1F2933"/>
                </a:solidFill>
              </a:rPr>
              <a:t>期、偿还、解除和代偿分别桥至三月末及六月。经销贷款按披露</a:t>
            </a:r>
            <a:endParaRPr lang="en-US" sz="1800" dirty="0"/>
          </a:p>
          <a:p>
            <a:pPr indent="0" marL="0">
              <a:lnSpc>
                <a:spcPct val="100000"/>
              </a:lnSpc>
              <a:buNone/>
            </a:pPr>
            <a:r>
              <a:rPr lang="en-US" sz="1800" dirty="0">
                <a:solidFill>
                  <a:srgbClr val="1F2933"/>
                </a:solidFill>
              </a:rPr>
              <a:t>用于付公司货款，年底结清应付可能改善收现却留下保证责任：</a:t>
            </a:r>
            <a:endParaRPr lang="en-US" sz="1800" dirty="0"/>
          </a:p>
          <a:p>
            <a:pPr indent="0" marL="0">
              <a:lnSpc>
                <a:spcPct val="100000"/>
              </a:lnSpc>
              <a:buNone/>
            </a:pPr>
            <a:r>
              <a:rPr lang="en-US" sz="1800" dirty="0">
                <a:solidFill>
                  <a:srgbClr val="1F2933"/>
                </a:solidFill>
              </a:rPr>
              <a:t>同一客户压力可同时削弱销售/收款并触发代偿。不得将年末存量</a:t>
            </a:r>
            <a:endParaRPr lang="en-US" sz="1800" dirty="0"/>
          </a:p>
          <a:p>
            <a:pPr indent="0" marL="0">
              <a:lnSpc>
                <a:spcPct val="100000"/>
              </a:lnSpc>
              <a:buNone/>
            </a:pPr>
            <a:r>
              <a:rPr lang="en-US" sz="1800" dirty="0">
                <a:solidFill>
                  <a:srgbClr val="1F2933"/>
                </a:solidFill>
              </a:rPr>
              <a:t>直接从CFO扣除。2026-016新增审批3.60 亿元</a:t>
            </a:r>
            <a:endParaRPr lang="en-US" sz="1800" dirty="0"/>
          </a:p>
          <a:p>
            <a:pPr indent="0" marL="0">
              <a:lnSpc>
                <a:spcPct val="100000"/>
              </a:lnSpc>
              <a:buNone/>
            </a:pPr>
            <a:r>
              <a:rPr lang="en-US" sz="1800" dirty="0">
                <a:solidFill>
                  <a:srgbClr val="1F2933"/>
                </a:solidFill>
              </a:rPr>
              <a:t>人民币但协议未签，不是已发生义务或确定融资。已开保函</a:t>
            </a:r>
            <a:endParaRPr lang="en-US" sz="1800" dirty="0"/>
          </a:p>
          <a:p>
            <a:pPr indent="0" marL="0">
              <a:lnSpc>
                <a:spcPct val="100000"/>
              </a:lnSpc>
              <a:buNone/>
            </a:pPr>
            <a:r>
              <a:rPr lang="en-US" sz="1800" dirty="0">
                <a:solidFill>
                  <a:srgbClr val="1F2933"/>
                </a:solidFill>
              </a:rPr>
              <a:t>1.66 亿元人民币、诉讼及质保义务仍单列；集团内保证与并</a:t>
            </a:r>
            <a:endParaRPr lang="en-US" sz="1800" dirty="0"/>
          </a:p>
          <a:p>
            <a:pPr indent="0" marL="0">
              <a:lnSpc>
                <a:spcPct val="100000"/>
              </a:lnSpc>
              <a:buNone/>
            </a:pPr>
            <a:r>
              <a:rPr lang="en-US" sz="1800" dirty="0">
                <a:solidFill>
                  <a:srgbClr val="1F2933"/>
                </a:solidFill>
              </a:rPr>
              <a:t>表基础债务去重。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三月末实际余额下降且公司声明无逾期、涉诉及败诉代偿，有利于</a:t>
            </a:r>
            <a:endParaRPr lang="en-US" sz="1800" dirty="0"/>
          </a:p>
          <a:p>
            <a:pPr indent="0" marL="0">
              <a:lnSpc>
                <a:spcPct val="100000"/>
              </a:lnSpc>
              <a:buNone/>
            </a:pPr>
            <a:r>
              <a:rPr lang="en-US" sz="1800" dirty="0">
                <a:solidFill>
                  <a:srgbClr val="1F2933"/>
                </a:solidFill>
              </a:rPr>
              <a:t>风险判断；它未说明逐户变化原因或六月状态。</a:t>
            </a:r>
            <a:endParaRPr lang="en-US" sz="1800" dirty="0"/>
          </a:p>
          <a:p>
            <a:pPr indent="0" marL="0">
              <a:lnSpc>
                <a:spcPct val="100000"/>
              </a:lnSpc>
              <a:buNone/>
            </a:pPr>
            <a:r>
              <a:rPr lang="en-US" sz="1800" dirty="0">
                <a:solidFill>
                  <a:srgbClr val="1F2933"/>
                </a:solidFill>
              </a:rPr>
              <a:t>反担保可能有回收价值，但需核权属、顺位、可执行性及时间；先</a:t>
            </a:r>
            <a:endParaRPr lang="en-US" sz="1800" dirty="0"/>
          </a:p>
          <a:p>
            <a:pPr indent="0" marL="0">
              <a:lnSpc>
                <a:spcPct val="100000"/>
              </a:lnSpc>
              <a:buNone/>
            </a:pPr>
            <a:r>
              <a:rPr lang="en-US" sz="1800" dirty="0">
                <a:solidFill>
                  <a:srgbClr val="1F2933"/>
                </a:solidFill>
              </a:rPr>
              <a:t>列发行人毛付款，再列有依据的追偿，不能抵销当天现金。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全查原表前十笔及新增、展期、逾期、追偿和代偿事项；取得其余</a:t>
            </a:r>
            <a:endParaRPr lang="en-US" sz="1800" dirty="0"/>
          </a:p>
          <a:p>
            <a:pPr indent="0" marL="0">
              <a:lnSpc>
                <a:spcPct val="100000"/>
              </a:lnSpc>
              <a:buNone/>
            </a:pPr>
            <a:r>
              <a:rPr lang="en-US" sz="1800" dirty="0">
                <a:solidFill>
                  <a:srgbClr val="1F2933"/>
                </a:solidFill>
              </a:rPr>
              <a:t>29户完整台账并核全量滚动，不能外推。把贷款放款—客户付款</a:t>
            </a:r>
            <a:endParaRPr lang="en-US" sz="1800" dirty="0"/>
          </a:p>
          <a:p>
            <a:pPr indent="0" marL="0">
              <a:lnSpc>
                <a:spcPct val="100000"/>
              </a:lnSpc>
              <a:buNone/>
            </a:pPr>
            <a:r>
              <a:rPr lang="en-US" sz="1800" dirty="0">
                <a:solidFill>
                  <a:srgbClr val="1F2933"/>
                </a:solidFill>
              </a:rPr>
              <a:t>—发票/应收结算和实际保证状态逐户连接，区分新销售、旧款</a:t>
            </a:r>
            <a:endParaRPr lang="en-US" sz="1800" dirty="0"/>
          </a:p>
          <a:p>
            <a:pPr indent="0" marL="0">
              <a:lnSpc>
                <a:spcPct val="100000"/>
              </a:lnSpc>
              <a:buNone/>
            </a:pPr>
            <a:r>
              <a:rPr lang="en-US" sz="1800" dirty="0">
                <a:solidFill>
                  <a:srgbClr val="1F2933"/>
                </a:solidFill>
              </a:rPr>
              <a:t>回收、预收与借新还旧；将净增或有损失与实际现金时点分别进入</a:t>
            </a:r>
            <a:endParaRPr lang="en-US" sz="1800" dirty="0"/>
          </a:p>
          <a:p>
            <a:pPr indent="0" marL="0">
              <a:lnSpc>
                <a:spcPct val="100000"/>
              </a:lnSpc>
              <a:buNone/>
            </a:pPr>
            <a:r>
              <a:rPr lang="en-US" sz="1800" dirty="0">
                <a:solidFill>
                  <a:srgbClr val="1F2933"/>
                </a:solidFill>
              </a:rPr>
              <a:t>资产/现金质量、融资及个体调整，消除与回款和已并表债务重复</a:t>
            </a:r>
            <a:endParaRPr lang="en-US" sz="1800" dirty="0"/>
          </a:p>
          <a:p>
            <a:pPr indent="0" marL="0">
              <a:lnSpc>
                <a:spcPct val="100000"/>
              </a:lnSpc>
              <a:buNone/>
            </a:pPr>
            <a:r>
              <a:rPr lang="en-US" sz="1800" dirty="0">
                <a:solidFill>
                  <a:srgbClr val="1F2933"/>
                </a:solidFill>
              </a:rPr>
              <a:t>计算。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发行人披露流动比率</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ks_a_e_old 等；完整原文与位置见本演示文稿来源附页及备注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发行人披露流动比率</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1.62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发行人披露资产负债率</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67.32%</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发行人披露资产负债率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64.18%</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发行人披露速动比率</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 倍</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发行人披露速动比率</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发行人披露利息保障倍数</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-4.95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35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发行人披露利息保障倍数</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1.43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发行人披露现金利息保障倍数</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7.92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发行人披露贷款偿还率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发行人披露贷款偿还率</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发行人披露利息偿付率</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发行人披露利息偿付率</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100.00%</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ks_a_e_bond_metrics；完整原文与位置见本演示文稿来源附页及备注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a:t>
            </a:r>
            <a:endParaRPr lang="en-US" sz="1800" dirty="0"/>
          </a:p>
          <a:p>
            <a:pPr indent="0" marL="0">
              <a:lnSpc>
                <a:spcPct val="100000"/>
              </a:lnSpc>
              <a:buNone/>
            </a:pPr>
            <a:r>
              <a:rPr lang="en-US" sz="1800" dirty="0">
                <a:solidFill>
                  <a:srgbClr val="1F2933"/>
                </a:solidFill>
              </a:rPr>
              <a:t>现金。募集金恢复用途是现金限制敏感性，不是新增外部债本金。负数后续行只显示未融资缺口，晚收款</a:t>
            </a:r>
            <a:endParaRPr lang="en-US" sz="1800" dirty="0"/>
          </a:p>
          <a:p>
            <a:pPr indent="0" marL="0">
              <a:lnSpc>
                <a:spcPct val="100000"/>
              </a:lnSpc>
              <a:buNone/>
            </a:pPr>
            <a:r>
              <a:rPr lang="en-US" sz="1800" dirty="0">
                <a:solidFill>
                  <a:srgbClr val="1F2933"/>
                </a:solidFill>
              </a:rPr>
              <a:t>不能抹去先前支付失败。 2027-01-09用途恢复另有静态事件桥；一年展望的季节性延伸见</a:t>
            </a:r>
            <a:endParaRPr lang="en-US" sz="1800" dirty="0"/>
          </a:p>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 年报未用银行借款10.8亿元与</a:t>
            </a:r>
            <a:endParaRPr lang="en-US" sz="1800" dirty="0"/>
          </a:p>
          <a:p>
            <a:pPr indent="0" marL="0">
              <a:lnSpc>
                <a:spcPct val="100000"/>
              </a:lnSpc>
              <a:buNone/>
            </a:pPr>
            <a:r>
              <a:rPr lang="en-US" sz="1800" dirty="0">
                <a:solidFill>
                  <a:srgbClr val="1F2933"/>
                </a:solidFill>
              </a:rPr>
              <a:t>跟踪报告未用授信47亿元的冲突另见ks_credit_find_facilities，尚未</a:t>
            </a:r>
            <a:endParaRPr lang="en-US" sz="1800" dirty="0"/>
          </a:p>
          <a:p>
            <a:pPr indent="0" marL="0">
              <a:lnSpc>
                <a:spcPct val="100000"/>
              </a:lnSpc>
              <a:buNone/>
            </a:pPr>
            <a:r>
              <a:rPr lang="en-US" sz="1800" dirty="0">
                <a:solidFill>
                  <a:srgbClr val="1F2933"/>
                </a:solidFill>
              </a:rPr>
              <a:t>形成银行合同桥；不能以额度披露或现有再融资4.65研究分证明付款资金已落实。 该诊断保留无</a:t>
            </a:r>
            <a:endParaRPr lang="en-US" sz="1800" dirty="0"/>
          </a:p>
          <a:p>
            <a:pPr indent="0" marL="0">
              <a:lnSpc>
                <a:spcPct val="100000"/>
              </a:lnSpc>
              <a:buNone/>
            </a:pPr>
            <a:r>
              <a:rPr lang="en-US" sz="1800" dirty="0">
                <a:solidFill>
                  <a:srgbClr val="1F2933"/>
                </a:solidFill>
              </a:rPr>
              <a:t>新增融资路径；完整经营、税款、提款与新增利息的条件反馈见ks_econ_f_chain和</a:t>
            </a:r>
            <a:endParaRPr lang="en-US" sz="1800" dirty="0"/>
          </a:p>
          <a:p>
            <a:pPr indent="0" marL="0">
              <a:lnSpc>
                <a:spcPct val="100000"/>
              </a:lnSpc>
              <a:buNone/>
            </a:pPr>
            <a:r>
              <a:rPr lang="en-US" sz="1800" dirty="0">
                <a:solidFill>
                  <a:srgbClr val="1F2933"/>
                </a:solidFill>
              </a:rPr>
              <a:t>ks_econ_f_funding，两套金额不直接拼接或择优。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r>
              <a:rPr lang="en-US" sz="1800" dirty="0">
                <a:solidFill>
                  <a:srgbClr val="1F2933"/>
                </a:solidFill>
              </a:rPr>
              <a:t>未使用授信、短期偿付期限及风险敞口；未折现现金流含经营性负债，与会计账面有息债不等额。授信可</a:t>
            </a:r>
            <a:endParaRPr lang="en-US" sz="1800" dirty="0"/>
          </a:p>
          <a:p>
            <a:pPr indent="0" marL="0">
              <a:lnSpc>
                <a:spcPct val="100000"/>
              </a:lnSpc>
              <a:buNone/>
            </a:pPr>
            <a:r>
              <a:rPr lang="en-US" sz="1800" dirty="0">
                <a:solidFill>
                  <a:srgbClr val="1F2933"/>
                </a:solidFill>
              </a:rPr>
              <a:t>提条件未核验。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 该截距保留D/X等未代入的现金容量诊断；经营</a:t>
            </a:r>
            <a:endParaRPr lang="en-US" sz="1800" dirty="0"/>
          </a:p>
          <a:p>
            <a:pPr indent="0" marL="0">
              <a:lnSpc>
                <a:spcPct val="100000"/>
              </a:lnSpc>
              <a:buNone/>
            </a:pPr>
            <a:r>
              <a:rPr lang="en-US" sz="1800" dirty="0">
                <a:solidFill>
                  <a:srgbClr val="1F2933"/>
                </a:solidFill>
              </a:rPr>
              <a:t>融资链另列账面清偿预算及新增贷款利息循环，不能把两者当同</a:t>
            </a:r>
            <a:endParaRPr lang="en-US" sz="1800" dirty="0"/>
          </a:p>
          <a:p>
            <a:pPr indent="0" marL="0">
              <a:lnSpc>
                <a:spcPct val="100000"/>
              </a:lnSpc>
              <a:buNone/>
            </a:pPr>
            <a:r>
              <a:rPr lang="en-US" sz="1800" dirty="0">
                <a:solidFill>
                  <a:srgbClr val="1F2933"/>
                </a:solidFill>
              </a:rPr>
              <a:t>假设融资需要比较或相加。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现金时点与未代入合同参数的截距对照：章节指标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a:t>
            </a:r>
            <a:endParaRPr lang="en-US" sz="1800" dirty="0"/>
          </a:p>
          <a:p>
            <a:pPr indent="0" marL="0">
              <a:lnSpc>
                <a:spcPct val="100000"/>
              </a:lnSpc>
              <a:buNone/>
            </a:pPr>
            <a:r>
              <a:rPr lang="en-US" sz="1800" dirty="0">
                <a:solidFill>
                  <a:srgbClr val="1F2933"/>
                </a:solidFill>
              </a:rPr>
              <a:t>-5,518.29 万元人民币。季度现金年初桥闭合；信用减值继续且缺完整债务及受限现金附注，</a:t>
            </a:r>
            <a:endParaRPr lang="en-US" sz="1800" dirty="0"/>
          </a:p>
          <a:p>
            <a:pPr indent="0" marL="0">
              <a:lnSpc>
                <a:spcPct val="100000"/>
              </a:lnSpc>
              <a:buNone/>
            </a:pPr>
            <a:r>
              <a:rPr lang="en-US" sz="1800" dirty="0">
                <a:solidFill>
                  <a:srgbClr val="1F2933"/>
                </a:solidFill>
              </a:rPr>
              <a:t>不按一季乘四替换全年。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季节性、原材料预付、银行长短债置换和年度末集中减值会令季度盈利与全年偿债能力不同；部分上年</a:t>
            </a:r>
            <a:endParaRPr lang="en-US" sz="1800" dirty="0"/>
          </a:p>
          <a:p>
            <a:pPr indent="0" marL="0">
              <a:lnSpc>
                <a:spcPct val="100000"/>
              </a:lnSpc>
              <a:buNone/>
            </a:pPr>
            <a:r>
              <a:rPr lang="en-US" sz="1800" dirty="0">
                <a:solidFill>
                  <a:srgbClr val="1F2933"/>
                </a:solidFill>
              </a:rPr>
              <a:t>季度比较仍是原披露范围。解释19号实施未披露重大影响。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刻度）；这是分析者判断。</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a:t>
            </a:r>
            <a:endParaRPr lang="en-US" sz="1800" dirty="0"/>
          </a:p>
          <a:p>
            <a:pPr indent="0" marL="0">
              <a:lnSpc>
                <a:spcPct val="100000"/>
              </a:lnSpc>
              <a:buNone/>
            </a:pPr>
            <a:r>
              <a:rPr lang="en-US" sz="1800" dirty="0">
                <a:solidFill>
                  <a:srgbClr val="1F2933"/>
                </a:solidFill>
              </a:rPr>
              <a:t>刻度），相邻2.50 分（六分制研究刻度）至3.50 分（</a:t>
            </a:r>
            <a:endParaRPr lang="en-US" sz="1800" dirty="0"/>
          </a:p>
          <a:p>
            <a:pPr indent="0" marL="0">
              <a:lnSpc>
                <a:spcPct val="100000"/>
              </a:lnSpc>
              <a:buNone/>
            </a:pPr>
            <a:r>
              <a:rPr lang="en-US" sz="1800" dirty="0">
                <a:solidFill>
                  <a:srgbClr val="1F2933"/>
                </a:solidFill>
              </a:rPr>
              <a:t>六分制研究刻度）。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东方雨虹2025年合并收入27578652775.30元；</a:t>
            </a:r>
            <a:endParaRPr lang="en-US" sz="1800" dirty="0"/>
          </a:p>
          <a:p>
            <a:pPr indent="0" marL="0">
              <a:lnSpc>
                <a:spcPct val="100000"/>
              </a:lnSpc>
              <a:buNone/>
            </a:pPr>
            <a:r>
              <a:rPr lang="en-US" sz="1800" dirty="0">
                <a:solidFill>
                  <a:srgbClr val="1F2933"/>
                </a:solidFill>
              </a:rPr>
              <a:t>防水材料19171975964.82元，同比-6.97%；</a:t>
            </a:r>
            <a:endParaRPr lang="en-US" sz="1800" dirty="0"/>
          </a:p>
          <a:p>
            <a:pPr indent="0" marL="0">
              <a:lnSpc>
                <a:spcPct val="100000"/>
              </a:lnSpc>
              <a:buNone/>
            </a:pPr>
            <a:r>
              <a:rPr lang="en-US" sz="1800" dirty="0">
                <a:solidFill>
                  <a:srgbClr val="1F2933"/>
                </a:solidFill>
              </a:rPr>
              <a:t>卷材11361297695.00元，毛利22.15%；零售</a:t>
            </a:r>
            <a:endParaRPr lang="en-US" sz="1800" dirty="0"/>
          </a:p>
          <a:p>
            <a:pPr indent="0" marL="0">
              <a:lnSpc>
                <a:spcPct val="100000"/>
              </a:lnSpc>
              <a:buNone/>
            </a:pPr>
            <a:r>
              <a:rPr lang="en-US" sz="1800" dirty="0">
                <a:solidFill>
                  <a:srgbClr val="1F2933"/>
                </a:solidFill>
              </a:rPr>
              <a:t>渠道收入占36.06%，工程渠道48.15%。</a:t>
            </a:r>
            <a:endParaRPr lang="en-US" sz="1800" dirty="0"/>
          </a:p>
          <a:p>
            <a:pPr indent="0" marL="0">
              <a:lnSpc>
                <a:spcPct val="100000"/>
              </a:lnSpc>
              <a:buNone/>
            </a:pPr>
            <a:r>
              <a:rPr lang="en-US" sz="1800" dirty="0">
                <a:solidFill>
                  <a:srgbClr val="1F2933"/>
                </a:solidFill>
              </a:rPr>
              <a:t>北新2025年合并收入25280261918.22元；防水</a:t>
            </a:r>
            <a:endParaRPr lang="en-US" sz="1800" dirty="0"/>
          </a:p>
          <a:p>
            <a:pPr indent="0" marL="0">
              <a:lnSpc>
                <a:spcPct val="100000"/>
              </a:lnSpc>
              <a:buNone/>
            </a:pPr>
            <a:r>
              <a:rPr lang="en-US" sz="1800" dirty="0">
                <a:solidFill>
                  <a:srgbClr val="1F2933"/>
                </a:solidFill>
              </a:rPr>
              <a:t>建材4785663502.02元，同比3.33%；防水卷材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a:t>
            </a:r>
            <a:endParaRPr lang="en-US" sz="1800" dirty="0"/>
          </a:p>
          <a:p>
            <a:pPr indent="0" marL="0">
              <a:lnSpc>
                <a:spcPct val="100000"/>
              </a:lnSpc>
              <a:buNone/>
            </a:pPr>
            <a:r>
              <a:rPr lang="en-US" sz="1800" dirty="0">
                <a:solidFill>
                  <a:srgbClr val="1F2933"/>
                </a:solidFill>
              </a:rPr>
              <a:t>刻度））。主要将账户问题计入执行，避免同一事项在治理与调整项重复全额扣分。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截至2026-01-06，旧一轮实际用于临时补流的130000万元全部归还专户，使用不超过原</a:t>
            </a:r>
            <a:endParaRPr lang="en-US" sz="1800" dirty="0"/>
          </a:p>
          <a:p>
            <a:pPr indent="0" marL="0">
              <a:lnSpc>
                <a:spcPct val="100000"/>
              </a:lnSpc>
              <a:buNone/>
            </a:pPr>
            <a:r>
              <a:rPr lang="en-US" sz="1800" dirty="0">
                <a:solidFill>
                  <a:srgbClr val="1F2933"/>
                </a:solidFill>
              </a:rPr>
              <a:t>批准12个月。</a:t>
            </a:r>
            <a:endParaRPr lang="en-US" sz="1800" dirty="0"/>
          </a:p>
          <a:p>
            <a:pPr indent="0" marL="0">
              <a:lnSpc>
                <a:spcPct val="100000"/>
              </a:lnSpc>
              <a:buNone/>
            </a:pPr>
            <a:r>
              <a:rPr lang="en-US" sz="1800" dirty="0">
                <a:solidFill>
                  <a:srgbClr val="1F2933"/>
                </a:solidFill>
              </a:rPr>
              <a:t>2026-01-09董事会批准新一轮不超过130000万元临时补流、最长12个月、募投需要即</a:t>
            </a:r>
            <a:endParaRPr lang="en-US" sz="1800" dirty="0"/>
          </a:p>
          <a:p>
            <a:pPr indent="0" marL="0">
              <a:lnSpc>
                <a:spcPct val="100000"/>
              </a:lnSpc>
              <a:buNone/>
            </a:pPr>
            <a:r>
              <a:rPr lang="en-US" sz="1800" dirty="0">
                <a:solidFill>
                  <a:srgbClr val="1F2933"/>
                </a:solidFill>
              </a:rPr>
              <a:t>归还，仅用于主营生产经营。</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 上述经销</a:t>
            </a:r>
            <a:endParaRPr lang="en-US" sz="1800" dirty="0"/>
          </a:p>
          <a:p>
            <a:pPr indent="0" marL="0">
              <a:lnSpc>
                <a:spcPct val="100000"/>
              </a:lnSpc>
              <a:buNone/>
            </a:pPr>
            <a:r>
              <a:rPr lang="en-US" sz="1800" dirty="0">
                <a:solidFill>
                  <a:srgbClr val="1F2933"/>
                </a:solidFill>
              </a:rPr>
              <a:t>担保为年末数；三月末集团外实际余额降至7,655.11 万</a:t>
            </a:r>
            <a:endParaRPr lang="en-US" sz="1800" dirty="0"/>
          </a:p>
          <a:p>
            <a:pPr indent="0" marL="0">
              <a:lnSpc>
                <a:spcPct val="100000"/>
              </a:lnSpc>
              <a:buNone/>
            </a:pPr>
            <a:r>
              <a:rPr lang="en-US" sz="1800" dirty="0">
                <a:solidFill>
                  <a:srgbClr val="1F2933"/>
                </a:solidFill>
              </a:rPr>
              <a:t>元人民币，不沿用年末存量代表六月。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2025年度权益分派实施公告规定每股现金0.06元、公告</a:t>
            </a:r>
            <a:endParaRPr lang="en-US" sz="1800" dirty="0"/>
          </a:p>
          <a:p>
            <a:pPr indent="0" marL="0">
              <a:lnSpc>
                <a:spcPct val="100000"/>
              </a:lnSpc>
              <a:buNone/>
            </a:pPr>
            <a:r>
              <a:rPr lang="en-US" sz="1800" dirty="0">
                <a:solidFill>
                  <a:srgbClr val="1F2933"/>
                </a:solidFill>
              </a:rPr>
              <a:t>股本1109971693股，2026-05-26除息及代</a:t>
            </a:r>
            <a:endParaRPr lang="en-US" sz="1800" dirty="0"/>
          </a:p>
          <a:p>
            <a:pPr indent="0" marL="0">
              <a:lnSpc>
                <a:spcPct val="100000"/>
              </a:lnSpc>
              <a:buNone/>
            </a:pPr>
            <a:r>
              <a:rPr lang="en-US" sz="1800" dirty="0">
                <a:solidFill>
                  <a:srgbClr val="1F2933"/>
                </a:solidFill>
              </a:rPr>
              <a:t>派。</a:t>
            </a:r>
            <a:endParaRPr lang="en-US" sz="1800" dirty="0"/>
          </a:p>
          <a:p>
            <a:pPr indent="0" marL="0">
              <a:lnSpc>
                <a:spcPct val="100000"/>
              </a:lnSpc>
              <a:buNone/>
            </a:pPr>
            <a:r>
              <a:rPr lang="en-US" sz="1800" dirty="0">
                <a:solidFill>
                  <a:srgbClr val="1F2933"/>
                </a:solidFill>
              </a:rPr>
              <a:t>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中央城市更新意见支持既有建筑、老旧小区及地下管网改造，强调</a:t>
            </a:r>
            <a:endParaRPr lang="en-US" sz="1800" dirty="0"/>
          </a:p>
          <a:p>
            <a:pPr indent="0" marL="0">
              <a:lnSpc>
                <a:spcPct val="100000"/>
              </a:lnSpc>
              <a:buNone/>
            </a:pPr>
            <a:r>
              <a:rPr lang="en-US" sz="1800" dirty="0">
                <a:solidFill>
                  <a:srgbClr val="1F2933"/>
                </a:solidFill>
              </a:rPr>
              <a:t>市场运作、持续投融资及控制债务风险。</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a:t>
            </a:r>
            <a:endParaRPr lang="en-US" sz="1800" dirty="0"/>
          </a:p>
          <a:p>
            <a:pPr indent="0" marL="0">
              <a:lnSpc>
                <a:spcPct val="100000"/>
              </a:lnSpc>
              <a:buNone/>
            </a:pPr>
            <a:r>
              <a:rPr lang="en-US" sz="1800" dirty="0">
                <a:solidFill>
                  <a:srgbClr val="1F2933"/>
                </a:solidFill>
              </a:rPr>
              <a:t>人民币。 年度报告收现比116.91%并非当年新销售回款</a:t>
            </a:r>
            <a:endParaRPr lang="en-US" sz="1800" dirty="0"/>
          </a:p>
          <a:p>
            <a:pPr indent="0" marL="0">
              <a:lnSpc>
                <a:spcPct val="100000"/>
              </a:lnSpc>
              <a:buNone/>
            </a:pPr>
            <a:r>
              <a:rPr lang="en-US" sz="1800" dirty="0">
                <a:solidFill>
                  <a:srgbClr val="1F2933"/>
                </a:solidFill>
              </a:rPr>
              <a:t>率，包含旧款回收及含税等口径影响。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主要原料包括沥青、膜、聚酯胎基、SBS、聚醚等石化原料；</a:t>
            </a:r>
            <a:endParaRPr lang="en-US" sz="1800" dirty="0"/>
          </a:p>
          <a:p>
            <a:pPr indent="0" marL="0">
              <a:lnSpc>
                <a:spcPct val="100000"/>
              </a:lnSpc>
              <a:buNone/>
            </a:pPr>
            <a:r>
              <a:rPr lang="en-US" sz="1800" dirty="0">
                <a:solidFill>
                  <a:srgbClr val="1F2933"/>
                </a:solidFill>
              </a:rPr>
              <a:t>公司明确对沥青等大宗原料议价能力相对弱；通过集采、储备及套</a:t>
            </a:r>
            <a:endParaRPr lang="en-US" sz="1800" dirty="0"/>
          </a:p>
          <a:p>
            <a:pPr indent="0" marL="0">
              <a:lnSpc>
                <a:spcPct val="100000"/>
              </a:lnSpc>
              <a:buNone/>
            </a:pPr>
            <a:r>
              <a:rPr lang="en-US" sz="1800" dirty="0">
                <a:solidFill>
                  <a:srgbClr val="1F2933"/>
                </a:solidFill>
              </a:rPr>
              <a:t>保缓释价格风险。</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取得渠道收入、实际订单、旧账回款及海外数据后重设地区增长</a:t>
            </a:r>
            <a:endParaRPr lang="en-US" sz="1800" dirty="0"/>
          </a:p>
          <a:p>
            <a:pPr indent="0" marL="0">
              <a:lnSpc>
                <a:spcPct val="100000"/>
              </a:lnSpc>
              <a:buNone/>
            </a:pPr>
            <a:r>
              <a:rPr lang="en-US" sz="1800" dirty="0">
                <a:solidFill>
                  <a:srgbClr val="1F2933"/>
                </a:solidFill>
              </a:rPr>
              <a:t>假设。该地区收入区间只作独立敏感性；经营融资链另采用同季</a:t>
            </a:r>
            <a:endParaRPr lang="en-US" sz="1800" dirty="0"/>
          </a:p>
          <a:p>
            <a:pPr indent="0" marL="0">
              <a:lnSpc>
                <a:spcPct val="100000"/>
              </a:lnSpc>
              <a:buNone/>
            </a:pPr>
            <a:r>
              <a:rPr lang="en-US" sz="1800" dirty="0">
                <a:solidFill>
                  <a:srgbClr val="1F2933"/>
                </a:solidFill>
              </a:rPr>
              <a:t>收入锚×98%并同步现金及成本，不将两套假设混成同一预测。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一季度已转股面值：8,600.00 元人民币</a:t>
            </a:r>
            <a:endParaRPr lang="en-US" sz="1800" dirty="0"/>
          </a:p>
          <a:p>
            <a:pPr indent="0" marL="0">
              <a:lnSpc>
                <a:spcPct val="100000"/>
              </a:lnSpc>
              <a:buNone/>
            </a:pPr>
            <a:r>
              <a:rPr lang="en-US" sz="1800" dirty="0">
                <a:solidFill>
                  <a:srgbClr val="1F2933"/>
                </a:solidFill>
              </a:rPr>
              <a:t>最后两个计息年度中，任意连续三十个交易日收盘价低于当期转</a:t>
            </a:r>
            <a:endParaRPr lang="en-US" sz="1800" dirty="0"/>
          </a:p>
          <a:p>
            <a:pPr indent="0" marL="0">
              <a:lnSpc>
                <a:spcPct val="100000"/>
              </a:lnSpc>
              <a:buNone/>
            </a:pPr>
            <a:r>
              <a:rPr lang="en-US" sz="1800" dirty="0">
                <a:solidFill>
                  <a:srgbClr val="1F2933"/>
                </a:solidFill>
              </a:rPr>
              <a:t>股价70%，持有人可按面值加应计利息回售；每计息年度首次</a:t>
            </a:r>
            <a:endParaRPr lang="en-US" sz="1800" dirty="0"/>
          </a:p>
          <a:p>
            <a:pPr indent="0" marL="0">
              <a:lnSpc>
                <a:spcPct val="100000"/>
              </a:lnSpc>
              <a:buNone/>
            </a:pPr>
            <a:r>
              <a:rPr lang="en-US" sz="1800" dirty="0">
                <a:solidFill>
                  <a:srgbClr val="1F2933"/>
                </a:solidFill>
              </a:rPr>
              <a:t>触发后按公告申报，不能多次行使部分回售，向下修正转股价则重</a:t>
            </a:r>
            <a:endParaRPr lang="en-US" sz="1800" dirty="0"/>
          </a:p>
          <a:p>
            <a:pPr indent="0" marL="0">
              <a:lnSpc>
                <a:spcPct val="100000"/>
              </a:lnSpc>
              <a:buNone/>
            </a:pPr>
            <a:r>
              <a:rPr lang="en-US" sz="1800" dirty="0">
                <a:solidFill>
                  <a:srgbClr val="1F2933"/>
                </a:solidFill>
              </a:rPr>
              <a:t>算观察期。募集资金投资项目实施发生重大变化且依法被视为或被</a:t>
            </a:r>
            <a:endParaRPr lang="en-US" sz="1800" dirty="0"/>
          </a:p>
          <a:p>
            <a:pPr indent="0" marL="0">
              <a:lnSpc>
                <a:spcPct val="100000"/>
              </a:lnSpc>
              <a:buNone/>
            </a:pPr>
            <a:r>
              <a:rPr lang="en-US" sz="1800" dirty="0">
                <a:solidFill>
                  <a:srgbClr val="1F2933"/>
                </a:solidFill>
              </a:rPr>
              <a:t>监管认定改变用途时，有一次附加回售权。</a:t>
            </a:r>
            <a:endParaRPr lang="en-US" sz="1800" dirty="0"/>
          </a:p>
          <a:p>
            <a:pPr indent="0" marL="0">
              <a:lnSpc>
                <a:spcPct val="100000"/>
              </a:lnSpc>
              <a:buNone/>
            </a:pPr>
            <a:r>
              <a:rPr lang="en-US" sz="1800" dirty="0">
                <a:solidFill>
                  <a:srgbClr val="1F2933"/>
                </a:solidFill>
              </a:rPr>
              <a:t>到期后五个交易日内按票面面值115%赎回未转股债券，含最后</a:t>
            </a:r>
            <a:endParaRPr lang="en-US" sz="1800" dirty="0"/>
          </a:p>
          <a:p>
            <a:pPr indent="0" marL="0">
              <a:lnSpc>
                <a:spcPct val="100000"/>
              </a:lnSpc>
              <a:buNone/>
            </a:pPr>
            <a:r>
              <a:rPr lang="en-US" sz="1800" dirty="0">
                <a:solidFill>
                  <a:srgbClr val="1F2933"/>
                </a:solidFill>
              </a:rPr>
              <a:t>一期利息。转股期内连续三十个交易日至少十五日收盘价不低于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当期转股价130%，或未转股余额不足3000万元，发行人可</a:t>
            </a:r>
            <a:endParaRPr lang="en-US" sz="1800" dirty="0"/>
          </a:p>
          <a:p>
            <a:pPr indent="0" marL="0">
              <a:lnSpc>
                <a:spcPct val="100000"/>
              </a:lnSpc>
              <a:buNone/>
            </a:pPr>
            <a:r>
              <a:rPr lang="en-US" sz="1800" dirty="0">
                <a:solidFill>
                  <a:srgbClr val="1F2933"/>
                </a:solidFill>
              </a:rPr>
              <a:t>按面值加应计利息赎回。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a:t>
            </a:r>
            <a:endParaRPr lang="en-US" sz="1800" dirty="0"/>
          </a:p>
          <a:p>
            <a:pPr indent="0" marL="0">
              <a:lnSpc>
                <a:spcPct val="100000"/>
              </a:lnSpc>
              <a:buNone/>
            </a:pPr>
            <a:r>
              <a:rPr lang="en-US" sz="1800" dirty="0">
                <a:solidFill>
                  <a:srgbClr val="1F2933"/>
                </a:solidFill>
              </a:rPr>
              <a:t>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 年报第95页称募投实施已提升盈利、稳定经营现金及</a:t>
            </a:r>
            <a:endParaRPr lang="en-US" sz="1800" dirty="0"/>
          </a:p>
          <a:p>
            <a:pPr indent="0" marL="0">
              <a:lnSpc>
                <a:spcPct val="100000"/>
              </a:lnSpc>
              <a:buNone/>
            </a:pPr>
            <a:r>
              <a:rPr lang="en-US" sz="1800" dirty="0">
                <a:solidFill>
                  <a:srgbClr val="1F2933"/>
                </a:solidFill>
              </a:rPr>
              <a:t>自有资金和融资可支付回售/赎回/到期本息；与上述实际投入、</a:t>
            </a:r>
            <a:endParaRPr lang="en-US" sz="1800" dirty="0"/>
          </a:p>
          <a:p>
            <a:pPr indent="0" marL="0">
              <a:lnSpc>
                <a:spcPct val="100000"/>
              </a:lnSpc>
              <a:buNone/>
            </a:pPr>
            <a:r>
              <a:rPr lang="en-US" sz="1800" dirty="0">
                <a:solidFill>
                  <a:srgbClr val="1F2933"/>
                </a:solidFill>
              </a:rPr>
              <a:t>延期和资金恢复条件对照，该主张尚不能替代按法人及付款日验证</a:t>
            </a:r>
            <a:endParaRPr lang="en-US" sz="1800" dirty="0"/>
          </a:p>
          <a:p>
            <a:pPr indent="0" marL="0">
              <a:lnSpc>
                <a:spcPct val="100000"/>
              </a:lnSpc>
              <a:buNone/>
            </a:pPr>
            <a:r>
              <a:rPr lang="en-US" sz="1800" dirty="0">
                <a:solidFill>
                  <a:srgbClr val="1F2933"/>
                </a:solidFill>
              </a:rPr>
              <a:t>的偿债来源，投入比例也不能作为项目利润或完工率的反证。 第</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83页四项建设/升级项目当期及累计效益均明列零，是对项目</a:t>
            </a:r>
            <a:endParaRPr lang="en-US" sz="1800" dirty="0"/>
          </a:p>
          <a:p>
            <a:pPr indent="0" marL="0">
              <a:lnSpc>
                <a:spcPct val="100000"/>
              </a:lnSpc>
              <a:buNone/>
            </a:pPr>
            <a:r>
              <a:rPr lang="en-US" sz="1800" dirty="0">
                <a:solidFill>
                  <a:srgbClr val="1F2933"/>
                </a:solidFill>
              </a:rPr>
              <a:t>贡献的直接披露；补流项目及全部资金用途的影响范围不同，不能</a:t>
            </a:r>
            <a:endParaRPr lang="en-US" sz="1800" dirty="0"/>
          </a:p>
          <a:p>
            <a:pPr indent="0" marL="0">
              <a:lnSpc>
                <a:spcPct val="100000"/>
              </a:lnSpc>
              <a:buNone/>
            </a:pPr>
            <a:r>
              <a:rPr lang="en-US" sz="1800" dirty="0">
                <a:solidFill>
                  <a:srgbClr val="1F2933"/>
                </a:solidFill>
              </a:rPr>
              <a:t>据此认定上述总体主张虚假，但新增项目盈利尚未由该表支持。需</a:t>
            </a:r>
            <a:endParaRPr lang="en-US" sz="1800" dirty="0"/>
          </a:p>
          <a:p>
            <a:pPr indent="0" marL="0">
              <a:lnSpc>
                <a:spcPct val="100000"/>
              </a:lnSpc>
              <a:buNone/>
            </a:pPr>
            <a:r>
              <a:rPr lang="en-US" sz="1800" dirty="0">
                <a:solidFill>
                  <a:srgbClr val="1F2933"/>
                </a:solidFill>
              </a:rPr>
              <a:t>说明具体收益、时点及法人并与现金预算衔接。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2025-04-24批准将安徽滁州、福建三明、重庆长寿扩产</a:t>
            </a:r>
            <a:endParaRPr lang="en-US" sz="1800" dirty="0"/>
          </a:p>
          <a:p>
            <a:pPr indent="0" marL="0">
              <a:lnSpc>
                <a:spcPct val="100000"/>
              </a:lnSpc>
              <a:buNone/>
            </a:pPr>
            <a:r>
              <a:rPr lang="en-US" sz="1800" dirty="0">
                <a:solidFill>
                  <a:srgbClr val="1F2933"/>
                </a:solidFill>
              </a:rPr>
              <a:t>及智能化升级四项预定可使用日期均延至2028-12-31。</a:t>
            </a:r>
            <a:endParaRPr lang="en-US" sz="1800" dirty="0"/>
          </a:p>
          <a:p>
            <a:pPr indent="0" marL="0">
              <a:lnSpc>
                <a:spcPct val="100000"/>
              </a:lnSpc>
              <a:buNone/>
            </a:pPr>
            <a:r>
              <a:rPr lang="en-US" sz="1800" dirty="0">
                <a:solidFill>
                  <a:srgbClr val="1F2933"/>
                </a:solidFill>
              </a:rPr>
              <a:t>披露原因为下游需求/业务增长不及预期及工艺升级；称实施</a:t>
            </a:r>
            <a:endParaRPr lang="en-US" sz="1800" dirty="0"/>
          </a:p>
          <a:p>
            <a:pPr indent="0" marL="0">
              <a:lnSpc>
                <a:spcPct val="100000"/>
              </a:lnSpc>
              <a:buNone/>
            </a:pPr>
            <a:r>
              <a:rPr lang="en-US" sz="1800" dirty="0">
                <a:solidFill>
                  <a:srgbClr val="1F2933"/>
                </a:solidFill>
              </a:rPr>
              <a:t>主体、方式、建设内容、用途及规模未变、项目可行性无重大</a:t>
            </a:r>
            <a:endParaRPr lang="en-US" sz="1800" dirty="0"/>
          </a:p>
          <a:p>
            <a:pPr indent="0" marL="0">
              <a:lnSpc>
                <a:spcPct val="100000"/>
              </a:lnSpc>
              <a:buNone/>
            </a:pPr>
            <a:r>
              <a:rPr lang="en-US" sz="1800" dirty="0">
                <a:solidFill>
                  <a:srgbClr val="1F2933"/>
                </a:solidFill>
              </a:rPr>
              <a:t>变化，不存在变相改变用途。</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a:t>
            </a:r>
            <a:endParaRPr lang="en-US" sz="1800" dirty="0"/>
          </a:p>
          <a:p>
            <a:pPr indent="0" marL="0">
              <a:lnSpc>
                <a:spcPct val="100000"/>
              </a:lnSpc>
              <a:buNone/>
            </a:pPr>
            <a:r>
              <a:rPr lang="en-US" sz="1800" dirty="0">
                <a:solidFill>
                  <a:srgbClr val="1F2933"/>
                </a:solidFill>
              </a:rPr>
              <a:t>限制。若真实触发且持有人依法申报，现金额为被回售面值B加B×当年票息i×计息日数t/365，</a:t>
            </a:r>
            <a:endParaRPr lang="en-US" sz="1800" dirty="0"/>
          </a:p>
          <a:p>
            <a:pPr indent="0" marL="0">
              <a:lnSpc>
                <a:spcPct val="100000"/>
              </a:lnSpc>
              <a:buNone/>
            </a:pPr>
            <a:r>
              <a:rPr lang="en-US" sz="1800" dirty="0">
                <a:solidFill>
                  <a:srgbClr val="1F2933"/>
                </a:solidFill>
              </a:rPr>
              <a:t>替换该部分之后票息和到期兑付，不把115%到期价加在回售价上。并须核公告、申报窗口、有效行权</a:t>
            </a:r>
            <a:endParaRPr lang="en-US" sz="1800" dirty="0"/>
          </a:p>
          <a:p>
            <a:pPr indent="0" marL="0">
              <a:lnSpc>
                <a:spcPct val="100000"/>
              </a:lnSpc>
              <a:buNone/>
            </a:pPr>
            <a:r>
              <a:rPr lang="en-US" sz="1800" dirty="0">
                <a:solidFill>
                  <a:srgbClr val="1F2933"/>
                </a:solidFill>
              </a:rPr>
              <a:t>及实际面值；缺签署协议不能凭会议条款推定交叉违约或自动加速。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a:p>
            <a:pPr indent="0" marL="0">
              <a:lnSpc>
                <a:spcPct val="100000"/>
              </a:lnSpc>
              <a:buNone/>
            </a:pPr>
            <a:r>
              <a:rPr lang="en-US" sz="1800" dirty="0">
                <a:solidFill>
                  <a:srgbClr val="1F2933"/>
                </a:solidFill>
              </a:rPr>
              <a:t>截至2025年末累计使用募集资金38.82%、项目进度延迟；保荐机构提示如未来可行性或募投</a:t>
            </a:r>
            <a:endParaRPr lang="en-US" sz="1800" dirty="0"/>
          </a:p>
          <a:p>
            <a:pPr indent="0" marL="0">
              <a:lnSpc>
                <a:spcPct val="100000"/>
              </a:lnSpc>
              <a:buNone/>
            </a:pPr>
            <a:r>
              <a:rPr lang="en-US" sz="1800" dirty="0">
                <a:solidFill>
                  <a:srgbClr val="1F2933"/>
                </a:solidFill>
              </a:rPr>
              <a:t>项目变化，须履行审批和披露。2025年度存在延期和临时补流转入一般户事项。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a:t>
            </a:r>
            <a:endParaRPr lang="en-US" sz="1800" dirty="0"/>
          </a:p>
          <a:p>
            <a:pPr indent="0" marL="0">
              <a:lnSpc>
                <a:spcPct val="100000"/>
              </a:lnSpc>
              <a:buNone/>
            </a:pPr>
            <a:r>
              <a:rPr lang="en-US" sz="1800" dirty="0">
                <a:solidFill>
                  <a:srgbClr val="1F2933"/>
                </a:solidFill>
              </a:rPr>
              <a:t>现金且九日净变动、调度扣减、其他到期付款及营运底额均为零，</a:t>
            </a:r>
            <a:endParaRPr lang="en-US" sz="1800" dirty="0"/>
          </a:p>
          <a:p>
            <a:pPr indent="0" marL="0">
              <a:lnSpc>
                <a:spcPct val="100000"/>
              </a:lnSpc>
              <a:buNone/>
            </a:pPr>
            <a:r>
              <a:rPr lang="en-US" sz="1800" dirty="0">
                <a:solidFill>
                  <a:srgbClr val="1F2933"/>
                </a:solidFill>
              </a:rPr>
              <a:t>可恢复用途的静态容量参照为7.03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恢复专户先减少可自由使用资金，并不必然减少集团总现金或偿还</a:t>
            </a:r>
            <a:endParaRPr lang="en-US" sz="1800" dirty="0"/>
          </a:p>
          <a:p>
            <a:pPr indent="0" marL="0">
              <a:lnSpc>
                <a:spcPct val="100000"/>
              </a:lnSpc>
              <a:buNone/>
            </a:pPr>
            <a:r>
              <a:rPr lang="en-US" sz="1800" dirty="0">
                <a:solidFill>
                  <a:srgbClr val="1F2933"/>
                </a:solidFill>
              </a:rPr>
              <a:t>一笔外部债务。项目付款、预留及归还记录按同一资金流去重；</a:t>
            </a:r>
            <a:endParaRPr lang="en-US" sz="1800" dirty="0"/>
          </a:p>
          <a:p>
            <a:pPr indent="0" marL="0">
              <a:lnSpc>
                <a:spcPct val="100000"/>
              </a:lnSpc>
              <a:buNone/>
            </a:pPr>
            <a:r>
              <a:rPr lang="en-US" sz="1800" dirty="0">
                <a:solidFill>
                  <a:srgbClr val="1F2933"/>
                </a:solidFill>
              </a:rPr>
              <a:t>不能将本事件再叠加到已扣的6.5/13亿元用途预留。须将</a:t>
            </a:r>
            <a:endParaRPr lang="en-US" sz="1800" dirty="0"/>
          </a:p>
          <a:p>
            <a:pPr indent="0" marL="0">
              <a:lnSpc>
                <a:spcPct val="100000"/>
              </a:lnSpc>
              <a:buNone/>
            </a:pPr>
            <a:r>
              <a:rPr lang="en-US" sz="1800" dirty="0">
                <a:solidFill>
                  <a:srgbClr val="1F2933"/>
                </a:solidFill>
              </a:rPr>
              <a:t>年末条件集团现金桥接到归还义务主体在事件日可调度金额，加减</a:t>
            </a:r>
            <a:endParaRPr lang="en-US" sz="1800" dirty="0"/>
          </a:p>
          <a:p>
            <a:pPr indent="0" marL="0">
              <a:lnSpc>
                <a:spcPct val="100000"/>
              </a:lnSpc>
              <a:buNone/>
            </a:pPr>
            <a:r>
              <a:rPr lang="en-US" sz="1800" dirty="0">
                <a:solidFill>
                  <a:srgbClr val="1F2933"/>
                </a:solidFill>
              </a:rPr>
              <a:t>九日有证据收支及其他支付，不能把合并余额当母公司已到手</a:t>
            </a:r>
            <a:endParaRPr lang="en-US" sz="1800" dirty="0"/>
          </a:p>
          <a:p>
            <a:pPr indent="0" marL="0">
              <a:lnSpc>
                <a:spcPct val="100000"/>
              </a:lnSpc>
              <a:buNone/>
            </a:pPr>
            <a:r>
              <a:rPr lang="en-US" sz="1800" dirty="0">
                <a:solidFill>
                  <a:srgbClr val="1F2933"/>
                </a:solidFill>
              </a:rPr>
              <a:t>资金。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应付债券期初2243045749.84元；按面值计提利息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a:t>
            </a:r>
            <a:endParaRPr lang="en-US" sz="1800" dirty="0"/>
          </a:p>
          <a:p>
            <a:pPr indent="0" marL="0">
              <a:lnSpc>
                <a:spcPct val="100000"/>
              </a:lnSpc>
              <a:buNone/>
            </a:pPr>
            <a:r>
              <a:rPr lang="en-US" sz="1800" dirty="0">
                <a:solidFill>
                  <a:srgbClr val="1F2933"/>
                </a:solidFill>
              </a:rPr>
              <a:t>元；期末2313383227.05元；是否违约栏为否。</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a:t>
            </a:r>
            <a:endParaRPr lang="en-US" sz="1800" dirty="0"/>
          </a:p>
          <a:p>
            <a:pPr indent="0" marL="0">
              <a:lnSpc>
                <a:spcPct val="100000"/>
              </a:lnSpc>
              <a:buNone/>
            </a:pPr>
            <a:r>
              <a:rPr lang="en-US" sz="1800" dirty="0">
                <a:solidFill>
                  <a:srgbClr val="1F2933"/>
                </a:solidFill>
              </a:rPr>
              <a:t>线。</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a:t>
            </a:r>
            <a:endParaRPr lang="en-US" sz="1800" dirty="0"/>
          </a:p>
          <a:p>
            <a:pPr indent="0" marL="0">
              <a:lnSpc>
                <a:spcPct val="100000"/>
              </a:lnSpc>
              <a:buNone/>
            </a:pPr>
            <a:r>
              <a:rPr lang="en-US" sz="1800" dirty="0">
                <a:solidFill>
                  <a:srgbClr val="1F2933"/>
                </a:solidFill>
              </a:rPr>
              <a:t>时，才将相关提前支付列为已触发义务。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受托报告指出临时补流从专户转入一般户后与其他资金混同，要求</a:t>
            </a:r>
            <a:endParaRPr lang="en-US" sz="1800" dirty="0"/>
          </a:p>
          <a:p>
            <a:pPr indent="0" marL="0">
              <a:lnSpc>
                <a:spcPct val="100000"/>
              </a:lnSpc>
              <a:buNone/>
            </a:pPr>
            <a:r>
              <a:rPr lang="en-US" sz="1800" dirty="0">
                <a:solidFill>
                  <a:srgbClr val="1F2933"/>
                </a:solidFill>
              </a:rPr>
              <a:t>单独管理，并记录旧一期资金全部归还。一般履约意见不消除已</a:t>
            </a:r>
            <a:endParaRPr lang="en-US" sz="1800" dirty="0"/>
          </a:p>
          <a:p>
            <a:pPr indent="0" marL="0">
              <a:lnSpc>
                <a:spcPct val="100000"/>
              </a:lnSpc>
              <a:buNone/>
            </a:pPr>
            <a:r>
              <a:rPr lang="en-US" sz="1800" dirty="0">
                <a:solidFill>
                  <a:srgbClr val="1F2933"/>
                </a:solidFill>
              </a:rPr>
              <a:t>披露管理问题。</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a:t>
            </a:r>
            <a:endParaRPr lang="en-US" sz="1800" dirty="0"/>
          </a:p>
          <a:p>
            <a:pPr indent="0" marL="0">
              <a:lnSpc>
                <a:spcPct val="100000"/>
              </a:lnSpc>
              <a:buNone/>
            </a:pPr>
            <a:r>
              <a:rPr lang="en-US" sz="1800" dirty="0">
                <a:solidFill>
                  <a:srgbClr val="1F2933"/>
                </a:solidFill>
              </a:rPr>
              <a:t>分配；北新窄口径CCE之外还有较大结构性存款。三家以相同明示融资类别比较，但排除长期应付款等</a:t>
            </a:r>
            <a:endParaRPr lang="en-US" sz="1800" dirty="0"/>
          </a:p>
          <a:p>
            <a:pPr indent="0" marL="0">
              <a:lnSpc>
                <a:spcPct val="100000"/>
              </a:lnSpc>
              <a:buNone/>
            </a:pPr>
            <a:r>
              <a:rPr lang="en-US" sz="1800" dirty="0">
                <a:solidFill>
                  <a:srgbClr val="1F2933"/>
                </a:solidFill>
              </a:rPr>
              <a:t>后并非方法全部债务，费用化利息倍数也不是全部利息倍数；本案评级分档仍采用自己的完整方法口径。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公司列示全国生产基地，31个省市3200多家经销商；2025研发人员378人，研发投入</a:t>
            </a:r>
            <a:endParaRPr lang="en-US" sz="1800" dirty="0"/>
          </a:p>
          <a:p>
            <a:pPr indent="0" marL="0">
              <a:lnSpc>
                <a:spcPct val="100000"/>
              </a:lnSpc>
              <a:buNone/>
            </a:pPr>
            <a:r>
              <a:rPr lang="en-US" sz="1800" dirty="0">
                <a:solidFill>
                  <a:srgbClr val="1F2933"/>
                </a:solidFill>
              </a:rPr>
              <a:t>252838924.63元，占收入4.18%，研发资本化为零；有效专利908项。</a:t>
            </a:r>
            <a:endParaRPr lang="en-US" sz="1800" dirty="0"/>
          </a:p>
          <a:p>
            <a:pPr indent="0" marL="0">
              <a:lnSpc>
                <a:spcPct val="100000"/>
              </a:lnSpc>
              <a:buNone/>
            </a:pPr>
            <a:r>
              <a:rPr lang="en-US" sz="1800" dirty="0">
                <a:solidFill>
                  <a:srgbClr val="1F2933"/>
                </a:solidFill>
              </a:rPr>
              <a:t>新增基金、顺控保理丧失控制、横琴同控收购、科安顺少数股权；历史丰泽失控/恢复控制导致历史可比</a:t>
            </a:r>
            <a:endParaRPr lang="en-US" sz="1800" dirty="0"/>
          </a:p>
          <a:p>
            <a:pPr indent="0" marL="0">
              <a:lnSpc>
                <a:spcPct val="100000"/>
              </a:lnSpc>
              <a:buNone/>
            </a:pPr>
            <a:r>
              <a:rPr lang="en-US" sz="1800" dirty="0">
                <a:solidFill>
                  <a:srgbClr val="1F2933"/>
                </a:solidFill>
              </a:rPr>
              <a:t>性限制。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 第100页明确财报审计意见不涵盖年报其他信息，亦不对其发表鉴证结论；审计师称就其他信息</a:t>
            </a:r>
            <a:endParaRPr lang="en-US" sz="1800" dirty="0"/>
          </a:p>
          <a:p>
            <a:pPr indent="0" marL="0">
              <a:lnSpc>
                <a:spcPct val="100000"/>
              </a:lnSpc>
              <a:buNone/>
            </a:pPr>
            <a:r>
              <a:rPr lang="en-US" sz="1800" dirty="0">
                <a:solidFill>
                  <a:srgbClr val="1F2933"/>
                </a:solidFill>
              </a:rPr>
              <a:t>无事项需报告，不等于对第95页未来偿债安排作出保证。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a:t>
            </a:r>
            <a:endParaRPr lang="en-US" sz="1600" dirty="0"/>
          </a:p>
          <a:p>
            <a:pPr indent="0" marL="0">
              <a:lnSpc>
                <a:spcPct val="100000"/>
              </a:lnSpc>
              <a:buNone/>
            </a:pPr>
            <a:r>
              <a:rPr lang="en-US" sz="1600" dirty="0">
                <a:solidFill>
                  <a:srgbClr val="1F2933"/>
                </a:solidFill>
              </a:rPr>
              <a:t>nominal_to_consolidated_equity_bridge_v1；截至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ks_r_e_business, ks_r_e_history, </a:t>
            </a:r>
            <a:endParaRPr lang="en-US" sz="1600" dirty="0"/>
          </a:p>
          <a:p>
            <a:pPr indent="0" marL="0">
              <a:lnSpc>
                <a:spcPct val="100000"/>
              </a:lnSpc>
              <a:buNone/>
            </a:pPr>
            <a:r>
              <a:rPr lang="en-US" sz="1600" dirty="0">
                <a:solidFill>
                  <a:srgbClr val="1F2933"/>
                </a:solidFill>
              </a:rPr>
              <a:t>ks_b_e_operations, ks_b_e_ownership；完整输入记录见备注。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假设：原文营收区间[50,120)亿元、净周期(50,200]天分别给出[4,5)分；4.5只是明确的</a:t>
            </a:r>
            <a:endParaRPr lang="en-US" sz="1600" dirty="0"/>
          </a:p>
          <a:p>
            <a:pPr indent="0" marL="0">
              <a:lnSpc>
                <a:spcPct val="100000"/>
              </a:lnSpc>
              <a:buNone/>
            </a:pPr>
            <a:r>
              <a:rPr lang="en-US" sz="1600" dirty="0">
                <a:solidFill>
                  <a:srgbClr val="1F2933"/>
                </a:solidFill>
              </a:rPr>
              <a:t>区间代表值，不声称机构内部插值。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 ks_credit_e_facilities；完整输入</a:t>
            </a:r>
            <a:endParaRPr lang="en-US" sz="1600" dirty="0"/>
          </a:p>
          <a:p>
            <a:pPr indent="0" marL="0">
              <a:lnSpc>
                <a:spcPct val="100000"/>
              </a:lnSpc>
              <a:buNone/>
            </a:pPr>
            <a:r>
              <a:rPr lang="en-US" sz="1600" dirty="0">
                <a:solidFill>
                  <a:srgbClr val="1F2933"/>
                </a:solidFill>
              </a:rPr>
              <a:t>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a:p>
            <a:pPr indent="0" marL="0">
              <a:lnSpc>
                <a:spcPct val="100000"/>
              </a:lnSpc>
              <a:buNone/>
            </a:pPr>
            <a:r>
              <a:rPr lang="en-US" sz="1600" dirty="0">
                <a:solidFill>
                  <a:srgbClr val="1F2933"/>
                </a:solidFill>
              </a:rPr>
              <a:t>满足原文两年例外。</a:t>
            </a:r>
            <a:endParaRPr lang="en-US" sz="16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a:t>
            </a:r>
            <a:endParaRPr lang="en-US" sz="1600" dirty="0"/>
          </a:p>
          <a:p>
            <a:pPr indent="0" marL="0">
              <a:lnSpc>
                <a:spcPct val="100000"/>
              </a:lnSpc>
              <a:buNone/>
            </a:pPr>
            <a:r>
              <a:rPr lang="en-US" sz="1600" dirty="0">
                <a:solidFill>
                  <a:srgbClr val="1F2933"/>
                </a:solidFill>
              </a:rPr>
              <a:t>扣分。再融资判断衡量实际融资资源与约束，不承诺未来续贷。</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a:t>
            </a:r>
            <a:endParaRPr lang="en-US" sz="1600" dirty="0"/>
          </a:p>
          <a:p>
            <a:pPr indent="0" marL="0">
              <a:lnSpc>
                <a:spcPct val="100000"/>
              </a:lnSpc>
              <a:buNone/>
            </a:pPr>
            <a:r>
              <a:rPr lang="en-US" sz="1600" dirty="0">
                <a:solidFill>
                  <a:srgbClr val="1F2933"/>
                </a:solidFill>
              </a:rPr>
              <a:t>验证。资产质量和再融资分值为明确研究判断；本次量化区间边界固定这些定性分值，不伪装成全部判断的穷尽</a:t>
            </a:r>
            <a:endParaRPr lang="en-US" sz="1600" dirty="0"/>
          </a:p>
          <a:p>
            <a:pPr indent="0" marL="0">
              <a:lnSpc>
                <a:spcPct val="100000"/>
              </a:lnSpc>
              <a:buNone/>
            </a:pPr>
            <a:r>
              <a:rPr lang="en-US" sz="1600" dirty="0">
                <a:solidFill>
                  <a:srgbClr val="1F2933"/>
                </a:solidFill>
              </a:rPr>
              <a:t>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限制：年报未用银行借款10.8亿元与跟踪报告未用授信47亿元尚未对齐。原2024/2025再融资5.0</a:t>
            </a:r>
            <a:endParaRPr lang="en-US" sz="1600" dirty="0"/>
          </a:p>
          <a:p>
            <a:pPr indent="0" marL="0">
              <a:lnSpc>
                <a:spcPct val="100000"/>
              </a:lnSpc>
              <a:buNone/>
            </a:pPr>
            <a:r>
              <a:rPr lang="en-US" sz="1600" dirty="0">
                <a:solidFill>
                  <a:srgbClr val="1F2933"/>
                </a:solidFill>
              </a:rPr>
              <a:t>/4.5及加权4.65仅保留为条件分支，不能因额度总数或一季度有借款就视为已验证；差额原因和可提款条件</a:t>
            </a:r>
            <a:endParaRPr lang="en-US" sz="1600" dirty="0"/>
          </a:p>
          <a:p>
            <a:pPr indent="0" marL="0">
              <a:lnSpc>
                <a:spcPct val="100000"/>
              </a:lnSpc>
              <a:buNone/>
            </a:pPr>
            <a:r>
              <a:rPr lang="en-US" sz="1600" dirty="0">
                <a:solidFill>
                  <a:srgbClr val="1F2933"/>
                </a:solidFill>
              </a:rPr>
              <a:t>须核，未用额度未计入已落实现金。</a:t>
            </a:r>
            <a:endParaRPr lang="en-US" sz="16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ks_a_e_parent, ks_d_e_issue_coupon, </a:t>
            </a:r>
            <a:endParaRPr lang="en-US" sz="1600" dirty="0"/>
          </a:p>
          <a:p>
            <a:pPr indent="0" marL="0">
              <a:lnSpc>
                <a:spcPct val="100000"/>
              </a:lnSpc>
              <a:buNone/>
            </a:pPr>
            <a:r>
              <a:rPr lang="en-US" sz="1600" dirty="0">
                <a:solidFill>
                  <a:srgbClr val="1F2933"/>
                </a:solidFill>
              </a:rPr>
              <a:t>ks_r_e_issue；完整输入记录见备注。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假设：现金、短期义务与面值同取2025-12-31；冻结本金到期比较为条件需求，非2029实际余额。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限制：母公司短借和一年内非流动负债仍为账面库存代理，不能把含息或混合项目全称银行本金；本表不证明付款</a:t>
            </a:r>
            <a:endParaRPr lang="en-US" sz="1600" dirty="0"/>
          </a:p>
          <a:p>
            <a:pPr indent="0" marL="0">
              <a:lnSpc>
                <a:spcPct val="100000"/>
              </a:lnSpc>
              <a:buNone/>
            </a:pPr>
            <a:r>
              <a:rPr lang="en-US" sz="1600" dirty="0">
                <a:solidFill>
                  <a:srgbClr val="1F2933"/>
                </a:solidFill>
              </a:rPr>
              <a:t>期限。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branch：历史30/70代表值研究分支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individual：不另加减档，条件与风险逐项列明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branch：历史金额先加权对照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a:t>
            </a:r>
            <a:endParaRPr lang="en-US" sz="1600" dirty="0"/>
          </a:p>
          <a:p>
            <a:pPr indent="0" marL="0">
              <a:lnSpc>
                <a:spcPct val="100000"/>
              </a:lnSpc>
              <a:buNone/>
            </a:pPr>
            <a:r>
              <a:rPr lang="en-US" sz="1600" dirty="0">
                <a:solidFill>
                  <a:srgbClr val="1F2933"/>
                </a:solidFill>
              </a:rPr>
              <a:t>事实、合同宽限、补救与适用困境规则重新定级，不用负面展望替代即时行动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branch：预测经营链：Q1减值延续、材料不涨价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condition：2026Q1实际+未来季节锚98%、公开税锚、利息补助同季确认、三年新增贷款按需到</a:t>
            </a:r>
            <a:endParaRPr lang="en-US" sz="1600" dirty="0"/>
          </a:p>
          <a:p>
            <a:pPr indent="0" marL="0">
              <a:lnSpc>
                <a:spcPct val="100000"/>
              </a:lnSpc>
              <a:buNone/>
            </a:pPr>
            <a:r>
              <a:rPr lang="en-US" sz="1600" dirty="0">
                <a:solidFill>
                  <a:srgbClr val="1F2933"/>
                </a:solidFill>
              </a:rPr>
              <a:t>位；20/30/50金额适配结果，非已证实改善或上调。</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condition：与无涨价相同条件，材料成本经采购/AP、现金、融资利息、利润权益进入因素；实际发行</a:t>
            </a:r>
            <a:endParaRPr lang="en-US" sz="1600" dirty="0"/>
          </a:p>
          <a:p>
            <a:pPr indent="0" marL="0">
              <a:lnSpc>
                <a:spcPct val="100000"/>
              </a:lnSpc>
              <a:buNone/>
            </a:pPr>
            <a:r>
              <a:rPr lang="en-US" sz="1600" dirty="0">
                <a:solidFill>
                  <a:srgbClr val="1F2933"/>
                </a:solidFill>
              </a:rPr>
              <a:t>人资金及用途仍待核。</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branch：预测融资累计上限5亿元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condition：相同材料5%经营税款条件下，2027-03-31不能满足经营底线及用途准备，缺口</a:t>
            </a:r>
            <a:endParaRPr lang="en-US" sz="1600" dirty="0"/>
          </a:p>
          <a:p>
            <a:pPr indent="0" marL="0">
              <a:lnSpc>
                <a:spcPct val="100000"/>
              </a:lnSpc>
              <a:buNone/>
            </a:pPr>
            <a:r>
              <a:rPr lang="en-US" sz="1600" dirty="0">
                <a:solidFill>
                  <a:srgbClr val="1F2933"/>
                </a:solidFill>
              </a:rPr>
              <a:t>3.59975亿元，停止后续完整评级；真实偿付事件须据合同和可用资金判断。</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限制：历史BBB+/负面建议与未来条件矩阵分别展示；单一预测分支或分值上升不代表支持实际上调。</a:t>
            </a:r>
            <a:endParaRPr lang="en-US" sz="16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ks_r_peer_keshun, ks_r_peer_yuhong, </a:t>
            </a:r>
            <a:endParaRPr lang="en-US" sz="1600" dirty="0"/>
          </a:p>
          <a:p>
            <a:pPr indent="0" marL="0">
              <a:lnSpc>
                <a:spcPct val="100000"/>
              </a:lnSpc>
              <a:buNone/>
            </a:pPr>
            <a:r>
              <a:rPr lang="en-US" sz="1600" dirty="0">
                <a:solidFill>
                  <a:srgbClr val="1F2933"/>
                </a:solidFill>
              </a:rPr>
              <a:t>ks_r_peer_bnbm；完整输入记录见备注。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假设：统一定义及原始输入按已运行同行底稿保留；不用不同机构口径拼接得分。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限制：本底稿只补充增长、盈利、杠杆和长短期偿债四方面的代表性同行观察，不计算行业均值、市场份额或机构评</a:t>
            </a:r>
            <a:endParaRPr lang="en-US" sz="1600" dirty="0"/>
          </a:p>
          <a:p>
            <a:pPr indent="0" marL="0">
              <a:lnSpc>
                <a:spcPct val="100000"/>
              </a:lnSpc>
              <a:buNone/>
            </a:pPr>
            <a:r>
              <a:rPr lang="en-US" sz="1600" dirty="0">
                <a:solidFill>
                  <a:srgbClr val="1F2933"/>
                </a:solidFill>
              </a:rPr>
              <a:t>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限制：全部原值为人民币元，金额字符串保留小数；比较表金额转亿元，比例为百分比，覆盖为倍，周转为天。</a:t>
            </a:r>
            <a:endParaRPr lang="en-US" sz="1600" dirty="0"/>
          </a:p>
          <a:p>
            <a:pPr indent="0" marL="0">
              <a:lnSpc>
                <a:spcPct val="100000"/>
              </a:lnSpc>
              <a:buNone/>
            </a:pPr>
            <a:r>
              <a:rPr lang="en-US" sz="1600" dirty="0">
                <a:solidFill>
                  <a:srgbClr val="1F2933"/>
                </a:solidFill>
              </a:rPr>
              <a:t>2025与2024均为年度流量或各年12月31日存量。</a:t>
            </a:r>
            <a:endParaRPr lang="en-US" sz="16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限制：简式融资余额包含列示银行借款、债券含短融、租赁、应付票据及已识别保理/拆借本金和表内利息；不包含</a:t>
            </a:r>
            <a:endParaRPr lang="en-US" sz="1600" dirty="0"/>
          </a:p>
          <a:p>
            <a:pPr indent="0" marL="0">
              <a:lnSpc>
                <a:spcPct val="100000"/>
              </a:lnSpc>
              <a:buNone/>
            </a:pPr>
            <a:r>
              <a:rPr lang="en-US" sz="1600" dirty="0">
                <a:solidFill>
                  <a:srgbClr val="1F2933"/>
                </a:solidFill>
              </a:rPr>
              <a:t>长期应付款、一般AP、股份回购义务和未确认为融资的其他负债。三个公司采用同一类别定义；因此不等同各机构</a:t>
            </a:r>
            <a:endParaRPr lang="en-US" sz="1600" dirty="0"/>
          </a:p>
          <a:p>
            <a:pPr indent="0" marL="0">
              <a:lnSpc>
                <a:spcPct val="100000"/>
              </a:lnSpc>
              <a:buNone/>
            </a:pPr>
            <a:r>
              <a:rPr lang="en-US" sz="1600" dirty="0">
                <a:solidFill>
                  <a:srgbClr val="1F2933"/>
                </a:solidFill>
              </a:rPr>
              <a:t>全部债务或已核实的经济融资负债。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限制：长期应付款全部单列排除以保持列报可比：东方雨虹2025/2024非流动融资租赁</a:t>
            </a:r>
            <a:endParaRPr lang="en-US" sz="1600" dirty="0"/>
          </a:p>
          <a:p>
            <a:pPr indent="0" marL="0">
              <a:lnSpc>
                <a:spcPct val="100000"/>
              </a:lnSpc>
              <a:buNone/>
            </a:pPr>
            <a:r>
              <a:rPr lang="en-US" sz="1600" dirty="0">
                <a:solidFill>
                  <a:srgbClr val="1F2933"/>
                </a:solidFill>
              </a:rPr>
              <a:t>49,640,000/51,100,000元，2025当前长期应付款32,155,000元分拆不足；科</a:t>
            </a:r>
            <a:endParaRPr lang="en-US" sz="1600" dirty="0"/>
          </a:p>
          <a:p>
            <a:pPr indent="0" marL="0">
              <a:lnSpc>
                <a:spcPct val="100000"/>
              </a:lnSpc>
              <a:buNone/>
            </a:pPr>
            <a:r>
              <a:rPr lang="en-US" sz="1600" dirty="0">
                <a:solidFill>
                  <a:srgbClr val="1F2933"/>
                </a:solidFill>
              </a:rPr>
              <a:t>顺2024当前融资租赁17,792,864.10元；北新长期应付款明细为人员项目与国家拨款。它们不因</a:t>
            </a:r>
            <a:endParaRPr lang="en-US" sz="1600" dirty="0"/>
          </a:p>
          <a:p>
            <a:pPr indent="0" marL="0">
              <a:lnSpc>
                <a:spcPct val="100000"/>
              </a:lnSpc>
              <a:buNone/>
            </a:pPr>
            <a:r>
              <a:rPr lang="en-US" sz="1600" dirty="0">
                <a:solidFill>
                  <a:srgbClr val="1F2933"/>
                </a:solidFill>
              </a:rPr>
              <a:t>排除而免偿，相关融资余额比率会比全口径略乐观。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a:t>
            </a:r>
            <a:endParaRPr lang="en-US" sz="1600" dirty="0"/>
          </a:p>
          <a:p>
            <a:pPr indent="0" marL="0">
              <a:lnSpc>
                <a:spcPct val="100000"/>
              </a:lnSpc>
              <a:buNone/>
            </a:pPr>
            <a:r>
              <a:rPr lang="en-US" sz="1600" dirty="0">
                <a:solidFill>
                  <a:srgbClr val="1F2933"/>
                </a:solidFill>
              </a:rPr>
              <a:t>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ks_d_e_fund_new, ks_d_e_fund_return, </a:t>
            </a:r>
            <a:endParaRPr lang="en-US" sz="1600" dirty="0"/>
          </a:p>
          <a:p>
            <a:pPr indent="0" marL="0">
              <a:lnSpc>
                <a:spcPct val="100000"/>
              </a:lnSpc>
              <a:buNone/>
            </a:pPr>
            <a:r>
              <a:rPr lang="en-US" sz="1600" dirty="0">
                <a:solidFill>
                  <a:srgbClr val="1F2933"/>
                </a:solidFill>
              </a:rPr>
              <a:t>ks_d_l_e_parent, ks_project_e_schedule,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假设：使用现有基准现金模型的2026-12-31条件集团现金，不是已公布实际年末现金。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假设：静态测试在Δ_A=Γ=0代理起点上，另假设1月1日至12个月边界净资源变动、发行人可调度扣减、</a:t>
            </a:r>
            <a:endParaRPr lang="en-US" sz="1600" dirty="0"/>
          </a:p>
          <a:p>
            <a:pPr indent="0" marL="0">
              <a:lnSpc>
                <a:spcPct val="100000"/>
              </a:lnSpc>
              <a:buNone/>
            </a:pPr>
            <a:r>
              <a:rPr lang="en-US" sz="1600" dirty="0">
                <a:solidFill>
                  <a:srgbClr val="1F2933"/>
                </a:solidFill>
              </a:rPr>
              <a:t>其他到期支付和营运底额均为零，只形成该条件选点的静态容量，非未知范围调整下的真实上限。</a:t>
            </a:r>
            <a:endParaRPr lang="en-US" sz="16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a:t>
            </a:r>
            <a:endParaRPr lang="en-US" sz="1600" dirty="0"/>
          </a:p>
          <a:p>
            <a:pPr indent="0" marL="0">
              <a:lnSpc>
                <a:spcPct val="100000"/>
              </a:lnSpc>
              <a:buNone/>
            </a:pPr>
            <a:r>
              <a:rPr lang="en-US" sz="1600" dirty="0">
                <a:solidFill>
                  <a:srgbClr val="1F2933"/>
                </a:solidFill>
              </a:rPr>
              <a:t>点，也不证明连续12个月覆盖。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original_Q1：1471135133.66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H1_reported：3116316201.72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AR_reported：7066047632.31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AR_ref：ks_a_customerscash_2025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original_Q1：48893992.48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H1_reported：117263659.93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AR_reported：375860933.08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AR_ref：ks_a_otheropcashin_2025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original_Q1：1500131598.29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H1_reported：3030340600.46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AR_reported：5571190685.38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AR_ref：ks_a_suppliercash_2025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original_Q1：254375757.35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H1_reported：401629422.52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AR_reported：727672271.98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AR_ref：ks_a_employeecash_2025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original_Q1：58023509.17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H1_reported：175817108.19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AR_reported：301197217.77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original_Q1：89850533.42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H1_reported：186965076.93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AR_reported：523173663.02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AR_ref：ks_a_otheropcashout_2025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original_Q1：95610189.36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H1_reported：132437094.72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AR_reported：172502372.71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AR_ref：ks_a_capex_2025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材料价格、经营收现与税款贯穿融资、债务权益及评级的条件链：指标摘要</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材料+5%及Q1减值延续条件：2026 EBITDA：3.54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材料+5%及Q1减值延续条件：2026净利润：-1.28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材料+5%及Q1减值延续条件：2026经营现金流：2.37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材料+5%及Q1减值延续条件：2026末全部债务：45.08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材料+5%及Q1减值延续条件：2026末权益：38.66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材料+5%及Q1减值延续条件：2027H1累计新增贷款：12.34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ks_econ_e_material, ks_econ_e_q1, ks_a_e_ar 等；完整出处见来源附页及备注。已运行快照，全量结果与公式</a:t>
            </a:r>
            <a:endParaRPr lang="en-US" sz="1100" dirty="0"/>
          </a:p>
          <a:p>
            <a:pPr indent="0" marL="0">
              <a:lnSpc>
                <a:spcPct val="100000"/>
              </a:lnSpc>
              <a:buNone/>
            </a:pPr>
            <a:r>
              <a:rPr lang="en-US" sz="1100" dirty="0">
                <a:solidFill>
                  <a:srgbClr val="56646C"/>
                </a:solidFill>
              </a:rPr>
              <a:t>见Excel/JSON。</a:t>
            </a:r>
            <a:endParaRPr lang="en-US" sz="11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keshun_economic_financing_rating_case_v2；截至 2026</a:t>
            </a:r>
            <a:endParaRPr lang="en-US" sz="1600" dirty="0"/>
          </a:p>
          <a:p>
            <a:pPr indent="0" marL="0">
              <a:lnSpc>
                <a:spcPct val="100000"/>
              </a:lnSpc>
              <a:buNone/>
            </a:pPr>
            <a:r>
              <a:rPr lang="en-US" sz="1600" dirty="0">
                <a:solidFill>
                  <a:srgbClr val="1F2933"/>
                </a:solidFill>
              </a:rPr>
              <a:t>-06-30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ks_econ_e_material, ks_econ_e_q1, ks_a_e_ar, </a:t>
            </a:r>
            <a:endParaRPr lang="en-US" sz="1600" dirty="0"/>
          </a:p>
          <a:p>
            <a:pPr indent="0" marL="0">
              <a:lnSpc>
                <a:spcPct val="100000"/>
              </a:lnSpc>
              <a:buNone/>
            </a:pPr>
            <a:r>
              <a:rPr lang="en-US" sz="1600" dirty="0">
                <a:solidFill>
                  <a:srgbClr val="1F2933"/>
                </a:solidFill>
              </a:rPr>
              <a:t>ks_r_e_finance, ks_r_e_history, </a:t>
            </a:r>
            <a:endParaRPr lang="en-US" sz="1600" dirty="0"/>
          </a:p>
          <a:p>
            <a:pPr indent="0" marL="0">
              <a:lnSpc>
                <a:spcPct val="100000"/>
              </a:lnSpc>
              <a:buNone/>
            </a:pPr>
            <a:r>
              <a:rPr lang="en-US" sz="1600" dirty="0">
                <a:solidFill>
                  <a:srgbClr val="1F2933"/>
                </a:solidFill>
              </a:rPr>
              <a:t>ks_credit_e_facilities, ks_econ_e_cash_tax；完整输入记录见</a:t>
            </a:r>
            <a:endParaRPr lang="en-US" sz="1600" dirty="0"/>
          </a:p>
          <a:p>
            <a:pPr indent="0" marL="0">
              <a:lnSpc>
                <a:spcPct val="100000"/>
              </a:lnSpc>
              <a:buNone/>
            </a:pPr>
            <a:r>
              <a:rPr lang="en-US" sz="1600" dirty="0">
                <a:solidFill>
                  <a:srgbClr val="1F2933"/>
                </a:solidFill>
              </a:rPr>
              <a:t>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假设：截至2026-06-30；2026Q1实际加后三季预算，后续收入=季节锚×98%；集团成本/</a:t>
            </a:r>
            <a:endParaRPr lang="en-US" sz="1600" dirty="0"/>
          </a:p>
          <a:p>
            <a:pPr indent="0" marL="0">
              <a:lnSpc>
                <a:spcPct val="100000"/>
              </a:lnSpc>
              <a:buNone/>
            </a:pPr>
            <a:r>
              <a:rPr lang="en-US" sz="1600" dirty="0">
                <a:solidFill>
                  <a:srgbClr val="1F2933"/>
                </a:solidFill>
              </a:rPr>
              <a:t>OPEX结构取2025，不设提价、投资或处置收益。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假设：材料增量成本=预测收入×2025材料/集团收入×5%；增量采购等于耗用，库存数量不变；80%当季</a:t>
            </a:r>
            <a:endParaRPr lang="en-US" sz="1600" dirty="0"/>
          </a:p>
          <a:p>
            <a:pPr indent="0" marL="0">
              <a:lnSpc>
                <a:spcPct val="100000"/>
              </a:lnSpc>
              <a:buNone/>
            </a:pPr>
            <a:r>
              <a:rPr lang="en-US" sz="1600" dirty="0">
                <a:solidFill>
                  <a:srgbClr val="1F2933"/>
                </a:solidFill>
              </a:rPr>
              <a:t>付、20%次季付，未付款入应付。</a:t>
            </a:r>
            <a:endParaRPr lang="en-US" sz="16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假设：Q1与2025减值强度各自延续，不选唯一中心；FY2025折旧按日预算，Q1资本化利息=</a:t>
            </a:r>
            <a:endParaRPr lang="en-US" sz="1600" dirty="0"/>
          </a:p>
          <a:p>
            <a:pPr indent="0" marL="0">
              <a:lnSpc>
                <a:spcPct val="100000"/>
              </a:lnSpc>
              <a:buNone/>
            </a:pPr>
            <a:r>
              <a:rPr lang="en-US" sz="1600" dirty="0">
                <a:solidFill>
                  <a:srgbClr val="1F2933"/>
                </a:solidFill>
              </a:rPr>
              <a:t>FY2025/4，均为代理。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假设：既有现金预算和版本桥保留；Δ_A、Δ_H、Γ实际未知，展示零修正条件；98%收入因子同步作用客户</a:t>
            </a:r>
            <a:endParaRPr lang="en-US" sz="1600" dirty="0"/>
          </a:p>
          <a:p>
            <a:pPr indent="0" marL="0">
              <a:lnSpc>
                <a:spcPct val="100000"/>
              </a:lnSpc>
              <a:buNone/>
            </a:pPr>
            <a:r>
              <a:rPr lang="en-US" sz="1600" dirty="0">
                <a:solidFill>
                  <a:srgbClr val="1F2933"/>
                </a:solidFill>
              </a:rPr>
              <a:t>回款和普通采购付现。</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假设：未来其他经营收现按FY2025公开组别比例拆开：存款利息和补助/手续费同时入当期EBIT和现金；</a:t>
            </a:r>
            <a:endParaRPr lang="en-US" sz="1600" dirty="0"/>
          </a:p>
          <a:p>
            <a:pPr indent="0" marL="0">
              <a:lnSpc>
                <a:spcPct val="100000"/>
              </a:lnSpc>
              <a:buNone/>
            </a:pPr>
            <a:r>
              <a:rPr lang="en-US" sz="1600" dirty="0">
                <a:solidFill>
                  <a:srgbClr val="1F2933"/>
                </a:solidFill>
              </a:rPr>
              <a:t>未知其他剔除；保证金/受限/员工款按现有账面资产池预算回收，逐季限额并减余额。另有未来利息补助均不发生</a:t>
            </a:r>
            <a:endParaRPr lang="en-US" sz="1600" dirty="0"/>
          </a:p>
          <a:p>
            <a:pPr indent="0" marL="0">
              <a:lnSpc>
                <a:spcPct val="100000"/>
              </a:lnSpc>
              <a:buNone/>
            </a:pPr>
            <a:r>
              <a:rPr lang="en-US" sz="1600" dirty="0">
                <a:solidFill>
                  <a:srgbClr val="1F2933"/>
                </a:solidFill>
              </a:rPr>
              <a:t>分支，现金和利润同时剔除。</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假设：回收池=Q1货币资金−现金等价物+其他应收款净额7.6816649465亿元，仅为混合池账面上限</a:t>
            </a:r>
            <a:endParaRPr lang="en-US" sz="1600" dirty="0"/>
          </a:p>
          <a:p>
            <a:pPr indent="0" marL="0">
              <a:lnSpc>
                <a:spcPct val="100000"/>
              </a:lnSpc>
              <a:buNone/>
            </a:pPr>
            <a:r>
              <a:rPr lang="en-US" sz="1600" dirty="0">
                <a:solidFill>
                  <a:srgbClr val="1F2933"/>
                </a:solidFill>
              </a:rPr>
              <a:t>代理，不证明可回收；没有加入现金或新融资。</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假设：非零当期税锚定FY2025公开58,386,629.64元按日延续，不依赖合并盈亏；不确认未来递</a:t>
            </a:r>
            <a:endParaRPr lang="en-US" sz="1600" dirty="0"/>
          </a:p>
          <a:p>
            <a:pPr indent="0" marL="0">
              <a:lnSpc>
                <a:spcPct val="100000"/>
              </a:lnSpc>
              <a:buNone/>
            </a:pPr>
            <a:r>
              <a:rPr lang="en-US" sz="1600" dirty="0">
                <a:solidFill>
                  <a:srgbClr val="1F2933"/>
                </a:solidFill>
              </a:rPr>
              <a:t>延税收益。Q1所得税应付以FY2025末14,216,594.91元为代理，包含于Q1应交税费</a:t>
            </a:r>
            <a:endParaRPr lang="en-US" sz="1600" dirty="0"/>
          </a:p>
          <a:p>
            <a:pPr indent="0" marL="0">
              <a:lnSpc>
                <a:spcPct val="100000"/>
              </a:lnSpc>
              <a:buNone/>
            </a:pPr>
            <a:r>
              <a:rPr lang="en-US" sz="1600" dirty="0">
                <a:solidFill>
                  <a:srgbClr val="1F2933"/>
                </a:solidFill>
              </a:rPr>
              <a:t>63,736,657.96元，不重复加负债。</a:t>
            </a:r>
            <a:endParaRPr lang="en-US" sz="16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假设：历史现金税预算按FY2025当期税/现金税总额比例拆出代理所得税并剔除，再加入本季所得税支付；该</a:t>
            </a:r>
            <a:endParaRPr lang="en-US" sz="1600" dirty="0"/>
          </a:p>
          <a:p>
            <a:pPr indent="0" marL="0">
              <a:lnSpc>
                <a:spcPct val="100000"/>
              </a:lnSpc>
              <a:buNone/>
            </a:pPr>
            <a:r>
              <a:rPr lang="en-US" sz="1600" dirty="0">
                <a:solidFill>
                  <a:srgbClr val="1F2933"/>
                </a:solidFill>
              </a:rPr>
              <a:t>比例并非披露的所得税现金拆分。展示分支上期应付本季支付、新计提次季支付；另跑同季支付和零新增当期税。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假设：材料进项税13%同季抵现金税与全部递延均计算；未付款材料开票/抵扣递延。VAT和所得税分别桥接，</a:t>
            </a:r>
            <a:endParaRPr lang="en-US" sz="1600" dirty="0"/>
          </a:p>
          <a:p>
            <a:pPr indent="0" marL="0">
              <a:lnSpc>
                <a:spcPct val="100000"/>
              </a:lnSpc>
              <a:buNone/>
            </a:pPr>
            <a:r>
              <a:rPr lang="en-US" sz="1600" dirty="0">
                <a:solidFill>
                  <a:srgbClr val="1F2933"/>
                </a:solidFill>
              </a:rPr>
              <a:t>现金税不是在毛额上叠加。</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假设：旧融资3.5%、新贷款4.5%、债券账面利息3.63%研究代理，未来全部费用化；循环求解季初提款</a:t>
            </a:r>
            <a:endParaRPr lang="en-US" sz="1600" dirty="0"/>
          </a:p>
          <a:p>
            <a:pPr indent="0" marL="0">
              <a:lnSpc>
                <a:spcPct val="100000"/>
              </a:lnSpc>
              <a:buNone/>
            </a:pPr>
            <a:r>
              <a:rPr lang="en-US" sz="1600" dirty="0">
                <a:solidFill>
                  <a:srgbClr val="1F2933"/>
                </a:solidFill>
              </a:rPr>
              <a:t>对当期利息和资金需要。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假设：Q1当前债务账面预算按3.73/3.73/4.34/2.636178/0亿元清偿，不等同合同</a:t>
            </a:r>
            <a:endParaRPr lang="en-US" sz="1600" dirty="0"/>
          </a:p>
          <a:p>
            <a:pPr indent="0" marL="0">
              <a:lnSpc>
                <a:spcPct val="100000"/>
              </a:lnSpc>
              <a:buNone/>
            </a:pPr>
            <a:r>
              <a:rPr lang="en-US" sz="1600" dirty="0">
                <a:solidFill>
                  <a:srgbClr val="1F2933"/>
                </a:solidFill>
              </a:rPr>
              <a:t>本金；应计息代理0。新贷款三年期、窗口内无摊还；原长期新增转流动0。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假设：15天经营付款底线；U=6.5亿元、P=0为条件，2026年底先预留至1月9日；实际U/P、发行</a:t>
            </a:r>
            <a:endParaRPr lang="en-US" sz="1600" dirty="0"/>
          </a:p>
          <a:p>
            <a:pPr indent="0" marL="0">
              <a:lnSpc>
                <a:spcPct val="100000"/>
              </a:lnSpc>
              <a:buNone/>
            </a:pPr>
            <a:r>
              <a:rPr lang="en-US" sz="1600" dirty="0">
                <a:solidFill>
                  <a:srgbClr val="1F2933"/>
                </a:solidFill>
              </a:rPr>
              <a:t>人A、D/X未知。融资按需到位与累计5亿元上限均非银行承诺，未用47/10.8亿元不作提款。</a:t>
            </a:r>
            <a:endParaRPr lang="en-US" sz="16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假设：财务预测金额20/30/50加权为研究适配，年度比率主路径另列；零分母为null及未决区间，负</a:t>
            </a:r>
            <a:endParaRPr lang="en-US" sz="1600" dirty="0"/>
          </a:p>
          <a:p>
            <a:pPr indent="0" marL="0">
              <a:lnSpc>
                <a:spcPct val="100000"/>
              </a:lnSpc>
              <a:buNone/>
            </a:pPr>
            <a:r>
              <a:rPr lang="en-US" sz="1600" dirty="0">
                <a:solidFill>
                  <a:srgbClr val="1F2933"/>
                </a:solidFill>
              </a:rPr>
              <a:t>分母弱档与正负混合规则保留，不设零杠杆或自动强档。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限制：条件链已含损益型收现、存量资产回收和所得税滚动；其余基准非现金资产仍为间接法调节，不是完整独立应</a:t>
            </a:r>
            <a:endParaRPr lang="en-US" sz="1600" dirty="0"/>
          </a:p>
          <a:p>
            <a:pPr indent="0" marL="0">
              <a:lnSpc>
                <a:spcPct val="100000"/>
              </a:lnSpc>
              <a:buNone/>
            </a:pPr>
            <a:r>
              <a:rPr lang="en-US" sz="1600" dirty="0">
                <a:solidFill>
                  <a:srgbClr val="1F2933"/>
                </a:solidFill>
              </a:rPr>
              <a:t>收/库存/应付周转预测，ROA分母依赖此约定。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限制：未来利息补助构成、纳税主体利润、Q1所得税应付拆分、实际所得税现金、资产回收时点与能力尚未证实；</a:t>
            </a:r>
            <a:endParaRPr lang="en-US" sz="1600" dirty="0"/>
          </a:p>
          <a:p>
            <a:pPr indent="0" marL="0">
              <a:lnSpc>
                <a:spcPct val="100000"/>
              </a:lnSpc>
              <a:buNone/>
            </a:pPr>
            <a:r>
              <a:rPr lang="en-US" sz="1600" dirty="0">
                <a:solidFill>
                  <a:srgbClr val="1F2933"/>
                </a:solidFill>
              </a:rPr>
              <a:t>当前税及收现分支不被选为唯一中心。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限制：合并现金及假定新贷款不等于发行人可调度A；真实提款、合同清偿、Q1应计息/租赁、税抵扣、用途资金</a:t>
            </a:r>
            <a:endParaRPr lang="en-US" sz="1600" dirty="0"/>
          </a:p>
          <a:p>
            <a:pPr indent="0" marL="0">
              <a:lnSpc>
                <a:spcPct val="100000"/>
              </a:lnSpc>
              <a:buNone/>
            </a:pPr>
            <a:r>
              <a:rPr lang="en-US" sz="1600" dirty="0">
                <a:solidFill>
                  <a:srgbClr val="1F2933"/>
                </a:solidFill>
              </a:rPr>
              <a:t>及版本修正未知。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限制：3.63%借用年报借款费用资本化率为债券代理，并非债券精确EIR；Q1折旧与资本化利息代理不当</a:t>
            </a:r>
            <a:endParaRPr lang="en-US" sz="1600" dirty="0"/>
          </a:p>
          <a:p>
            <a:pPr indent="0" marL="0">
              <a:lnSpc>
                <a:spcPct val="100000"/>
              </a:lnSpc>
              <a:buNone/>
            </a:pPr>
            <a:r>
              <a:rPr lang="en-US" sz="1600" dirty="0">
                <a:solidFill>
                  <a:srgbClr val="1F2933"/>
                </a:solidFill>
              </a:rPr>
              <a:t>实际事实。</a:t>
            </a:r>
            <a:endParaRPr lang="en-US" sz="16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限制：资产质量3.5/2.5和再融资5/4.5及相邻±0.5为未唯一选定判断；历史档内联合范围跨F5/</a:t>
            </a:r>
            <a:endParaRPr lang="en-US" sz="1600" dirty="0"/>
          </a:p>
          <a:p>
            <a:pPr indent="0" marL="0">
              <a:lnSpc>
                <a:spcPct val="100000"/>
              </a:lnSpc>
              <a:buNone/>
            </a:pPr>
            <a:r>
              <a:rPr lang="en-US" sz="1600" dirty="0">
                <a:solidFill>
                  <a:srgbClr val="1F2933"/>
                </a:solidFill>
              </a:rPr>
              <a:t>F4，预测无涨价F3与涨价F4仅是矩阵条件，不能当实际评级上调/下调。</a:t>
            </a:r>
            <a:endParaRPr lang="en-US" sz="16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327</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328</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a:t>
            </a:r>
            <a:endParaRPr lang="en-US" sz="1800" dirty="0"/>
          </a:p>
          <a:p>
            <a:pPr indent="0" marL="0">
              <a:lnSpc>
                <a:spcPct val="100000"/>
              </a:lnSpc>
              <a:buNone/>
            </a:pPr>
            <a:r>
              <a:rPr lang="en-US" sz="1800" dirty="0">
                <a:solidFill>
                  <a:srgbClr val="1F2933"/>
                </a:solidFill>
              </a:rPr>
              <a:t>测试。</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a:t>
            </a:r>
            <a:endParaRPr lang="en-US" sz="1800" dirty="0"/>
          </a:p>
          <a:p>
            <a:pPr indent="0" marL="0">
              <a:lnSpc>
                <a:spcPct val="100000"/>
              </a:lnSpc>
              <a:buNone/>
            </a:pPr>
            <a:r>
              <a:rPr lang="en-US" sz="1800" dirty="0">
                <a:solidFill>
                  <a:srgbClr val="1F2933"/>
                </a:solidFill>
              </a:rPr>
              <a:t>计算。</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提供已确认DTA按纳税主体和税区的明细、已确认亏损发生年度与到期表、税前扣除条件及限制、差异转回</a:t>
            </a:r>
            <a:endParaRPr lang="en-US" sz="1500" dirty="0"/>
          </a:p>
          <a:p>
            <a:pPr indent="0" marL="0">
              <a:lnSpc>
                <a:spcPct val="100000"/>
              </a:lnSpc>
              <a:buNone/>
            </a:pPr>
            <a:r>
              <a:rPr lang="en-US" sz="1500" dirty="0">
                <a:solidFill>
                  <a:srgbClr val="1F2933"/>
                </a:solidFill>
              </a:rPr>
              <a:t>计划和预计适用税率；将未来应税利润预算与订单/经营预测、应税暂时性差异转回逐项对应，标明优惠资格</a:t>
            </a:r>
            <a:endParaRPr lang="en-US" sz="1500" dirty="0"/>
          </a:p>
          <a:p>
            <a:pPr indent="0" marL="0">
              <a:lnSpc>
                <a:spcPct val="100000"/>
              </a:lnSpc>
              <a:buNone/>
            </a:pPr>
            <a:r>
              <a:rPr lang="en-US" sz="1500" dirty="0">
                <a:solidFill>
                  <a:srgbClr val="1F2933"/>
                </a:solidFill>
              </a:rPr>
              <a:t>及有效期。</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330</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提供39户保证的年末至三月及六月逐户滚动、前十名受控身份对应、基础借款/保证/展期/解除合同与</a:t>
            </a:r>
            <a:endParaRPr lang="en-US" sz="1500" dirty="0"/>
          </a:p>
          <a:p>
            <a:pPr indent="0" marL="0">
              <a:lnSpc>
                <a:spcPct val="100000"/>
              </a:lnSpc>
              <a:buNone/>
            </a:pPr>
            <a:r>
              <a:rPr lang="en-US" sz="1500" dirty="0">
                <a:solidFill>
                  <a:srgbClr val="1F2933"/>
                </a:solidFill>
              </a:rPr>
              <a:t>银行确认；经销贷款到账—付本公司货款—发票/应收结算配对；追偿/代偿历史及反担保权属顺位和现金时</a:t>
            </a:r>
            <a:endParaRPr lang="en-US" sz="1500" dirty="0"/>
          </a:p>
          <a:p>
            <a:pPr indent="0" marL="0">
              <a:lnSpc>
                <a:spcPct val="100000"/>
              </a:lnSpc>
              <a:buNone/>
            </a:pPr>
            <a:r>
              <a:rPr lang="en-US" sz="1500" dirty="0">
                <a:solidFill>
                  <a:srgbClr val="1F2933"/>
                </a:solidFill>
              </a:rPr>
              <a:t>点。集团内担保、保函、诉讼及质保资料单列。</a:t>
            </a:r>
            <a:endParaRPr lang="en-US" sz="15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取得混用期间逐笔银行流水与用途追踪、专户整改执行、截至研究截止日新轮实际占用及募</a:t>
            </a:r>
            <a:endParaRPr lang="en-US" sz="1800" dirty="0"/>
          </a:p>
          <a:p>
            <a:pPr indent="0" marL="0">
              <a:lnSpc>
                <a:spcPct val="100000"/>
              </a:lnSpc>
              <a:buNone/>
            </a:pPr>
            <a:r>
              <a:rPr lang="en-US" sz="1800" dirty="0">
                <a:solidFill>
                  <a:srgbClr val="1F2933"/>
                </a:solidFill>
              </a:rPr>
              <a:t>投资金需求。旧轮归还和新轮授权公告已取得，不再请求重复证明授权时点。</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331</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24</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提供可转债权益相关递延税期初至期末滚动、2025年当期直接权益税分录、转股及后续摊销分录、首次列</a:t>
            </a:r>
            <a:endParaRPr lang="en-US" sz="1500" dirty="0"/>
          </a:p>
          <a:p>
            <a:pPr indent="0" marL="0">
              <a:lnSpc>
                <a:spcPct val="100000"/>
              </a:lnSpc>
              <a:buNone/>
            </a:pPr>
            <a:r>
              <a:rPr lang="en-US" sz="1500" dirty="0">
                <a:solidFill>
                  <a:srgbClr val="1F2933"/>
                </a:solidFill>
              </a:rPr>
              <a:t>示的会计处理依据，并拆出范围/汇兑等实际变动及现金流补充资料其他项中的税影响；解释候选桥差额</a:t>
            </a:r>
            <a:endParaRPr lang="en-US" sz="1500" dirty="0"/>
          </a:p>
          <a:p>
            <a:pPr indent="0" marL="0">
              <a:lnSpc>
                <a:spcPct val="100000"/>
              </a:lnSpc>
              <a:buNone/>
            </a:pPr>
            <a:r>
              <a:rPr lang="en-US" sz="1500" dirty="0">
                <a:solidFill>
                  <a:srgbClr val="1F2933"/>
                </a:solidFill>
              </a:rPr>
              <a:t>32.48 元人民币。</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25</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提供年报10.8亿元及跟踪报告47亿元未用额度的分别编制明细、73亿元总额对应表，按法人/银行/</a:t>
            </a:r>
            <a:endParaRPr lang="en-US" sz="1500" dirty="0"/>
          </a:p>
          <a:p>
            <a:pPr indent="0" marL="0">
              <a:lnSpc>
                <a:spcPct val="100000"/>
              </a:lnSpc>
              <a:buNone/>
            </a:pPr>
            <a:r>
              <a:rPr lang="en-US" sz="1500" dirty="0">
                <a:solidFill>
                  <a:srgbClr val="1F2933"/>
                </a:solidFill>
              </a:rPr>
              <a:t>合同/产品列已用未用、共享额、抵质押/保证金、提款条件、撤销条款、有效期及期后实际提款；附银行</a:t>
            </a:r>
            <a:endParaRPr lang="en-US" sz="1500" dirty="0"/>
          </a:p>
          <a:p>
            <a:pPr indent="0" marL="0">
              <a:lnSpc>
                <a:spcPct val="100000"/>
              </a:lnSpc>
              <a:buNone/>
            </a:pPr>
            <a:r>
              <a:rPr lang="en-US" sz="1500" dirty="0">
                <a:solidFill>
                  <a:srgbClr val="1F2933"/>
                </a:solidFill>
              </a:rPr>
              <a:t>直接证明和逐日付款资源表。</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发行人资金部门、相关银行及独立核查方</a:t>
            </a:r>
            <a:endParaRPr lang="en-US" sz="12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a:p>
            <a:pPr indent="0" marL="0">
              <a:lnSpc>
                <a:spcPct val="100000"/>
              </a:lnSpc>
              <a:buNone/>
            </a:pPr>
            <a:r>
              <a:rPr lang="en-US" sz="1600" dirty="0">
                <a:solidFill>
                  <a:srgbClr val="1F2933"/>
                </a:solidFill>
              </a:rPr>
              <a:t>现金等价物</a:t>
            </a:r>
            <a:endParaRPr lang="en-US" sz="16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a:t>
            </a:r>
            <a:endParaRPr lang="en-US" sz="1600" dirty="0"/>
          </a:p>
          <a:p>
            <a:pPr indent="0" marL="0">
              <a:lnSpc>
                <a:spcPct val="100000"/>
              </a:lnSpc>
              <a:buNone/>
            </a:pPr>
            <a:r>
              <a:rPr lang="en-US" sz="1600" dirty="0">
                <a:solidFill>
                  <a:srgbClr val="1F2933"/>
                </a:solidFill>
              </a:rPr>
              <a:t>投资、基金承诺及范围变化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a:t>
            </a:r>
            <a:endParaRPr lang="en-US" sz="1600" dirty="0"/>
          </a:p>
          <a:p>
            <a:pPr indent="0" marL="0">
              <a:lnSpc>
                <a:spcPct val="100000"/>
              </a:lnSpc>
              <a:buNone/>
            </a:pPr>
            <a:r>
              <a:rPr lang="en-US" sz="1600" dirty="0">
                <a:solidFill>
                  <a:srgbClr val="1F2933"/>
                </a:solidFill>
              </a:rPr>
              <a:t>额，应付债券行，原单位万元；列为一年以内/一至三年/三年以上/合计。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范围变动；209页处置子公司现金影响</a:t>
            </a:r>
            <a:endParaRPr lang="en-US" sz="1600" dirty="0"/>
          </a:p>
          <a:p>
            <a:pPr indent="0" marL="0">
              <a:lnSpc>
                <a:spcPct val="100000"/>
              </a:lnSpc>
              <a:buNone/>
            </a:pPr>
            <a:r>
              <a:rPr lang="en-US" sz="1600" dirty="0">
                <a:solidFill>
                  <a:srgbClr val="1F2933"/>
                </a:solidFill>
              </a:rPr>
              <a:t>[ks_tax_e_balance] PDF/印刷第188—189页，附注23（1）—（4）；2025</a:t>
            </a:r>
            <a:endParaRPr lang="en-US" sz="1600" dirty="0"/>
          </a:p>
          <a:p>
            <a:pPr indent="0" marL="0">
              <a:lnSpc>
                <a:spcPct val="100000"/>
              </a:lnSpc>
              <a:buNone/>
            </a:pPr>
            <a:r>
              <a:rPr lang="en-US" sz="1600" dirty="0">
                <a:solidFill>
                  <a:srgbClr val="1F2933"/>
                </a:solidFill>
              </a:rPr>
              <a:t>-12-31期末/2024-12-31重述期初，元</a:t>
            </a:r>
            <a:endParaRPr lang="en-US" sz="1600" dirty="0"/>
          </a:p>
          <a:p>
            <a:pPr indent="0" marL="0">
              <a:lnSpc>
                <a:spcPct val="100000"/>
              </a:lnSpc>
              <a:buNone/>
            </a:pPr>
            <a:r>
              <a:rPr lang="en-US" sz="1600" dirty="0">
                <a:solidFill>
                  <a:srgbClr val="1F2933"/>
                </a:solidFill>
              </a:rPr>
              <a:t>[ks_tax_e_equity] PDF/印刷第160—161、195—196页；附注36、40—</a:t>
            </a:r>
            <a:endParaRPr lang="en-US" sz="1600" dirty="0"/>
          </a:p>
          <a:p>
            <a:pPr indent="0" marL="0">
              <a:lnSpc>
                <a:spcPct val="100000"/>
              </a:lnSpc>
              <a:buNone/>
            </a:pPr>
            <a:r>
              <a:rPr lang="en-US" sz="1600" dirty="0">
                <a:solidFill>
                  <a:srgbClr val="1F2933"/>
                </a:solidFill>
              </a:rPr>
              <a:t>41，元</a:t>
            </a:r>
            <a:endParaRPr lang="en-US" sz="1600" dirty="0"/>
          </a:p>
          <a:p>
            <a:pPr indent="0" marL="0">
              <a:lnSpc>
                <a:spcPct val="100000"/>
              </a:lnSpc>
              <a:buNone/>
            </a:pPr>
            <a:r>
              <a:rPr lang="en-US" sz="1600" dirty="0">
                <a:solidFill>
                  <a:srgbClr val="1F2933"/>
                </a:solidFill>
              </a:rPr>
              <a:t>[ks_tax_e_pl_cash] PDF/印刷第205—206、208—209页，附注62、</a:t>
            </a:r>
            <a:endParaRPr lang="en-US" sz="1600" dirty="0"/>
          </a:p>
          <a:p>
            <a:pPr indent="0" marL="0">
              <a:lnSpc>
                <a:spcPct val="100000"/>
              </a:lnSpc>
              <a:buNone/>
            </a:pPr>
            <a:r>
              <a:rPr lang="en-US" sz="1600" dirty="0">
                <a:solidFill>
                  <a:srgbClr val="1F2933"/>
                </a:solidFill>
              </a:rPr>
              <a:t>64；2025年度，元</a:t>
            </a:r>
            <a:endParaRPr lang="en-US" sz="1600" dirty="0"/>
          </a:p>
          <a:p>
            <a:pPr indent="0" marL="0">
              <a:lnSpc>
                <a:spcPct val="100000"/>
              </a:lnSpc>
              <a:buNone/>
            </a:pPr>
            <a:r>
              <a:rPr lang="en-US" sz="1600" dirty="0">
                <a:solidFill>
                  <a:srgbClr val="1F2933"/>
                </a:solidFill>
              </a:rPr>
              <a:t>[ks_earn_e_nonrec] PDF第11—12页非经常性损益表（元）；第10、108、244</a:t>
            </a:r>
            <a:endParaRPr lang="en-US" sz="1600" dirty="0"/>
          </a:p>
          <a:p>
            <a:pPr indent="0" marL="0">
              <a:lnSpc>
                <a:spcPct val="100000"/>
              </a:lnSpc>
              <a:buNone/>
            </a:pPr>
            <a:r>
              <a:rPr lang="en-US" sz="1600" dirty="0">
                <a:solidFill>
                  <a:srgbClr val="1F2933"/>
                </a:solidFill>
              </a:rPr>
              <a:t>页归母净利及扣非勾稽</a:t>
            </a:r>
            <a:endParaRPr lang="en-US" sz="1600" dirty="0"/>
          </a:p>
          <a:p>
            <a:pPr indent="0" marL="0">
              <a:lnSpc>
                <a:spcPct val="100000"/>
              </a:lnSpc>
              <a:buNone/>
            </a:pPr>
            <a:r>
              <a:rPr lang="en-US" sz="1600" dirty="0">
                <a:solidFill>
                  <a:srgbClr val="1F2933"/>
                </a:solidFill>
              </a:rPr>
              <a:t>[ks_credit_e_dealer_schedule] PDF/印刷227—228，担保明细跨页</a:t>
            </a:r>
            <a:endParaRPr lang="en-US" sz="1600" dirty="0"/>
          </a:p>
          <a:p>
            <a:pPr indent="0" marL="0">
              <a:lnSpc>
                <a:spcPct val="100000"/>
              </a:lnSpc>
              <a:buNone/>
            </a:pPr>
            <a:r>
              <a:rPr lang="en-US" sz="1600" dirty="0">
                <a:solidFill>
                  <a:srgbClr val="1F2933"/>
                </a:solidFill>
              </a:rPr>
              <a:t>表；2025-12-31，元</a:t>
            </a:r>
            <a:endParaRPr lang="en-US" sz="1600" dirty="0"/>
          </a:p>
          <a:p>
            <a:pPr indent="0" marL="0">
              <a:lnSpc>
                <a:spcPct val="100000"/>
              </a:lnSpc>
              <a:buNone/>
            </a:pPr>
            <a:r>
              <a:rPr lang="en-US" sz="1600" dirty="0">
                <a:solidFill>
                  <a:srgbClr val="1F2933"/>
                </a:solidFill>
              </a:rPr>
              <a:t>[ks_econ_e_material] PDF39–41：防水材料收入、成本及五项成本构成，2024</a:t>
            </a:r>
            <a:endParaRPr lang="en-US" sz="1600" dirty="0"/>
          </a:p>
          <a:p>
            <a:pPr indent="0" marL="0">
              <a:lnSpc>
                <a:spcPct val="100000"/>
              </a:lnSpc>
              <a:buNone/>
            </a:pPr>
            <a:r>
              <a:rPr lang="en-US" sz="1600" dirty="0">
                <a:solidFill>
                  <a:srgbClr val="1F2933"/>
                </a:solidFill>
              </a:rPr>
              <a:t>/2025元</a:t>
            </a:r>
            <a:endParaRPr lang="en-US" sz="1600" dirty="0"/>
          </a:p>
          <a:p>
            <a:pPr indent="0" marL="0">
              <a:lnSpc>
                <a:spcPct val="100000"/>
              </a:lnSpc>
              <a:buNone/>
            </a:pPr>
            <a:r>
              <a:rPr lang="en-US" sz="1600" dirty="0">
                <a:solidFill>
                  <a:srgbClr val="1F2933"/>
                </a:solidFill>
              </a:rPr>
              <a:t>[ks_econ_e_cash_tax] PDF193企业所得税应付；203利息及其他收益；205–</a:t>
            </a:r>
            <a:endParaRPr lang="en-US" sz="1600" dirty="0"/>
          </a:p>
          <a:p>
            <a:pPr indent="0" marL="0">
              <a:lnSpc>
                <a:spcPct val="100000"/>
              </a:lnSpc>
              <a:buNone/>
            </a:pPr>
            <a:r>
              <a:rPr lang="en-US" sz="1600" dirty="0">
                <a:solidFill>
                  <a:srgbClr val="1F2933"/>
                </a:solidFill>
              </a:rPr>
              <a:t>206当期/递延所得税与其他经营收现分项</a:t>
            </a:r>
            <a:endParaRPr lang="en-US" sz="1600" dirty="0"/>
          </a:p>
          <a:p>
            <a:pPr indent="0" marL="0">
              <a:lnSpc>
                <a:spcPct val="100000"/>
              </a:lnSpc>
              <a:buNone/>
            </a:pPr>
            <a:r>
              <a:rPr lang="en-US" sz="1600" dirty="0">
                <a:solidFill>
                  <a:srgbClr val="1F2933"/>
                </a:solidFill>
              </a:rPr>
              <a:t>[ks_a_e_bond_metrics] 第95—96页，第七节第八项，近两年主要会计数据和财务</a:t>
            </a:r>
            <a:endParaRPr lang="en-US" sz="16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指标，含跨页续表</a:t>
            </a:r>
            <a:endParaRPr lang="en-US" sz="1600" dirty="0"/>
          </a:p>
          <a:p>
            <a:pPr indent="0" marL="0">
              <a:lnSpc>
                <a:spcPct val="100000"/>
              </a:lnSpc>
              <a:buNone/>
            </a:pPr>
            <a:r>
              <a:rPr lang="en-US" sz="1600" dirty="0">
                <a:solidFill>
                  <a:srgbClr val="1F2933"/>
                </a:solidFill>
              </a:rPr>
              <a:t>[ks_a_e_bond_repayment_claim] 第93—95页，可转债发行、无担保、存续</a:t>
            </a:r>
            <a:endParaRPr lang="en-US" sz="1600" dirty="0"/>
          </a:p>
          <a:p>
            <a:pPr indent="0" marL="0">
              <a:lnSpc>
                <a:spcPct val="100000"/>
              </a:lnSpc>
              <a:buNone/>
            </a:pPr>
            <a:r>
              <a:rPr lang="en-US" sz="1600" dirty="0">
                <a:solidFill>
                  <a:srgbClr val="1F2933"/>
                </a:solidFill>
              </a:rPr>
              <a:t>变动；第95页四、6（3）及五至七项</a:t>
            </a:r>
            <a:endParaRPr lang="en-US" sz="1600" dirty="0"/>
          </a:p>
          <a:p>
            <a:pPr indent="0" marL="0">
              <a:lnSpc>
                <a:spcPct val="100000"/>
              </a:lnSpc>
              <a:buNone/>
            </a:pPr>
            <a:r>
              <a:rPr lang="en-US" sz="1600" dirty="0">
                <a:solidFill>
                  <a:srgbClr val="1F2933"/>
                </a:solidFill>
              </a:rPr>
              <a:t>[ks_a_e_external_rating_2025] 第95页四、6（2），本年度可转债资信评级</a:t>
            </a:r>
            <a:endParaRPr lang="en-US" sz="1600" dirty="0"/>
          </a:p>
          <a:p>
            <a:pPr indent="0" marL="0">
              <a:lnSpc>
                <a:spcPct val="100000"/>
              </a:lnSpc>
              <a:buNone/>
            </a:pPr>
            <a:r>
              <a:rPr lang="en-US" sz="1600" dirty="0">
                <a:solidFill>
                  <a:srgbClr val="1F2933"/>
                </a:solidFill>
              </a:rPr>
              <a:t>[ks_a_e_project_reported_benefits] 第83页募集资金承诺投资项目表，</a:t>
            </a:r>
            <a:endParaRPr lang="en-US" sz="1600" dirty="0"/>
          </a:p>
          <a:p>
            <a:pPr indent="0" marL="0">
              <a:lnSpc>
                <a:spcPct val="100000"/>
              </a:lnSpc>
              <a:buNone/>
            </a:pPr>
            <a:r>
              <a:rPr lang="en-US" sz="1600" dirty="0">
                <a:solidFill>
                  <a:srgbClr val="1F2933"/>
                </a:solidFill>
              </a:rPr>
              <a:t>四项建设/升级项目及补流行；表格图像核对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a:p>
            <a:pPr indent="0" marL="0">
              <a:lnSpc>
                <a:spcPct val="100000"/>
              </a:lnSpc>
              <a:buNone/>
            </a:pPr>
            <a:r>
              <a:rPr lang="en-US" sz="1600" dirty="0">
                <a:solidFill>
                  <a:srgbClr val="1F2933"/>
                </a:solidFill>
              </a:rPr>
              <a:t>[ks_econ_e_q1] PDF5–11：2026Q1合并资产负债表及利润表；PDF3说明原料冬储</a:t>
            </a:r>
            <a:endParaRPr lang="en-US" sz="1600" dirty="0"/>
          </a:p>
          <a:p>
            <a:pPr indent="0" marL="0">
              <a:lnSpc>
                <a:spcPct val="100000"/>
              </a:lnSpc>
              <a:buNone/>
            </a:pPr>
            <a:r>
              <a:rPr lang="en-US" sz="1600" dirty="0">
                <a:solidFill>
                  <a:srgbClr val="1F2933"/>
                </a:solidFill>
              </a:rPr>
              <a:t>锁价及增加长期贷款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[ks_a_s_return26] 关于归还暂时用于补充流动资金的闲置募集资金的公告（2026</a:t>
            </a:r>
            <a:endParaRPr lang="en-US" sz="1600" dirty="0"/>
          </a:p>
          <a:p>
            <a:pPr indent="0" marL="0">
              <a:lnSpc>
                <a:spcPct val="100000"/>
              </a:lnSpc>
              <a:buNone/>
            </a:pPr>
            <a:r>
              <a:rPr lang="en-US" sz="1600" dirty="0">
                <a:solidFill>
                  <a:srgbClr val="1F2933"/>
                </a:solidFill>
              </a:rPr>
              <a:t>-002）</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a:t>
            </a:r>
            <a:endParaRPr lang="en-US" sz="1600" dirty="0"/>
          </a:p>
          <a:p>
            <a:pPr indent="0" marL="0">
              <a:lnSpc>
                <a:spcPct val="100000"/>
              </a:lnSpc>
              <a:buNone/>
            </a:pPr>
            <a:r>
              <a:rPr lang="en-US" sz="1600" dirty="0">
                <a:solidFill>
                  <a:srgbClr val="1F2933"/>
                </a:solidFill>
              </a:rPr>
              <a:t>-12-31/2024-12-31）；[144] 合并资产负债表；列：期末余额/期初余额（2025</a:t>
            </a:r>
            <a:endParaRPr lang="en-US" sz="1600" dirty="0"/>
          </a:p>
          <a:p>
            <a:pPr indent="0" marL="0">
              <a:lnSpc>
                <a:spcPct val="100000"/>
              </a:lnSpc>
              <a:buNone/>
            </a:pPr>
            <a:r>
              <a:rPr lang="en-US" sz="1600" dirty="0">
                <a:solidFill>
                  <a:srgbClr val="1F2933"/>
                </a:solidFill>
              </a:rPr>
              <a:t>-12-31/2024-12-31）；[146, 147] 合并利润表；列：2025年度/2024</a:t>
            </a:r>
            <a:endParaRPr lang="en-US" sz="1600" dirty="0"/>
          </a:p>
          <a:p>
            <a:pPr indent="0" marL="0">
              <a:lnSpc>
                <a:spcPct val="100000"/>
              </a:lnSpc>
              <a:buNone/>
            </a:pPr>
            <a:r>
              <a:rPr lang="en-US" sz="1600" dirty="0">
                <a:solidFill>
                  <a:srgbClr val="1F2933"/>
                </a:solidFill>
              </a:rPr>
              <a:t>年度；[147] 合并利润表；列：2025年度/2024年度；[148] 合并利润表；列：2025年度</a:t>
            </a:r>
            <a:endParaRPr lang="en-US" sz="1600" dirty="0"/>
          </a:p>
          <a:p>
            <a:pPr indent="0" marL="0">
              <a:lnSpc>
                <a:spcPct val="100000"/>
              </a:lnSpc>
              <a:buNone/>
            </a:pPr>
            <a:r>
              <a:rPr lang="en-US" sz="1600" dirty="0">
                <a:solidFill>
                  <a:srgbClr val="1F2933"/>
                </a:solidFill>
              </a:rPr>
              <a:t>/2024年度；[150] 合并现金流量表；列：2025年度/2024年度；[151] 合并现金</a:t>
            </a:r>
            <a:endParaRPr lang="en-US" sz="1600" dirty="0"/>
          </a:p>
          <a:p>
            <a:pPr indent="0" marL="0">
              <a:lnSpc>
                <a:spcPct val="100000"/>
              </a:lnSpc>
              <a:buNone/>
            </a:pPr>
            <a:r>
              <a:rPr lang="en-US" sz="1600" dirty="0">
                <a:solidFill>
                  <a:srgbClr val="1F2933"/>
                </a:solidFill>
              </a:rPr>
              <a:t>流量表；列：2025年度/2024年度；[151, 250] 合并现金流量表；列：2025年度/</a:t>
            </a:r>
            <a:endParaRPr lang="en-US" sz="1600" dirty="0"/>
          </a:p>
          <a:p>
            <a:pPr indent="0" marL="0">
              <a:lnSpc>
                <a:spcPct val="100000"/>
              </a:lnSpc>
              <a:buNone/>
            </a:pPr>
            <a:r>
              <a:rPr lang="en-US" sz="1600" dirty="0">
                <a:solidFill>
                  <a:srgbClr val="1F2933"/>
                </a:solidFill>
              </a:rPr>
              <a:t>2024年度；[199, 231] 货币资金注释/所有权或使用权受到限制资产；列期末/期初；[234]</a:t>
            </a:r>
            <a:endParaRPr lang="en-US" sz="1600" dirty="0"/>
          </a:p>
          <a:p>
            <a:pPr indent="0" marL="0">
              <a:lnSpc>
                <a:spcPct val="100000"/>
              </a:lnSpc>
              <a:buNone/>
            </a:pPr>
            <a:r>
              <a:rPr lang="en-US" sz="1600" dirty="0">
                <a:solidFill>
                  <a:srgbClr val="1F2933"/>
                </a:solidFill>
              </a:rPr>
              <a:t> 32 一年内到期的非流动负债；期末/期初；[234, 247] 32 一年内到期的非流动负债/融资</a:t>
            </a:r>
            <a:endParaRPr lang="en-US" sz="1600" dirty="0"/>
          </a:p>
          <a:p>
            <a:pPr indent="0" marL="0">
              <a:lnSpc>
                <a:spcPct val="100000"/>
              </a:lnSpc>
              <a:buNone/>
            </a:pPr>
            <a:r>
              <a:rPr lang="en-US" sz="1600" dirty="0">
                <a:solidFill>
                  <a:srgbClr val="1F2933"/>
                </a:solidFill>
              </a:rPr>
              <a:t>负债变动表；[236] 36 长期应付款：按款项性质列示；[247] 筹资活动产生各项负债变动：其他应</a:t>
            </a:r>
            <a:endParaRPr lang="en-US" sz="1600" dirty="0"/>
          </a:p>
          <a:p>
            <a:pPr indent="0" marL="0">
              <a:lnSpc>
                <a:spcPct val="100000"/>
              </a:lnSpc>
              <a:buNone/>
            </a:pPr>
            <a:r>
              <a:rPr lang="en-US" sz="1600" dirty="0">
                <a:solidFill>
                  <a:srgbClr val="1F2933"/>
                </a:solidFill>
              </a:rPr>
              <a:t>付款行；期末/期初；[242] 50 财务费用；本期/上期；[248] 62 现金流量表补充资料；本期</a:t>
            </a:r>
            <a:endParaRPr lang="en-US" sz="1600" dirty="0"/>
          </a:p>
          <a:p>
            <a:pPr indent="0" marL="0">
              <a:lnSpc>
                <a:spcPct val="100000"/>
              </a:lnSpc>
              <a:buNone/>
            </a:pPr>
            <a:r>
              <a:rPr lang="en-US" sz="1600" dirty="0">
                <a:solidFill>
                  <a:srgbClr val="1F2933"/>
                </a:solidFill>
              </a:rPr>
              <a:t>/上期；[219] 16 固定资产累计折旧：计提；2025本期；[217] 15 投资性房地产累计</a:t>
            </a:r>
            <a:endParaRPr lang="en-US" sz="16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折旧：计提或摊销；2025本期；[238] 44 未分配利润；本期/上期；[237] 41 库存股，</a:t>
            </a:r>
            <a:endParaRPr lang="en-US" sz="1600" dirty="0"/>
          </a:p>
          <a:p>
            <a:pPr indent="0" marL="0">
              <a:lnSpc>
                <a:spcPct val="100000"/>
              </a:lnSpc>
              <a:buNone/>
            </a:pPr>
            <a:r>
              <a:rPr lang="en-US" sz="1600" dirty="0">
                <a:solidFill>
                  <a:srgbClr val="1F2933"/>
                </a:solidFill>
              </a:rPr>
              <a:t>本期增加</a:t>
            </a:r>
            <a:endParaRPr lang="en-US" sz="16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a:t>
            </a:r>
            <a:endParaRPr lang="en-US" sz="16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a:t>
            </a:r>
            <a:endParaRPr lang="en-US" sz="1600" dirty="0"/>
          </a:p>
          <a:p>
            <a:pPr indent="0" marL="0">
              <a:lnSpc>
                <a:spcPct val="100000"/>
              </a:lnSpc>
              <a:buNone/>
            </a:pPr>
            <a:r>
              <a:rPr lang="en-US" sz="1600" dirty="0">
                <a:solidFill>
                  <a:srgbClr val="1F2933"/>
                </a:solidFill>
              </a:rPr>
              <a:t>表；项目 / 期末余额 / 期初余额；[7, 89] 1、合并资产负债表；项目 / 期末余额 / 期初</a:t>
            </a:r>
            <a:endParaRPr lang="en-US" sz="1600" dirty="0"/>
          </a:p>
          <a:p>
            <a:pPr indent="0" marL="0">
              <a:lnSpc>
                <a:spcPct val="100000"/>
              </a:lnSpc>
              <a:buNone/>
            </a:pPr>
            <a:r>
              <a:rPr lang="en-US" sz="1600" dirty="0">
                <a:solidFill>
                  <a:srgbClr val="1F2933"/>
                </a:solidFill>
              </a:rPr>
              <a:t>余额；[90] 1、合并资产负债表；项目 / 期末余额 / 期初余额；[7, 90, 101] 1、</a:t>
            </a:r>
            <a:endParaRPr lang="en-US" sz="1600" dirty="0"/>
          </a:p>
          <a:p>
            <a:pPr indent="0" marL="0">
              <a:lnSpc>
                <a:spcPct val="100000"/>
              </a:lnSpc>
              <a:buNone/>
            </a:pPr>
            <a:r>
              <a:rPr lang="en-US" sz="1600" dirty="0">
                <a:solidFill>
                  <a:srgbClr val="1F2933"/>
                </a:solidFill>
              </a:rPr>
              <a:t>合并资产负债表；项目 / 期末余额 / 期初余额；[90, 101] 1、合并资产负债表；项目 / </a:t>
            </a:r>
            <a:endParaRPr lang="en-US" sz="1600" dirty="0"/>
          </a:p>
          <a:p>
            <a:pPr indent="0" marL="0">
              <a:lnSpc>
                <a:spcPct val="100000"/>
              </a:lnSpc>
              <a:buNone/>
            </a:pPr>
            <a:r>
              <a:rPr lang="en-US" sz="1600" dirty="0">
                <a:solidFill>
                  <a:srgbClr val="1F2933"/>
                </a:solidFill>
              </a:rPr>
              <a:t>期末余额 / 期初余额；[89, 214] 1、合并资产负债表；项目 / 期末余额 / 期初余额；[</a:t>
            </a:r>
            <a:endParaRPr lang="en-US" sz="1600" dirty="0"/>
          </a:p>
          <a:p>
            <a:pPr indent="0" marL="0">
              <a:lnSpc>
                <a:spcPct val="100000"/>
              </a:lnSpc>
              <a:buNone/>
            </a:pPr>
            <a:r>
              <a:rPr lang="en-US" sz="1600" dirty="0">
                <a:solidFill>
                  <a:srgbClr val="1F2933"/>
                </a:solidFill>
              </a:rPr>
              <a:t>214] 43、一年内到期的非流动负债；期末余额 / 期初余额；[89, 215] 1、合并资产负债</a:t>
            </a:r>
            <a:endParaRPr lang="en-US" sz="1600" dirty="0"/>
          </a:p>
          <a:p>
            <a:pPr indent="0" marL="0">
              <a:lnSpc>
                <a:spcPct val="100000"/>
              </a:lnSpc>
              <a:buNone/>
            </a:pPr>
            <a:r>
              <a:rPr lang="en-US" sz="1600" dirty="0">
                <a:solidFill>
                  <a:srgbClr val="1F2933"/>
                </a:solidFill>
              </a:rPr>
              <a:t>表；项目 / 期末余额 / 期初余额；[89, 216] 1、合并资产负债表；项目 / 期末余额 / </a:t>
            </a:r>
            <a:endParaRPr lang="en-US" sz="1600" dirty="0"/>
          </a:p>
          <a:p>
            <a:pPr indent="0" marL="0">
              <a:lnSpc>
                <a:spcPct val="100000"/>
              </a:lnSpc>
              <a:buNone/>
            </a:pPr>
            <a:r>
              <a:rPr lang="en-US" sz="1600" dirty="0">
                <a:solidFill>
                  <a:srgbClr val="1F2933"/>
                </a:solidFill>
              </a:rPr>
              <a:t>期初余额；[90, 216] 1、合并资产负债表；项目 / 期末余额 / 期初余额；[214, 215</a:t>
            </a:r>
            <a:endParaRPr lang="en-US" sz="1600" dirty="0"/>
          </a:p>
          <a:p>
            <a:pPr indent="0" marL="0">
              <a:lnSpc>
                <a:spcPct val="100000"/>
              </a:lnSpc>
              <a:buNone/>
            </a:pPr>
            <a:r>
              <a:rPr lang="en-US" sz="1600" dirty="0">
                <a:solidFill>
                  <a:srgbClr val="1F2933"/>
                </a:solidFill>
              </a:rPr>
              <a:t>] 44、其他流动负债；期末余额 / 期初余额；[211] 37（3）按款项性质列示其他应付款；期末余</a:t>
            </a:r>
            <a:endParaRPr lang="en-US" sz="1600" dirty="0"/>
          </a:p>
          <a:p>
            <a:pPr indent="0" marL="0">
              <a:lnSpc>
                <a:spcPct val="100000"/>
              </a:lnSpc>
              <a:buNone/>
            </a:pPr>
            <a:r>
              <a:rPr lang="en-US" sz="1600" dirty="0">
                <a:solidFill>
                  <a:srgbClr val="1F2933"/>
                </a:solidFill>
              </a:rPr>
              <a:t>额 / 期初余额；[220] 52、其他非流动负债；期末余额 / 期初余额；[231] 筹资活动产生的</a:t>
            </a:r>
            <a:endParaRPr lang="en-US" sz="1600" dirty="0"/>
          </a:p>
          <a:p>
            <a:pPr indent="0" marL="0">
              <a:lnSpc>
                <a:spcPct val="100000"/>
              </a:lnSpc>
              <a:buNone/>
            </a:pPr>
            <a:r>
              <a:rPr lang="en-US" sz="1600" dirty="0">
                <a:solidFill>
                  <a:srgbClr val="1F2933"/>
                </a:solidFill>
              </a:rPr>
              <a:t>各项负债变动情况；期初余额 / 本期增加 / 本期减少 / 期末余额；[90, 217] 1、合并</a:t>
            </a:r>
            <a:endParaRPr lang="en-US" sz="1600" dirty="0"/>
          </a:p>
          <a:p>
            <a:pPr indent="0" marL="0">
              <a:lnSpc>
                <a:spcPct val="100000"/>
              </a:lnSpc>
              <a:buNone/>
            </a:pPr>
            <a:r>
              <a:rPr lang="en-US" sz="1600" dirty="0">
                <a:solidFill>
                  <a:srgbClr val="1F2933"/>
                </a:solidFill>
              </a:rPr>
              <a:t>资产负债表；项目 / 期末余额 / 期初余额；[217] 48、长期应付款；期末余额 / 期初余额；[</a:t>
            </a:r>
            <a:endParaRPr lang="en-US" sz="1600" dirty="0"/>
          </a:p>
          <a:p>
            <a:pPr indent="0" marL="0">
              <a:lnSpc>
                <a:spcPct val="100000"/>
              </a:lnSpc>
              <a:buNone/>
            </a:pPr>
            <a:r>
              <a:rPr lang="en-US" sz="1600" dirty="0">
                <a:solidFill>
                  <a:srgbClr val="1F2933"/>
                </a:solidFill>
              </a:rPr>
              <a:t>217, 219] 48（2）专项应付款；期初余额 / 本期增加 / 本期减少 / 期末余额；[217</a:t>
            </a:r>
            <a:endParaRPr lang="en-US" sz="1600" dirty="0"/>
          </a:p>
          <a:p>
            <a:pPr indent="0" marL="0">
              <a:lnSpc>
                <a:spcPct val="100000"/>
              </a:lnSpc>
              <a:buNone/>
            </a:pPr>
            <a:r>
              <a:rPr lang="en-US" sz="1600" dirty="0">
                <a:solidFill>
                  <a:srgbClr val="1F2933"/>
                </a:solidFill>
              </a:rPr>
              <a:t>, 219] 48、长期应付款；[195, 196] 22（2）重要在建工程项目本期变动情况；利息资本</a:t>
            </a:r>
            <a:endParaRPr lang="en-US" sz="16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化累计金额 / 其中：本期利息资本化金额；[231] 79（1）现金流量表补充资料；补充资料 / 本期</a:t>
            </a:r>
            <a:endParaRPr lang="en-US" sz="1600" dirty="0"/>
          </a:p>
          <a:p>
            <a:pPr indent="0" marL="0">
              <a:lnSpc>
                <a:spcPct val="100000"/>
              </a:lnSpc>
              <a:buNone/>
            </a:pPr>
            <a:r>
              <a:rPr lang="en-US" sz="1600" dirty="0">
                <a:solidFill>
                  <a:srgbClr val="1F2933"/>
                </a:solidFill>
              </a:rPr>
              <a:t>金额 / 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a:t>
            </a:r>
            <a:endParaRPr lang="en-US" sz="1600" dirty="0"/>
          </a:p>
          <a:p>
            <a:pPr indent="0" marL="0">
              <a:lnSpc>
                <a:spcPct val="100000"/>
              </a:lnSpc>
              <a:buNone/>
            </a:pPr>
            <a:r>
              <a:rPr lang="en-US" sz="1600" dirty="0">
                <a:solidFill>
                  <a:srgbClr val="1F2933"/>
                </a:solidFill>
              </a:rPr>
              <a:t>付息、会议和承诺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name="Slide 3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name="Slide 3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name="Slide 3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name="Slide 3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name="Slide 3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name="Slide 3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name="Slide 3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科顺防水科技股份有限公司可转换公司债券2026年跟踪评级报告</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r>
              <a:rPr lang="en-US" sz="1600" dirty="0">
                <a:solidFill>
                  <a:srgbClr val="1F2933"/>
                </a:solidFill>
              </a:rPr>
              <a:t>[ks_credit_e_facilities] PDF17/印刷14，偿债指标变化后授信段；截至</a:t>
            </a:r>
            <a:endParaRPr lang="en-US" sz="1600" dirty="0"/>
          </a:p>
          <a:p>
            <a:pPr indent="0" marL="0">
              <a:lnSpc>
                <a:spcPct val="100000"/>
              </a:lnSpc>
              <a:buNone/>
            </a:pPr>
            <a:r>
              <a:rPr lang="en-US" sz="1600" dirty="0">
                <a:solidFill>
                  <a:srgbClr val="1F2933"/>
                </a:solidFill>
              </a:rPr>
              <a:t>2025年底，亿元</a:t>
            </a:r>
            <a:endParaRPr lang="en-US" sz="1600" dirty="0"/>
          </a:p>
          <a:p>
            <a:pPr indent="0" marL="0">
              <a:lnSpc>
                <a:spcPct val="100000"/>
              </a:lnSpc>
              <a:buNone/>
            </a:pPr>
            <a:r>
              <a:rPr lang="en-US" sz="1600" dirty="0">
                <a:solidFill>
                  <a:srgbClr val="1F2933"/>
                </a:solidFill>
              </a:rPr>
              <a:t>[ks_credit_e_yearend_settlement] PDF17/印刷14，授信段后经销商</a:t>
            </a:r>
            <a:endParaRPr lang="en-US" sz="1600" dirty="0"/>
          </a:p>
          <a:p>
            <a:pPr indent="0" marL="0">
              <a:lnSpc>
                <a:spcPct val="100000"/>
              </a:lnSpc>
              <a:buNone/>
            </a:pPr>
            <a:r>
              <a:rPr lang="en-US" sz="1600" dirty="0">
                <a:solidFill>
                  <a:srgbClr val="1F2933"/>
                </a:solidFill>
              </a:rPr>
              <a:t>担保段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p:txBody>
      </p:sp>
    </p:spTree>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name="Slide 3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[ks_tax_s_cas18] 企业会计准则第18号——所得税</a:t>
            </a:r>
            <a:endParaRPr lang="en-US" sz="1600" dirty="0"/>
          </a:p>
          <a:p>
            <a:pPr indent="0" marL="0">
              <a:lnSpc>
                <a:spcPct val="100000"/>
              </a:lnSpc>
              <a:buNone/>
            </a:pPr>
            <a:r>
              <a:rPr lang="en-US" sz="1600" dirty="0">
                <a:solidFill>
                  <a:srgbClr val="1F2933"/>
                </a:solidFill>
              </a:rPr>
              <a:t>https://kjs.mof.gov.cn/zt/kjzzss/kuaijizhunzeshishi</a:t>
            </a:r>
            <a:endParaRPr lang="en-US" sz="1600" dirty="0"/>
          </a:p>
          <a:p>
            <a:pPr indent="0" marL="0">
              <a:lnSpc>
                <a:spcPct val="100000"/>
              </a:lnSpc>
              <a:buNone/>
            </a:pPr>
            <a:r>
              <a:rPr lang="en-US" sz="1600" dirty="0">
                <a:solidFill>
                  <a:srgbClr val="1F2933"/>
                </a:solidFill>
              </a:rPr>
              <a:t>/200806/t20080618_46230.htm</a:t>
            </a:r>
            <a:endParaRPr lang="en-US" sz="1600" dirty="0"/>
          </a:p>
          <a:p>
            <a:pPr indent="0" marL="0">
              <a:lnSpc>
                <a:spcPct val="100000"/>
              </a:lnSpc>
              <a:buNone/>
            </a:pPr>
            <a:r>
              <a:rPr lang="en-US" sz="1600" dirty="0">
                <a:solidFill>
                  <a:srgbClr val="1F2933"/>
                </a:solidFill>
              </a:rPr>
              <a:t>[ks_tax_e_cas18] 第13、15、17、20—22条</a:t>
            </a:r>
            <a:endParaRPr lang="en-US" sz="1600" dirty="0"/>
          </a:p>
        </p:txBody>
      </p:sp>
    </p:spTree>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name="Slide 3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[ks_tax_s_csrc5] 监管规则适用指引——会计类第5号</a:t>
            </a:r>
            <a:endParaRPr lang="en-US" sz="1600" dirty="0"/>
          </a:p>
          <a:p>
            <a:pPr indent="0" marL="0">
              <a:lnSpc>
                <a:spcPct val="100000"/>
              </a:lnSpc>
              <a:buNone/>
            </a:pPr>
            <a:r>
              <a:rPr lang="en-US" sz="1600" dirty="0">
                <a:solidFill>
                  <a:srgbClr val="1F2933"/>
                </a:solidFill>
              </a:rPr>
              <a:t>https://www.csrc.gov.cn/csrc/c105942/c7572064/</a:t>
            </a:r>
            <a:endParaRPr lang="en-US" sz="1600" dirty="0"/>
          </a:p>
          <a:p>
            <a:pPr indent="0" marL="0">
              <a:lnSpc>
                <a:spcPct val="100000"/>
              </a:lnSpc>
              <a:buNone/>
            </a:pPr>
            <a:r>
              <a:rPr lang="en-US" sz="1600" dirty="0">
                <a:solidFill>
                  <a:srgbClr val="1F2933"/>
                </a:solidFill>
              </a:rPr>
              <a:t>7572064/files/%E9%99%84%E4%BB%B61%EF%BC%9A%E3%80%8A</a:t>
            </a:r>
            <a:endParaRPr lang="en-US" sz="1600" dirty="0"/>
          </a:p>
          <a:p>
            <a:pPr indent="0" marL="0">
              <a:lnSpc>
                <a:spcPct val="100000"/>
              </a:lnSpc>
              <a:buNone/>
            </a:pPr>
            <a:r>
              <a:rPr lang="en-US" sz="1600" dirty="0">
                <a:solidFill>
                  <a:srgbClr val="1F2933"/>
                </a:solidFill>
              </a:rPr>
              <a:t>%E7%9B%91%E7%AE%A1%E8%A7%84%E5%88%99%E9%80%82%E7%94</a:t>
            </a:r>
            <a:endParaRPr lang="en-US" sz="1600" dirty="0"/>
          </a:p>
          <a:p>
            <a:pPr indent="0" marL="0">
              <a:lnSpc>
                <a:spcPct val="100000"/>
              </a:lnSpc>
              <a:buNone/>
            </a:pPr>
            <a:r>
              <a:rPr lang="en-US" sz="1600" dirty="0">
                <a:solidFill>
                  <a:srgbClr val="1F2933"/>
                </a:solidFill>
              </a:rPr>
              <a:t>%A8%E6%8C%87%E5%BC%95%E2%80%94%E2%80%94%E4%BC%9A%E8</a:t>
            </a:r>
            <a:endParaRPr lang="en-US" sz="1600" dirty="0"/>
          </a:p>
          <a:p>
            <a:pPr indent="0" marL="0">
              <a:lnSpc>
                <a:spcPct val="100000"/>
              </a:lnSpc>
              <a:buNone/>
            </a:pPr>
            <a:r>
              <a:rPr lang="en-US" sz="1600" dirty="0">
                <a:solidFill>
                  <a:srgbClr val="1F2933"/>
                </a:solidFill>
              </a:rPr>
              <a:t>%AE%A1%E7%B1%BB%E7%AC%AC5%E5%8F%B7%E3%80%8B.pdf</a:t>
            </a:r>
            <a:endParaRPr lang="en-US" sz="1600" dirty="0"/>
          </a:p>
          <a:p>
            <a:pPr indent="0" marL="0">
              <a:lnSpc>
                <a:spcPct val="100000"/>
              </a:lnSpc>
              <a:buNone/>
            </a:pPr>
            <a:r>
              <a:rPr lang="en-US" sz="1600" dirty="0">
                <a:solidFill>
                  <a:srgbClr val="1F2933"/>
                </a:solidFill>
              </a:rPr>
              <a:t>[ks_tax_e_csrc5] PDF/印刷第8—9页，5-8发行可转换债券的递延所得税会计处理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[ks_credit_s_guarantee_q1] 科顺股份关于为全资子公司提供担保的公告（2026</a:t>
            </a:r>
            <a:endParaRPr lang="en-US" sz="1600" dirty="0"/>
          </a:p>
          <a:p>
            <a:pPr indent="0" marL="0">
              <a:lnSpc>
                <a:spcPct val="100000"/>
              </a:lnSpc>
              <a:buNone/>
            </a:pPr>
            <a:r>
              <a:rPr lang="en-US" sz="1600" dirty="0">
                <a:solidFill>
                  <a:srgbClr val="1F2933"/>
                </a:solidFill>
              </a:rPr>
              <a:t>-016）</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1225172711.PDF</a:t>
            </a:r>
            <a:endParaRPr lang="en-US" sz="1600" dirty="0"/>
          </a:p>
          <a:p>
            <a:pPr indent="0" marL="0">
              <a:lnSpc>
                <a:spcPct val="100000"/>
              </a:lnSpc>
              <a:buNone/>
            </a:pPr>
            <a:r>
              <a:rPr lang="en-US" sz="1600" dirty="0">
                <a:solidFill>
                  <a:srgbClr val="1F2933"/>
                </a:solidFill>
              </a:rPr>
              <a:t>[ks_credit_e_guarantee_q1] PDF3—4，第五节；截至2026-03-31，</a:t>
            </a:r>
            <a:endParaRPr lang="en-US" sz="1600" dirty="0"/>
          </a:p>
          <a:p>
            <a:pPr indent="0" marL="0">
              <a:lnSpc>
                <a:spcPct val="100000"/>
              </a:lnSpc>
              <a:buNone/>
            </a:pPr>
            <a:r>
              <a:rPr lang="en-US" sz="1600" dirty="0">
                <a:solidFill>
                  <a:srgbClr val="1F2933"/>
                </a:solidFill>
              </a:rPr>
              <a:t>万元</a:t>
            </a:r>
            <a:endParaRPr lang="en-US" sz="1600" dirty="0"/>
          </a:p>
          <a:p>
            <a:pPr indent="0" marL="0">
              <a:lnSpc>
                <a:spcPct val="100000"/>
              </a:lnSpc>
              <a:buNone/>
            </a:pPr>
            <a:r>
              <a:rPr lang="en-US" sz="1600" dirty="0">
                <a:solidFill>
                  <a:srgbClr val="1F2933"/>
                </a:solidFill>
              </a:rPr>
              <a:t>[ks_credit_e_guarantee_approval] PDF1—3，第一、三节；2026</a:t>
            </a:r>
            <a:endParaRPr lang="en-US" sz="1600" dirty="0"/>
          </a:p>
          <a:p>
            <a:pPr indent="0" marL="0">
              <a:lnSpc>
                <a:spcPct val="100000"/>
              </a:lnSpc>
              <a:buNone/>
            </a:pPr>
            <a:r>
              <a:rPr lang="en-US" sz="1600" dirty="0">
                <a:solidFill>
                  <a:srgbClr val="1F2933"/>
                </a:solidFill>
              </a:rPr>
              <a:t>-04-23审批，万元</a:t>
            </a:r>
            <a:endParaRPr lang="en-US" sz="1600" dirty="0"/>
          </a:p>
        </p:txBody>
      </p:sp>
    </p:spTree>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name="Slide 3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[ks_credit_s_sponsor] 国泰君安证券关于科顺股份对外担保的核查意见</a:t>
            </a:r>
            <a:endParaRPr lang="en-US" sz="1600" dirty="0"/>
          </a:p>
          <a:p>
            <a:pPr indent="0" marL="0">
              <a:lnSpc>
                <a:spcPct val="100000"/>
              </a:lnSpc>
              <a:buNone/>
            </a:pPr>
            <a:r>
              <a:rPr lang="en-US" sz="1600" dirty="0">
                <a:solidFill>
                  <a:srgbClr val="1F2933"/>
                </a:solidFill>
              </a:rPr>
              <a:t>https://static.cninfo.com.cn/finalpage/2024-08-28/</a:t>
            </a:r>
            <a:endParaRPr lang="en-US" sz="1600" dirty="0"/>
          </a:p>
          <a:p>
            <a:pPr indent="0" marL="0">
              <a:lnSpc>
                <a:spcPct val="100000"/>
              </a:lnSpc>
              <a:buNone/>
            </a:pPr>
            <a:r>
              <a:rPr lang="en-US" sz="1600" dirty="0">
                <a:solidFill>
                  <a:srgbClr val="1F2933"/>
                </a:solidFill>
              </a:rPr>
              <a:t>1221008879.PDF</a:t>
            </a:r>
            <a:endParaRPr lang="en-US" sz="1600" dirty="0"/>
          </a:p>
          <a:p>
            <a:pPr indent="0" marL="0">
              <a:lnSpc>
                <a:spcPct val="100000"/>
              </a:lnSpc>
              <a:buNone/>
            </a:pPr>
            <a:r>
              <a:rPr lang="en-US" sz="1600" dirty="0">
                <a:solidFill>
                  <a:srgbClr val="1F2933"/>
                </a:solidFill>
              </a:rPr>
              <a:t>[ks_credit_e_dealer_use] PDF2—3，第四及第五节</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369</Slides>
  <Notes>369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369</vt:i4>
      </vt:variant>
    </vt:vector>
  </HeadingPairs>
  <TitlesOfParts>
    <vt:vector size="3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lpstr>Slide 360</vt:lpstr>
      <vt:lpstr>Slide 361</vt:lpstr>
      <vt:lpstr>Slide 362</vt:lpstr>
      <vt:lpstr>Slide 363</vt:lpstr>
      <vt:lpstr>Slide 364</vt:lpstr>
      <vt:lpstr>Slide 365</vt:lpstr>
      <vt:lpstr>Slide 366</vt:lpstr>
      <vt:lpstr>Slide 367</vt:lpstr>
      <vt:lpstr>Slide 368</vt:lpstr>
      <vt:lpstr>Slide 369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2026-10-04T04:18:53Z</dcterms:created>
  <dcterms:modified xsi:type="dcterms:W3CDTF">2026-10-04T04:18:53Z</dcterms:modified>
</cp:coreProperties>
</file>